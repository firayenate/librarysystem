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35" r:id="rId1"/>
  </p:sldMasterIdLst>
  <p:notesMasterIdLst>
    <p:notesMasterId r:id="rId54"/>
  </p:notesMasterIdLst>
  <p:handoutMasterIdLst>
    <p:handoutMasterId r:id="rId55"/>
  </p:handoutMasterIdLst>
  <p:sldIdLst>
    <p:sldId id="256" r:id="rId2"/>
    <p:sldId id="257" r:id="rId3"/>
    <p:sldId id="259" r:id="rId4"/>
    <p:sldId id="353" r:id="rId5"/>
    <p:sldId id="265" r:id="rId6"/>
    <p:sldId id="354" r:id="rId7"/>
    <p:sldId id="266" r:id="rId8"/>
    <p:sldId id="270" r:id="rId9"/>
    <p:sldId id="271" r:id="rId10"/>
    <p:sldId id="272" r:id="rId11"/>
    <p:sldId id="283" r:id="rId12"/>
    <p:sldId id="286" r:id="rId13"/>
    <p:sldId id="335" r:id="rId14"/>
    <p:sldId id="287" r:id="rId15"/>
    <p:sldId id="288" r:id="rId16"/>
    <p:sldId id="355" r:id="rId17"/>
    <p:sldId id="289" r:id="rId18"/>
    <p:sldId id="290" r:id="rId19"/>
    <p:sldId id="291" r:id="rId20"/>
    <p:sldId id="359" r:id="rId21"/>
    <p:sldId id="293" r:id="rId22"/>
    <p:sldId id="357" r:id="rId23"/>
    <p:sldId id="295" r:id="rId24"/>
    <p:sldId id="358" r:id="rId25"/>
    <p:sldId id="296" r:id="rId26"/>
    <p:sldId id="297" r:id="rId27"/>
    <p:sldId id="298" r:id="rId28"/>
    <p:sldId id="299" r:id="rId29"/>
    <p:sldId id="301" r:id="rId30"/>
    <p:sldId id="303" r:id="rId31"/>
    <p:sldId id="304" r:id="rId32"/>
    <p:sldId id="305" r:id="rId33"/>
    <p:sldId id="312" r:id="rId34"/>
    <p:sldId id="313" r:id="rId35"/>
    <p:sldId id="360" r:id="rId36"/>
    <p:sldId id="326" r:id="rId37"/>
    <p:sldId id="328" r:id="rId38"/>
    <p:sldId id="329" r:id="rId39"/>
    <p:sldId id="315" r:id="rId40"/>
    <p:sldId id="316" r:id="rId41"/>
    <p:sldId id="337" r:id="rId42"/>
    <p:sldId id="317" r:id="rId43"/>
    <p:sldId id="332" r:id="rId44"/>
    <p:sldId id="322" r:id="rId45"/>
    <p:sldId id="342" r:id="rId46"/>
    <p:sldId id="343" r:id="rId47"/>
    <p:sldId id="344" r:id="rId48"/>
    <p:sldId id="345" r:id="rId49"/>
    <p:sldId id="347" r:id="rId50"/>
    <p:sldId id="348" r:id="rId51"/>
    <p:sldId id="320" r:id="rId52"/>
    <p:sldId id="350" r:id="rId53"/>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38" autoAdjust="0"/>
    <p:restoredTop sz="71993" autoAdjust="0"/>
  </p:normalViewPr>
  <p:slideViewPr>
    <p:cSldViewPr>
      <p:cViewPr varScale="1">
        <p:scale>
          <a:sx n="52" d="100"/>
          <a:sy n="52" d="100"/>
        </p:scale>
        <p:origin x="1284" y="7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374F2E-40C2-4AF0-88F8-4F62E25149E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2230F955-B449-4375-9319-86E51335F497}"/>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106749A1-BA23-43AB-80A2-A0E7AE289259}" type="datetimeFigureOut">
              <a:rPr lang="en-US"/>
              <a:pPr>
                <a:defRPr/>
              </a:pPr>
              <a:t>4/17/2024</a:t>
            </a:fld>
            <a:endParaRPr lang="en-US"/>
          </a:p>
        </p:txBody>
      </p:sp>
      <p:sp>
        <p:nvSpPr>
          <p:cNvPr id="4" name="Footer Placeholder 3">
            <a:extLst>
              <a:ext uri="{FF2B5EF4-FFF2-40B4-BE49-F238E27FC236}">
                <a16:creationId xmlns:a16="http://schemas.microsoft.com/office/drawing/2014/main" id="{7696A252-8478-4738-ACEE-45754922E951}"/>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B1952636-CB74-42BF-9991-D8BC88C2FDDD}"/>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39B1E0E5-2903-47A9-9BC4-F78A18CCF16C}" type="slidenum">
              <a:rPr lang="en-US"/>
              <a:pPr>
                <a:defRPr/>
              </a:pPr>
              <a:t>‹#›</a:t>
            </a:fld>
            <a:endParaRPr lang="en-US"/>
          </a:p>
        </p:txBody>
      </p:sp>
    </p:spTree>
    <p:extLst>
      <p:ext uri="{BB962C8B-B14F-4D97-AF65-F5344CB8AC3E}">
        <p14:creationId xmlns:p14="http://schemas.microsoft.com/office/powerpoint/2010/main" val="4793037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512149-E99D-4868-9551-2D6662D123A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92DAD0C3-AD6C-4806-B5F6-4173767F2BC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Arial" charset="0"/>
                <a:cs typeface="Arial" charset="0"/>
              </a:defRPr>
            </a:lvl1pPr>
          </a:lstStyle>
          <a:p>
            <a:pPr>
              <a:defRPr/>
            </a:pPr>
            <a:fld id="{28E9EFBB-37E0-4AE1-AC18-26482F3D6A1C}" type="datetimeFigureOut">
              <a:rPr lang="en-US"/>
              <a:pPr>
                <a:defRPr/>
              </a:pPr>
              <a:t>4/17/2024</a:t>
            </a:fld>
            <a:endParaRPr lang="en-US"/>
          </a:p>
        </p:txBody>
      </p:sp>
      <p:sp>
        <p:nvSpPr>
          <p:cNvPr id="4" name="Slide Image Placeholder 3">
            <a:extLst>
              <a:ext uri="{FF2B5EF4-FFF2-40B4-BE49-F238E27FC236}">
                <a16:creationId xmlns:a16="http://schemas.microsoft.com/office/drawing/2014/main" id="{5219E691-E07F-4D0B-944A-E98336BBC75D}"/>
              </a:ext>
            </a:extLst>
          </p:cNvPr>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8B87A98-B8C2-446B-BA9D-5CDB2EC61088}"/>
              </a:ext>
            </a:extLst>
          </p:cNvPr>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E205C37-75B6-4280-881E-02A5C2399578}"/>
              </a:ext>
            </a:extLst>
          </p:cNvPr>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F392F6CF-5EC6-4395-9FEA-DD58DF375685}"/>
              </a:ext>
            </a:extLst>
          </p:cNvPr>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479BD535-481F-47BC-98C2-94B76FB97DBF}" type="slidenum">
              <a:rPr lang="en-US" altLang="en-US"/>
              <a:pPr>
                <a:defRPr/>
              </a:pPr>
              <a:t>‹#›</a:t>
            </a:fld>
            <a:endParaRPr lang="en-US" altLang="en-US"/>
          </a:p>
        </p:txBody>
      </p:sp>
    </p:spTree>
    <p:extLst>
      <p:ext uri="{BB962C8B-B14F-4D97-AF65-F5344CB8AC3E}">
        <p14:creationId xmlns:p14="http://schemas.microsoft.com/office/powerpoint/2010/main" val="20104118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58FD81B2-6AA1-4062-9331-386CC8525B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50494DF1-DEE9-49A8-B7A8-8577AC9190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0244" name="Slide Number Placeholder 3">
            <a:extLst>
              <a:ext uri="{FF2B5EF4-FFF2-40B4-BE49-F238E27FC236}">
                <a16:creationId xmlns:a16="http://schemas.microsoft.com/office/drawing/2014/main" id="{9FE1494E-47CE-44EB-A673-3AD0E198AA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194A22E7-3A89-4053-9460-2A8B273FA6F5}" type="slidenum">
              <a:rPr lang="en-US" altLang="en-US" smtClean="0">
                <a:latin typeface="Arial" panose="020B0604020202020204" pitchFamily="34" charset="0"/>
                <a:cs typeface="Arial" panose="020B0604020202020204" pitchFamily="34" charset="0"/>
              </a:rPr>
              <a:pPr fontAlgn="base">
                <a:spcBef>
                  <a:spcPct val="0"/>
                </a:spcBef>
                <a:spcAft>
                  <a:spcPct val="0"/>
                </a:spcAft>
              </a:pPr>
              <a:t>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7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EE076986-3A60-4F95-8AF4-4E73650823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AAB110D2-2416-4EA1-82D6-EDC38ECB5B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2292" name="Slide Number Placeholder 3">
            <a:extLst>
              <a:ext uri="{FF2B5EF4-FFF2-40B4-BE49-F238E27FC236}">
                <a16:creationId xmlns:a16="http://schemas.microsoft.com/office/drawing/2014/main" id="{FE6D62FC-2483-4B1A-9390-9204E0232B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F16DEFE8-F4E2-49F3-BD66-CCD02541784D}" type="slidenum">
              <a:rPr lang="en-US" altLang="en-US" smtClean="0">
                <a:latin typeface="Arial" panose="020B0604020202020204" pitchFamily="34" charset="0"/>
                <a:cs typeface="Arial" panose="020B0604020202020204" pitchFamily="34" charset="0"/>
              </a:rPr>
              <a:pPr fontAlgn="base">
                <a:spcBef>
                  <a:spcPct val="0"/>
                </a:spcBef>
                <a:spcAft>
                  <a:spcPct val="0"/>
                </a:spcAft>
              </a:pPr>
              <a:t>2</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5049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EF21A7F3-782E-4483-8931-22FD89CE9D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D9D8F30A-30E2-4AF0-9DC8-EAC64C2D82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4340" name="Slide Number Placeholder 3">
            <a:extLst>
              <a:ext uri="{FF2B5EF4-FFF2-40B4-BE49-F238E27FC236}">
                <a16:creationId xmlns:a16="http://schemas.microsoft.com/office/drawing/2014/main" id="{2976CD68-4A1F-4F14-839D-BADA9EAEE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10EFAB28-AFEC-4C5C-BB63-2E2F5A75C371}" type="slidenum">
              <a:rPr lang="en-US" altLang="en-US" smtClean="0">
                <a:latin typeface="Arial" panose="020B0604020202020204" pitchFamily="34" charset="0"/>
                <a:cs typeface="Arial" panose="020B0604020202020204" pitchFamily="34" charset="0"/>
              </a:rPr>
              <a:pPr fontAlgn="base">
                <a:spcBef>
                  <a:spcPct val="0"/>
                </a:spcBef>
                <a:spcAft>
                  <a:spcPct val="0"/>
                </a:spcAft>
              </a:pPr>
              <a:t>3</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9447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74747"/>
                </a:solidFill>
                <a:effectLst/>
                <a:highlight>
                  <a:srgbClr val="FFFFFF"/>
                </a:highlight>
                <a:latin typeface="Google Sans"/>
              </a:rPr>
              <a:t>MQTT (MQ Telemetry Transport) is a lightweight open messaging protocol that provides resource-constrained network clients with a simple way to </a:t>
            </a:r>
            <a:r>
              <a:rPr lang="en-US" b="0" i="0" dirty="0">
                <a:solidFill>
                  <a:srgbClr val="040C28"/>
                </a:solidFill>
                <a:effectLst/>
                <a:highlight>
                  <a:srgbClr val="D3E3FD"/>
                </a:highlight>
                <a:latin typeface="Google Sans"/>
              </a:rPr>
              <a:t>distribute telemetry information in low-bandwidth environments</a:t>
            </a:r>
            <a:r>
              <a:rPr lang="en-US" b="0" i="0" dirty="0">
                <a:solidFill>
                  <a:srgbClr val="474747"/>
                </a:solidFill>
                <a:effectLst/>
                <a:highlight>
                  <a:srgbClr val="FFFFFF"/>
                </a:highlight>
                <a:latin typeface="Google Sans"/>
              </a:rPr>
              <a:t>.</a:t>
            </a:r>
          </a:p>
          <a:p>
            <a:r>
              <a:rPr lang="en-US" b="0" i="0" dirty="0">
                <a:solidFill>
                  <a:srgbClr val="3A3A3A"/>
                </a:solidFill>
                <a:effectLst/>
                <a:highlight>
                  <a:srgbClr val="FFFFFF"/>
                </a:highlight>
                <a:latin typeface="Roboto" panose="02000000000000000000" pitchFamily="2" charset="0"/>
              </a:rPr>
              <a:t>Constrained Application Protocol (CoAP) is a specialized web transfer protocol for use with constrained nodes and constrained networks in the Internet of Things. CoAP is designed to enable simple, constrained devices to join the IoT even through constrained networks with low bandwidth and low availability.</a:t>
            </a:r>
          </a:p>
          <a:p>
            <a:r>
              <a:rPr lang="en-US" b="0" i="0" dirty="0">
                <a:solidFill>
                  <a:srgbClr val="817F7F"/>
                </a:solidFill>
                <a:effectLst/>
                <a:latin typeface="Helvetica" panose="020B0604020202020204" pitchFamily="34" charset="0"/>
              </a:rPr>
              <a:t>The Advanced Message Queuing Protocol (AMQP) is an open standard for passing business messages between applications or organizations. It connects systems, feeds business processes with the information they need and reliably transmits onward the instructions that achieve their goals. </a:t>
            </a:r>
            <a:endParaRPr lang="en-US" dirty="0"/>
          </a:p>
        </p:txBody>
      </p:sp>
      <p:sp>
        <p:nvSpPr>
          <p:cNvPr id="4" name="Slide Number Placeholder 3"/>
          <p:cNvSpPr>
            <a:spLocks noGrp="1"/>
          </p:cNvSpPr>
          <p:nvPr>
            <p:ph type="sldNum" sz="quarter" idx="5"/>
          </p:nvPr>
        </p:nvSpPr>
        <p:spPr/>
        <p:txBody>
          <a:bodyPr/>
          <a:lstStyle/>
          <a:p>
            <a:pPr>
              <a:defRPr/>
            </a:pPr>
            <a:fld id="{479BD535-481F-47BC-98C2-94B76FB97DBF}" type="slidenum">
              <a:rPr lang="en-US" altLang="en-US" smtClean="0"/>
              <a:pPr>
                <a:defRPr/>
              </a:pPr>
              <a:t>4</a:t>
            </a:fld>
            <a:endParaRPr lang="en-US" altLang="en-US"/>
          </a:p>
        </p:txBody>
      </p:sp>
    </p:spTree>
    <p:extLst>
      <p:ext uri="{BB962C8B-B14F-4D97-AF65-F5344CB8AC3E}">
        <p14:creationId xmlns:p14="http://schemas.microsoft.com/office/powerpoint/2010/main" val="2159908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DC0C792C-1032-46F2-B347-5FD44C27EF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57D608F9-7184-401F-BC86-DF62F6EFAB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8436" name="Slide Number Placeholder 3">
            <a:extLst>
              <a:ext uri="{FF2B5EF4-FFF2-40B4-BE49-F238E27FC236}">
                <a16:creationId xmlns:a16="http://schemas.microsoft.com/office/drawing/2014/main" id="{D9E5F94E-87C9-4A91-A73E-3BBE5759692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648A4741-DD0C-450F-A8E1-48CB6A3D3D61}" type="slidenum">
              <a:rPr lang="en-US" altLang="en-US" smtClean="0">
                <a:latin typeface="Arial" panose="020B0604020202020204" pitchFamily="34" charset="0"/>
                <a:cs typeface="Arial" panose="020B0604020202020204" pitchFamily="34" charset="0"/>
              </a:rPr>
              <a:pPr fontAlgn="base">
                <a:spcBef>
                  <a:spcPct val="0"/>
                </a:spcBef>
                <a:spcAft>
                  <a:spcPct val="0"/>
                </a:spcAft>
              </a:pPr>
              <a:t>5</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682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7B3B6A5C-33FE-46DA-B9AF-743CFE1EFE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D40F552E-59C4-412D-BA39-694CB8CF0A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ECECEC"/>
                </a:solidFill>
                <a:effectLst/>
                <a:highlight>
                  <a:srgbClr val="212121"/>
                </a:highlight>
                <a:latin typeface="Söhne"/>
              </a:rPr>
              <a:t>A cable modem is a networking device that enables high-speed internet access through a cable television network infrastructure. It serves as a bridge between your local network (your home or business) and the internet service provider's (ISP) network. Cable modems receive data signals from the ISP via coaxial cables and then translate these signals into data that can be used by your computer or other devices to access the internet.</a:t>
            </a:r>
            <a:endParaRPr lang="en-US" altLang="en-US" dirty="0"/>
          </a:p>
        </p:txBody>
      </p:sp>
      <p:sp>
        <p:nvSpPr>
          <p:cNvPr id="20484" name="Slide Number Placeholder 3">
            <a:extLst>
              <a:ext uri="{FF2B5EF4-FFF2-40B4-BE49-F238E27FC236}">
                <a16:creationId xmlns:a16="http://schemas.microsoft.com/office/drawing/2014/main" id="{E99EE010-1CF9-41EC-A4E4-1CD2954F0A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80D33A68-7436-44C3-B5D5-A55EEAE2689D}" type="slidenum">
              <a:rPr lang="en-US" altLang="en-US" smtClean="0">
                <a:latin typeface="Arial" panose="020B0604020202020204" pitchFamily="34" charset="0"/>
                <a:cs typeface="Arial" panose="020B0604020202020204" pitchFamily="34" charset="0"/>
              </a:rPr>
              <a:pPr fontAlgn="base">
                <a:spcBef>
                  <a:spcPct val="0"/>
                </a:spcBef>
                <a:spcAft>
                  <a:spcPct val="0"/>
                </a:spcAft>
              </a:pPr>
              <a:t>7</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1664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DF4E0878-5E0A-4546-9BE4-3F7EA128FC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1AC91998-2CBA-441D-B931-A1A914452B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The </a:t>
            </a:r>
            <a:r>
              <a:rPr lang="en-US" sz="1200" b="0" i="0" kern="1200" dirty="0">
                <a:solidFill>
                  <a:srgbClr val="00B0F0"/>
                </a:solidFill>
                <a:effectLst/>
                <a:latin typeface="+mn-lt"/>
                <a:ea typeface="+mn-ea"/>
                <a:cs typeface="+mn-cs"/>
              </a:rPr>
              <a:t>internet backbone </a:t>
            </a:r>
            <a:r>
              <a:rPr lang="en-US" sz="1200" b="0" i="0" kern="1200" dirty="0">
                <a:solidFill>
                  <a:schemeClr val="tx1"/>
                </a:solidFill>
                <a:effectLst/>
                <a:latin typeface="+mn-lt"/>
                <a:ea typeface="+mn-ea"/>
                <a:cs typeface="+mn-cs"/>
              </a:rPr>
              <a:t>is made up of the fastest routers, which can deliver 100Gbps trunk speeds. </a:t>
            </a:r>
          </a:p>
          <a:p>
            <a:r>
              <a:rPr lang="en-US" sz="1200" b="0" i="0" kern="1200" dirty="0">
                <a:solidFill>
                  <a:schemeClr val="tx1"/>
                </a:solidFill>
                <a:effectLst/>
                <a:latin typeface="+mn-lt"/>
                <a:ea typeface="+mn-ea"/>
                <a:cs typeface="+mn-cs"/>
              </a:rPr>
              <a:t>These routers are made by vendors including Cisco, Extreme, Huawei, Juniper, and Nokia, and use the border gateway protocol (BGP) to route traffic among themselves.</a:t>
            </a:r>
            <a:endParaRPr lang="en-US" altLang="en-US" dirty="0"/>
          </a:p>
        </p:txBody>
      </p:sp>
      <p:sp>
        <p:nvSpPr>
          <p:cNvPr id="22532" name="Slide Number Placeholder 3">
            <a:extLst>
              <a:ext uri="{FF2B5EF4-FFF2-40B4-BE49-F238E27FC236}">
                <a16:creationId xmlns:a16="http://schemas.microsoft.com/office/drawing/2014/main" id="{48B13307-4BC5-4AF5-B88F-68C8DC355FE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E71376E0-F62D-47B8-BF87-AFBD2EC0A4D0}" type="slidenum">
              <a:rPr lang="en-US" altLang="en-US" smtClean="0">
                <a:latin typeface="Arial" panose="020B0604020202020204" pitchFamily="34" charset="0"/>
                <a:cs typeface="Arial" panose="020B0604020202020204" pitchFamily="34" charset="0"/>
              </a:rPr>
              <a:pPr fontAlgn="base">
                <a:spcBef>
                  <a:spcPct val="0"/>
                </a:spcBef>
                <a:spcAft>
                  <a:spcPct val="0"/>
                </a:spcAft>
              </a:pPr>
              <a:t>8</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6153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489D58B2-2B4A-4955-A60D-FD10983AD6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6A08FDE7-EF92-4E5D-AD0B-22EF272971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4580" name="Slide Number Placeholder 3">
            <a:extLst>
              <a:ext uri="{FF2B5EF4-FFF2-40B4-BE49-F238E27FC236}">
                <a16:creationId xmlns:a16="http://schemas.microsoft.com/office/drawing/2014/main" id="{77AA8932-C28B-4BA5-907C-EBFD2D0A82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433810BC-124E-4003-B382-DE97628022EB}" type="slidenum">
              <a:rPr lang="en-US" altLang="en-US" smtClean="0">
                <a:latin typeface="Arial" panose="020B0604020202020204" pitchFamily="34" charset="0"/>
                <a:cs typeface="Arial" panose="020B0604020202020204" pitchFamily="34" charset="0"/>
              </a:rPr>
              <a:pPr fontAlgn="base">
                <a:spcBef>
                  <a:spcPct val="0"/>
                </a:spcBef>
                <a:spcAft>
                  <a:spcPct val="0"/>
                </a:spcAft>
              </a:pPr>
              <a:t>9</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154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ECA73E8-27BD-409A-BFAF-03B476F92F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3D66BE53-23AE-42A5-9E05-7D99ACAB9E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6628" name="Slide Number Placeholder 3">
            <a:extLst>
              <a:ext uri="{FF2B5EF4-FFF2-40B4-BE49-F238E27FC236}">
                <a16:creationId xmlns:a16="http://schemas.microsoft.com/office/drawing/2014/main" id="{45EA42DC-1461-42B5-809F-2C8E9BAAECA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912E219F-7784-4918-8AF5-6258C6C67CCB}" type="slidenum">
              <a:rPr lang="en-US" altLang="en-US" smtClean="0">
                <a:latin typeface="Arial" panose="020B0604020202020204" pitchFamily="34" charset="0"/>
                <a:cs typeface="Arial" panose="020B0604020202020204" pitchFamily="34" charset="0"/>
              </a:rPr>
              <a:pPr fontAlgn="base">
                <a:spcBef>
                  <a:spcPct val="0"/>
                </a:spcBef>
                <a:spcAft>
                  <a:spcPct val="0"/>
                </a:spcAft>
              </a:pPr>
              <a:t>10</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2629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472D7E70-724D-4393-9BAD-64CBA2E198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6670FECE-6D96-4772-9F3E-78A945B960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buFont typeface="Arial" panose="020B0604020202020204" pitchFamily="34" charset="0"/>
              <a:buChar char="•"/>
            </a:pPr>
            <a:r>
              <a:rPr lang="en-US" b="1" i="0" dirty="0">
                <a:solidFill>
                  <a:srgbClr val="ECECEC"/>
                </a:solidFill>
                <a:effectLst/>
                <a:highlight>
                  <a:srgbClr val="212121"/>
                </a:highlight>
                <a:latin typeface="Söhne"/>
              </a:rPr>
              <a:t>January 1993</a:t>
            </a:r>
            <a:r>
              <a:rPr lang="en-US" b="0" i="0" dirty="0">
                <a:solidFill>
                  <a:srgbClr val="ECECEC"/>
                </a:solidFill>
                <a:effectLst/>
                <a:highlight>
                  <a:srgbClr val="212121"/>
                </a:highlight>
                <a:latin typeface="Söhne"/>
              </a:rPr>
              <a:t>: 5 websites.</a:t>
            </a:r>
          </a:p>
          <a:p>
            <a:pPr algn="l">
              <a:buFont typeface="Arial" panose="020B0604020202020204" pitchFamily="34" charset="0"/>
              <a:buChar char="•"/>
            </a:pPr>
            <a:r>
              <a:rPr lang="en-US" b="1" i="0" dirty="0">
                <a:solidFill>
                  <a:srgbClr val="ECECEC"/>
                </a:solidFill>
                <a:effectLst/>
                <a:highlight>
                  <a:srgbClr val="212121"/>
                </a:highlight>
                <a:latin typeface="Söhne"/>
              </a:rPr>
              <a:t>December 1993</a:t>
            </a:r>
            <a:r>
              <a:rPr lang="en-US" b="0" i="0" dirty="0">
                <a:solidFill>
                  <a:srgbClr val="ECECEC"/>
                </a:solidFill>
                <a:effectLst/>
                <a:highlight>
                  <a:srgbClr val="212121"/>
                </a:highlight>
                <a:latin typeface="Söhne"/>
              </a:rPr>
              <a:t>: 623 websites.</a:t>
            </a:r>
          </a:p>
          <a:p>
            <a:pPr algn="l">
              <a:buFont typeface="Arial" panose="020B0604020202020204" pitchFamily="34" charset="0"/>
              <a:buChar char="•"/>
            </a:pPr>
            <a:r>
              <a:rPr lang="en-US" b="1" i="0" dirty="0">
                <a:solidFill>
                  <a:srgbClr val="ECECEC"/>
                </a:solidFill>
                <a:effectLst/>
                <a:highlight>
                  <a:srgbClr val="212121"/>
                </a:highlight>
                <a:latin typeface="Söhne"/>
              </a:rPr>
              <a:t>June 1995</a:t>
            </a:r>
            <a:r>
              <a:rPr lang="en-US" b="0" i="0" dirty="0">
                <a:solidFill>
                  <a:srgbClr val="ECECEC"/>
                </a:solidFill>
                <a:effectLst/>
                <a:highlight>
                  <a:srgbClr val="212121"/>
                </a:highlight>
                <a:latin typeface="Söhne"/>
              </a:rPr>
              <a:t>: 23,500 websites.</a:t>
            </a:r>
          </a:p>
          <a:p>
            <a:pPr algn="l">
              <a:buFont typeface="Arial" panose="020B0604020202020204" pitchFamily="34" charset="0"/>
              <a:buChar char="•"/>
            </a:pPr>
            <a:r>
              <a:rPr lang="en-US" b="1" i="0" dirty="0">
                <a:solidFill>
                  <a:srgbClr val="ECECEC"/>
                </a:solidFill>
                <a:effectLst/>
                <a:highlight>
                  <a:srgbClr val="212121"/>
                </a:highlight>
                <a:latin typeface="Söhne"/>
              </a:rPr>
              <a:t>January 1996</a:t>
            </a:r>
            <a:r>
              <a:rPr lang="en-US" b="0" i="0" dirty="0">
                <a:solidFill>
                  <a:srgbClr val="ECECEC"/>
                </a:solidFill>
                <a:effectLst/>
                <a:highlight>
                  <a:srgbClr val="212121"/>
                </a:highlight>
                <a:latin typeface="Söhne"/>
              </a:rPr>
              <a:t>: 100,000 websites.</a:t>
            </a:r>
          </a:p>
          <a:p>
            <a:pPr algn="l">
              <a:buFont typeface="Arial" panose="020B0604020202020204" pitchFamily="34" charset="0"/>
              <a:buChar char="•"/>
            </a:pPr>
            <a:r>
              <a:rPr lang="en-US" b="1" i="0" dirty="0">
                <a:solidFill>
                  <a:srgbClr val="ECECEC"/>
                </a:solidFill>
                <a:effectLst/>
                <a:highlight>
                  <a:srgbClr val="212121"/>
                </a:highlight>
                <a:latin typeface="Söhne"/>
              </a:rPr>
              <a:t>January 1997</a:t>
            </a:r>
            <a:r>
              <a:rPr lang="en-US" b="0" i="0" dirty="0">
                <a:solidFill>
                  <a:srgbClr val="ECECEC"/>
                </a:solidFill>
                <a:effectLst/>
                <a:highlight>
                  <a:srgbClr val="212121"/>
                </a:highlight>
                <a:latin typeface="Söhne"/>
              </a:rPr>
              <a:t>: 646,160 websites.</a:t>
            </a:r>
          </a:p>
          <a:p>
            <a:pPr algn="l">
              <a:buFont typeface="Arial" panose="020B0604020202020204" pitchFamily="34" charset="0"/>
              <a:buChar char="•"/>
            </a:pPr>
            <a:r>
              <a:rPr lang="en-US" b="1" i="0" dirty="0">
                <a:solidFill>
                  <a:srgbClr val="ECECEC"/>
                </a:solidFill>
                <a:effectLst/>
                <a:highlight>
                  <a:srgbClr val="212121"/>
                </a:highlight>
                <a:latin typeface="Söhne"/>
              </a:rPr>
              <a:t>August 1997</a:t>
            </a:r>
            <a:r>
              <a:rPr lang="en-US" b="0" i="0" dirty="0">
                <a:solidFill>
                  <a:srgbClr val="ECECEC"/>
                </a:solidFill>
                <a:effectLst/>
                <a:highlight>
                  <a:srgbClr val="212121"/>
                </a:highlight>
                <a:latin typeface="Söhne"/>
              </a:rPr>
              <a:t>: 1,269,800 websites.</a:t>
            </a:r>
          </a:p>
          <a:p>
            <a:pPr algn="l"/>
            <a:r>
              <a:rPr lang="en-US" b="0" i="0" dirty="0">
                <a:solidFill>
                  <a:srgbClr val="ECECEC"/>
                </a:solidFill>
                <a:effectLst/>
                <a:highlight>
                  <a:srgbClr val="212121"/>
                </a:highlight>
                <a:latin typeface="Söhne"/>
              </a:rPr>
              <a:t>This data illustrates the exponential growth of the internet during the mid-1990s and into the late 1990s, particularly with the advent of the World Wide Web and increasing accessibility to internet services. The number of websites increased dramatically over just a few years, reflecting the rapid expansion of online content and services during that period.</a:t>
            </a:r>
          </a:p>
          <a:p>
            <a:endParaRPr lang="en-US" altLang="en-US" dirty="0"/>
          </a:p>
        </p:txBody>
      </p:sp>
      <p:sp>
        <p:nvSpPr>
          <p:cNvPr id="32772" name="Slide Number Placeholder 3">
            <a:extLst>
              <a:ext uri="{FF2B5EF4-FFF2-40B4-BE49-F238E27FC236}">
                <a16:creationId xmlns:a16="http://schemas.microsoft.com/office/drawing/2014/main" id="{B574FC28-D648-4E39-AF25-FBE34974B7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1618528B-7892-4423-9958-A1E21332427B}" type="slidenum">
              <a:rPr lang="en-US" altLang="en-US" smtClean="0">
                <a:latin typeface="Arial" panose="020B0604020202020204" pitchFamily="34" charset="0"/>
                <a:cs typeface="Arial" panose="020B0604020202020204" pitchFamily="34" charset="0"/>
              </a:rPr>
              <a:pPr fontAlgn="base">
                <a:spcBef>
                  <a:spcPct val="0"/>
                </a:spcBef>
                <a:spcAft>
                  <a:spcPct val="0"/>
                </a:spcAft>
              </a:pPr>
              <a:t>11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2574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6668F4C-9DB4-40F5-A4C6-AF8AC836D5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6A3E09DA-6AA8-485B-AFAD-041F7F538D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ECECEC"/>
                </a:solidFill>
                <a:effectLst/>
                <a:highlight>
                  <a:srgbClr val="212121"/>
                </a:highlight>
                <a:latin typeface="Söhne"/>
              </a:rPr>
              <a:t>Hypertext refers to text displayed on a computer or other electronic device that contains hyperlinks, allowing users to navigate easily between different pieces of information. The concept of hypertext originated from the pioneering work of Ted Nelson and others in the 1960s and 1970s, and it became widely popularized with the development of the World Wide Web in the late 20th century.</a:t>
            </a:r>
            <a:endParaRPr lang="en-US" altLang="en-US" dirty="0"/>
          </a:p>
        </p:txBody>
      </p:sp>
      <p:sp>
        <p:nvSpPr>
          <p:cNvPr id="36868" name="Slide Number Placeholder 3">
            <a:extLst>
              <a:ext uri="{FF2B5EF4-FFF2-40B4-BE49-F238E27FC236}">
                <a16:creationId xmlns:a16="http://schemas.microsoft.com/office/drawing/2014/main" id="{5B83498E-EFC4-48A7-B9D7-3801D951E2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F42683E6-F015-4501-B06F-0096CBEE93AA}" type="slidenum">
              <a:rPr lang="en-US" altLang="en-US" smtClean="0">
                <a:latin typeface="Arial" panose="020B0604020202020204" pitchFamily="34" charset="0"/>
                <a:cs typeface="Arial" panose="020B0604020202020204" pitchFamily="34" charset="0"/>
              </a:rPr>
              <a:pPr fontAlgn="base">
                <a:spcBef>
                  <a:spcPct val="0"/>
                </a:spcBef>
                <a:spcAft>
                  <a:spcPct val="0"/>
                </a:spcAft>
              </a:pPr>
              <a:t>12</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1486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DED27E31-D280-496C-80EC-A11EE364EB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6E40195D-9E17-4812-82C1-5703B52E8A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a:extLst>
              <a:ext uri="{FF2B5EF4-FFF2-40B4-BE49-F238E27FC236}">
                <a16:creationId xmlns:a16="http://schemas.microsoft.com/office/drawing/2014/main" id="{CCFE74DC-6BB7-4CCE-A15B-90962110C7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3615EAB2-43DA-4F66-ABE1-8D7F72FF8A5D}" type="slidenum">
              <a:rPr lang="en-US" altLang="en-US" smtClean="0">
                <a:latin typeface="Arial" panose="020B0604020202020204" pitchFamily="34" charset="0"/>
                <a:cs typeface="Arial" panose="020B0604020202020204" pitchFamily="34" charset="0"/>
              </a:rPr>
              <a:pPr fontAlgn="base">
                <a:spcBef>
                  <a:spcPct val="0"/>
                </a:spcBef>
                <a:spcAft>
                  <a:spcPct val="0"/>
                </a:spcAft>
              </a:pPr>
              <a:t>13</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9371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745AFAAB-048F-46FF-A8C4-7392522C76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24135604-A588-4852-B6F3-5877D70976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0964" name="Slide Number Placeholder 3">
            <a:extLst>
              <a:ext uri="{FF2B5EF4-FFF2-40B4-BE49-F238E27FC236}">
                <a16:creationId xmlns:a16="http://schemas.microsoft.com/office/drawing/2014/main" id="{EF55F36C-5007-4B0A-B656-059C7CBFE5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912F6B5B-CA75-43CC-A61C-8B43F2692B5E}" type="slidenum">
              <a:rPr lang="en-US" altLang="en-US" smtClean="0">
                <a:latin typeface="Arial" panose="020B0604020202020204" pitchFamily="34" charset="0"/>
                <a:cs typeface="Arial" panose="020B0604020202020204" pitchFamily="34" charset="0"/>
              </a:rPr>
              <a:pPr fontAlgn="base">
                <a:spcBef>
                  <a:spcPct val="0"/>
                </a:spcBef>
                <a:spcAft>
                  <a:spcPct val="0"/>
                </a:spcAft>
              </a:pPr>
              <a:t>14</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688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A5EF4932-1B5A-4907-A97A-BDAE8F4C6E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2FBB5F54-AD39-415C-A7EB-DF1550ADA8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3012" name="Slide Number Placeholder 3">
            <a:extLst>
              <a:ext uri="{FF2B5EF4-FFF2-40B4-BE49-F238E27FC236}">
                <a16:creationId xmlns:a16="http://schemas.microsoft.com/office/drawing/2014/main" id="{73484726-AA43-4771-BDAC-F12D8A79A1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4E0C5094-0EF4-428D-BCA6-27C3781D6351}" type="slidenum">
              <a:rPr lang="en-US" altLang="en-US" smtClean="0">
                <a:latin typeface="Arial" panose="020B0604020202020204" pitchFamily="34" charset="0"/>
                <a:cs typeface="Arial" panose="020B0604020202020204" pitchFamily="34" charset="0"/>
              </a:rPr>
              <a:pPr fontAlgn="base">
                <a:spcBef>
                  <a:spcPct val="0"/>
                </a:spcBef>
                <a:spcAft>
                  <a:spcPct val="0"/>
                </a:spcAft>
              </a:pPr>
              <a:t>15</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1788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41447D14-84F9-4930-BD39-58CDDD0EE5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29D4BD2B-8CFF-44FE-AA75-F824100B3D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5060" name="Slide Number Placeholder 3">
            <a:extLst>
              <a:ext uri="{FF2B5EF4-FFF2-40B4-BE49-F238E27FC236}">
                <a16:creationId xmlns:a16="http://schemas.microsoft.com/office/drawing/2014/main" id="{9D6F9B8B-4F1A-49A4-9AA8-B85A1A20AC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63B7A6B1-54BF-4CE0-A3ED-F446CC5212DD}" type="slidenum">
              <a:rPr lang="en-US" altLang="en-US" smtClean="0">
                <a:latin typeface="Arial" panose="020B0604020202020204" pitchFamily="34" charset="0"/>
                <a:cs typeface="Arial" panose="020B0604020202020204" pitchFamily="34" charset="0"/>
              </a:rPr>
              <a:pPr fontAlgn="base">
                <a:spcBef>
                  <a:spcPct val="0"/>
                </a:spcBef>
                <a:spcAft>
                  <a:spcPct val="0"/>
                </a:spcAft>
              </a:pPr>
              <a:t>17</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9183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588C7A27-3617-4577-82A9-4FB922E7CF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4C4439B4-AC7A-47B0-B734-561277DE77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Goddady</a:t>
            </a:r>
            <a:r>
              <a:rPr lang="en-US" altLang="en-US" dirty="0"/>
              <a:t>--</a:t>
            </a:r>
          </a:p>
        </p:txBody>
      </p:sp>
      <p:sp>
        <p:nvSpPr>
          <p:cNvPr id="49156" name="Slide Number Placeholder 3">
            <a:extLst>
              <a:ext uri="{FF2B5EF4-FFF2-40B4-BE49-F238E27FC236}">
                <a16:creationId xmlns:a16="http://schemas.microsoft.com/office/drawing/2014/main" id="{0FD0C22F-6003-4124-8B40-EB11E31A9D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E7A77AF3-05D8-4213-B69E-B86A6341422C}" type="slidenum">
              <a:rPr lang="en-US" altLang="en-US" smtClean="0">
                <a:latin typeface="Arial" panose="020B0604020202020204" pitchFamily="34" charset="0"/>
                <a:cs typeface="Arial" panose="020B0604020202020204" pitchFamily="34" charset="0"/>
              </a:rPr>
              <a:pPr fontAlgn="base">
                <a:spcBef>
                  <a:spcPct val="0"/>
                </a:spcBef>
                <a:spcAft>
                  <a:spcPct val="0"/>
                </a:spcAft>
              </a:pPr>
              <a:t>18</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2307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8EE8A2A7-C28C-4E66-A8BF-5B5B48C713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D8194A5C-7CDA-49C7-A8FB-68050A5A4B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1204" name="Slide Number Placeholder 3">
            <a:extLst>
              <a:ext uri="{FF2B5EF4-FFF2-40B4-BE49-F238E27FC236}">
                <a16:creationId xmlns:a16="http://schemas.microsoft.com/office/drawing/2014/main" id="{F260B894-6220-405B-AD43-F5F5C92310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2C7168F5-976E-4C15-A07D-BB1F325CAC03}" type="slidenum">
              <a:rPr lang="en-US" altLang="en-US" smtClean="0">
                <a:latin typeface="Arial" panose="020B0604020202020204" pitchFamily="34" charset="0"/>
                <a:cs typeface="Arial" panose="020B0604020202020204" pitchFamily="34" charset="0"/>
              </a:rPr>
              <a:pPr fontAlgn="base">
                <a:spcBef>
                  <a:spcPct val="0"/>
                </a:spcBef>
                <a:spcAft>
                  <a:spcPct val="0"/>
                </a:spcAft>
              </a:pPr>
              <a:t>19</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408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8EE8A2A7-C28C-4E66-A8BF-5B5B48C713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D8194A5C-7CDA-49C7-A8FB-68050A5A4B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1204" name="Slide Number Placeholder 3">
            <a:extLst>
              <a:ext uri="{FF2B5EF4-FFF2-40B4-BE49-F238E27FC236}">
                <a16:creationId xmlns:a16="http://schemas.microsoft.com/office/drawing/2014/main" id="{F260B894-6220-405B-AD43-F5F5C92310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2C7168F5-976E-4C15-A07D-BB1F325CAC03}" type="slidenum">
              <a:rPr lang="en-US" altLang="en-US" smtClean="0">
                <a:latin typeface="Arial" panose="020B0604020202020204" pitchFamily="34" charset="0"/>
                <a:cs typeface="Arial" panose="020B0604020202020204" pitchFamily="34" charset="0"/>
              </a:rPr>
              <a:pPr fontAlgn="base">
                <a:spcBef>
                  <a:spcPct val="0"/>
                </a:spcBef>
                <a:spcAft>
                  <a:spcPct val="0"/>
                </a:spcAft>
              </a:pPr>
              <a:t>20</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1489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57B1B7EB-0B98-4AC0-9A85-D9AF9F4257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5E5CAF69-B1A7-449E-8AA1-C258DECC01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A </a:t>
            </a:r>
            <a:r>
              <a:rPr lang="en-US" sz="1200" b="0" i="0" kern="1200" dirty="0">
                <a:solidFill>
                  <a:srgbClr val="7030A0"/>
                </a:solidFill>
                <a:effectLst/>
                <a:latin typeface="+mn-lt"/>
                <a:ea typeface="+mn-ea"/>
                <a:cs typeface="+mn-cs"/>
              </a:rPr>
              <a:t>firewall</a:t>
            </a:r>
            <a:r>
              <a:rPr lang="en-US" sz="1200" b="0" i="0" kern="1200" dirty="0">
                <a:solidFill>
                  <a:srgbClr val="00B050"/>
                </a:solidFill>
                <a:effectLst/>
                <a:latin typeface="+mn-lt"/>
                <a:ea typeface="+mn-ea"/>
                <a:cs typeface="+mn-cs"/>
              </a:rPr>
              <a:t> </a:t>
            </a:r>
            <a:r>
              <a:rPr lang="en-US" sz="1200" b="0" i="0" kern="1200" dirty="0">
                <a:solidFill>
                  <a:schemeClr val="tx1"/>
                </a:solidFill>
                <a:effectLst/>
                <a:latin typeface="+mn-lt"/>
                <a:ea typeface="+mn-ea"/>
                <a:cs typeface="+mn-cs"/>
              </a:rPr>
              <a:t>is a security tool that monitors incoming and/or outgoing network traffic to detect and block malicious data packets based on predefined rules, allowing only legitimate traffic to enter your private network. Implemented as hardware, software or both, firewalls are typically your first line of defense against malware, viruses and attackers trying to make it to your organization’s internal network and systems.</a:t>
            </a:r>
            <a:endParaRPr lang="en-US" altLang="en-US" dirty="0"/>
          </a:p>
        </p:txBody>
      </p:sp>
      <p:sp>
        <p:nvSpPr>
          <p:cNvPr id="55300" name="Slide Number Placeholder 3">
            <a:extLst>
              <a:ext uri="{FF2B5EF4-FFF2-40B4-BE49-F238E27FC236}">
                <a16:creationId xmlns:a16="http://schemas.microsoft.com/office/drawing/2014/main" id="{33A0CF12-CBA9-4990-9D1A-6279101182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8352E837-81EE-4D50-87E8-619DA4ACA44E}" type="slidenum">
              <a:rPr lang="en-US" altLang="en-US" smtClean="0">
                <a:latin typeface="Arial" panose="020B0604020202020204" pitchFamily="34" charset="0"/>
                <a:cs typeface="Arial" panose="020B0604020202020204" pitchFamily="34" charset="0"/>
              </a:rPr>
              <a:pPr fontAlgn="base">
                <a:spcBef>
                  <a:spcPct val="0"/>
                </a:spcBef>
                <a:spcAft>
                  <a:spcPct val="0"/>
                </a:spcAft>
              </a:pPr>
              <a:t>21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9347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9BD535-481F-47BC-98C2-94B76FB97DBF}" type="slidenum">
              <a:rPr lang="en-US" altLang="en-US" smtClean="0"/>
              <a:pPr>
                <a:defRPr/>
              </a:pPr>
              <a:t>22</a:t>
            </a:fld>
            <a:endParaRPr lang="en-US" altLang="en-US"/>
          </a:p>
        </p:txBody>
      </p:sp>
    </p:spTree>
    <p:extLst>
      <p:ext uri="{BB962C8B-B14F-4D97-AF65-F5344CB8AC3E}">
        <p14:creationId xmlns:p14="http://schemas.microsoft.com/office/powerpoint/2010/main" val="3554958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9AF3E129-333B-4ECA-B138-E6A23ED4BF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9100ABF7-D932-45CC-8D2D-549AA9CDB6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b="0" i="0" dirty="0">
                <a:solidFill>
                  <a:srgbClr val="1F1F1F"/>
                </a:solidFill>
                <a:effectLst/>
                <a:highlight>
                  <a:srgbClr val="FFFFFF"/>
                </a:highlight>
                <a:latin typeface="Google Sans"/>
              </a:rPr>
              <a:t>The World Wide Web (WWW) relies on a client-server model with some key components working together to deliver information to your screen. Here's a breakdown of the WWW's architecture:</a:t>
            </a:r>
          </a:p>
          <a:p>
            <a:pPr algn="l">
              <a:buFont typeface="Arial" panose="020B0604020202020204" pitchFamily="34" charset="0"/>
              <a:buChar char="•"/>
            </a:pPr>
            <a:r>
              <a:rPr lang="en-US" b="1" i="0" dirty="0">
                <a:solidFill>
                  <a:srgbClr val="1F1F1F"/>
                </a:solidFill>
                <a:effectLst/>
                <a:highlight>
                  <a:srgbClr val="FFFFFF"/>
                </a:highlight>
                <a:latin typeface="Google Sans"/>
              </a:rPr>
              <a:t>Clients:</a:t>
            </a:r>
            <a:r>
              <a:rPr lang="en-US" b="0" i="0" dirty="0">
                <a:solidFill>
                  <a:srgbClr val="1F1F1F"/>
                </a:solidFill>
                <a:effectLst/>
                <a:highlight>
                  <a:srgbClr val="FFFFFF"/>
                </a:highlight>
                <a:latin typeface="Google Sans"/>
              </a:rPr>
              <a:t> These are the programs you use to access the web, most commonly web browsers like Google Chrome, Mozilla Firefox, or Safari. The browser interprets the information received from the server and displays it in a user-friendly way.</a:t>
            </a:r>
          </a:p>
          <a:p>
            <a:pPr algn="l">
              <a:buFont typeface="Arial" panose="020B0604020202020204" pitchFamily="34" charset="0"/>
              <a:buChar char="•"/>
            </a:pPr>
            <a:r>
              <a:rPr lang="en-US" b="1" i="0" dirty="0">
                <a:solidFill>
                  <a:srgbClr val="1F1F1F"/>
                </a:solidFill>
                <a:effectLst/>
                <a:highlight>
                  <a:srgbClr val="FFFFFF"/>
                </a:highlight>
                <a:latin typeface="Google Sans"/>
              </a:rPr>
              <a:t>Servers:</a:t>
            </a:r>
            <a:r>
              <a:rPr lang="en-US" b="0" i="0" dirty="0">
                <a:solidFill>
                  <a:srgbClr val="1F1F1F"/>
                </a:solidFill>
                <a:effectLst/>
                <a:highlight>
                  <a:srgbClr val="FFFFFF"/>
                </a:highlight>
                <a:latin typeface="Google Sans"/>
              </a:rPr>
              <a:t> These are powerful computers that store website files and resources. When you request a webpage through your browser, the server locates the files and sends them back to your device.</a:t>
            </a:r>
          </a:p>
          <a:p>
            <a:endParaRPr lang="en-US" altLang="en-US" dirty="0"/>
          </a:p>
        </p:txBody>
      </p:sp>
      <p:sp>
        <p:nvSpPr>
          <p:cNvPr id="59396" name="Slide Number Placeholder 3">
            <a:extLst>
              <a:ext uri="{FF2B5EF4-FFF2-40B4-BE49-F238E27FC236}">
                <a16:creationId xmlns:a16="http://schemas.microsoft.com/office/drawing/2014/main" id="{6D0D1F16-1448-47AF-B77A-CF970A7979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C20A524F-08CF-4222-B3D3-DD324B283EBF}" type="slidenum">
              <a:rPr lang="en-US" altLang="en-US" smtClean="0">
                <a:latin typeface="Arial" panose="020B0604020202020204" pitchFamily="34" charset="0"/>
                <a:cs typeface="Arial" panose="020B0604020202020204" pitchFamily="34" charset="0"/>
              </a:rPr>
              <a:pPr fontAlgn="base">
                <a:spcBef>
                  <a:spcPct val="0"/>
                </a:spcBef>
                <a:spcAft>
                  <a:spcPct val="0"/>
                </a:spcAft>
              </a:pPr>
              <a:t>23</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921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9AF3E129-333B-4ECA-B138-E6A23ED4BF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9100ABF7-D932-45CC-8D2D-549AA9CDB6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9396" name="Slide Number Placeholder 3">
            <a:extLst>
              <a:ext uri="{FF2B5EF4-FFF2-40B4-BE49-F238E27FC236}">
                <a16:creationId xmlns:a16="http://schemas.microsoft.com/office/drawing/2014/main" id="{6D0D1F16-1448-47AF-B77A-CF970A7979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C20A524F-08CF-4222-B3D3-DD324B283EBF}" type="slidenum">
              <a:rPr lang="en-US" altLang="en-US" smtClean="0">
                <a:latin typeface="Arial" panose="020B0604020202020204" pitchFamily="34" charset="0"/>
                <a:cs typeface="Arial" panose="020B0604020202020204" pitchFamily="34" charset="0"/>
              </a:rPr>
              <a:pPr fontAlgn="base">
                <a:spcBef>
                  <a:spcPct val="0"/>
                </a:spcBef>
                <a:spcAft>
                  <a:spcPct val="0"/>
                </a:spcAft>
              </a:pPr>
              <a:t>24</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729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CAAD9103-4DF9-47F5-995E-B811A2DB84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5B0E7E8D-CC9F-4E83-875C-26C82313E7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1444" name="Slide Number Placeholder 3">
            <a:extLst>
              <a:ext uri="{FF2B5EF4-FFF2-40B4-BE49-F238E27FC236}">
                <a16:creationId xmlns:a16="http://schemas.microsoft.com/office/drawing/2014/main" id="{BF0808E8-47A6-4237-B8BD-C9FD73E8D81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144275D7-3299-4718-A77B-6996F12AE0C8}" type="slidenum">
              <a:rPr lang="en-US" altLang="en-US" smtClean="0">
                <a:latin typeface="Arial" panose="020B0604020202020204" pitchFamily="34" charset="0"/>
                <a:cs typeface="Arial" panose="020B0604020202020204" pitchFamily="34" charset="0"/>
              </a:rPr>
              <a:pPr fontAlgn="base">
                <a:spcBef>
                  <a:spcPct val="0"/>
                </a:spcBef>
                <a:spcAft>
                  <a:spcPct val="0"/>
                </a:spcAft>
              </a:pPr>
              <a:t>25</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2344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14AC9C67-7D53-44E3-922F-59340E6586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6E891155-7A74-4119-9670-8422BBAAA1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3492" name="Slide Number Placeholder 3">
            <a:extLst>
              <a:ext uri="{FF2B5EF4-FFF2-40B4-BE49-F238E27FC236}">
                <a16:creationId xmlns:a16="http://schemas.microsoft.com/office/drawing/2014/main" id="{3B1B74A9-FF8C-4CDB-AA62-1278BBC0A2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9A1370B7-5C9C-4647-8DE6-0F7CE77234F9}" type="slidenum">
              <a:rPr lang="en-US" altLang="en-US" smtClean="0">
                <a:latin typeface="Arial" panose="020B0604020202020204" pitchFamily="34" charset="0"/>
                <a:cs typeface="Arial" panose="020B0604020202020204" pitchFamily="34" charset="0"/>
              </a:rPr>
              <a:pPr fontAlgn="base">
                <a:spcBef>
                  <a:spcPct val="0"/>
                </a:spcBef>
                <a:spcAft>
                  <a:spcPct val="0"/>
                </a:spcAft>
              </a:pPr>
              <a:t>26</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4537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7071554C-78FB-4EF1-AB7D-1F8218FB86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7BB9397D-2F47-48F2-96BA-D079D71930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Slide Number Placeholder 3">
            <a:extLst>
              <a:ext uri="{FF2B5EF4-FFF2-40B4-BE49-F238E27FC236}">
                <a16:creationId xmlns:a16="http://schemas.microsoft.com/office/drawing/2014/main" id="{D6DC201E-6896-4D34-B9C6-FD64D6111B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E77D2261-95EA-4C99-AD6D-50038238874C}" type="slidenum">
              <a:rPr lang="en-US" altLang="en-US" smtClean="0">
                <a:latin typeface="Arial" panose="020B0604020202020204" pitchFamily="34" charset="0"/>
                <a:cs typeface="Arial" panose="020B0604020202020204" pitchFamily="34" charset="0"/>
              </a:rPr>
              <a:pPr fontAlgn="base">
                <a:spcBef>
                  <a:spcPct val="0"/>
                </a:spcBef>
                <a:spcAft>
                  <a:spcPct val="0"/>
                </a:spcAft>
              </a:pPr>
              <a:t>27</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7655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B7DA0271-FC83-4082-8C1F-2E5115BCE7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C3F6C676-E8D8-4620-A031-DA336FC2A3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7588" name="Slide Number Placeholder 3">
            <a:extLst>
              <a:ext uri="{FF2B5EF4-FFF2-40B4-BE49-F238E27FC236}">
                <a16:creationId xmlns:a16="http://schemas.microsoft.com/office/drawing/2014/main" id="{585D6E36-7C06-4BA8-B0D7-6C0F9CD951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A8F2C549-B7B5-4C38-B658-3615C99EF9F3}" type="slidenum">
              <a:rPr lang="en-US" altLang="en-US" smtClean="0">
                <a:latin typeface="Arial" panose="020B0604020202020204" pitchFamily="34" charset="0"/>
                <a:cs typeface="Arial" panose="020B0604020202020204" pitchFamily="34" charset="0"/>
              </a:rPr>
              <a:pPr fontAlgn="base">
                <a:spcBef>
                  <a:spcPct val="0"/>
                </a:spcBef>
                <a:spcAft>
                  <a:spcPct val="0"/>
                </a:spcAft>
              </a:pPr>
              <a:t>28</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23076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6B185052-45D7-43BA-AD05-2C1010C6E3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DF9EEA37-0FA7-4F24-B47C-DA90988A0D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Applet is a special type of program that is embedded in the webpage to generate the dynamic content. It runs inside the browser and works at client side.</a:t>
            </a:r>
            <a:endParaRPr lang="en-US" altLang="en-US" dirty="0"/>
          </a:p>
        </p:txBody>
      </p:sp>
      <p:sp>
        <p:nvSpPr>
          <p:cNvPr id="71684" name="Slide Number Placeholder 3">
            <a:extLst>
              <a:ext uri="{FF2B5EF4-FFF2-40B4-BE49-F238E27FC236}">
                <a16:creationId xmlns:a16="http://schemas.microsoft.com/office/drawing/2014/main" id="{C827FA12-D139-4CC4-B500-EF60A6201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8B3FBE10-C8F8-4E02-8005-84CF3DE7CC99}" type="slidenum">
              <a:rPr lang="en-US" altLang="en-US" smtClean="0">
                <a:latin typeface="Arial" panose="020B0604020202020204" pitchFamily="34" charset="0"/>
                <a:cs typeface="Arial" panose="020B0604020202020204" pitchFamily="34" charset="0"/>
              </a:rPr>
              <a:pPr fontAlgn="base">
                <a:spcBef>
                  <a:spcPct val="0"/>
                </a:spcBef>
                <a:spcAft>
                  <a:spcPct val="0"/>
                </a:spcAft>
              </a:pPr>
              <a:t>29</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2239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DCCF49EF-AF96-4A32-B96C-BC2881DEDA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9A97F88C-8037-45D8-AA98-3ADBA50CBD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E677BA1D-707A-4B1B-B02D-4A1348B676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3A3B19B5-CD20-4077-B05E-77D28A1259B7}" type="slidenum">
              <a:rPr lang="en-US" altLang="en-US" smtClean="0">
                <a:latin typeface="Arial" panose="020B0604020202020204" pitchFamily="34" charset="0"/>
                <a:cs typeface="Arial" panose="020B0604020202020204" pitchFamily="34" charset="0"/>
              </a:rPr>
              <a:pPr fontAlgn="base">
                <a:spcBef>
                  <a:spcPct val="0"/>
                </a:spcBef>
                <a:spcAft>
                  <a:spcPct val="0"/>
                </a:spcAft>
              </a:pPr>
              <a:t>30</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8227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A0F24739-95A0-4F22-A40E-18140DAFCF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3778129B-953D-4C94-BEEC-AB2B3DE9C0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7828" name="Slide Number Placeholder 3">
            <a:extLst>
              <a:ext uri="{FF2B5EF4-FFF2-40B4-BE49-F238E27FC236}">
                <a16:creationId xmlns:a16="http://schemas.microsoft.com/office/drawing/2014/main" id="{39D6D5BC-E43F-4952-B62A-03ED33F01F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BC857E84-F222-42FC-AD77-6186D48B45F0}" type="slidenum">
              <a:rPr lang="en-US" altLang="en-US" smtClean="0">
                <a:latin typeface="Arial" panose="020B0604020202020204" pitchFamily="34" charset="0"/>
                <a:cs typeface="Arial" panose="020B0604020202020204" pitchFamily="34" charset="0"/>
              </a:rPr>
              <a:pPr fontAlgn="base">
                <a:spcBef>
                  <a:spcPct val="0"/>
                </a:spcBef>
                <a:spcAft>
                  <a:spcPct val="0"/>
                </a:spcAft>
              </a:pPr>
              <a:t>31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38475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048BDC09-0A91-465B-A90F-8EA427A175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83E323B4-981E-4640-B32A-35D450DE78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a:extLst>
              <a:ext uri="{FF2B5EF4-FFF2-40B4-BE49-F238E27FC236}">
                <a16:creationId xmlns:a16="http://schemas.microsoft.com/office/drawing/2014/main" id="{8A2B0CCC-D59B-4C85-B74C-C2C7817381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A3D2D6BE-9366-4854-AD11-B6C02142DD43}" type="slidenum">
              <a:rPr lang="en-US" altLang="en-US" smtClean="0">
                <a:latin typeface="Arial" panose="020B0604020202020204" pitchFamily="34" charset="0"/>
                <a:cs typeface="Arial" panose="020B0604020202020204" pitchFamily="34" charset="0"/>
              </a:rPr>
              <a:pPr fontAlgn="base">
                <a:spcBef>
                  <a:spcPct val="0"/>
                </a:spcBef>
                <a:spcAft>
                  <a:spcPct val="0"/>
                </a:spcAft>
              </a:pPr>
              <a:t>32</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4992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9">
            <a:extLst>
              <a:ext uri="{FF2B5EF4-FFF2-40B4-BE49-F238E27FC236}">
                <a16:creationId xmlns:a16="http://schemas.microsoft.com/office/drawing/2014/main" id="{F4B9DBA5-6C79-4027-9F75-4F9ABBC5125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None/>
            </a:pPr>
            <a:fld id="{2A124888-934D-455A-8A0E-F0DF2276B271}" type="slidenum">
              <a:rPr lang="fi-FI" altLang="en-US" smtClean="0">
                <a:latin typeface="Times New Roman" panose="02020603050405020304" pitchFamily="18" charset="0"/>
              </a:rPr>
              <a:pPr fontAlgn="base">
                <a:spcBef>
                  <a:spcPct val="0"/>
                </a:spcBef>
                <a:spcAft>
                  <a:spcPct val="0"/>
                </a:spcAft>
                <a:buFont typeface="Wingdings" panose="05000000000000000000" pitchFamily="2" charset="2"/>
                <a:buNone/>
              </a:pPr>
              <a:t>33</a:t>
            </a:fld>
            <a:endParaRPr lang="fi-FI" altLang="en-US">
              <a:latin typeface="Times New Roman" panose="02020603050405020304" pitchFamily="18" charset="0"/>
            </a:endParaRPr>
          </a:p>
        </p:txBody>
      </p:sp>
      <p:sp>
        <p:nvSpPr>
          <p:cNvPr id="92163" name="Text Box 2">
            <a:extLst>
              <a:ext uri="{FF2B5EF4-FFF2-40B4-BE49-F238E27FC236}">
                <a16:creationId xmlns:a16="http://schemas.microsoft.com/office/drawing/2014/main" id="{9A9C57EB-ADB4-4D11-B2AD-F24F815DCB3C}"/>
              </a:ext>
            </a:extLst>
          </p:cNvPr>
          <p:cNvSpPr txBox="1">
            <a:spLocks noChangeArrowheads="1"/>
          </p:cNvSpPr>
          <p:nvPr/>
        </p:nvSpPr>
        <p:spPr bwMode="auto">
          <a:xfrm>
            <a:off x="1338263" y="522288"/>
            <a:ext cx="6464300" cy="2568575"/>
          </a:xfrm>
          <a:prstGeom prst="rect">
            <a:avLst/>
          </a:prstGeom>
          <a:solidFill>
            <a:srgbClr val="FFFFFF"/>
          </a:solidFill>
          <a:ln w="9360">
            <a:solidFill>
              <a:srgbClr val="000000"/>
            </a:solidFill>
            <a:miter lim="800000"/>
            <a:headEnd/>
            <a:tailEnd/>
          </a:ln>
        </p:spPr>
        <p:txBody>
          <a:bodyPr wrap="none" lIns="80165" tIns="40083" rIns="80165" bIns="40083" anchor="ct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latin typeface="Arial" panose="020B0604020202020204" pitchFamily="34" charset="0"/>
            </a:endParaRPr>
          </a:p>
        </p:txBody>
      </p:sp>
      <p:sp>
        <p:nvSpPr>
          <p:cNvPr id="92164" name="Rectangle 3">
            <a:extLst>
              <a:ext uri="{FF2B5EF4-FFF2-40B4-BE49-F238E27FC236}">
                <a16:creationId xmlns:a16="http://schemas.microsoft.com/office/drawing/2014/main" id="{F4AB69DE-621C-4648-A8E2-10B781C54D90}"/>
              </a:ext>
            </a:extLst>
          </p:cNvPr>
          <p:cNvSpPr>
            <a:spLocks noGrp="1" noChangeArrowheads="1"/>
          </p:cNvSpPr>
          <p:nvPr>
            <p:ph type="body"/>
          </p:nvPr>
        </p:nvSpPr>
        <p:spPr bwMode="auto">
          <a:xfrm>
            <a:off x="914400" y="3257550"/>
            <a:ext cx="7308850" cy="3084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b="1" dirty="0">
                <a:solidFill>
                  <a:srgbClr val="111111"/>
                </a:solidFill>
                <a:latin typeface="Roboto" panose="02000000000000000000" pitchFamily="2" charset="0"/>
              </a:rPr>
              <a:t>HTTP is a generic and stateless protocol</a:t>
            </a:r>
            <a:r>
              <a:rPr lang="en-US" altLang="en-US" dirty="0">
                <a:solidFill>
                  <a:srgbClr val="111111"/>
                </a:solidFill>
                <a:latin typeface="Roboto" panose="02000000000000000000" pitchFamily="2" charset="0"/>
              </a:rPr>
              <a:t> which can be used for other purposes as well using extensions of its request methods, error codes, and headers. </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dirty="0">
                <a:solidFill>
                  <a:srgbClr val="111111"/>
                </a:solidFill>
                <a:latin typeface="Roboto" panose="02000000000000000000" pitchFamily="2" charset="0"/>
              </a:rPr>
              <a:t>Basically, HTTP is a TCP/IP based communication protocol, that is used to deliver data (HTML files, image files, query results, etc.) on the World Wide Web.</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516948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9">
            <a:extLst>
              <a:ext uri="{FF2B5EF4-FFF2-40B4-BE49-F238E27FC236}">
                <a16:creationId xmlns:a16="http://schemas.microsoft.com/office/drawing/2014/main" id="{F5C3DAED-8C81-42B7-9A44-E2BF5904857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None/>
            </a:pPr>
            <a:fld id="{78A549C7-3518-4165-9AEF-CB99FB51D370}" type="slidenum">
              <a:rPr lang="fi-FI" altLang="en-US" smtClean="0">
                <a:latin typeface="Times New Roman" panose="02020603050405020304" pitchFamily="18" charset="0"/>
              </a:rPr>
              <a:pPr fontAlgn="base">
                <a:spcBef>
                  <a:spcPct val="0"/>
                </a:spcBef>
                <a:spcAft>
                  <a:spcPct val="0"/>
                </a:spcAft>
                <a:buFont typeface="Wingdings" panose="05000000000000000000" pitchFamily="2" charset="2"/>
                <a:buNone/>
              </a:pPr>
              <a:t>34</a:t>
            </a:fld>
            <a:endParaRPr lang="fi-FI" altLang="en-US">
              <a:latin typeface="Times New Roman" panose="02020603050405020304" pitchFamily="18" charset="0"/>
            </a:endParaRPr>
          </a:p>
        </p:txBody>
      </p:sp>
      <p:sp>
        <p:nvSpPr>
          <p:cNvPr id="94211" name="Text Box 2">
            <a:extLst>
              <a:ext uri="{FF2B5EF4-FFF2-40B4-BE49-F238E27FC236}">
                <a16:creationId xmlns:a16="http://schemas.microsoft.com/office/drawing/2014/main" id="{FD8C7940-EE0C-4BE7-85DD-84AA3BD88311}"/>
              </a:ext>
            </a:extLst>
          </p:cNvPr>
          <p:cNvSpPr txBox="1">
            <a:spLocks noChangeArrowheads="1"/>
          </p:cNvSpPr>
          <p:nvPr/>
        </p:nvSpPr>
        <p:spPr bwMode="auto">
          <a:xfrm>
            <a:off x="1338263" y="522288"/>
            <a:ext cx="6461125" cy="2568575"/>
          </a:xfrm>
          <a:prstGeom prst="rect">
            <a:avLst/>
          </a:prstGeom>
          <a:solidFill>
            <a:srgbClr val="FFFFFF"/>
          </a:solidFill>
          <a:ln w="9525">
            <a:solidFill>
              <a:srgbClr val="000000"/>
            </a:solidFill>
            <a:miter lim="800000"/>
            <a:headEnd/>
            <a:tailEnd/>
          </a:ln>
        </p:spPr>
        <p:txBody>
          <a:bodyPr wrap="none" lIns="80165" tIns="40083" rIns="80165" bIns="40083" anchor="ct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latin typeface="Arial" panose="020B0604020202020204" pitchFamily="34" charset="0"/>
            </a:endParaRPr>
          </a:p>
        </p:txBody>
      </p:sp>
      <p:sp>
        <p:nvSpPr>
          <p:cNvPr id="94212" name="Rectangle 3">
            <a:extLst>
              <a:ext uri="{FF2B5EF4-FFF2-40B4-BE49-F238E27FC236}">
                <a16:creationId xmlns:a16="http://schemas.microsoft.com/office/drawing/2014/main" id="{AEEFA49D-0D61-4D97-973E-5A64183FB6BA}"/>
              </a:ext>
            </a:extLst>
          </p:cNvPr>
          <p:cNvSpPr>
            <a:spLocks noGrp="1" noChangeArrowheads="1"/>
          </p:cNvSpPr>
          <p:nvPr>
            <p:ph type="body"/>
          </p:nvPr>
        </p:nvSpPr>
        <p:spPr bwMode="auto">
          <a:xfrm>
            <a:off x="914400" y="3257550"/>
            <a:ext cx="7308850" cy="3084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latin typeface="Times New Roman" panose="02020603050405020304" pitchFamily="18" charset="0"/>
            </a:endParaRPr>
          </a:p>
        </p:txBody>
      </p:sp>
    </p:spTree>
    <p:extLst>
      <p:ext uri="{BB962C8B-B14F-4D97-AF65-F5344CB8AC3E}">
        <p14:creationId xmlns:p14="http://schemas.microsoft.com/office/powerpoint/2010/main" val="7862547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9">
            <a:extLst>
              <a:ext uri="{FF2B5EF4-FFF2-40B4-BE49-F238E27FC236}">
                <a16:creationId xmlns:a16="http://schemas.microsoft.com/office/drawing/2014/main" id="{F5C3DAED-8C81-42B7-9A44-E2BF5904857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None/>
            </a:pPr>
            <a:fld id="{78A549C7-3518-4165-9AEF-CB99FB51D370}" type="slidenum">
              <a:rPr lang="fi-FI" altLang="en-US" smtClean="0">
                <a:latin typeface="Times New Roman" panose="02020603050405020304" pitchFamily="18" charset="0"/>
              </a:rPr>
              <a:pPr fontAlgn="base">
                <a:spcBef>
                  <a:spcPct val="0"/>
                </a:spcBef>
                <a:spcAft>
                  <a:spcPct val="0"/>
                </a:spcAft>
                <a:buFont typeface="Wingdings" panose="05000000000000000000" pitchFamily="2" charset="2"/>
                <a:buNone/>
              </a:pPr>
              <a:t>35</a:t>
            </a:fld>
            <a:endParaRPr lang="fi-FI" altLang="en-US">
              <a:latin typeface="Times New Roman" panose="02020603050405020304" pitchFamily="18" charset="0"/>
            </a:endParaRPr>
          </a:p>
        </p:txBody>
      </p:sp>
      <p:sp>
        <p:nvSpPr>
          <p:cNvPr id="94211" name="Text Box 2">
            <a:extLst>
              <a:ext uri="{FF2B5EF4-FFF2-40B4-BE49-F238E27FC236}">
                <a16:creationId xmlns:a16="http://schemas.microsoft.com/office/drawing/2014/main" id="{FD8C7940-EE0C-4BE7-85DD-84AA3BD88311}"/>
              </a:ext>
            </a:extLst>
          </p:cNvPr>
          <p:cNvSpPr txBox="1">
            <a:spLocks noChangeArrowheads="1"/>
          </p:cNvSpPr>
          <p:nvPr/>
        </p:nvSpPr>
        <p:spPr bwMode="auto">
          <a:xfrm>
            <a:off x="1338263" y="522288"/>
            <a:ext cx="6461125" cy="2568575"/>
          </a:xfrm>
          <a:prstGeom prst="rect">
            <a:avLst/>
          </a:prstGeom>
          <a:solidFill>
            <a:srgbClr val="FFFFFF"/>
          </a:solidFill>
          <a:ln w="9525">
            <a:solidFill>
              <a:srgbClr val="000000"/>
            </a:solidFill>
            <a:miter lim="800000"/>
            <a:headEnd/>
            <a:tailEnd/>
          </a:ln>
        </p:spPr>
        <p:txBody>
          <a:bodyPr wrap="none" lIns="80165" tIns="40083" rIns="80165" bIns="40083" anchor="ct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latin typeface="Arial" panose="020B0604020202020204" pitchFamily="34" charset="0"/>
            </a:endParaRPr>
          </a:p>
        </p:txBody>
      </p:sp>
      <p:sp>
        <p:nvSpPr>
          <p:cNvPr id="94212" name="Rectangle 3">
            <a:extLst>
              <a:ext uri="{FF2B5EF4-FFF2-40B4-BE49-F238E27FC236}">
                <a16:creationId xmlns:a16="http://schemas.microsoft.com/office/drawing/2014/main" id="{AEEFA49D-0D61-4D97-973E-5A64183FB6BA}"/>
              </a:ext>
            </a:extLst>
          </p:cNvPr>
          <p:cNvSpPr>
            <a:spLocks noGrp="1" noChangeArrowheads="1"/>
          </p:cNvSpPr>
          <p:nvPr>
            <p:ph type="body"/>
          </p:nvPr>
        </p:nvSpPr>
        <p:spPr bwMode="auto">
          <a:xfrm>
            <a:off x="914400" y="3257550"/>
            <a:ext cx="7308850" cy="3084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latin typeface="Times New Roman" panose="02020603050405020304" pitchFamily="18" charset="0"/>
            </a:endParaRPr>
          </a:p>
        </p:txBody>
      </p:sp>
    </p:spTree>
    <p:extLst>
      <p:ext uri="{BB962C8B-B14F-4D97-AF65-F5344CB8AC3E}">
        <p14:creationId xmlns:p14="http://schemas.microsoft.com/office/powerpoint/2010/main" val="28027858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25B696B9-BFCC-4098-935D-D506EF1581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2DD63C82-1D86-4964-8F90-A6BDCC8CD6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8308" name="Slide Number Placeholder 3">
            <a:extLst>
              <a:ext uri="{FF2B5EF4-FFF2-40B4-BE49-F238E27FC236}">
                <a16:creationId xmlns:a16="http://schemas.microsoft.com/office/drawing/2014/main" id="{ACFC9EE7-D53E-4490-A6BE-4E7E19CB52B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5BA1B285-5945-4D26-A970-7212E9AC99C0}" type="slidenum">
              <a:rPr lang="en-US" altLang="en-US" smtClean="0">
                <a:latin typeface="Arial" panose="020B0604020202020204" pitchFamily="34" charset="0"/>
                <a:cs typeface="Arial" panose="020B0604020202020204" pitchFamily="34" charset="0"/>
              </a:rPr>
              <a:pPr fontAlgn="base">
                <a:spcBef>
                  <a:spcPct val="0"/>
                </a:spcBef>
                <a:spcAft>
                  <a:spcPct val="0"/>
                </a:spcAft>
              </a:pPr>
              <a:t>36</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4668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DD12B84B-D559-4EC2-8784-C56CC7F2DF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383B7F76-F555-4097-BFBF-D83F838152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0356" name="Slide Number Placeholder 3">
            <a:extLst>
              <a:ext uri="{FF2B5EF4-FFF2-40B4-BE49-F238E27FC236}">
                <a16:creationId xmlns:a16="http://schemas.microsoft.com/office/drawing/2014/main" id="{130645A7-194C-4606-8897-36146B2C86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70A96907-1BFD-49FB-81C8-777621D5713C}" type="slidenum">
              <a:rPr lang="en-US" altLang="en-US" smtClean="0">
                <a:latin typeface="Arial" panose="020B0604020202020204" pitchFamily="34" charset="0"/>
                <a:cs typeface="Arial" panose="020B0604020202020204" pitchFamily="34" charset="0"/>
              </a:rPr>
              <a:pPr fontAlgn="base">
                <a:spcBef>
                  <a:spcPct val="0"/>
                </a:spcBef>
                <a:spcAft>
                  <a:spcPct val="0"/>
                </a:spcAft>
              </a:pPr>
              <a:t>37</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07057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3CCC7BD7-7FE1-4BEA-8272-DD849B1656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a:extLst>
              <a:ext uri="{FF2B5EF4-FFF2-40B4-BE49-F238E27FC236}">
                <a16:creationId xmlns:a16="http://schemas.microsoft.com/office/drawing/2014/main" id="{62C50B1C-B540-4599-A09A-9517CA6524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4452" name="Slide Number Placeholder 3">
            <a:extLst>
              <a:ext uri="{FF2B5EF4-FFF2-40B4-BE49-F238E27FC236}">
                <a16:creationId xmlns:a16="http://schemas.microsoft.com/office/drawing/2014/main" id="{52570781-BB95-4D56-A202-886D8FB653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64539814-848D-4759-8954-FB1E58A2607E}" type="slidenum">
              <a:rPr lang="en-US" altLang="en-US" smtClean="0">
                <a:latin typeface="Arial" panose="020B0604020202020204" pitchFamily="34" charset="0"/>
                <a:cs typeface="Arial" panose="020B0604020202020204" pitchFamily="34" charset="0"/>
              </a:rPr>
              <a:pPr fontAlgn="base">
                <a:spcBef>
                  <a:spcPct val="0"/>
                </a:spcBef>
                <a:spcAft>
                  <a:spcPct val="0"/>
                </a:spcAft>
              </a:pPr>
              <a:t>38</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7261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9">
            <a:extLst>
              <a:ext uri="{FF2B5EF4-FFF2-40B4-BE49-F238E27FC236}">
                <a16:creationId xmlns:a16="http://schemas.microsoft.com/office/drawing/2014/main" id="{79B08D5B-4148-4873-9687-C10C8492705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None/>
            </a:pPr>
            <a:fld id="{76E7B019-3D37-4767-9CAF-87764EDC3056}" type="slidenum">
              <a:rPr lang="fi-FI" altLang="en-US" smtClean="0">
                <a:latin typeface="Times New Roman" panose="02020603050405020304" pitchFamily="18" charset="0"/>
              </a:rPr>
              <a:pPr fontAlgn="base">
                <a:spcBef>
                  <a:spcPct val="0"/>
                </a:spcBef>
                <a:spcAft>
                  <a:spcPct val="0"/>
                </a:spcAft>
                <a:buFont typeface="Wingdings" panose="05000000000000000000" pitchFamily="2" charset="2"/>
                <a:buNone/>
              </a:pPr>
              <a:t>39</a:t>
            </a:fld>
            <a:endParaRPr lang="fi-FI" altLang="en-US">
              <a:latin typeface="Times New Roman" panose="02020603050405020304" pitchFamily="18" charset="0"/>
            </a:endParaRPr>
          </a:p>
        </p:txBody>
      </p:sp>
      <p:sp>
        <p:nvSpPr>
          <p:cNvPr id="106499" name="Text Box 2">
            <a:extLst>
              <a:ext uri="{FF2B5EF4-FFF2-40B4-BE49-F238E27FC236}">
                <a16:creationId xmlns:a16="http://schemas.microsoft.com/office/drawing/2014/main" id="{5AF4480A-473C-4356-ACFE-00F4915911E2}"/>
              </a:ext>
            </a:extLst>
          </p:cNvPr>
          <p:cNvSpPr txBox="1">
            <a:spLocks noChangeArrowheads="1"/>
          </p:cNvSpPr>
          <p:nvPr/>
        </p:nvSpPr>
        <p:spPr bwMode="auto">
          <a:xfrm>
            <a:off x="1338263" y="522288"/>
            <a:ext cx="6461125" cy="2568575"/>
          </a:xfrm>
          <a:prstGeom prst="rect">
            <a:avLst/>
          </a:prstGeom>
          <a:solidFill>
            <a:srgbClr val="FFFFFF"/>
          </a:solidFill>
          <a:ln w="9525">
            <a:solidFill>
              <a:srgbClr val="000000"/>
            </a:solidFill>
            <a:miter lim="800000"/>
            <a:headEnd/>
            <a:tailEnd/>
          </a:ln>
        </p:spPr>
        <p:txBody>
          <a:bodyPr wrap="none" lIns="80165" tIns="40083" rIns="80165" bIns="40083" anchor="ct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latin typeface="Arial" panose="020B0604020202020204" pitchFamily="34" charset="0"/>
            </a:endParaRPr>
          </a:p>
        </p:txBody>
      </p:sp>
      <p:sp>
        <p:nvSpPr>
          <p:cNvPr id="106500" name="Rectangle 3">
            <a:extLst>
              <a:ext uri="{FF2B5EF4-FFF2-40B4-BE49-F238E27FC236}">
                <a16:creationId xmlns:a16="http://schemas.microsoft.com/office/drawing/2014/main" id="{4884798A-6E9F-46C7-81D0-D699EE4D3BA7}"/>
              </a:ext>
            </a:extLst>
          </p:cNvPr>
          <p:cNvSpPr>
            <a:spLocks noGrp="1" noChangeArrowheads="1"/>
          </p:cNvSpPr>
          <p:nvPr>
            <p:ph type="body"/>
          </p:nvPr>
        </p:nvSpPr>
        <p:spPr bwMode="auto">
          <a:xfrm>
            <a:off x="914400" y="3257550"/>
            <a:ext cx="7308850" cy="3084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r>
              <a:rPr lang="en-US" altLang="en-US" b="1" dirty="0">
                <a:latin typeface="Times New Roman" panose="02020603050405020304" pitchFamily="18" charset="0"/>
              </a:rPr>
              <a:t>500 internal server error-server failed</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web server receives the request and attempts to process it.</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However, during the processing of the request, an unexpected error occurs. This error could be due to various reasons such as a misconfiguration, programming error, insufficient server resources, database connection issues, or a bug in the server-side code.</a:t>
            </a:r>
          </a:p>
          <a:p>
            <a:pPr eaLnBrk="1" hangingPunct="1">
              <a:spcBef>
                <a:spcPct val="0"/>
              </a:spcBef>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397909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9">
            <a:extLst>
              <a:ext uri="{FF2B5EF4-FFF2-40B4-BE49-F238E27FC236}">
                <a16:creationId xmlns:a16="http://schemas.microsoft.com/office/drawing/2014/main" id="{B4C9767C-AC40-4FCA-B249-70E3C04CAE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None/>
            </a:pPr>
            <a:fld id="{160C9506-CD21-4315-AE28-5BE3E7912DF2}" type="slidenum">
              <a:rPr lang="fi-FI" altLang="en-US" smtClean="0">
                <a:latin typeface="Times New Roman" panose="02020603050405020304" pitchFamily="18" charset="0"/>
              </a:rPr>
              <a:pPr fontAlgn="base">
                <a:spcBef>
                  <a:spcPct val="0"/>
                </a:spcBef>
                <a:spcAft>
                  <a:spcPct val="0"/>
                </a:spcAft>
                <a:buFont typeface="Wingdings" panose="05000000000000000000" pitchFamily="2" charset="2"/>
                <a:buNone/>
              </a:pPr>
              <a:t>40</a:t>
            </a:fld>
            <a:endParaRPr lang="fi-FI" altLang="en-US">
              <a:latin typeface="Times New Roman" panose="02020603050405020304" pitchFamily="18" charset="0"/>
            </a:endParaRPr>
          </a:p>
        </p:txBody>
      </p:sp>
      <p:sp>
        <p:nvSpPr>
          <p:cNvPr id="108547" name="Text Box 2">
            <a:extLst>
              <a:ext uri="{FF2B5EF4-FFF2-40B4-BE49-F238E27FC236}">
                <a16:creationId xmlns:a16="http://schemas.microsoft.com/office/drawing/2014/main" id="{8F0E371D-6764-4605-B26F-32C311594D99}"/>
              </a:ext>
            </a:extLst>
          </p:cNvPr>
          <p:cNvSpPr txBox="1">
            <a:spLocks noChangeArrowheads="1"/>
          </p:cNvSpPr>
          <p:nvPr/>
        </p:nvSpPr>
        <p:spPr bwMode="auto">
          <a:xfrm>
            <a:off x="1338263" y="522288"/>
            <a:ext cx="6461125" cy="2568575"/>
          </a:xfrm>
          <a:prstGeom prst="rect">
            <a:avLst/>
          </a:prstGeom>
          <a:solidFill>
            <a:srgbClr val="FFFFFF"/>
          </a:solidFill>
          <a:ln w="9525">
            <a:solidFill>
              <a:srgbClr val="000000"/>
            </a:solidFill>
            <a:miter lim="800000"/>
            <a:headEnd/>
            <a:tailEnd/>
          </a:ln>
        </p:spPr>
        <p:txBody>
          <a:bodyPr wrap="none" lIns="80165" tIns="40083" rIns="80165" bIns="40083" anchor="ct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latin typeface="Arial" panose="020B0604020202020204" pitchFamily="34" charset="0"/>
            </a:endParaRPr>
          </a:p>
        </p:txBody>
      </p:sp>
      <p:sp>
        <p:nvSpPr>
          <p:cNvPr id="108548" name="Rectangle 3">
            <a:extLst>
              <a:ext uri="{FF2B5EF4-FFF2-40B4-BE49-F238E27FC236}">
                <a16:creationId xmlns:a16="http://schemas.microsoft.com/office/drawing/2014/main" id="{CD1678DC-93E8-4CA4-8426-23172A277D5E}"/>
              </a:ext>
            </a:extLst>
          </p:cNvPr>
          <p:cNvSpPr>
            <a:spLocks noGrp="1" noChangeArrowheads="1"/>
          </p:cNvSpPr>
          <p:nvPr>
            <p:ph type="body"/>
          </p:nvPr>
        </p:nvSpPr>
        <p:spPr bwMode="auto">
          <a:xfrm>
            <a:off x="914400" y="3257550"/>
            <a:ext cx="7308850" cy="3084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latin typeface="Times New Roman" panose="02020603050405020304" pitchFamily="18" charset="0"/>
            </a:endParaRPr>
          </a:p>
        </p:txBody>
      </p:sp>
    </p:spTree>
    <p:extLst>
      <p:ext uri="{BB962C8B-B14F-4D97-AF65-F5344CB8AC3E}">
        <p14:creationId xmlns:p14="http://schemas.microsoft.com/office/powerpoint/2010/main" val="25033270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625B4FEA-9483-4C13-BAD9-661F208A5F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a:extLst>
              <a:ext uri="{FF2B5EF4-FFF2-40B4-BE49-F238E27FC236}">
                <a16:creationId xmlns:a16="http://schemas.microsoft.com/office/drawing/2014/main" id="{A89BA59E-D980-4B4E-B96C-FE8E97BF5F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0596" name="Slide Number Placeholder 3">
            <a:extLst>
              <a:ext uri="{FF2B5EF4-FFF2-40B4-BE49-F238E27FC236}">
                <a16:creationId xmlns:a16="http://schemas.microsoft.com/office/drawing/2014/main" id="{8FD206B2-33B9-42B1-A8E8-09687C6B93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2902C5D2-8A51-407E-82A3-88769F35BEF8}" type="slidenum">
              <a:rPr lang="en-US" altLang="en-US" smtClean="0">
                <a:latin typeface="Arial" panose="020B0604020202020204" pitchFamily="34" charset="0"/>
                <a:cs typeface="Arial" panose="020B0604020202020204" pitchFamily="34" charset="0"/>
              </a:rPr>
              <a:pPr fontAlgn="base">
                <a:spcBef>
                  <a:spcPct val="0"/>
                </a:spcBef>
                <a:spcAft>
                  <a:spcPct val="0"/>
                </a:spcAft>
              </a:pPr>
              <a:t>41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75227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18F986FA-6A62-4376-81E6-6D23C1F1ED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BBF65A7D-15B6-4F20-A4DC-FFE238E450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44" name="Slide Number Placeholder 3">
            <a:extLst>
              <a:ext uri="{FF2B5EF4-FFF2-40B4-BE49-F238E27FC236}">
                <a16:creationId xmlns:a16="http://schemas.microsoft.com/office/drawing/2014/main" id="{A7E60248-DFCA-4583-A2BA-E4F66ED148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C73D7307-2205-467D-AE3D-CF6CDD606A63}" type="slidenum">
              <a:rPr lang="en-US" altLang="en-US" smtClean="0">
                <a:latin typeface="Arial" panose="020B0604020202020204" pitchFamily="34" charset="0"/>
                <a:cs typeface="Arial" panose="020B0604020202020204" pitchFamily="34" charset="0"/>
              </a:rPr>
              <a:pPr fontAlgn="base">
                <a:spcBef>
                  <a:spcPct val="0"/>
                </a:spcBef>
                <a:spcAft>
                  <a:spcPct val="0"/>
                </a:spcAft>
              </a:pPr>
              <a:t>42</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13520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ECC003CE-15EF-4D05-AD54-6B56BE9A9F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0F05197B-C230-4316-AD6F-7910F42A76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8788" name="Slide Number Placeholder 3">
            <a:extLst>
              <a:ext uri="{FF2B5EF4-FFF2-40B4-BE49-F238E27FC236}">
                <a16:creationId xmlns:a16="http://schemas.microsoft.com/office/drawing/2014/main" id="{2E5CCECF-3888-47A5-B5E7-597AF1BE52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A079DB9B-9966-4119-9AED-CB0EBC30B929}" type="slidenum">
              <a:rPr lang="en-US" altLang="en-US" smtClean="0">
                <a:latin typeface="Arial" panose="020B0604020202020204" pitchFamily="34" charset="0"/>
                <a:cs typeface="Arial" panose="020B0604020202020204" pitchFamily="34" charset="0"/>
              </a:rPr>
              <a:pPr fontAlgn="base">
                <a:spcBef>
                  <a:spcPct val="0"/>
                </a:spcBef>
                <a:spcAft>
                  <a:spcPct val="0"/>
                </a:spcAft>
              </a:pPr>
              <a:t>43</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2876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6C9D1774-0845-4EEB-8C84-7AB3795E25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0D9AC929-1D5C-4238-8E65-6B5CBC71A8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0836" name="Slide Number Placeholder 3">
            <a:extLst>
              <a:ext uri="{FF2B5EF4-FFF2-40B4-BE49-F238E27FC236}">
                <a16:creationId xmlns:a16="http://schemas.microsoft.com/office/drawing/2014/main" id="{7D29E09B-76F1-4D9A-8B25-0F5B521FC1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A32CFB51-1C31-4C48-9AA2-62B2A9665F65}" type="slidenum">
              <a:rPr lang="en-US" altLang="en-US" smtClean="0">
                <a:latin typeface="Arial" panose="020B0604020202020204" pitchFamily="34" charset="0"/>
                <a:cs typeface="Arial" panose="020B0604020202020204" pitchFamily="34" charset="0"/>
              </a:rPr>
              <a:pPr fontAlgn="base">
                <a:spcBef>
                  <a:spcPct val="0"/>
                </a:spcBef>
                <a:spcAft>
                  <a:spcPct val="0"/>
                </a:spcAft>
              </a:pPr>
              <a:t>44</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07433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8F2689DD-38EF-4497-A80F-30E06F5A53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a:extLst>
              <a:ext uri="{FF2B5EF4-FFF2-40B4-BE49-F238E27FC236}">
                <a16:creationId xmlns:a16="http://schemas.microsoft.com/office/drawing/2014/main" id="{2F42FE35-D68C-4009-BF25-3FDFB6EECB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2884" name="Slide Number Placeholder 3">
            <a:extLst>
              <a:ext uri="{FF2B5EF4-FFF2-40B4-BE49-F238E27FC236}">
                <a16:creationId xmlns:a16="http://schemas.microsoft.com/office/drawing/2014/main" id="{49A9B34B-7A01-4B19-A30F-9F73874CC3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E93067F0-6D96-4121-892D-4E1AE9C95762}" type="slidenum">
              <a:rPr lang="en-US" altLang="en-US" smtClean="0">
                <a:latin typeface="Arial" panose="020B0604020202020204" pitchFamily="34" charset="0"/>
                <a:cs typeface="Arial" panose="020B0604020202020204" pitchFamily="34" charset="0"/>
              </a:rPr>
              <a:pPr fontAlgn="base">
                <a:spcBef>
                  <a:spcPct val="0"/>
                </a:spcBef>
                <a:spcAft>
                  <a:spcPct val="0"/>
                </a:spcAft>
              </a:pPr>
              <a:t>45</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21586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A82A6DB4-7371-4A59-B387-EF48C99416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a:extLst>
              <a:ext uri="{FF2B5EF4-FFF2-40B4-BE49-F238E27FC236}">
                <a16:creationId xmlns:a16="http://schemas.microsoft.com/office/drawing/2014/main" id="{22664AB4-615A-44F4-BF06-3C21C810CF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4932" name="Slide Number Placeholder 3">
            <a:extLst>
              <a:ext uri="{FF2B5EF4-FFF2-40B4-BE49-F238E27FC236}">
                <a16:creationId xmlns:a16="http://schemas.microsoft.com/office/drawing/2014/main" id="{E700BEB5-DE5C-4A34-8038-0880E77A02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58C48510-7956-4857-A125-50735316C38C}" type="slidenum">
              <a:rPr lang="en-US" altLang="en-US" smtClean="0">
                <a:latin typeface="Arial" panose="020B0604020202020204" pitchFamily="34" charset="0"/>
                <a:cs typeface="Arial" panose="020B0604020202020204" pitchFamily="34" charset="0"/>
              </a:rPr>
              <a:pPr fontAlgn="base">
                <a:spcBef>
                  <a:spcPct val="0"/>
                </a:spcBef>
                <a:spcAft>
                  <a:spcPct val="0"/>
                </a:spcAft>
              </a:pPr>
              <a:t>46</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450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99D0A903-B4EB-413E-9A1E-70ED8CC2C4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a:extLst>
              <a:ext uri="{FF2B5EF4-FFF2-40B4-BE49-F238E27FC236}">
                <a16:creationId xmlns:a16="http://schemas.microsoft.com/office/drawing/2014/main" id="{919D4F59-118D-4173-AC62-7EC68D7EF6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6980" name="Slide Number Placeholder 3">
            <a:extLst>
              <a:ext uri="{FF2B5EF4-FFF2-40B4-BE49-F238E27FC236}">
                <a16:creationId xmlns:a16="http://schemas.microsoft.com/office/drawing/2014/main" id="{055F8509-B7EF-4439-9E6E-B9B0F2D9660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A1AE1EAF-3ECF-415F-ABDE-0B7CF2998E47}" type="slidenum">
              <a:rPr lang="en-US" altLang="en-US" smtClean="0">
                <a:latin typeface="Arial" panose="020B0604020202020204" pitchFamily="34" charset="0"/>
                <a:cs typeface="Arial" panose="020B0604020202020204" pitchFamily="34" charset="0"/>
              </a:rPr>
              <a:pPr fontAlgn="base">
                <a:spcBef>
                  <a:spcPct val="0"/>
                </a:spcBef>
                <a:spcAft>
                  <a:spcPct val="0"/>
                </a:spcAft>
              </a:pPr>
              <a:t>47</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24759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C4467809-2429-4841-A776-6B978FC01B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a:extLst>
              <a:ext uri="{FF2B5EF4-FFF2-40B4-BE49-F238E27FC236}">
                <a16:creationId xmlns:a16="http://schemas.microsoft.com/office/drawing/2014/main" id="{77EA0EEB-F725-4C1E-A52C-BA1EAEE676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9028" name="Slide Number Placeholder 3">
            <a:extLst>
              <a:ext uri="{FF2B5EF4-FFF2-40B4-BE49-F238E27FC236}">
                <a16:creationId xmlns:a16="http://schemas.microsoft.com/office/drawing/2014/main" id="{62ACA688-54B8-47E6-92FA-692AE26141C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55D1F865-2E86-4116-A5B6-1475F0E70984}" type="slidenum">
              <a:rPr lang="en-US" altLang="en-US" smtClean="0">
                <a:latin typeface="Arial" panose="020B0604020202020204" pitchFamily="34" charset="0"/>
                <a:cs typeface="Arial" panose="020B0604020202020204" pitchFamily="34" charset="0"/>
              </a:rPr>
              <a:pPr fontAlgn="base">
                <a:spcBef>
                  <a:spcPct val="0"/>
                </a:spcBef>
                <a:spcAft>
                  <a:spcPct val="0"/>
                </a:spcAft>
              </a:pPr>
              <a:t>48</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91063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a:extLst>
              <a:ext uri="{FF2B5EF4-FFF2-40B4-BE49-F238E27FC236}">
                <a16:creationId xmlns:a16="http://schemas.microsoft.com/office/drawing/2014/main" id="{18569BF2-E4B8-4555-A823-AD9B9EDB44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a:extLst>
              <a:ext uri="{FF2B5EF4-FFF2-40B4-BE49-F238E27FC236}">
                <a16:creationId xmlns:a16="http://schemas.microsoft.com/office/drawing/2014/main" id="{06D71797-0C2E-4F4A-8FA6-AD4520D439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3124" name="Slide Number Placeholder 3">
            <a:extLst>
              <a:ext uri="{FF2B5EF4-FFF2-40B4-BE49-F238E27FC236}">
                <a16:creationId xmlns:a16="http://schemas.microsoft.com/office/drawing/2014/main" id="{C792A336-C150-49A5-824E-D9008FB395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A6108D36-0581-4CA8-9AB3-2C9DAC8BE6A4}" type="slidenum">
              <a:rPr lang="en-US" altLang="en-US" smtClean="0">
                <a:latin typeface="Arial" panose="020B0604020202020204" pitchFamily="34" charset="0"/>
                <a:cs typeface="Arial" panose="020B0604020202020204" pitchFamily="34" charset="0"/>
              </a:rPr>
              <a:pPr fontAlgn="base">
                <a:spcBef>
                  <a:spcPct val="0"/>
                </a:spcBef>
                <a:spcAft>
                  <a:spcPct val="0"/>
                </a:spcAft>
              </a:pPr>
              <a:t>49</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1875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a:extLst>
              <a:ext uri="{FF2B5EF4-FFF2-40B4-BE49-F238E27FC236}">
                <a16:creationId xmlns:a16="http://schemas.microsoft.com/office/drawing/2014/main" id="{81728454-E0A1-42C6-88CB-48964DE17C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a:extLst>
              <a:ext uri="{FF2B5EF4-FFF2-40B4-BE49-F238E27FC236}">
                <a16:creationId xmlns:a16="http://schemas.microsoft.com/office/drawing/2014/main" id="{04B826AD-5A3F-4BDF-8651-538FD88994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5172" name="Slide Number Placeholder 3">
            <a:extLst>
              <a:ext uri="{FF2B5EF4-FFF2-40B4-BE49-F238E27FC236}">
                <a16:creationId xmlns:a16="http://schemas.microsoft.com/office/drawing/2014/main" id="{21967180-53FF-461E-91E1-DEEC41E672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5279BAE5-63D3-47F7-A427-7889D36568A1}" type="slidenum">
              <a:rPr lang="en-US" altLang="en-US" smtClean="0">
                <a:latin typeface="Arial" panose="020B0604020202020204" pitchFamily="34" charset="0"/>
                <a:cs typeface="Arial" panose="020B0604020202020204" pitchFamily="34" charset="0"/>
              </a:rPr>
              <a:pPr fontAlgn="base">
                <a:spcBef>
                  <a:spcPct val="0"/>
                </a:spcBef>
                <a:spcAft>
                  <a:spcPct val="0"/>
                </a:spcAft>
              </a:pPr>
              <a:t>50</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3089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9">
            <a:extLst>
              <a:ext uri="{FF2B5EF4-FFF2-40B4-BE49-F238E27FC236}">
                <a16:creationId xmlns:a16="http://schemas.microsoft.com/office/drawing/2014/main" id="{892BF6E6-4CBF-4EFA-9F9E-9FE79061CA9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None/>
            </a:pPr>
            <a:fld id="{29F52063-CC76-47C8-95FF-5D7F685192F4}" type="slidenum">
              <a:rPr lang="fi-FI" altLang="en-US" smtClean="0">
                <a:latin typeface="Times New Roman" panose="02020603050405020304" pitchFamily="18" charset="0"/>
              </a:rPr>
              <a:pPr fontAlgn="base">
                <a:spcBef>
                  <a:spcPct val="0"/>
                </a:spcBef>
                <a:spcAft>
                  <a:spcPct val="0"/>
                </a:spcAft>
                <a:buFont typeface="Wingdings" panose="05000000000000000000" pitchFamily="2" charset="2"/>
                <a:buNone/>
              </a:pPr>
              <a:t>51</a:t>
            </a:fld>
            <a:endParaRPr lang="fi-FI" altLang="en-US">
              <a:latin typeface="Times New Roman" panose="02020603050405020304" pitchFamily="18" charset="0"/>
            </a:endParaRPr>
          </a:p>
        </p:txBody>
      </p:sp>
      <p:sp>
        <p:nvSpPr>
          <p:cNvPr id="137219" name="Text Box 1">
            <a:extLst>
              <a:ext uri="{FF2B5EF4-FFF2-40B4-BE49-F238E27FC236}">
                <a16:creationId xmlns:a16="http://schemas.microsoft.com/office/drawing/2014/main" id="{7F90C45B-80C5-454B-9EC8-4925ED27C725}"/>
              </a:ext>
            </a:extLst>
          </p:cNvPr>
          <p:cNvSpPr txBox="1">
            <a:spLocks noChangeArrowheads="1"/>
          </p:cNvSpPr>
          <p:nvPr/>
        </p:nvSpPr>
        <p:spPr bwMode="auto">
          <a:xfrm>
            <a:off x="1338263" y="522288"/>
            <a:ext cx="6464300" cy="2568575"/>
          </a:xfrm>
          <a:prstGeom prst="rect">
            <a:avLst/>
          </a:prstGeom>
          <a:solidFill>
            <a:srgbClr val="FFFFFF"/>
          </a:solidFill>
          <a:ln w="9360">
            <a:solidFill>
              <a:srgbClr val="000000"/>
            </a:solidFill>
            <a:miter lim="800000"/>
            <a:headEnd/>
            <a:tailEnd/>
          </a:ln>
        </p:spPr>
        <p:txBody>
          <a:bodyPr wrap="none" lIns="80165" tIns="40083" rIns="80165" bIns="40083" anchor="ct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endParaRPr lang="en-US" altLang="en-US" sz="1800">
              <a:latin typeface="Arial" panose="020B0604020202020204" pitchFamily="34" charset="0"/>
            </a:endParaRPr>
          </a:p>
        </p:txBody>
      </p:sp>
      <p:sp>
        <p:nvSpPr>
          <p:cNvPr id="137220" name="Rectangle 2">
            <a:extLst>
              <a:ext uri="{FF2B5EF4-FFF2-40B4-BE49-F238E27FC236}">
                <a16:creationId xmlns:a16="http://schemas.microsoft.com/office/drawing/2014/main" id="{898DB003-2E7A-4B03-8203-6A7CB4BEDF71}"/>
              </a:ext>
            </a:extLst>
          </p:cNvPr>
          <p:cNvSpPr>
            <a:spLocks noGrp="1" noChangeArrowheads="1"/>
          </p:cNvSpPr>
          <p:nvPr>
            <p:ph type="body"/>
          </p:nvPr>
        </p:nvSpPr>
        <p:spPr bwMode="auto">
          <a:xfrm>
            <a:off x="914400" y="3257550"/>
            <a:ext cx="7308850" cy="3084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latin typeface="Times New Roman" panose="02020603050405020304" pitchFamily="18" charset="0"/>
            </a:endParaRPr>
          </a:p>
        </p:txBody>
      </p:sp>
    </p:spTree>
    <p:extLst>
      <p:ext uri="{BB962C8B-B14F-4D97-AF65-F5344CB8AC3E}">
        <p14:creationId xmlns:p14="http://schemas.microsoft.com/office/powerpoint/2010/main" val="162204110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pPr>
              <a:defRPr/>
            </a:pPr>
            <a:fld id="{DCCA1663-B8D0-4291-B7C9-C079352C79D8}" type="slidenum">
              <a:rPr lang="en-US" altLang="en-US" smtClean="0"/>
              <a:pPr>
                <a:defRPr/>
              </a:pPr>
              <a:t>‹#›</a:t>
            </a:fld>
            <a:endParaRPr lang="en-US" altLang="en-US"/>
          </a:p>
        </p:txBody>
      </p:sp>
    </p:spTree>
    <p:extLst>
      <p:ext uri="{BB962C8B-B14F-4D97-AF65-F5344CB8AC3E}">
        <p14:creationId xmlns:p14="http://schemas.microsoft.com/office/powerpoint/2010/main" val="12259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6E53299-DEC4-4B47-893E-4F091B5E9308}" type="slidenum">
              <a:rPr lang="en-US" altLang="en-US" smtClean="0"/>
              <a:pPr>
                <a:defRPr/>
              </a:pPr>
              <a:t>‹#›</a:t>
            </a:fld>
            <a:endParaRPr lang="en-US" altLang="en-US"/>
          </a:p>
        </p:txBody>
      </p:sp>
    </p:spTree>
    <p:extLst>
      <p:ext uri="{BB962C8B-B14F-4D97-AF65-F5344CB8AC3E}">
        <p14:creationId xmlns:p14="http://schemas.microsoft.com/office/powerpoint/2010/main" val="344096704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pPr>
              <a:defRPr/>
            </a:pPr>
            <a:endParaRPr lang="en-US"/>
          </a:p>
        </p:txBody>
      </p:sp>
      <p:sp>
        <p:nvSpPr>
          <p:cNvPr id="5" name="Footer Placeholder 4"/>
          <p:cNvSpPr>
            <a:spLocks noGrp="1"/>
          </p:cNvSpPr>
          <p:nvPr>
            <p:ph type="ftr" sz="quarter" idx="11"/>
          </p:nvPr>
        </p:nvSpPr>
        <p:spPr>
          <a:xfrm>
            <a:off x="2182708" y="6272784"/>
            <a:ext cx="6327648" cy="365125"/>
          </a:xfrm>
        </p:spPr>
        <p:txBody>
          <a:bodyPr/>
          <a:lstStyle/>
          <a:p>
            <a:pPr>
              <a:defRPr/>
            </a:pPr>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pPr>
              <a:defRPr/>
            </a:pPr>
            <a:fld id="{E6F6B2F7-F40D-4C02-AD75-F962DD479911}" type="slidenum">
              <a:rPr lang="en-US" altLang="en-US" smtClean="0"/>
              <a:pPr>
                <a:defRPr/>
              </a:pPr>
              <a:t>‹#›</a:t>
            </a:fld>
            <a:endParaRPr lang="en-US" altLang="en-US"/>
          </a:p>
        </p:txBody>
      </p:sp>
    </p:spTree>
    <p:extLst>
      <p:ext uri="{BB962C8B-B14F-4D97-AF65-F5344CB8AC3E}">
        <p14:creationId xmlns:p14="http://schemas.microsoft.com/office/powerpoint/2010/main" val="324862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800B88E-F17E-4A08-B1FE-01DCB95B6E2D}" type="slidenum">
              <a:rPr lang="en-US" altLang="en-US" smtClean="0"/>
              <a:pPr>
                <a:defRPr/>
              </a:pPr>
              <a:t>‹#›</a:t>
            </a:fld>
            <a:endParaRPr lang="en-US" altLang="en-US"/>
          </a:p>
        </p:txBody>
      </p:sp>
    </p:spTree>
    <p:extLst>
      <p:ext uri="{BB962C8B-B14F-4D97-AF65-F5344CB8AC3E}">
        <p14:creationId xmlns:p14="http://schemas.microsoft.com/office/powerpoint/2010/main" val="334890515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27B99FA1-8311-447F-86A5-0A3C70392F95}" type="slidenum">
              <a:rPr lang="en-US" altLang="en-US" smtClean="0"/>
              <a:pPr>
                <a:defRPr/>
              </a:pPr>
              <a:t>‹#›</a:t>
            </a:fld>
            <a:endParaRPr lang="en-US" altLang="en-US"/>
          </a:p>
        </p:txBody>
      </p:sp>
    </p:spTree>
    <p:extLst>
      <p:ext uri="{BB962C8B-B14F-4D97-AF65-F5344CB8AC3E}">
        <p14:creationId xmlns:p14="http://schemas.microsoft.com/office/powerpoint/2010/main" val="417174209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2E6E9F1-055F-42FE-A057-5DECC202A9E9}" type="slidenum">
              <a:rPr lang="en-US" altLang="en-US" smtClean="0"/>
              <a:pPr>
                <a:defRPr/>
              </a:pPr>
              <a:t>‹#›</a:t>
            </a:fld>
            <a:endParaRPr lang="en-US" altLang="en-US"/>
          </a:p>
        </p:txBody>
      </p:sp>
    </p:spTree>
    <p:extLst>
      <p:ext uri="{BB962C8B-B14F-4D97-AF65-F5344CB8AC3E}">
        <p14:creationId xmlns:p14="http://schemas.microsoft.com/office/powerpoint/2010/main" val="3779658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5C54084-7C5A-4B72-9721-02DD1A949F7D}" type="slidenum">
              <a:rPr lang="en-US" altLang="en-US" smtClean="0"/>
              <a:pPr>
                <a:defRPr/>
              </a:pPr>
              <a:t>‹#›</a:t>
            </a:fld>
            <a:endParaRPr lang="en-US" altLang="en-US"/>
          </a:p>
        </p:txBody>
      </p:sp>
    </p:spTree>
    <p:extLst>
      <p:ext uri="{BB962C8B-B14F-4D97-AF65-F5344CB8AC3E}">
        <p14:creationId xmlns:p14="http://schemas.microsoft.com/office/powerpoint/2010/main" val="3349003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a:defRPr/>
            </a:pPr>
            <a:fld id="{B0DD91B6-AA49-4579-9793-CA9621A8630E}" type="slidenum">
              <a:rPr lang="en-US" altLang="en-US" smtClean="0"/>
              <a:pPr>
                <a:defRPr/>
              </a:pPr>
              <a:t>‹#›</a:t>
            </a:fld>
            <a:endParaRPr lang="en-US" altLang="en-US"/>
          </a:p>
        </p:txBody>
      </p:sp>
    </p:spTree>
    <p:extLst>
      <p:ext uri="{BB962C8B-B14F-4D97-AF65-F5344CB8AC3E}">
        <p14:creationId xmlns:p14="http://schemas.microsoft.com/office/powerpoint/2010/main" val="1585566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a:defRPr/>
            </a:pPr>
            <a:fld id="{00E12730-3FD5-4349-90E4-A3FDE6BAEBA4}" type="slidenum">
              <a:rPr lang="en-US" altLang="en-US" smtClean="0"/>
              <a:pPr>
                <a:defRPr/>
              </a:pPr>
              <a:t>‹#›</a:t>
            </a:fld>
            <a:endParaRPr lang="en-US" altLang="en-US"/>
          </a:p>
        </p:txBody>
      </p:sp>
    </p:spTree>
    <p:extLst>
      <p:ext uri="{BB962C8B-B14F-4D97-AF65-F5344CB8AC3E}">
        <p14:creationId xmlns:p14="http://schemas.microsoft.com/office/powerpoint/2010/main" val="1599218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4A997B1-192D-4CAA-8E4F-7DA4834FFC7B}" type="slidenum">
              <a:rPr lang="en-US" altLang="en-US" smtClean="0"/>
              <a:pPr>
                <a:defRPr/>
              </a:pPr>
              <a:t>‹#›</a:t>
            </a:fld>
            <a:endParaRPr lang="en-US" altLang="en-US"/>
          </a:p>
        </p:txBody>
      </p:sp>
    </p:spTree>
    <p:extLst>
      <p:ext uri="{BB962C8B-B14F-4D97-AF65-F5344CB8AC3E}">
        <p14:creationId xmlns:p14="http://schemas.microsoft.com/office/powerpoint/2010/main" val="294688016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2F900EA-79B4-4BCB-B8F9-92CFEF7E4870}" type="slidenum">
              <a:rPr lang="en-US" altLang="en-US" smtClean="0"/>
              <a:pPr>
                <a:defRPr/>
              </a:pPr>
              <a:t>‹#›</a:t>
            </a:fld>
            <a:endParaRPr lang="en-US" altLang="en-US"/>
          </a:p>
        </p:txBody>
      </p:sp>
    </p:spTree>
    <p:extLst>
      <p:ext uri="{BB962C8B-B14F-4D97-AF65-F5344CB8AC3E}">
        <p14:creationId xmlns:p14="http://schemas.microsoft.com/office/powerpoint/2010/main" val="201662950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65728" y="3"/>
            <a:ext cx="10964333" cy="1140199"/>
          </a:xfrm>
        </p:spPr>
        <p:txBody>
          <a:bodyPr/>
          <a:lstStyle/>
          <a:p>
            <a:r>
              <a:rPr lang="en-US"/>
              <a:t>Click to edit Master title style</a:t>
            </a:r>
          </a:p>
        </p:txBody>
      </p:sp>
      <p:sp>
        <p:nvSpPr>
          <p:cNvPr id="3" name="Date Placeholder 3">
            <a:extLst>
              <a:ext uri="{FF2B5EF4-FFF2-40B4-BE49-F238E27FC236}">
                <a16:creationId xmlns:a16="http://schemas.microsoft.com/office/drawing/2014/main" id="{221E79FA-3DE3-4861-A0C7-3328FD432E4B}"/>
              </a:ext>
            </a:extLst>
          </p:cNvPr>
          <p:cNvSpPr>
            <a:spLocks noGrp="1"/>
          </p:cNvSpPr>
          <p:nvPr>
            <p:ph type="dt" sz="half" idx="10"/>
          </p:nvPr>
        </p:nvSpPr>
        <p:spPr/>
        <p:txBody>
          <a:bodyPr/>
          <a:lstStyle>
            <a:lvl1pPr>
              <a:defRPr/>
            </a:lvl1pPr>
          </a:lstStyle>
          <a:p>
            <a:pPr>
              <a:defRPr/>
            </a:pPr>
            <a:endParaRPr lang="fi-FI"/>
          </a:p>
        </p:txBody>
      </p:sp>
      <p:sp>
        <p:nvSpPr>
          <p:cNvPr id="4" name="Footer Placeholder 4">
            <a:extLst>
              <a:ext uri="{FF2B5EF4-FFF2-40B4-BE49-F238E27FC236}">
                <a16:creationId xmlns:a16="http://schemas.microsoft.com/office/drawing/2014/main" id="{72748F36-170B-46E8-A12F-3249E8114DA5}"/>
              </a:ext>
            </a:extLst>
          </p:cNvPr>
          <p:cNvSpPr>
            <a:spLocks noGrp="1"/>
          </p:cNvSpPr>
          <p:nvPr>
            <p:ph type="ftr" sz="quarter" idx="11"/>
          </p:nvPr>
        </p:nvSpPr>
        <p:spPr/>
        <p:txBody>
          <a:bodyPr/>
          <a:lstStyle>
            <a:lvl1pPr>
              <a:defRPr/>
            </a:lvl1pPr>
          </a:lstStyle>
          <a:p>
            <a:pPr>
              <a:defRPr/>
            </a:pPr>
            <a:endParaRPr lang="fi-FI"/>
          </a:p>
        </p:txBody>
      </p:sp>
      <p:sp>
        <p:nvSpPr>
          <p:cNvPr id="5" name="Slide Number Placeholder 5">
            <a:extLst>
              <a:ext uri="{FF2B5EF4-FFF2-40B4-BE49-F238E27FC236}">
                <a16:creationId xmlns:a16="http://schemas.microsoft.com/office/drawing/2014/main" id="{82461F8E-CBE9-4FDB-AAD8-815AA13455FE}"/>
              </a:ext>
            </a:extLst>
          </p:cNvPr>
          <p:cNvSpPr>
            <a:spLocks noGrp="1"/>
          </p:cNvSpPr>
          <p:nvPr>
            <p:ph type="sldNum" sz="quarter" idx="12"/>
          </p:nvPr>
        </p:nvSpPr>
        <p:spPr/>
        <p:txBody>
          <a:bodyPr/>
          <a:lstStyle>
            <a:lvl1pPr>
              <a:defRPr/>
            </a:lvl1pPr>
          </a:lstStyle>
          <a:p>
            <a:pPr>
              <a:defRPr/>
            </a:pPr>
            <a:fld id="{DCDB3F3F-9B3B-4DB5-AEED-966878CF2319}" type="slidenum">
              <a:rPr lang="fi-FI" altLang="en-US"/>
              <a:pPr>
                <a:defRPr/>
              </a:pPr>
              <a:t>‹#›</a:t>
            </a:fld>
            <a:endParaRPr lang="fi-FI" altLang="en-US"/>
          </a:p>
        </p:txBody>
      </p:sp>
    </p:spTree>
    <p:extLst>
      <p:ext uri="{BB962C8B-B14F-4D97-AF65-F5344CB8AC3E}">
        <p14:creationId xmlns:p14="http://schemas.microsoft.com/office/powerpoint/2010/main" val="3430556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pPr>
              <a:defRPr/>
            </a:pPr>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pPr>
              <a:defRPr/>
            </a:pPr>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pPr>
              <a:defRPr/>
            </a:pPr>
            <a:fld id="{E3A5D7DC-1EC3-46BC-89A9-D2F99B12EBEF}" type="slidenum">
              <a:rPr lang="en-US" altLang="en-US" smtClean="0"/>
              <a:pPr>
                <a:defRPr/>
              </a:pPr>
              <a:t>‹#›</a:t>
            </a:fld>
            <a:endParaRPr lang="en-US" altLang="en-US"/>
          </a:p>
        </p:txBody>
      </p:sp>
    </p:spTree>
    <p:extLst>
      <p:ext uri="{BB962C8B-B14F-4D97-AF65-F5344CB8AC3E}">
        <p14:creationId xmlns:p14="http://schemas.microsoft.com/office/powerpoint/2010/main" val="749550246"/>
      </p:ext>
    </p:extLst>
  </p:cSld>
  <p:clrMap bg1="lt1" tx1="dk1" bg2="lt2" tx2="dk2" accent1="accent1" accent2="accent2" accent3="accent3" accent4="accent4" accent5="accent5" accent6="accent6" hlink="hlink" folHlink="folHlink"/>
  <p:sldLayoutIdLst>
    <p:sldLayoutId id="2147484536" r:id="rId1"/>
    <p:sldLayoutId id="2147484537" r:id="rId2"/>
    <p:sldLayoutId id="2147484538" r:id="rId3"/>
    <p:sldLayoutId id="2147484539" r:id="rId4"/>
    <p:sldLayoutId id="2147484540" r:id="rId5"/>
    <p:sldLayoutId id="2147484541" r:id="rId6"/>
    <p:sldLayoutId id="2147484542" r:id="rId7"/>
    <p:sldLayoutId id="2147484543" r:id="rId8"/>
    <p:sldLayoutId id="2147484544" r:id="rId9"/>
    <p:sldLayoutId id="2147484545" r:id="rId10"/>
    <p:sldLayoutId id="2147484546" r:id="rId11"/>
    <p:sldLayoutId id="2147484547" r:id="rId12"/>
  </p:sldLayoutIdLst>
  <p:hf hdr="0" ftr="0" dt="0"/>
  <p:txStyles>
    <p:titleStyle>
      <a:lvl1pPr algn="l" defTabSz="914400" rtl="0" eaLnBrk="1" latinLnBrk="0" hangingPunct="1">
        <a:lnSpc>
          <a:spcPct val="90000"/>
        </a:lnSpc>
        <a:spcBef>
          <a:spcPct val="0"/>
        </a:spcBef>
        <a:buNone/>
        <a:defRPr sz="4800" b="1" kern="1200" cap="none"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Community-owned" TargetMode="External"/><Relationship Id="rId7" Type="http://schemas.openxmlformats.org/officeDocument/2006/relationships/hyperlink" Target="https://en.wikipedia.org/wiki/Web_hosting_servic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en.wikipedia.org/wiki/Domain_name" TargetMode="External"/><Relationship Id="rId5" Type="http://schemas.openxmlformats.org/officeDocument/2006/relationships/hyperlink" Target="https://en.wikipedia.org/wiki/Internet_access" TargetMode="External"/><Relationship Id="rId4" Type="http://schemas.openxmlformats.org/officeDocument/2006/relationships/hyperlink" Target="https://en.wikipedia.org/wiki/Non-prof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zdnet.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410360A-88E2-485F-B73D-29D9D39CFFF9}"/>
              </a:ext>
            </a:extLst>
          </p:cNvPr>
          <p:cNvSpPr>
            <a:spLocks noGrp="1" noChangeArrowheads="1"/>
          </p:cNvSpPr>
          <p:nvPr>
            <p:ph type="ctrTitle"/>
          </p:nvPr>
        </p:nvSpPr>
        <p:spPr>
          <a:xfrm>
            <a:off x="2590800" y="4419600"/>
            <a:ext cx="7086600" cy="1790700"/>
          </a:xfrm>
        </p:spPr>
        <p:txBody>
          <a:bodyPr>
            <a:normAutofit fontScale="90000"/>
          </a:bodyPr>
          <a:lstStyle/>
          <a:p>
            <a:pPr fontAlgn="auto">
              <a:spcAft>
                <a:spcPts val="0"/>
              </a:spcAft>
              <a:defRPr/>
            </a:pPr>
            <a:br>
              <a:rPr lang="en-US" altLang="en-US" sz="4800" i="1" dirty="0"/>
            </a:br>
            <a:r>
              <a:rPr lang="en-US" altLang="en-US" sz="4800" i="1" dirty="0"/>
              <a:t>World </a:t>
            </a:r>
            <a:r>
              <a:rPr lang="en-US" altLang="en-US" sz="4800" i="1" dirty="0" err="1"/>
              <a:t>Wid</a:t>
            </a:r>
            <a:r>
              <a:rPr lang="en-US" altLang="en-US" sz="4800" i="1" dirty="0"/>
              <a:t> Web</a:t>
            </a:r>
            <a:br>
              <a:rPr lang="en-US" altLang="en-US" dirty="0"/>
            </a:br>
            <a:endParaRPr lang="en-US" altLang="en-US" dirty="0"/>
          </a:p>
        </p:txBody>
      </p:sp>
      <p:sp>
        <p:nvSpPr>
          <p:cNvPr id="5123" name="TextBox 2">
            <a:extLst>
              <a:ext uri="{FF2B5EF4-FFF2-40B4-BE49-F238E27FC236}">
                <a16:creationId xmlns:a16="http://schemas.microsoft.com/office/drawing/2014/main" id="{8D66F593-6BAC-4C7E-91B2-B00E9BFF028A}"/>
              </a:ext>
            </a:extLst>
          </p:cNvPr>
          <p:cNvSpPr txBox="1">
            <a:spLocks noChangeArrowheads="1"/>
          </p:cNvSpPr>
          <p:nvPr/>
        </p:nvSpPr>
        <p:spPr bwMode="auto">
          <a:xfrm>
            <a:off x="2286000" y="2279780"/>
            <a:ext cx="7217345" cy="1531188"/>
          </a:xfrm>
          <a:prstGeom prst="rect">
            <a:avLst/>
          </a:prstGeom>
          <a:no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en-US" altLang="en-US" sz="8000" b="1" dirty="0">
                <a:latin typeface="Cambria" panose="02040503050406030204" pitchFamily="18" charset="0"/>
                <a:ea typeface="Cambria" panose="02040503050406030204" pitchFamily="18" charset="0"/>
              </a:rPr>
              <a:t>Chapter one </a:t>
            </a:r>
          </a:p>
          <a:p>
            <a:pPr eaLnBrk="1" fontAlgn="auto" hangingPunct="1">
              <a:spcBef>
                <a:spcPts val="0"/>
              </a:spcBef>
              <a:spcAft>
                <a:spcPts val="0"/>
              </a:spcAft>
              <a:defRPr/>
            </a:pPr>
            <a:r>
              <a:rPr lang="en-US" altLang="en-US" sz="1350" dirty="0"/>
              <a:t>              </a:t>
            </a:r>
            <a:endParaRPr lang="en-US" alt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E0E3E63-D04B-4C3B-9DB3-A6309C91E48D}"/>
              </a:ext>
            </a:extLst>
          </p:cNvPr>
          <p:cNvSpPr>
            <a:spLocks noGrp="1" noChangeArrowheads="1"/>
          </p:cNvSpPr>
          <p:nvPr>
            <p:ph type="title"/>
          </p:nvPr>
        </p:nvSpPr>
        <p:spPr/>
        <p:txBody>
          <a:bodyPr/>
          <a:lstStyle/>
          <a:p>
            <a:pPr fontAlgn="auto">
              <a:spcAft>
                <a:spcPts val="0"/>
              </a:spcAft>
              <a:defRPr/>
            </a:pPr>
            <a:r>
              <a:rPr lang="en-US" altLang="en-US" b="1" dirty="0"/>
              <a:t>Objectives</a:t>
            </a:r>
            <a:r>
              <a:rPr lang="en-US" altLang="en-US" dirty="0"/>
              <a:t> </a:t>
            </a:r>
          </a:p>
        </p:txBody>
      </p:sp>
      <p:sp>
        <p:nvSpPr>
          <p:cNvPr id="11267" name="Rectangle 3">
            <a:extLst>
              <a:ext uri="{FF2B5EF4-FFF2-40B4-BE49-F238E27FC236}">
                <a16:creationId xmlns:a16="http://schemas.microsoft.com/office/drawing/2014/main" id="{D4F8DFFE-42B5-49D6-BBF8-E13A66FCDAC3}"/>
              </a:ext>
            </a:extLst>
          </p:cNvPr>
          <p:cNvSpPr>
            <a:spLocks noGrp="1" noChangeArrowheads="1"/>
          </p:cNvSpPr>
          <p:nvPr>
            <p:ph idx="1"/>
          </p:nvPr>
        </p:nvSpPr>
        <p:spPr>
          <a:xfrm>
            <a:off x="914400" y="1993392"/>
            <a:ext cx="10207752" cy="3950208"/>
          </a:xfrm>
        </p:spPr>
        <p:txBody>
          <a:bodyPr>
            <a:normAutofit/>
          </a:bodyPr>
          <a:lstStyle/>
          <a:p>
            <a:pPr marL="274320" indent="-274320">
              <a:lnSpc>
                <a:spcPct val="100000"/>
              </a:lnSpc>
              <a:buFont typeface="Arial" panose="020B0604020202020204" pitchFamily="34" charset="0"/>
              <a:buChar char="•"/>
            </a:pPr>
            <a:r>
              <a:rPr lang="en-US" altLang="en-US" sz="2800" dirty="0"/>
              <a:t>Know various ways that businesses are using the Internet. </a:t>
            </a:r>
          </a:p>
          <a:p>
            <a:pPr marL="274320" indent="-274320">
              <a:lnSpc>
                <a:spcPct val="100000"/>
              </a:lnSpc>
              <a:buFont typeface="Arial" panose="020B0604020202020204" pitchFamily="34" charset="0"/>
              <a:buChar char="•"/>
            </a:pPr>
            <a:r>
              <a:rPr lang="en-US" altLang="en-US" sz="2800" dirty="0"/>
              <a:t>Describe how the Internet is evolving</a:t>
            </a:r>
          </a:p>
          <a:p>
            <a:pPr marL="274320" indent="-274320">
              <a:lnSpc>
                <a:spcPct val="100000"/>
              </a:lnSpc>
              <a:buFont typeface="Arial" panose="020B0604020202020204" pitchFamily="34" charset="0"/>
              <a:buChar char="•"/>
            </a:pPr>
            <a:r>
              <a:rPr lang="en-US" altLang="en-US" sz="2800" dirty="0"/>
              <a:t>To understand </a:t>
            </a:r>
            <a:r>
              <a:rPr lang="en-US" altLang="en-US" sz="2800" b="1" dirty="0"/>
              <a:t>protocols</a:t>
            </a:r>
            <a:r>
              <a:rPr lang="en-US" altLang="en-US" sz="2800" dirty="0"/>
              <a:t>.</a:t>
            </a:r>
          </a:p>
          <a:p>
            <a:pPr marL="274320" indent="-274320">
              <a:lnSpc>
                <a:spcPct val="100000"/>
              </a:lnSpc>
              <a:buFont typeface="Arial" panose="020B0604020202020204" pitchFamily="34" charset="0"/>
              <a:buChar char="•"/>
            </a:pPr>
            <a:r>
              <a:rPr lang="en-US" altLang="en-US" sz="2800" dirty="0"/>
              <a:t>Describe the purpose of ISP and the services that it offers</a:t>
            </a:r>
          </a:p>
          <a:p>
            <a:pPr marL="274320" indent="-274320">
              <a:lnSpc>
                <a:spcPct val="100000"/>
              </a:lnSpc>
              <a:buFont typeface="Arial" panose="020B0604020202020204" pitchFamily="34" charset="0"/>
              <a:buChar char="•"/>
            </a:pPr>
            <a:r>
              <a:rPr lang="en-US" altLang="en-US" sz="2800" dirty="0"/>
              <a:t>Describe the hierarchical structure of the Internet</a:t>
            </a:r>
          </a:p>
          <a:p>
            <a:pPr marL="274320" indent="-274320">
              <a:lnSpc>
                <a:spcPct val="100000"/>
              </a:lnSpc>
              <a:buFont typeface="Arial" panose="020B0604020202020204" pitchFamily="34" charset="0"/>
              <a:buChar char="•"/>
            </a:pPr>
            <a:r>
              <a:rPr lang="en-US" altLang="en-US" sz="2800" dirty="0"/>
              <a:t>Know the client–server architecture</a:t>
            </a:r>
          </a:p>
        </p:txBody>
      </p:sp>
      <p:sp>
        <p:nvSpPr>
          <p:cNvPr id="2" name="Slide Number Placeholder 1">
            <a:extLst>
              <a:ext uri="{FF2B5EF4-FFF2-40B4-BE49-F238E27FC236}">
                <a16:creationId xmlns:a16="http://schemas.microsoft.com/office/drawing/2014/main" id="{78C903C9-FECC-48D6-A06A-DC02BC8F8027}"/>
              </a:ext>
            </a:extLst>
          </p:cNvPr>
          <p:cNvSpPr>
            <a:spLocks noGrp="1"/>
          </p:cNvSpPr>
          <p:nvPr>
            <p:ph type="sldNum" sz="quarter" idx="12"/>
          </p:nvPr>
        </p:nvSpPr>
        <p:spPr/>
        <p:txBody>
          <a:bodyPr/>
          <a:lstStyle/>
          <a:p>
            <a:pPr>
              <a:defRPr/>
            </a:pPr>
            <a:fld id="{374E2C1C-6F9D-45C4-98C8-8545D33132B2}" type="slidenum">
              <a:rPr lang="en-US" altLang="en-US"/>
              <a:pPr>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EAF6A81-DF62-47A6-B4E4-755D8D5DDCA9}"/>
              </a:ext>
            </a:extLst>
          </p:cNvPr>
          <p:cNvSpPr>
            <a:spLocks noGrp="1" noChangeArrowheads="1"/>
          </p:cNvSpPr>
          <p:nvPr>
            <p:ph type="title"/>
          </p:nvPr>
        </p:nvSpPr>
        <p:spPr>
          <a:xfrm>
            <a:off x="1066800" y="151254"/>
            <a:ext cx="10058400" cy="1074166"/>
          </a:xfrm>
        </p:spPr>
        <p:txBody>
          <a:bodyPr/>
          <a:lstStyle/>
          <a:p>
            <a:pPr fontAlgn="auto">
              <a:spcAft>
                <a:spcPts val="0"/>
              </a:spcAft>
              <a:defRPr/>
            </a:pPr>
            <a:r>
              <a:rPr lang="en-US" altLang="en-US" b="1" dirty="0"/>
              <a:t>Internet and Its Uses</a:t>
            </a:r>
            <a:r>
              <a:rPr lang="en-US" altLang="en-US" dirty="0"/>
              <a:t> </a:t>
            </a:r>
          </a:p>
        </p:txBody>
      </p:sp>
      <p:sp>
        <p:nvSpPr>
          <p:cNvPr id="5123" name="Rectangle 3">
            <a:extLst>
              <a:ext uri="{FF2B5EF4-FFF2-40B4-BE49-F238E27FC236}">
                <a16:creationId xmlns:a16="http://schemas.microsoft.com/office/drawing/2014/main" id="{90CD7900-D921-4542-AAFE-3271C1184662}"/>
              </a:ext>
            </a:extLst>
          </p:cNvPr>
          <p:cNvSpPr>
            <a:spLocks noGrp="1" noChangeArrowheads="1"/>
          </p:cNvSpPr>
          <p:nvPr>
            <p:ph idx="1"/>
          </p:nvPr>
        </p:nvSpPr>
        <p:spPr>
          <a:xfrm>
            <a:off x="533400" y="1219201"/>
            <a:ext cx="11125200" cy="5053584"/>
          </a:xfrm>
        </p:spPr>
        <p:txBody>
          <a:bodyPr rtlCol="0">
            <a:normAutofit/>
          </a:bodyPr>
          <a:lstStyle/>
          <a:p>
            <a:pPr defTabSz="764118" fontAlgn="auto">
              <a:spcAft>
                <a:spcPts val="0"/>
              </a:spcAft>
              <a:buClr>
                <a:schemeClr val="accent1">
                  <a:lumMod val="75000"/>
                </a:schemeClr>
              </a:buClr>
              <a:buFont typeface="Arial" panose="020B0604020202020204" pitchFamily="34" charset="0"/>
              <a:buChar char="•"/>
              <a:defRPr/>
            </a:pPr>
            <a:r>
              <a:rPr lang="en-US" sz="2800" dirty="0"/>
              <a:t>It is an international network of networks that links together  billions of computers.</a:t>
            </a:r>
          </a:p>
          <a:p>
            <a:pPr defTabSz="764118" fontAlgn="auto">
              <a:spcAft>
                <a:spcPts val="0"/>
              </a:spcAft>
              <a:buClr>
                <a:schemeClr val="accent1">
                  <a:lumMod val="75000"/>
                </a:schemeClr>
              </a:buClr>
              <a:buFont typeface="Arial" panose="020B0604020202020204" pitchFamily="34" charset="0"/>
              <a:buChar char="•"/>
              <a:defRPr/>
            </a:pPr>
            <a:r>
              <a:rPr lang="en-US" sz="2800" dirty="0"/>
              <a:t>It is commonly referred to as the 'Net’.</a:t>
            </a:r>
          </a:p>
          <a:p>
            <a:pPr defTabSz="764118" fontAlgn="auto">
              <a:spcAft>
                <a:spcPts val="0"/>
              </a:spcAft>
              <a:buClr>
                <a:schemeClr val="accent1">
                  <a:lumMod val="75000"/>
                </a:schemeClr>
              </a:buClr>
              <a:buFont typeface="Arial" panose="020B0604020202020204" pitchFamily="34" charset="0"/>
              <a:buChar char="•"/>
              <a:defRPr/>
            </a:pPr>
            <a:r>
              <a:rPr lang="en-US" sz="2800" dirty="0"/>
              <a:t>It helps  individuals and businesses sectors to share information, resources, and services. </a:t>
            </a:r>
          </a:p>
          <a:p>
            <a:pPr defTabSz="764118" fontAlgn="auto">
              <a:spcAft>
                <a:spcPts val="0"/>
              </a:spcAft>
              <a:buClr>
                <a:schemeClr val="accent1">
                  <a:lumMod val="75000"/>
                </a:schemeClr>
              </a:buClr>
              <a:buFont typeface="Arial" panose="020B0604020202020204" pitchFamily="34" charset="0"/>
              <a:buChar char="•"/>
              <a:defRPr/>
            </a:pPr>
            <a:r>
              <a:rPr lang="en-US" sz="2800" dirty="0"/>
              <a:t>Internet used for:- </a:t>
            </a:r>
          </a:p>
          <a:p>
            <a:pPr lvl="2" indent="-274320">
              <a:buFont typeface="Arial" panose="020B0604020202020204" pitchFamily="34" charset="0"/>
              <a:buChar char="•"/>
              <a:defRPr/>
            </a:pPr>
            <a:r>
              <a:rPr lang="en-US" sz="2600" dirty="0"/>
              <a:t>E-Commerce</a:t>
            </a:r>
          </a:p>
          <a:p>
            <a:pPr lvl="2" indent="-274320">
              <a:buFont typeface="Arial" panose="020B0604020202020204" pitchFamily="34" charset="0"/>
              <a:buChar char="•"/>
              <a:defRPr/>
            </a:pPr>
            <a:r>
              <a:rPr lang="en-US" sz="2600" dirty="0"/>
              <a:t>Direct Communicate to the world</a:t>
            </a:r>
          </a:p>
          <a:p>
            <a:pPr lvl="2" indent="-274320">
              <a:buFont typeface="Arial" panose="020B0604020202020204" pitchFamily="34" charset="0"/>
              <a:buChar char="•"/>
              <a:defRPr/>
            </a:pPr>
            <a:r>
              <a:rPr lang="en-US" sz="2600" dirty="0"/>
              <a:t>Research against the competitor</a:t>
            </a:r>
          </a:p>
          <a:p>
            <a:pPr lvl="2" indent="-274320">
              <a:buFont typeface="Arial" panose="020B0604020202020204" pitchFamily="34" charset="0"/>
              <a:buChar char="•"/>
              <a:defRPr/>
            </a:pPr>
            <a:r>
              <a:rPr lang="en-US" sz="2600" dirty="0"/>
              <a:t>Training: interactive medium and long distance learning etc.</a:t>
            </a:r>
          </a:p>
        </p:txBody>
      </p:sp>
      <p:sp>
        <p:nvSpPr>
          <p:cNvPr id="2" name="Slide Number Placeholder 1">
            <a:extLst>
              <a:ext uri="{FF2B5EF4-FFF2-40B4-BE49-F238E27FC236}">
                <a16:creationId xmlns:a16="http://schemas.microsoft.com/office/drawing/2014/main" id="{2AE3D9D3-5ED3-47C7-AB2E-530B003B76B2}"/>
              </a:ext>
            </a:extLst>
          </p:cNvPr>
          <p:cNvSpPr>
            <a:spLocks noGrp="1"/>
          </p:cNvSpPr>
          <p:nvPr>
            <p:ph type="sldNum" sz="quarter" idx="12"/>
          </p:nvPr>
        </p:nvSpPr>
        <p:spPr/>
        <p:txBody>
          <a:bodyPr/>
          <a:lstStyle/>
          <a:p>
            <a:pPr>
              <a:defRPr/>
            </a:pPr>
            <a:fld id="{272650D2-8789-4417-94A1-46B26827AD60}" type="slidenum">
              <a:rPr lang="en-US" altLang="en-US"/>
              <a:pPr>
                <a:defRPr/>
              </a:pPr>
              <a:t>3</a:t>
            </a:fld>
            <a:endParaRPr lang="en-US" altLang="en-US"/>
          </a:p>
        </p:txBody>
      </p:sp>
      <p:pic>
        <p:nvPicPr>
          <p:cNvPr id="1026" name="Picture 2" descr="Internet Basics: What is the Internet?">
            <a:extLst>
              <a:ext uri="{FF2B5EF4-FFF2-40B4-BE49-F238E27FC236}">
                <a16:creationId xmlns:a16="http://schemas.microsoft.com/office/drawing/2014/main" id="{0C3D8758-2F10-4AC6-11DD-87FC8E7AB8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3124200"/>
            <a:ext cx="2562225" cy="1781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9266-40D8-498F-ADF4-5FD31F77B338}"/>
              </a:ext>
            </a:extLst>
          </p:cNvPr>
          <p:cNvSpPr>
            <a:spLocks noGrp="1"/>
          </p:cNvSpPr>
          <p:nvPr>
            <p:ph type="title"/>
          </p:nvPr>
        </p:nvSpPr>
        <p:spPr>
          <a:xfrm>
            <a:off x="1371600" y="304800"/>
            <a:ext cx="10058400" cy="914400"/>
          </a:xfrm>
        </p:spPr>
        <p:txBody>
          <a:bodyPr/>
          <a:lstStyle/>
          <a:p>
            <a:r>
              <a:rPr lang="en-US" dirty="0"/>
              <a:t>Protocol</a:t>
            </a:r>
          </a:p>
        </p:txBody>
      </p:sp>
      <p:sp>
        <p:nvSpPr>
          <p:cNvPr id="3" name="Content Placeholder 2">
            <a:extLst>
              <a:ext uri="{FF2B5EF4-FFF2-40B4-BE49-F238E27FC236}">
                <a16:creationId xmlns:a16="http://schemas.microsoft.com/office/drawing/2014/main" id="{E573F305-C9A8-45C8-B1DC-298C426D80A0}"/>
              </a:ext>
            </a:extLst>
          </p:cNvPr>
          <p:cNvSpPr>
            <a:spLocks noGrp="1"/>
          </p:cNvSpPr>
          <p:nvPr>
            <p:ph idx="1"/>
          </p:nvPr>
        </p:nvSpPr>
        <p:spPr>
          <a:xfrm>
            <a:off x="762000" y="1219201"/>
            <a:ext cx="10549128" cy="4648200"/>
          </a:xfrm>
        </p:spPr>
        <p:txBody>
          <a:bodyPr>
            <a:normAutofit fontScale="92500" lnSpcReduction="20000"/>
          </a:bodyPr>
          <a:lstStyle/>
          <a:p>
            <a:pPr algn="just">
              <a:lnSpc>
                <a:spcPct val="100000"/>
              </a:lnSpc>
              <a:buFont typeface="Arial" panose="020B0604020202020204" pitchFamily="34" charset="0"/>
              <a:buChar char="•"/>
              <a:defRPr/>
            </a:pPr>
            <a:r>
              <a:rPr lang="en-US" sz="2800" b="0" i="0" dirty="0">
                <a:effectLst/>
                <a:latin typeface="+mj-lt"/>
              </a:rPr>
              <a:t>A protocol is a set of rules or conventions that govern how data is transmitted and received between devices or systems.</a:t>
            </a:r>
            <a:endParaRPr lang="en-US" altLang="en-US" sz="2800" dirty="0">
              <a:latin typeface="+mj-lt"/>
            </a:endParaRPr>
          </a:p>
          <a:p>
            <a:pPr algn="just">
              <a:lnSpc>
                <a:spcPct val="100000"/>
              </a:lnSpc>
              <a:buFont typeface="Arial" panose="020B0604020202020204" pitchFamily="34" charset="0"/>
              <a:buChar char="•"/>
              <a:defRPr/>
            </a:pPr>
            <a:r>
              <a:rPr lang="en-US" altLang="en-US" sz="2800" dirty="0"/>
              <a:t>There are </a:t>
            </a:r>
            <a:r>
              <a:rPr lang="en-US" altLang="en-US" sz="2800" dirty="0">
                <a:solidFill>
                  <a:srgbClr val="00B050"/>
                </a:solidFill>
              </a:rPr>
              <a:t>numerous protocols-</a:t>
            </a:r>
            <a:r>
              <a:rPr lang="en-US" altLang="en-US" sz="2800" dirty="0">
                <a:solidFill>
                  <a:srgbClr val="7030A0"/>
                </a:solidFill>
              </a:rPr>
              <a:t> the set of rules that govern how devices communicate on networks.</a:t>
            </a:r>
            <a:endParaRPr lang="en-US" altLang="en-US" sz="2800" dirty="0"/>
          </a:p>
          <a:p>
            <a:pPr marL="0" lvl="0" indent="0" eaLnBrk="0" fontAlgn="base" hangingPunct="0">
              <a:lnSpc>
                <a:spcPct val="100000"/>
              </a:lnSpc>
              <a:spcBef>
                <a:spcPct val="0"/>
              </a:spcBef>
              <a:spcAft>
                <a:spcPct val="0"/>
              </a:spcAft>
              <a:buClrTx/>
              <a:buSzTx/>
              <a:buNone/>
            </a:pPr>
            <a:r>
              <a:rPr lang="en-US" altLang="en-US" sz="2800" b="1" dirty="0">
                <a:latin typeface="+mj-lt"/>
              </a:rPr>
              <a:t> Examples: </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Hypertext Transfer Protocol(HTTP) </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Long Range Wide Area </a:t>
            </a:r>
            <a:r>
              <a:rPr lang="en-US" altLang="en-US" sz="2800" b="1" dirty="0">
                <a:latin typeface="+mj-lt"/>
              </a:rPr>
              <a:t>Network</a:t>
            </a:r>
            <a:r>
              <a:rPr lang="en-US" altLang="en-US" sz="2800" dirty="0">
                <a:latin typeface="+mj-lt"/>
              </a:rPr>
              <a:t> (LoRaWAN) </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Bluetooth. </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File transfer protocol (FTP)</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Message Queue Telemetry Transport (MQTT) </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Constrained Application Protocol (CoAP) </a:t>
            </a:r>
          </a:p>
          <a:p>
            <a:pPr marL="914400" lvl="2" indent="-457200" eaLnBrk="0" fontAlgn="base" hangingPunct="0">
              <a:lnSpc>
                <a:spcPct val="110000"/>
              </a:lnSpc>
              <a:spcBef>
                <a:spcPct val="0"/>
              </a:spcBef>
              <a:spcAft>
                <a:spcPct val="0"/>
              </a:spcAft>
              <a:buClrTx/>
              <a:buSzTx/>
              <a:buFont typeface="Arial" panose="020B0604020202020204" pitchFamily="34" charset="0"/>
              <a:buChar char="•"/>
            </a:pPr>
            <a:r>
              <a:rPr lang="en-US" altLang="en-US" sz="2800" dirty="0">
                <a:latin typeface="+mj-lt"/>
              </a:rPr>
              <a:t>Advanced Message Queuing Protocol (AMQP) </a:t>
            </a:r>
          </a:p>
          <a:p>
            <a:endParaRPr lang="en-US" dirty="0"/>
          </a:p>
        </p:txBody>
      </p:sp>
      <p:sp>
        <p:nvSpPr>
          <p:cNvPr id="4" name="Slide Number Placeholder 3">
            <a:extLst>
              <a:ext uri="{FF2B5EF4-FFF2-40B4-BE49-F238E27FC236}">
                <a16:creationId xmlns:a16="http://schemas.microsoft.com/office/drawing/2014/main" id="{4F85A4DE-7F4A-4BE5-9E8D-6655604376C4}"/>
              </a:ext>
            </a:extLst>
          </p:cNvPr>
          <p:cNvSpPr>
            <a:spLocks noGrp="1"/>
          </p:cNvSpPr>
          <p:nvPr>
            <p:ph type="sldNum" sz="quarter" idx="12"/>
          </p:nvPr>
        </p:nvSpPr>
        <p:spPr/>
        <p:txBody>
          <a:bodyPr/>
          <a:lstStyle/>
          <a:p>
            <a:pPr>
              <a:defRPr/>
            </a:pPr>
            <a:fld id="{A6E53299-DEC4-4B47-893E-4F091B5E9308}" type="slidenum">
              <a:rPr lang="en-US" altLang="en-US" smtClean="0"/>
              <a:pPr>
                <a:defRPr/>
              </a:pPr>
              <a:t>4</a:t>
            </a:fld>
            <a:endParaRPr lang="en-US" altLang="en-US"/>
          </a:p>
        </p:txBody>
      </p:sp>
    </p:spTree>
    <p:extLst>
      <p:ext uri="{BB962C8B-B14F-4D97-AF65-F5344CB8AC3E}">
        <p14:creationId xmlns:p14="http://schemas.microsoft.com/office/powerpoint/2010/main" val="558466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498A5BB-492E-4049-AFFC-9D9EED202ADA}"/>
              </a:ext>
            </a:extLst>
          </p:cNvPr>
          <p:cNvSpPr>
            <a:spLocks noGrp="1" noChangeArrowheads="1"/>
          </p:cNvSpPr>
          <p:nvPr>
            <p:ph type="title"/>
          </p:nvPr>
        </p:nvSpPr>
        <p:spPr>
          <a:xfrm>
            <a:off x="954024" y="0"/>
            <a:ext cx="10058400" cy="1115568"/>
          </a:xfrm>
        </p:spPr>
        <p:txBody>
          <a:bodyPr/>
          <a:lstStyle/>
          <a:p>
            <a:pPr fontAlgn="auto">
              <a:spcAft>
                <a:spcPts val="0"/>
              </a:spcAft>
              <a:defRPr/>
            </a:pPr>
            <a:r>
              <a:rPr lang="en-US" altLang="en-US" sz="3000" b="1" dirty="0"/>
              <a:t>Delivering Internet services to end-users</a:t>
            </a:r>
            <a:r>
              <a:rPr lang="en-US" altLang="en-US" sz="3000" dirty="0"/>
              <a:t> </a:t>
            </a:r>
          </a:p>
        </p:txBody>
      </p:sp>
      <p:sp>
        <p:nvSpPr>
          <p:cNvPr id="17411" name="Rectangle 3">
            <a:extLst>
              <a:ext uri="{FF2B5EF4-FFF2-40B4-BE49-F238E27FC236}">
                <a16:creationId xmlns:a16="http://schemas.microsoft.com/office/drawing/2014/main" id="{22DB95C8-0BB7-4C60-A67F-20C14BF4AB46}"/>
              </a:ext>
            </a:extLst>
          </p:cNvPr>
          <p:cNvSpPr>
            <a:spLocks noGrp="1" noChangeArrowheads="1"/>
          </p:cNvSpPr>
          <p:nvPr>
            <p:ph idx="1"/>
          </p:nvPr>
        </p:nvSpPr>
        <p:spPr>
          <a:xfrm>
            <a:off x="762000" y="1115569"/>
            <a:ext cx="10549128" cy="5157215"/>
          </a:xfrm>
        </p:spPr>
        <p:txBody>
          <a:bodyPr>
            <a:normAutofit fontScale="85000" lnSpcReduction="10000"/>
          </a:bodyPr>
          <a:lstStyle/>
          <a:p>
            <a:pPr>
              <a:lnSpc>
                <a:spcPct val="110000"/>
              </a:lnSpc>
              <a:buFont typeface="Arial" panose="020B0604020202020204" pitchFamily="34" charset="0"/>
              <a:buChar char="•"/>
            </a:pPr>
            <a:r>
              <a:rPr lang="en-US" sz="2800" dirty="0"/>
              <a:t> </a:t>
            </a:r>
            <a:r>
              <a:rPr lang="en-US" sz="2800" b="1" dirty="0"/>
              <a:t>Internet service provider</a:t>
            </a:r>
            <a:r>
              <a:rPr lang="en-US" sz="2800" dirty="0"/>
              <a:t> (</a:t>
            </a:r>
            <a:r>
              <a:rPr lang="en-US" sz="2800" b="1" dirty="0"/>
              <a:t>ISP</a:t>
            </a:r>
            <a:r>
              <a:rPr lang="en-US" sz="2800" dirty="0"/>
              <a:t>) is an organization that provides a </a:t>
            </a:r>
            <a:r>
              <a:rPr lang="en-US" sz="2800" dirty="0">
                <a:solidFill>
                  <a:srgbClr val="FF0000"/>
                </a:solidFill>
              </a:rPr>
              <a:t>myriad</a:t>
            </a:r>
            <a:r>
              <a:rPr lang="en-US" sz="2800" dirty="0"/>
              <a:t> of services. </a:t>
            </a:r>
          </a:p>
          <a:p>
            <a:pPr>
              <a:lnSpc>
                <a:spcPct val="110000"/>
              </a:lnSpc>
              <a:buFont typeface="Arial" panose="020B0604020202020204" pitchFamily="34" charset="0"/>
              <a:buChar char="•"/>
            </a:pPr>
            <a:r>
              <a:rPr lang="en-US" sz="2800" dirty="0"/>
              <a:t>ISP can be </a:t>
            </a:r>
            <a:r>
              <a:rPr lang="en-US" sz="2800" dirty="0">
                <a:solidFill>
                  <a:srgbClr val="00B050"/>
                </a:solidFill>
              </a:rPr>
              <a:t>organized</a:t>
            </a:r>
            <a:r>
              <a:rPr lang="en-US" sz="2800" dirty="0"/>
              <a:t> in </a:t>
            </a:r>
            <a:r>
              <a:rPr lang="en-US" sz="2800" dirty="0">
                <a:solidFill>
                  <a:srgbClr val="00B050"/>
                </a:solidFill>
              </a:rPr>
              <a:t>various forms</a:t>
            </a:r>
            <a:r>
              <a:rPr lang="en-US" sz="2800" dirty="0"/>
              <a:t>, such as commercial, </a:t>
            </a:r>
            <a:r>
              <a:rPr lang="en-US" sz="2800" dirty="0">
                <a:solidFill>
                  <a:srgbClr val="0070C0"/>
                </a:solidFill>
                <a:hlinkClick r:id="rId3" tooltip="Community-owned">
                  <a:extLst>
                    <a:ext uri="{A12FA001-AC4F-418D-AE19-62706E023703}">
                      <ahyp:hlinkClr xmlns:ahyp="http://schemas.microsoft.com/office/drawing/2018/hyperlinkcolor" val="tx"/>
                    </a:ext>
                  </a:extLst>
                </a:hlinkClick>
              </a:rPr>
              <a:t>community-owned</a:t>
            </a:r>
            <a:r>
              <a:rPr lang="en-US" sz="2800" dirty="0">
                <a:solidFill>
                  <a:srgbClr val="0070C0"/>
                </a:solidFill>
              </a:rPr>
              <a:t>, </a:t>
            </a:r>
            <a:r>
              <a:rPr lang="en-US" sz="2800" dirty="0">
                <a:solidFill>
                  <a:srgbClr val="0070C0"/>
                </a:solidFill>
                <a:hlinkClick r:id="rId4" tooltip="Non-profit">
                  <a:extLst>
                    <a:ext uri="{A12FA001-AC4F-418D-AE19-62706E023703}">
                      <ahyp:hlinkClr xmlns:ahyp="http://schemas.microsoft.com/office/drawing/2018/hyperlinkcolor" val="tx"/>
                    </a:ext>
                  </a:extLst>
                </a:hlinkClick>
              </a:rPr>
              <a:t>non-profit</a:t>
            </a:r>
            <a:r>
              <a:rPr lang="en-US" sz="2800" dirty="0"/>
              <a:t> etc. </a:t>
            </a:r>
          </a:p>
          <a:p>
            <a:pPr>
              <a:lnSpc>
                <a:spcPct val="110000"/>
              </a:lnSpc>
              <a:buFont typeface="Arial" panose="020B0604020202020204" pitchFamily="34" charset="0"/>
              <a:buChar char="•"/>
            </a:pPr>
            <a:r>
              <a:rPr lang="en-US" sz="2800" dirty="0"/>
              <a:t>ISPs provided </a:t>
            </a:r>
            <a:r>
              <a:rPr lang="en-US" sz="2800" dirty="0">
                <a:solidFill>
                  <a:srgbClr val="0070C0"/>
                </a:solidFill>
                <a:hlinkClick r:id="rId5" tooltip="Internet access">
                  <a:extLst>
                    <a:ext uri="{A12FA001-AC4F-418D-AE19-62706E023703}">
                      <ahyp:hlinkClr xmlns:ahyp="http://schemas.microsoft.com/office/drawing/2018/hyperlinkcolor" val="tx"/>
                    </a:ext>
                  </a:extLst>
                </a:hlinkClick>
              </a:rPr>
              <a:t>Internet access</a:t>
            </a:r>
            <a:r>
              <a:rPr lang="en-US" sz="2800" dirty="0">
                <a:solidFill>
                  <a:srgbClr val="0070C0"/>
                </a:solidFill>
              </a:rPr>
              <a:t>, </a:t>
            </a:r>
            <a:r>
              <a:rPr lang="en-US" sz="2800" dirty="0">
                <a:solidFill>
                  <a:srgbClr val="0070C0"/>
                </a:solidFill>
                <a:hlinkClick r:id="rId6" tooltip="Domain name">
                  <a:extLst>
                    <a:ext uri="{A12FA001-AC4F-418D-AE19-62706E023703}">
                      <ahyp:hlinkClr xmlns:ahyp="http://schemas.microsoft.com/office/drawing/2018/hyperlinkcolor" val="tx"/>
                    </a:ext>
                  </a:extLst>
                </a:hlinkClick>
              </a:rPr>
              <a:t>domain name</a:t>
            </a:r>
            <a:r>
              <a:rPr lang="en-US" sz="2800" dirty="0">
                <a:solidFill>
                  <a:srgbClr val="0070C0"/>
                </a:solidFill>
              </a:rPr>
              <a:t> </a:t>
            </a:r>
            <a:r>
              <a:rPr lang="en-US" sz="2800" dirty="0"/>
              <a:t>registration, </a:t>
            </a:r>
            <a:r>
              <a:rPr lang="en-US" sz="2800" dirty="0">
                <a:solidFill>
                  <a:srgbClr val="0070C0"/>
                </a:solidFill>
                <a:hlinkClick r:id="rId7" tooltip="Web hosting service">
                  <a:extLst>
                    <a:ext uri="{A12FA001-AC4F-418D-AE19-62706E023703}">
                      <ahyp:hlinkClr xmlns:ahyp="http://schemas.microsoft.com/office/drawing/2018/hyperlinkcolor" val="tx"/>
                    </a:ext>
                  </a:extLst>
                </a:hlinkClick>
              </a:rPr>
              <a:t>web hosting</a:t>
            </a:r>
            <a:r>
              <a:rPr lang="en-US" sz="2800" dirty="0">
                <a:solidFill>
                  <a:srgbClr val="0070C0"/>
                </a:solidFill>
              </a:rPr>
              <a:t> </a:t>
            </a:r>
            <a:r>
              <a:rPr lang="en-US" sz="2800" dirty="0"/>
              <a:t>etc. .</a:t>
            </a:r>
          </a:p>
          <a:p>
            <a:pPr>
              <a:lnSpc>
                <a:spcPct val="110000"/>
              </a:lnSpc>
              <a:buFont typeface="Arial" panose="020B0604020202020204" pitchFamily="34" charset="0"/>
              <a:buChar char="•"/>
            </a:pPr>
            <a:r>
              <a:rPr lang="en-US" altLang="en-US" sz="2800" dirty="0"/>
              <a:t>To gain  Internet access, it is first necessary to have a connection to ISP</a:t>
            </a:r>
          </a:p>
          <a:p>
            <a:pPr>
              <a:lnSpc>
                <a:spcPct val="110000"/>
              </a:lnSpc>
              <a:buFont typeface="Arial" panose="020B0604020202020204" pitchFamily="34" charset="0"/>
              <a:buChar char="•"/>
            </a:pPr>
            <a:r>
              <a:rPr lang="en-US" altLang="en-US" sz="2800" dirty="0"/>
              <a:t>ISPs offer various connection options.  </a:t>
            </a:r>
          </a:p>
          <a:p>
            <a:pPr marL="0" indent="0">
              <a:lnSpc>
                <a:spcPct val="150000"/>
              </a:lnSpc>
              <a:buNone/>
            </a:pPr>
            <a:r>
              <a:rPr lang="en-US" altLang="en-US" sz="3300" b="1" i="1" dirty="0">
                <a:solidFill>
                  <a:srgbClr val="00B050"/>
                </a:solidFill>
              </a:rPr>
              <a:t>Dialup access</a:t>
            </a:r>
          </a:p>
          <a:p>
            <a:pPr>
              <a:lnSpc>
                <a:spcPct val="150000"/>
              </a:lnSpc>
              <a:buFont typeface="Arial" panose="020B0604020202020204" pitchFamily="34" charset="0"/>
              <a:buChar char="•"/>
            </a:pPr>
            <a:r>
              <a:rPr lang="en-US" altLang="en-US" sz="2800" dirty="0"/>
              <a:t>Dialup access is an inexpensive option that </a:t>
            </a:r>
            <a:r>
              <a:rPr lang="en-US" altLang="en-US" sz="2800" dirty="0">
                <a:solidFill>
                  <a:srgbClr val="C00000"/>
                </a:solidFill>
              </a:rPr>
              <a:t>uses any phone line </a:t>
            </a:r>
            <a:r>
              <a:rPr lang="en-US" altLang="en-US" sz="2800" dirty="0"/>
              <a:t>and a </a:t>
            </a:r>
            <a:r>
              <a:rPr lang="en-US" altLang="en-US" sz="2800" dirty="0">
                <a:solidFill>
                  <a:srgbClr val="C00000"/>
                </a:solidFill>
              </a:rPr>
              <a:t>modem.</a:t>
            </a:r>
            <a:r>
              <a:rPr lang="en-US" altLang="en-US" sz="2800" dirty="0">
                <a:solidFill>
                  <a:srgbClr val="FF66CC"/>
                </a:solidFill>
              </a:rPr>
              <a:t> </a:t>
            </a:r>
          </a:p>
          <a:p>
            <a:pPr>
              <a:lnSpc>
                <a:spcPct val="80000"/>
              </a:lnSpc>
            </a:pPr>
            <a:endParaRPr lang="en-US" altLang="en-US" sz="1800" dirty="0"/>
          </a:p>
        </p:txBody>
      </p:sp>
      <p:sp>
        <p:nvSpPr>
          <p:cNvPr id="2" name="Slide Number Placeholder 1">
            <a:extLst>
              <a:ext uri="{FF2B5EF4-FFF2-40B4-BE49-F238E27FC236}">
                <a16:creationId xmlns:a16="http://schemas.microsoft.com/office/drawing/2014/main" id="{784FE9ED-F18A-4616-9C48-2E068DBAF7F8}"/>
              </a:ext>
            </a:extLst>
          </p:cNvPr>
          <p:cNvSpPr>
            <a:spLocks noGrp="1"/>
          </p:cNvSpPr>
          <p:nvPr>
            <p:ph type="sldNum" sz="quarter" idx="12"/>
          </p:nvPr>
        </p:nvSpPr>
        <p:spPr/>
        <p:txBody>
          <a:bodyPr/>
          <a:lstStyle/>
          <a:p>
            <a:pPr>
              <a:defRPr/>
            </a:pPr>
            <a:fld id="{E414A5A9-D5ED-4D8A-9608-22CFB3DC872C}" type="slidenum">
              <a:rPr lang="en-US" altLang="en-US"/>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0726-8E6B-4247-9EAC-A5BB11AC7F6E}"/>
              </a:ext>
            </a:extLst>
          </p:cNvPr>
          <p:cNvSpPr>
            <a:spLocks noGrp="1"/>
          </p:cNvSpPr>
          <p:nvPr>
            <p:ph type="title"/>
          </p:nvPr>
        </p:nvSpPr>
        <p:spPr>
          <a:xfrm>
            <a:off x="1069848" y="484632"/>
            <a:ext cx="10241280" cy="1609344"/>
          </a:xfrm>
        </p:spPr>
        <p:txBody>
          <a:bodyPr>
            <a:normAutofit/>
          </a:bodyPr>
          <a:lstStyle/>
          <a:p>
            <a:r>
              <a:rPr lang="en-US" altLang="en-US" sz="4000" dirty="0"/>
              <a:t>Delivering Internet services to end-users </a:t>
            </a:r>
            <a:endParaRPr lang="en-US" sz="4000" dirty="0"/>
          </a:p>
        </p:txBody>
      </p:sp>
      <p:sp>
        <p:nvSpPr>
          <p:cNvPr id="3" name="Content Placeholder 2">
            <a:extLst>
              <a:ext uri="{FF2B5EF4-FFF2-40B4-BE49-F238E27FC236}">
                <a16:creationId xmlns:a16="http://schemas.microsoft.com/office/drawing/2014/main" id="{004E6EA8-1826-447D-83D1-EF9026DBBA7E}"/>
              </a:ext>
            </a:extLst>
          </p:cNvPr>
          <p:cNvSpPr>
            <a:spLocks noGrp="1"/>
          </p:cNvSpPr>
          <p:nvPr>
            <p:ph idx="1"/>
          </p:nvPr>
        </p:nvSpPr>
        <p:spPr>
          <a:xfrm>
            <a:off x="990600" y="1905000"/>
            <a:ext cx="10058400" cy="4191000"/>
          </a:xfrm>
        </p:spPr>
        <p:txBody>
          <a:bodyPr>
            <a:normAutofit/>
          </a:bodyPr>
          <a:lstStyle/>
          <a:p>
            <a:pPr marL="0" indent="0">
              <a:lnSpc>
                <a:spcPct val="100000"/>
              </a:lnSpc>
              <a:buNone/>
            </a:pPr>
            <a:r>
              <a:rPr lang="en-US" sz="2800" b="1" i="1" dirty="0">
                <a:solidFill>
                  <a:srgbClr val="00B050"/>
                </a:solidFill>
              </a:rPr>
              <a:t>Digital subscriber line (</a:t>
            </a:r>
            <a:r>
              <a:rPr lang="en-US" altLang="en-US" sz="2800" b="1" i="1" dirty="0">
                <a:solidFill>
                  <a:srgbClr val="00B050"/>
                </a:solidFill>
              </a:rPr>
              <a:t>DSL)</a:t>
            </a:r>
          </a:p>
          <a:p>
            <a:pPr marL="274320" indent="-274320">
              <a:lnSpc>
                <a:spcPct val="100000"/>
              </a:lnSpc>
              <a:buFont typeface="Arial" panose="020B0604020202020204" pitchFamily="34" charset="0"/>
              <a:buChar char="•"/>
            </a:pPr>
            <a:r>
              <a:rPr lang="en-US" altLang="en-US" sz="2800" dirty="0"/>
              <a:t>DSL is more </a:t>
            </a:r>
            <a:r>
              <a:rPr lang="en-US" altLang="en-US" sz="2800" dirty="0">
                <a:solidFill>
                  <a:srgbClr val="7030A0"/>
                </a:solidFill>
              </a:rPr>
              <a:t>expensive</a:t>
            </a:r>
            <a:r>
              <a:rPr lang="en-US" altLang="en-US" sz="2800" dirty="0"/>
              <a:t> than dialup, but provides a </a:t>
            </a:r>
            <a:r>
              <a:rPr lang="en-US" altLang="en-US" sz="2800" dirty="0">
                <a:solidFill>
                  <a:srgbClr val="7030A0"/>
                </a:solidFill>
              </a:rPr>
              <a:t>faster</a:t>
            </a:r>
            <a:r>
              <a:rPr lang="en-US" altLang="en-US" sz="2800" dirty="0"/>
              <a:t> connection. </a:t>
            </a:r>
          </a:p>
          <a:p>
            <a:pPr marL="274320" indent="-274320">
              <a:lnSpc>
                <a:spcPct val="100000"/>
              </a:lnSpc>
              <a:buFont typeface="Arial" panose="020B0604020202020204" pitchFamily="34" charset="0"/>
              <a:buChar char="•"/>
            </a:pPr>
            <a:r>
              <a:rPr lang="en-US" altLang="en-US" sz="2800" dirty="0"/>
              <a:t>DSL also uses </a:t>
            </a:r>
            <a:r>
              <a:rPr lang="en-US" altLang="en-US" sz="2800" dirty="0">
                <a:solidFill>
                  <a:srgbClr val="00B050"/>
                </a:solidFill>
              </a:rPr>
              <a:t>telephone lines</a:t>
            </a:r>
            <a:r>
              <a:rPr lang="en-US" altLang="en-US" sz="2800" dirty="0"/>
              <a:t>, but unlike dialup access, DSL provides a </a:t>
            </a:r>
            <a:r>
              <a:rPr lang="en-US" altLang="en-US" sz="2800" i="1" dirty="0">
                <a:solidFill>
                  <a:srgbClr val="7030A0"/>
                </a:solidFill>
              </a:rPr>
              <a:t>continuous</a:t>
            </a:r>
            <a:r>
              <a:rPr lang="en-US" altLang="en-US" sz="2800" i="1" dirty="0">
                <a:solidFill>
                  <a:srgbClr val="FF0000"/>
                </a:solidFill>
              </a:rPr>
              <a:t> connection to the Internet</a:t>
            </a:r>
            <a:r>
              <a:rPr lang="en-US" altLang="en-US" sz="2800" dirty="0"/>
              <a:t>. </a:t>
            </a:r>
          </a:p>
          <a:p>
            <a:pPr marL="274320" indent="-274320">
              <a:lnSpc>
                <a:spcPct val="100000"/>
              </a:lnSpc>
              <a:buFont typeface="Arial" panose="020B0604020202020204" pitchFamily="34" charset="0"/>
              <a:buChar char="•"/>
            </a:pPr>
            <a:r>
              <a:rPr lang="en-US" altLang="en-US" sz="2800" dirty="0"/>
              <a:t>Needs a special </a:t>
            </a:r>
            <a:r>
              <a:rPr lang="en-US" altLang="en-US" sz="2800" dirty="0">
                <a:solidFill>
                  <a:srgbClr val="7030A0"/>
                </a:solidFill>
              </a:rPr>
              <a:t>high speed </a:t>
            </a:r>
            <a:r>
              <a:rPr lang="en-US" altLang="en-US" sz="2800" dirty="0"/>
              <a:t>modem to connect the host or LAN</a:t>
            </a:r>
          </a:p>
          <a:p>
            <a:endParaRPr lang="en-US" sz="2800" dirty="0"/>
          </a:p>
        </p:txBody>
      </p:sp>
      <p:sp>
        <p:nvSpPr>
          <p:cNvPr id="4" name="Slide Number Placeholder 3">
            <a:extLst>
              <a:ext uri="{FF2B5EF4-FFF2-40B4-BE49-F238E27FC236}">
                <a16:creationId xmlns:a16="http://schemas.microsoft.com/office/drawing/2014/main" id="{4FFC5227-5003-4007-8FA4-A6A8E697661A}"/>
              </a:ext>
            </a:extLst>
          </p:cNvPr>
          <p:cNvSpPr>
            <a:spLocks noGrp="1"/>
          </p:cNvSpPr>
          <p:nvPr>
            <p:ph type="sldNum" sz="quarter" idx="12"/>
          </p:nvPr>
        </p:nvSpPr>
        <p:spPr/>
        <p:txBody>
          <a:bodyPr/>
          <a:lstStyle/>
          <a:p>
            <a:pPr>
              <a:defRPr/>
            </a:pPr>
            <a:fld id="{A6E53299-DEC4-4B47-893E-4F091B5E9308}" type="slidenum">
              <a:rPr lang="en-US" altLang="en-US" smtClean="0"/>
              <a:pPr>
                <a:defRPr/>
              </a:pPr>
              <a:t>6</a:t>
            </a:fld>
            <a:endParaRPr lang="en-US" altLang="en-US"/>
          </a:p>
        </p:txBody>
      </p:sp>
    </p:spTree>
    <p:extLst>
      <p:ext uri="{BB962C8B-B14F-4D97-AF65-F5344CB8AC3E}">
        <p14:creationId xmlns:p14="http://schemas.microsoft.com/office/powerpoint/2010/main" val="59616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0B8B9C5-55BC-4167-8735-8620DA5FED4D}"/>
              </a:ext>
            </a:extLst>
          </p:cNvPr>
          <p:cNvSpPr>
            <a:spLocks noGrp="1" noChangeArrowheads="1"/>
          </p:cNvSpPr>
          <p:nvPr>
            <p:ph type="title"/>
          </p:nvPr>
        </p:nvSpPr>
        <p:spPr>
          <a:xfrm>
            <a:off x="990600" y="-13855"/>
            <a:ext cx="10058400" cy="1609344"/>
          </a:xfrm>
        </p:spPr>
        <p:txBody>
          <a:bodyPr/>
          <a:lstStyle/>
          <a:p>
            <a:pPr fontAlgn="auto">
              <a:spcAft>
                <a:spcPts val="0"/>
              </a:spcAft>
              <a:defRPr/>
            </a:pPr>
            <a:r>
              <a:rPr lang="en-US" altLang="en-US" sz="3000" b="1" dirty="0"/>
              <a:t>Delivering Internet services to end-users</a:t>
            </a:r>
            <a:r>
              <a:rPr lang="en-US" altLang="en-US" sz="3000" dirty="0"/>
              <a:t> </a:t>
            </a:r>
          </a:p>
        </p:txBody>
      </p:sp>
      <p:sp>
        <p:nvSpPr>
          <p:cNvPr id="19459" name="Rectangle 3">
            <a:extLst>
              <a:ext uri="{FF2B5EF4-FFF2-40B4-BE49-F238E27FC236}">
                <a16:creationId xmlns:a16="http://schemas.microsoft.com/office/drawing/2014/main" id="{C21EA6FB-09AF-40EE-B967-CB366589FCC6}"/>
              </a:ext>
            </a:extLst>
          </p:cNvPr>
          <p:cNvSpPr>
            <a:spLocks noGrp="1" noChangeArrowheads="1"/>
          </p:cNvSpPr>
          <p:nvPr>
            <p:ph idx="1"/>
          </p:nvPr>
        </p:nvSpPr>
        <p:spPr>
          <a:xfrm>
            <a:off x="838200" y="1143000"/>
            <a:ext cx="10283952" cy="5410200"/>
          </a:xfrm>
        </p:spPr>
        <p:txBody>
          <a:bodyPr>
            <a:normAutofit/>
          </a:bodyPr>
          <a:lstStyle/>
          <a:p>
            <a:pPr algn="just">
              <a:lnSpc>
                <a:spcPct val="100000"/>
              </a:lnSpc>
              <a:buFont typeface="Wingdings" panose="05000000000000000000" pitchFamily="2" charset="2"/>
              <a:buChar char="v"/>
            </a:pPr>
            <a:r>
              <a:rPr lang="en-US" altLang="en-US" sz="2800" b="1" dirty="0">
                <a:solidFill>
                  <a:srgbClr val="00B050"/>
                </a:solidFill>
              </a:rPr>
              <a:t>Cable Modem</a:t>
            </a:r>
            <a:endParaRPr lang="en-US" altLang="en-US" sz="2800" dirty="0">
              <a:solidFill>
                <a:srgbClr val="00B050"/>
              </a:solidFill>
            </a:endParaRPr>
          </a:p>
          <a:p>
            <a:pPr marL="274320" indent="-274320" algn="just">
              <a:lnSpc>
                <a:spcPct val="100000"/>
              </a:lnSpc>
              <a:buFont typeface="Arial" panose="020B0604020202020204" pitchFamily="34" charset="0"/>
              <a:buChar char="•"/>
            </a:pPr>
            <a:r>
              <a:rPr lang="en-US" altLang="en-US" sz="2800" dirty="0"/>
              <a:t>A cable modem is a connection option offered by ISP</a:t>
            </a:r>
          </a:p>
          <a:p>
            <a:pPr marL="274320" indent="-274320" algn="just">
              <a:lnSpc>
                <a:spcPct val="100000"/>
              </a:lnSpc>
              <a:buFont typeface="Arial" panose="020B0604020202020204" pitchFamily="34" charset="0"/>
              <a:buChar char="•"/>
            </a:pPr>
            <a:r>
              <a:rPr lang="en-US" altLang="en-US" sz="2800" dirty="0"/>
              <a:t>The Internet signal is carried on the same coaxial cable that delivers cable television to homes and businesses. </a:t>
            </a:r>
          </a:p>
          <a:p>
            <a:pPr algn="just">
              <a:lnSpc>
                <a:spcPct val="100000"/>
              </a:lnSpc>
              <a:buFont typeface="Wingdings" panose="05000000000000000000" pitchFamily="2" charset="2"/>
              <a:buChar char="v"/>
            </a:pPr>
            <a:r>
              <a:rPr lang="en-US" altLang="en-US" sz="2800" b="1" dirty="0">
                <a:solidFill>
                  <a:srgbClr val="00B050"/>
                </a:solidFill>
              </a:rPr>
              <a:t>Satellite</a:t>
            </a:r>
            <a:endParaRPr lang="en-US" altLang="en-US" sz="2800" dirty="0">
              <a:solidFill>
                <a:srgbClr val="00B050"/>
              </a:solidFill>
            </a:endParaRPr>
          </a:p>
          <a:p>
            <a:pPr marL="274320" indent="-274320" algn="just">
              <a:lnSpc>
                <a:spcPct val="100000"/>
              </a:lnSpc>
              <a:buFont typeface="Arial" panose="020B0604020202020204" pitchFamily="34" charset="0"/>
              <a:buChar char="•"/>
            </a:pPr>
            <a:r>
              <a:rPr lang="en-US" altLang="en-US" sz="2800" dirty="0"/>
              <a:t>Satellite connection is an option offered by satellite service providers. </a:t>
            </a:r>
          </a:p>
          <a:p>
            <a:pPr marL="274320" indent="-274320" algn="just">
              <a:lnSpc>
                <a:spcPct val="100000"/>
              </a:lnSpc>
              <a:buFont typeface="Arial" panose="020B0604020202020204" pitchFamily="34" charset="0"/>
              <a:buChar char="•"/>
            </a:pPr>
            <a:r>
              <a:rPr lang="en-US" altLang="en-US" sz="2800" dirty="0"/>
              <a:t>The user's computer connects through Ethernet to a satellite modem that transmits radio signals to the nearest </a:t>
            </a:r>
            <a:r>
              <a:rPr lang="en-US" sz="2800" dirty="0"/>
              <a:t>point of presence (</a:t>
            </a:r>
            <a:r>
              <a:rPr lang="en-US" altLang="en-US" sz="2800" dirty="0"/>
              <a:t>POP) within the satellite network.</a:t>
            </a:r>
          </a:p>
        </p:txBody>
      </p:sp>
      <p:sp>
        <p:nvSpPr>
          <p:cNvPr id="2" name="Slide Number Placeholder 1">
            <a:extLst>
              <a:ext uri="{FF2B5EF4-FFF2-40B4-BE49-F238E27FC236}">
                <a16:creationId xmlns:a16="http://schemas.microsoft.com/office/drawing/2014/main" id="{D0420A27-F81C-406B-963B-03723391D915}"/>
              </a:ext>
            </a:extLst>
          </p:cNvPr>
          <p:cNvSpPr>
            <a:spLocks noGrp="1"/>
          </p:cNvSpPr>
          <p:nvPr>
            <p:ph type="sldNum" sz="quarter" idx="12"/>
          </p:nvPr>
        </p:nvSpPr>
        <p:spPr/>
        <p:txBody>
          <a:bodyPr/>
          <a:lstStyle/>
          <a:p>
            <a:pPr>
              <a:defRPr/>
            </a:pPr>
            <a:fld id="{A7931ADA-81EE-4210-9C56-E1474AF578FE}" type="slidenum">
              <a:rPr lang="en-US" altLang="en-US"/>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FE32C66-C7E0-4DFC-8DFB-546CB58ACAB5}"/>
              </a:ext>
            </a:extLst>
          </p:cNvPr>
          <p:cNvSpPr>
            <a:spLocks noGrp="1" noChangeArrowheads="1"/>
          </p:cNvSpPr>
          <p:nvPr>
            <p:ph type="title"/>
          </p:nvPr>
        </p:nvSpPr>
        <p:spPr>
          <a:xfrm>
            <a:off x="2438400" y="533400"/>
            <a:ext cx="6172200" cy="708422"/>
          </a:xfrm>
        </p:spPr>
        <p:txBody>
          <a:bodyPr>
            <a:normAutofit fontScale="90000"/>
          </a:bodyPr>
          <a:lstStyle/>
          <a:p>
            <a:pPr fontAlgn="auto">
              <a:spcAft>
                <a:spcPts val="0"/>
              </a:spcAft>
              <a:defRPr/>
            </a:pPr>
            <a:r>
              <a:rPr lang="en-US" altLang="en-US" b="1" dirty="0"/>
              <a:t>Internet Hierarchy</a:t>
            </a:r>
            <a:r>
              <a:rPr lang="en-US" altLang="en-US" dirty="0"/>
              <a:t> </a:t>
            </a:r>
          </a:p>
        </p:txBody>
      </p:sp>
      <p:sp>
        <p:nvSpPr>
          <p:cNvPr id="17411" name="Rectangle 3">
            <a:extLst>
              <a:ext uri="{FF2B5EF4-FFF2-40B4-BE49-F238E27FC236}">
                <a16:creationId xmlns:a16="http://schemas.microsoft.com/office/drawing/2014/main" id="{7D9922B2-43C0-41C6-9ED0-594C27F861C7}"/>
              </a:ext>
            </a:extLst>
          </p:cNvPr>
          <p:cNvSpPr>
            <a:spLocks noGrp="1" noChangeArrowheads="1"/>
          </p:cNvSpPr>
          <p:nvPr>
            <p:ph idx="1"/>
          </p:nvPr>
        </p:nvSpPr>
        <p:spPr>
          <a:xfrm>
            <a:off x="762000" y="1371600"/>
            <a:ext cx="10363200" cy="5266309"/>
          </a:xfrm>
        </p:spPr>
        <p:txBody>
          <a:bodyPr rtlCol="0">
            <a:normAutofit fontScale="92500" lnSpcReduction="10000"/>
          </a:bodyPr>
          <a:lstStyle/>
          <a:p>
            <a:pPr algn="just" fontAlgn="auto">
              <a:lnSpc>
                <a:spcPct val="100000"/>
              </a:lnSpc>
              <a:spcAft>
                <a:spcPts val="0"/>
              </a:spcAft>
              <a:buClr>
                <a:schemeClr val="accent1">
                  <a:lumMod val="75000"/>
                </a:schemeClr>
              </a:buClr>
              <a:buFont typeface="Arial" panose="020B0604020202020204" pitchFamily="34" charset="0"/>
              <a:buChar char="•"/>
              <a:defRPr/>
            </a:pPr>
            <a:r>
              <a:rPr lang="en-US" altLang="en-US" sz="2800" dirty="0"/>
              <a:t>The Internet has a hierarchical structure. </a:t>
            </a:r>
          </a:p>
          <a:p>
            <a:pPr algn="just">
              <a:lnSpc>
                <a:spcPct val="100000"/>
              </a:lnSpc>
              <a:buFont typeface="Arial" panose="020B0604020202020204" pitchFamily="34" charset="0"/>
              <a:buChar char="•"/>
              <a:defRPr/>
            </a:pPr>
            <a:r>
              <a:rPr lang="en-US" altLang="en-US" sz="2800" dirty="0"/>
              <a:t>At the </a:t>
            </a:r>
            <a:r>
              <a:rPr lang="en-US" altLang="en-US" sz="2800" dirty="0">
                <a:solidFill>
                  <a:srgbClr val="00B0F0"/>
                </a:solidFill>
              </a:rPr>
              <a:t>top</a:t>
            </a:r>
            <a:r>
              <a:rPr lang="en-US" altLang="en-US" sz="2800" dirty="0"/>
              <a:t> of this hierarchy are the </a:t>
            </a:r>
            <a:r>
              <a:rPr lang="en-US" altLang="en-US" sz="2800" dirty="0">
                <a:solidFill>
                  <a:srgbClr val="00B050"/>
                </a:solidFill>
              </a:rPr>
              <a:t>ISP organizations</a:t>
            </a:r>
            <a:r>
              <a:rPr lang="en-US" altLang="en-US" sz="2800" dirty="0"/>
              <a:t>.</a:t>
            </a:r>
          </a:p>
          <a:p>
            <a:pPr algn="just">
              <a:lnSpc>
                <a:spcPct val="100000"/>
              </a:lnSpc>
              <a:buFont typeface="Arial" panose="020B0604020202020204" pitchFamily="34" charset="0"/>
              <a:buChar char="•"/>
              <a:defRPr/>
            </a:pPr>
            <a:r>
              <a:rPr lang="en-US" altLang="en-US" sz="2800" dirty="0"/>
              <a:t> The ISP </a:t>
            </a:r>
            <a:r>
              <a:rPr lang="en-US" altLang="en-US" sz="2800" b="1" dirty="0"/>
              <a:t>point of presence (</a:t>
            </a:r>
            <a:r>
              <a:rPr lang="en-US" altLang="en-US" sz="2800" dirty="0"/>
              <a:t>POPs) connect to an </a:t>
            </a:r>
            <a:r>
              <a:rPr lang="en-US" altLang="en-US" sz="2800" b="1" dirty="0"/>
              <a:t>Internet Exchange Point (IXP)</a:t>
            </a:r>
            <a:r>
              <a:rPr lang="en-US" altLang="en-US" sz="2800" dirty="0"/>
              <a:t> also called a </a:t>
            </a:r>
            <a:r>
              <a:rPr lang="en-US" altLang="en-US" sz="2800" b="1" dirty="0"/>
              <a:t>Network Access Point (NAP).</a:t>
            </a:r>
            <a:endParaRPr lang="en-US" altLang="en-US" sz="2800" dirty="0"/>
          </a:p>
          <a:p>
            <a:pPr algn="just">
              <a:lnSpc>
                <a:spcPct val="100000"/>
              </a:lnSpc>
              <a:buFont typeface="Arial" panose="020B0604020202020204" pitchFamily="34" charset="0"/>
              <a:buChar char="•"/>
              <a:defRPr/>
            </a:pPr>
            <a:r>
              <a:rPr lang="en-US" altLang="en-US" sz="2800" b="1" dirty="0"/>
              <a:t>A point of presence </a:t>
            </a:r>
            <a:r>
              <a:rPr lang="en-US" altLang="en-US" sz="2800" dirty="0"/>
              <a:t>was a location where a </a:t>
            </a:r>
            <a:r>
              <a:rPr lang="en-US" altLang="en-US" sz="2800" dirty="0">
                <a:solidFill>
                  <a:srgbClr val="FF66CC"/>
                </a:solidFill>
              </a:rPr>
              <a:t>long-distance carrier could terminate services </a:t>
            </a:r>
            <a:r>
              <a:rPr lang="en-US" altLang="en-US" sz="2800" dirty="0"/>
              <a:t>and provide connections into a local telephone network.</a:t>
            </a:r>
          </a:p>
          <a:p>
            <a:pPr algn="just" fontAlgn="auto">
              <a:lnSpc>
                <a:spcPct val="100000"/>
              </a:lnSpc>
              <a:spcAft>
                <a:spcPts val="0"/>
              </a:spcAft>
              <a:buClr>
                <a:schemeClr val="accent1">
                  <a:lumMod val="75000"/>
                </a:schemeClr>
              </a:buClr>
              <a:buFont typeface="Arial" panose="020B0604020202020204" pitchFamily="34" charset="0"/>
              <a:buChar char="•"/>
              <a:defRPr/>
            </a:pPr>
            <a:r>
              <a:rPr lang="en-US" altLang="en-US" sz="2800" dirty="0"/>
              <a:t>An IXP or NAP is where multiple ISPs </a:t>
            </a:r>
            <a:r>
              <a:rPr lang="en-US" altLang="en-US" sz="2800" i="1" dirty="0">
                <a:solidFill>
                  <a:srgbClr val="FF0000"/>
                </a:solidFill>
              </a:rPr>
              <a:t>join together to gain access to each other's</a:t>
            </a:r>
            <a:r>
              <a:rPr lang="en-US" altLang="en-US" sz="2800" dirty="0"/>
              <a:t> networks and exchange information. </a:t>
            </a:r>
          </a:p>
          <a:p>
            <a:pPr algn="just" fontAlgn="auto">
              <a:lnSpc>
                <a:spcPct val="100000"/>
              </a:lnSpc>
              <a:spcAft>
                <a:spcPts val="0"/>
              </a:spcAft>
              <a:buClr>
                <a:schemeClr val="accent1">
                  <a:lumMod val="75000"/>
                </a:schemeClr>
              </a:buClr>
              <a:buFont typeface="Arial" panose="020B0604020202020204" pitchFamily="34" charset="0"/>
              <a:buChar char="•"/>
              <a:defRPr/>
            </a:pPr>
            <a:r>
              <a:rPr lang="en-US" altLang="en-US" sz="2800" dirty="0"/>
              <a:t> </a:t>
            </a:r>
            <a:r>
              <a:rPr lang="en-US" altLang="en-US" sz="2800" b="1" dirty="0"/>
              <a:t>Internet backbone </a:t>
            </a:r>
            <a:r>
              <a:rPr lang="en-US" altLang="en-US" sz="2800" dirty="0"/>
              <a:t>is like an information super highway that provides high-speed data links to interconnect the POPs and IXPs in major metropolitan areas around the world.</a:t>
            </a:r>
          </a:p>
        </p:txBody>
      </p:sp>
      <p:sp>
        <p:nvSpPr>
          <p:cNvPr id="2" name="Slide Number Placeholder 1">
            <a:extLst>
              <a:ext uri="{FF2B5EF4-FFF2-40B4-BE49-F238E27FC236}">
                <a16:creationId xmlns:a16="http://schemas.microsoft.com/office/drawing/2014/main" id="{E921F4CE-DF8A-4EC7-A7BB-F74F7CD4B1A7}"/>
              </a:ext>
            </a:extLst>
          </p:cNvPr>
          <p:cNvSpPr>
            <a:spLocks noGrp="1"/>
          </p:cNvSpPr>
          <p:nvPr>
            <p:ph type="sldNum" sz="quarter" idx="12"/>
          </p:nvPr>
        </p:nvSpPr>
        <p:spPr/>
        <p:txBody>
          <a:bodyPr/>
          <a:lstStyle/>
          <a:p>
            <a:pPr>
              <a:defRPr/>
            </a:pPr>
            <a:fld id="{7D8D237A-F679-44D5-B160-0E11EAFE8123}" type="slidenum">
              <a:rPr lang="en-US" altLang="en-US"/>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13C7ACC-0BA9-4191-A23B-A662E6735D88}"/>
              </a:ext>
            </a:extLst>
          </p:cNvPr>
          <p:cNvSpPr>
            <a:spLocks noGrp="1" noChangeArrowheads="1"/>
          </p:cNvSpPr>
          <p:nvPr>
            <p:ph type="title"/>
          </p:nvPr>
        </p:nvSpPr>
        <p:spPr>
          <a:xfrm>
            <a:off x="1069848" y="484632"/>
            <a:ext cx="10058400" cy="963168"/>
          </a:xfrm>
        </p:spPr>
        <p:txBody>
          <a:bodyPr/>
          <a:lstStyle/>
          <a:p>
            <a:pPr fontAlgn="auto">
              <a:spcAft>
                <a:spcPts val="0"/>
              </a:spcAft>
              <a:defRPr/>
            </a:pPr>
            <a:r>
              <a:rPr lang="en-US" altLang="en-US" b="1" dirty="0"/>
              <a:t>Internet Hierarchy</a:t>
            </a:r>
            <a:r>
              <a:rPr lang="en-US" altLang="en-US" dirty="0"/>
              <a:t> </a:t>
            </a:r>
          </a:p>
        </p:txBody>
      </p:sp>
      <p:sp>
        <p:nvSpPr>
          <p:cNvPr id="23555" name="Rectangle 3">
            <a:extLst>
              <a:ext uri="{FF2B5EF4-FFF2-40B4-BE49-F238E27FC236}">
                <a16:creationId xmlns:a16="http://schemas.microsoft.com/office/drawing/2014/main" id="{E14B1F61-BCAF-4593-8598-4E201FFFCC62}"/>
              </a:ext>
            </a:extLst>
          </p:cNvPr>
          <p:cNvSpPr>
            <a:spLocks noGrp="1" noChangeArrowheads="1"/>
          </p:cNvSpPr>
          <p:nvPr>
            <p:ph idx="1"/>
          </p:nvPr>
        </p:nvSpPr>
        <p:spPr>
          <a:xfrm>
            <a:off x="838200" y="1524000"/>
            <a:ext cx="10820400" cy="5093980"/>
          </a:xfrm>
        </p:spPr>
        <p:txBody>
          <a:bodyPr>
            <a:normAutofit lnSpcReduction="10000"/>
          </a:bodyPr>
          <a:lstStyle/>
          <a:p>
            <a:pPr marL="274320" indent="-274320">
              <a:lnSpc>
                <a:spcPct val="110000"/>
              </a:lnSpc>
              <a:buFont typeface="Wingdings" panose="05000000000000000000" pitchFamily="2" charset="2"/>
              <a:buChar char="v"/>
            </a:pPr>
            <a:r>
              <a:rPr lang="en-US" altLang="en-US" sz="3000" dirty="0"/>
              <a:t>The </a:t>
            </a:r>
            <a:r>
              <a:rPr lang="en-US" altLang="en-US" sz="3000" dirty="0">
                <a:solidFill>
                  <a:srgbClr val="00B0F0"/>
                </a:solidFill>
              </a:rPr>
              <a:t>primary</a:t>
            </a:r>
            <a:r>
              <a:rPr lang="en-US" altLang="en-US" sz="3000" dirty="0"/>
              <a:t> medium that connects the </a:t>
            </a:r>
            <a:r>
              <a:rPr lang="en-US" altLang="en-US" sz="3000" dirty="0">
                <a:solidFill>
                  <a:srgbClr val="00B0F0"/>
                </a:solidFill>
              </a:rPr>
              <a:t>Internet backbone </a:t>
            </a:r>
            <a:r>
              <a:rPr lang="en-US" altLang="en-US" sz="3000" dirty="0"/>
              <a:t>is </a:t>
            </a:r>
            <a:r>
              <a:rPr lang="en-US" altLang="en-US" sz="3000" dirty="0">
                <a:solidFill>
                  <a:srgbClr val="00B0F0"/>
                </a:solidFill>
              </a:rPr>
              <a:t>fiber-optic cable</a:t>
            </a:r>
            <a:r>
              <a:rPr lang="en-US" altLang="en-US" sz="3000" dirty="0"/>
              <a:t>.</a:t>
            </a:r>
          </a:p>
          <a:p>
            <a:pPr marL="274320" indent="-274320">
              <a:lnSpc>
                <a:spcPct val="110000"/>
              </a:lnSpc>
              <a:buFont typeface="Wingdings" panose="05000000000000000000" pitchFamily="2" charset="2"/>
              <a:buChar char="v"/>
            </a:pPr>
            <a:r>
              <a:rPr lang="en-US" altLang="en-US" sz="3000" dirty="0"/>
              <a:t>ISPs are classified into different tiers </a:t>
            </a:r>
            <a:r>
              <a:rPr lang="en-US" altLang="en-US" sz="3000" i="1" dirty="0">
                <a:solidFill>
                  <a:srgbClr val="FF0000"/>
                </a:solidFill>
              </a:rPr>
              <a:t>according to how they access the Internet backbone:</a:t>
            </a:r>
          </a:p>
          <a:p>
            <a:pPr marL="0" indent="0">
              <a:lnSpc>
                <a:spcPct val="110000"/>
              </a:lnSpc>
              <a:buNone/>
            </a:pPr>
            <a:r>
              <a:rPr lang="en-US" altLang="en-US" sz="3000" b="1" dirty="0"/>
              <a:t>Tier 1 ISPs</a:t>
            </a:r>
            <a:r>
              <a:rPr lang="en-US" altLang="en-US" sz="3000" dirty="0"/>
              <a:t> </a:t>
            </a:r>
          </a:p>
          <a:p>
            <a:pPr>
              <a:lnSpc>
                <a:spcPct val="110000"/>
              </a:lnSpc>
              <a:buFont typeface="Arial" panose="020B0604020202020204" pitchFamily="34" charset="0"/>
              <a:buChar char="•"/>
            </a:pPr>
            <a:r>
              <a:rPr lang="en-US" altLang="en-US" sz="3000" dirty="0"/>
              <a:t>are the top of the hierarchy. </a:t>
            </a:r>
          </a:p>
          <a:p>
            <a:pPr>
              <a:lnSpc>
                <a:spcPct val="110000"/>
              </a:lnSpc>
              <a:buFont typeface="Arial" panose="020B0604020202020204" pitchFamily="34" charset="0"/>
              <a:buChar char="•"/>
            </a:pPr>
            <a:r>
              <a:rPr lang="en-US" altLang="en-US" sz="3000" dirty="0"/>
              <a:t>Tier 1 ISPs are huge organizations that connect directly with each other to create the global Internet backbone.</a:t>
            </a:r>
          </a:p>
          <a:p>
            <a:pPr>
              <a:lnSpc>
                <a:spcPct val="110000"/>
              </a:lnSpc>
              <a:buFont typeface="Arial" panose="020B0604020202020204" pitchFamily="34" charset="0"/>
              <a:buChar char="•"/>
            </a:pPr>
            <a:r>
              <a:rPr lang="en-US" altLang="en-US" sz="3000" dirty="0"/>
              <a:t>Has its own routers </a:t>
            </a:r>
          </a:p>
          <a:p>
            <a:endParaRPr lang="en-US" altLang="en-US" dirty="0"/>
          </a:p>
        </p:txBody>
      </p:sp>
      <p:sp>
        <p:nvSpPr>
          <p:cNvPr id="2" name="Slide Number Placeholder 1">
            <a:extLst>
              <a:ext uri="{FF2B5EF4-FFF2-40B4-BE49-F238E27FC236}">
                <a16:creationId xmlns:a16="http://schemas.microsoft.com/office/drawing/2014/main" id="{F13E42B6-02F2-481A-9586-2CD9FEA053DF}"/>
              </a:ext>
            </a:extLst>
          </p:cNvPr>
          <p:cNvSpPr>
            <a:spLocks noGrp="1"/>
          </p:cNvSpPr>
          <p:nvPr>
            <p:ph type="sldNum" sz="quarter" idx="12"/>
          </p:nvPr>
        </p:nvSpPr>
        <p:spPr/>
        <p:txBody>
          <a:bodyPr/>
          <a:lstStyle/>
          <a:p>
            <a:pPr>
              <a:defRPr/>
            </a:pPr>
            <a:fld id="{AC0B9667-14B9-4D65-AE62-CB6D47D4C555}" type="slidenum">
              <a:rPr lang="en-US" altLang="en-US"/>
              <a:pPr>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6DE6462-4AEF-4C77-88AD-E3D692F50D6E}"/>
              </a:ext>
            </a:extLst>
          </p:cNvPr>
          <p:cNvSpPr>
            <a:spLocks noGrp="1" noChangeArrowheads="1"/>
          </p:cNvSpPr>
          <p:nvPr>
            <p:ph type="title"/>
          </p:nvPr>
        </p:nvSpPr>
        <p:spPr>
          <a:xfrm>
            <a:off x="1066800" y="228600"/>
            <a:ext cx="10058400" cy="1191768"/>
          </a:xfrm>
        </p:spPr>
        <p:txBody>
          <a:bodyPr/>
          <a:lstStyle/>
          <a:p>
            <a:pPr fontAlgn="auto">
              <a:spcAft>
                <a:spcPts val="0"/>
              </a:spcAft>
              <a:defRPr/>
            </a:pPr>
            <a:r>
              <a:rPr lang="en-US" altLang="en-US" b="1" dirty="0"/>
              <a:t>Internet Hierarchy</a:t>
            </a:r>
            <a:r>
              <a:rPr lang="en-US" altLang="en-US" dirty="0"/>
              <a:t> </a:t>
            </a:r>
          </a:p>
        </p:txBody>
      </p:sp>
      <p:sp>
        <p:nvSpPr>
          <p:cNvPr id="25603" name="Rectangle 3">
            <a:extLst>
              <a:ext uri="{FF2B5EF4-FFF2-40B4-BE49-F238E27FC236}">
                <a16:creationId xmlns:a16="http://schemas.microsoft.com/office/drawing/2014/main" id="{BD526F92-C1A2-4F48-A18E-188221AE1938}"/>
              </a:ext>
            </a:extLst>
          </p:cNvPr>
          <p:cNvSpPr>
            <a:spLocks noGrp="1" noChangeArrowheads="1"/>
          </p:cNvSpPr>
          <p:nvPr>
            <p:ph idx="1"/>
          </p:nvPr>
        </p:nvSpPr>
        <p:spPr>
          <a:xfrm>
            <a:off x="914400" y="1371600"/>
            <a:ext cx="10591800" cy="5181600"/>
          </a:xfrm>
        </p:spPr>
        <p:txBody>
          <a:bodyPr>
            <a:normAutofit lnSpcReduction="10000"/>
          </a:bodyPr>
          <a:lstStyle/>
          <a:p>
            <a:pPr marL="0" indent="0" algn="just">
              <a:lnSpc>
                <a:spcPct val="100000"/>
              </a:lnSpc>
              <a:buNone/>
            </a:pPr>
            <a:r>
              <a:rPr lang="en-US" altLang="en-US" sz="2800" b="1" dirty="0"/>
              <a:t>Tier 2 ISPs</a:t>
            </a:r>
          </a:p>
          <a:p>
            <a:pPr marL="640080" lvl="1" indent="-457200" algn="just">
              <a:lnSpc>
                <a:spcPct val="100000"/>
              </a:lnSpc>
              <a:buFont typeface="Arial" panose="020B0604020202020204" pitchFamily="34" charset="0"/>
              <a:buChar char="•"/>
            </a:pPr>
            <a:r>
              <a:rPr lang="en-US" altLang="en-US" sz="2600" dirty="0"/>
              <a:t> are the next tier in terms of backbone access. </a:t>
            </a:r>
          </a:p>
          <a:p>
            <a:pPr marL="640080" lvl="1" indent="-457200" algn="just">
              <a:lnSpc>
                <a:spcPct val="100000"/>
              </a:lnSpc>
              <a:buFont typeface="Arial" panose="020B0604020202020204" pitchFamily="34" charset="0"/>
              <a:buChar char="•"/>
            </a:pPr>
            <a:r>
              <a:rPr lang="en-US" altLang="en-US" sz="2600" dirty="0"/>
              <a:t>Tier 2 ISPs can also be very large, even extending across several countries. </a:t>
            </a:r>
          </a:p>
          <a:p>
            <a:pPr marL="640080" lvl="1" indent="-457200" algn="just">
              <a:lnSpc>
                <a:spcPct val="100000"/>
              </a:lnSpc>
              <a:buFont typeface="Arial" panose="020B0604020202020204" pitchFamily="34" charset="0"/>
              <a:buChar char="•"/>
            </a:pPr>
            <a:r>
              <a:rPr lang="en-US" altLang="en-US" sz="2600" dirty="0"/>
              <a:t>To provide their customers with global Internet access, some Tier 2 ISPs pay Tier 1 ISPs to carry their traffic to other parts of the world.</a:t>
            </a:r>
          </a:p>
          <a:p>
            <a:pPr marL="0" indent="0" algn="just">
              <a:lnSpc>
                <a:spcPct val="100000"/>
              </a:lnSpc>
              <a:buNone/>
            </a:pPr>
            <a:r>
              <a:rPr lang="en-US" altLang="en-US" sz="2800" b="1" dirty="0"/>
              <a:t>Tier 3 ISPs</a:t>
            </a:r>
          </a:p>
          <a:p>
            <a:pPr marL="640080" lvl="1" indent="-457200" algn="just">
              <a:lnSpc>
                <a:spcPct val="100000"/>
              </a:lnSpc>
              <a:buFont typeface="Arial" panose="020B0604020202020204" pitchFamily="34" charset="0"/>
              <a:buChar char="•"/>
            </a:pPr>
            <a:r>
              <a:rPr lang="en-US" altLang="en-US" sz="2600" dirty="0"/>
              <a:t>the farthest away from the backbone.</a:t>
            </a:r>
          </a:p>
          <a:p>
            <a:pPr marL="640080" lvl="1" indent="-457200" algn="just">
              <a:lnSpc>
                <a:spcPct val="100000"/>
              </a:lnSpc>
              <a:buFont typeface="Arial" panose="020B0604020202020204" pitchFamily="34" charset="0"/>
              <a:buChar char="•"/>
            </a:pPr>
            <a:r>
              <a:rPr lang="en-US" altLang="en-US" sz="2600" dirty="0"/>
              <a:t>found in major cities and provide customers local access to the Internet. </a:t>
            </a:r>
          </a:p>
          <a:p>
            <a:pPr marL="640080" lvl="1" indent="-457200" algn="just">
              <a:lnSpc>
                <a:spcPct val="100000"/>
              </a:lnSpc>
              <a:buFont typeface="Arial" panose="020B0604020202020204" pitchFamily="34" charset="0"/>
              <a:buChar char="•"/>
            </a:pPr>
            <a:r>
              <a:rPr lang="en-US" altLang="en-US" sz="2600" dirty="0"/>
              <a:t>Tier 3 ISPs pay Tier 1 and 2 ISPs for access to the global Internet and Internet services.</a:t>
            </a:r>
          </a:p>
        </p:txBody>
      </p:sp>
      <p:sp>
        <p:nvSpPr>
          <p:cNvPr id="2" name="Slide Number Placeholder 1">
            <a:extLst>
              <a:ext uri="{FF2B5EF4-FFF2-40B4-BE49-F238E27FC236}">
                <a16:creationId xmlns:a16="http://schemas.microsoft.com/office/drawing/2014/main" id="{32EB9A8D-CD74-466A-81B5-FE486F61709F}"/>
              </a:ext>
            </a:extLst>
          </p:cNvPr>
          <p:cNvSpPr>
            <a:spLocks noGrp="1"/>
          </p:cNvSpPr>
          <p:nvPr>
            <p:ph type="sldNum" sz="quarter" idx="12"/>
          </p:nvPr>
        </p:nvSpPr>
        <p:spPr/>
        <p:txBody>
          <a:bodyPr/>
          <a:lstStyle/>
          <a:p>
            <a:pPr>
              <a:defRPr/>
            </a:pPr>
            <a:fld id="{81688888-91EF-414A-985B-96F94685BBB6}" type="slidenum">
              <a:rPr lang="en-US" altLang="en-US"/>
              <a:pPr>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DDB93453-6F02-45B6-9113-BA1F18E2CFA4}"/>
              </a:ext>
            </a:extLst>
          </p:cNvPr>
          <p:cNvSpPr>
            <a:spLocks noGrp="1"/>
          </p:cNvSpPr>
          <p:nvPr>
            <p:ph type="title"/>
          </p:nvPr>
        </p:nvSpPr>
        <p:spPr/>
        <p:txBody>
          <a:bodyPr/>
          <a:lstStyle/>
          <a:p>
            <a:pPr fontAlgn="auto">
              <a:spcAft>
                <a:spcPts val="0"/>
              </a:spcAft>
              <a:defRPr/>
            </a:pPr>
            <a:r>
              <a:rPr lang="fi-FI" altLang="en-US" dirty="0"/>
              <a:t>History of Internet</a:t>
            </a:r>
            <a:endParaRPr lang="en-US" altLang="en-US" dirty="0"/>
          </a:p>
        </p:txBody>
      </p:sp>
      <p:sp>
        <p:nvSpPr>
          <p:cNvPr id="31747" name="Content Placeholder 2">
            <a:extLst>
              <a:ext uri="{FF2B5EF4-FFF2-40B4-BE49-F238E27FC236}">
                <a16:creationId xmlns:a16="http://schemas.microsoft.com/office/drawing/2014/main" id="{B3860270-196B-4D5F-A861-E8C72B79A825}"/>
              </a:ext>
            </a:extLst>
          </p:cNvPr>
          <p:cNvSpPr>
            <a:spLocks noGrp="1" noChangeArrowheads="1"/>
          </p:cNvSpPr>
          <p:nvPr>
            <p:ph idx="1"/>
          </p:nvPr>
        </p:nvSpPr>
        <p:spPr>
          <a:xfrm>
            <a:off x="1069848" y="2121408"/>
            <a:ext cx="10058400" cy="4050792"/>
          </a:xfrm>
        </p:spPr>
        <p:txBody>
          <a:bodyPr>
            <a:normAutofit/>
          </a:bodyPr>
          <a:lstStyle/>
          <a:p>
            <a:pPr lvl="1" indent="-274320">
              <a:lnSpc>
                <a:spcPct val="100000"/>
              </a:lnSpc>
              <a:buFont typeface="Wingdings" panose="05000000000000000000" pitchFamily="2" charset="2"/>
              <a:buChar char="v"/>
            </a:pPr>
            <a:r>
              <a:rPr lang="en-US" altLang="en-US" sz="2800" b="1" i="1" dirty="0">
                <a:solidFill>
                  <a:srgbClr val="FF66CC"/>
                </a:solidFill>
              </a:rPr>
              <a:t>Internet expansion        </a:t>
            </a:r>
          </a:p>
          <a:p>
            <a:pPr marL="274320" lvl="1" indent="0">
              <a:lnSpc>
                <a:spcPct val="100000"/>
              </a:lnSpc>
              <a:buNone/>
            </a:pPr>
            <a:r>
              <a:rPr lang="en-US" altLang="en-US" sz="2800" b="1" dirty="0"/>
              <a:t>      Month     # of Web sites</a:t>
            </a:r>
            <a:r>
              <a:rPr lang="en-US" altLang="en-US" sz="2800" dirty="0"/>
              <a:t>   </a:t>
            </a:r>
            <a:br>
              <a:rPr lang="en-US" altLang="en-US" sz="2800" dirty="0"/>
            </a:br>
            <a:r>
              <a:rPr lang="en-US" altLang="en-US" sz="2800" dirty="0"/>
              <a:t>      1/1993          5</a:t>
            </a:r>
            <a:br>
              <a:rPr lang="en-US" altLang="en-US" sz="2800" dirty="0"/>
            </a:br>
            <a:r>
              <a:rPr lang="en-US" altLang="en-US" sz="2800" dirty="0"/>
              <a:t>     12/1993       623               </a:t>
            </a:r>
            <a:br>
              <a:rPr lang="en-US" altLang="en-US" sz="2800" dirty="0"/>
            </a:br>
            <a:r>
              <a:rPr lang="en-US" altLang="en-US" sz="2800" dirty="0"/>
              <a:t>      6/1995      23,500                 </a:t>
            </a:r>
            <a:br>
              <a:rPr lang="en-US" altLang="en-US" sz="2800" dirty="0"/>
            </a:br>
            <a:r>
              <a:rPr lang="en-US" altLang="en-US" sz="2800" dirty="0"/>
              <a:t>      1/1996     100,000                 </a:t>
            </a:r>
            <a:br>
              <a:rPr lang="en-US" altLang="en-US" sz="2800" dirty="0"/>
            </a:br>
            <a:r>
              <a:rPr lang="en-US" altLang="en-US" sz="2800" dirty="0"/>
              <a:t>      1/1997      646,160                  </a:t>
            </a:r>
            <a:br>
              <a:rPr lang="en-US" altLang="en-US" sz="2800" dirty="0"/>
            </a:br>
            <a:r>
              <a:rPr lang="en-US" altLang="en-US" sz="2800" dirty="0"/>
              <a:t>       8/1997    1,269,800</a:t>
            </a:r>
            <a:br>
              <a:rPr lang="en-US" altLang="en-US" sz="2800" dirty="0"/>
            </a:br>
            <a:r>
              <a:rPr lang="en-US" altLang="en-US" sz="2800" dirty="0"/>
              <a:t>Today the number of sites would be almost untraceable.</a:t>
            </a:r>
          </a:p>
        </p:txBody>
      </p:sp>
      <p:sp>
        <p:nvSpPr>
          <p:cNvPr id="2" name="Slide Number Placeholder 1">
            <a:extLst>
              <a:ext uri="{FF2B5EF4-FFF2-40B4-BE49-F238E27FC236}">
                <a16:creationId xmlns:a16="http://schemas.microsoft.com/office/drawing/2014/main" id="{84506758-9D6E-4332-B652-8C5CBFE3A651}"/>
              </a:ext>
            </a:extLst>
          </p:cNvPr>
          <p:cNvSpPr>
            <a:spLocks noGrp="1"/>
          </p:cNvSpPr>
          <p:nvPr>
            <p:ph type="sldNum" sz="quarter" idx="12"/>
          </p:nvPr>
        </p:nvSpPr>
        <p:spPr/>
        <p:txBody>
          <a:bodyPr/>
          <a:lstStyle/>
          <a:p>
            <a:pPr>
              <a:defRPr/>
            </a:pPr>
            <a:fld id="{37A49871-5577-4598-8524-95D3F0395B06}" type="slidenum">
              <a:rPr lang="en-US" altLang="en-US"/>
              <a:pPr>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42BA916-F31A-42A4-A3C9-7DB64A979FB8}"/>
              </a:ext>
            </a:extLst>
          </p:cNvPr>
          <p:cNvSpPr>
            <a:spLocks noGrp="1" noChangeArrowheads="1"/>
          </p:cNvSpPr>
          <p:nvPr>
            <p:ph type="title"/>
          </p:nvPr>
        </p:nvSpPr>
        <p:spPr>
          <a:xfrm>
            <a:off x="1219200" y="420858"/>
            <a:ext cx="7620000" cy="765572"/>
          </a:xfrm>
        </p:spPr>
        <p:txBody>
          <a:bodyPr>
            <a:normAutofit/>
          </a:bodyPr>
          <a:lstStyle/>
          <a:p>
            <a:pPr fontAlgn="auto">
              <a:spcAft>
                <a:spcPts val="0"/>
              </a:spcAft>
              <a:defRPr/>
            </a:pPr>
            <a:r>
              <a:rPr lang="en-US" altLang="en-US" dirty="0"/>
              <a:t>Terms</a:t>
            </a:r>
          </a:p>
        </p:txBody>
      </p:sp>
      <p:sp>
        <p:nvSpPr>
          <p:cNvPr id="31747" name="Rectangle 3">
            <a:extLst>
              <a:ext uri="{FF2B5EF4-FFF2-40B4-BE49-F238E27FC236}">
                <a16:creationId xmlns:a16="http://schemas.microsoft.com/office/drawing/2014/main" id="{6EA8F1DF-58DF-46CA-9C44-6944DA3FF4D3}"/>
              </a:ext>
            </a:extLst>
          </p:cNvPr>
          <p:cNvSpPr>
            <a:spLocks noGrp="1" noChangeArrowheads="1"/>
          </p:cNvSpPr>
          <p:nvPr>
            <p:ph idx="1"/>
          </p:nvPr>
        </p:nvSpPr>
        <p:spPr>
          <a:xfrm>
            <a:off x="240792" y="1066800"/>
            <a:ext cx="11341608" cy="5562600"/>
          </a:xfrm>
        </p:spPr>
        <p:txBody>
          <a:bodyPr rtlCol="0">
            <a:noAutofit/>
          </a:bodyPr>
          <a:lstStyle/>
          <a:p>
            <a:pPr fontAlgn="auto">
              <a:lnSpc>
                <a:spcPct val="120000"/>
              </a:lnSpc>
              <a:spcAft>
                <a:spcPts val="0"/>
              </a:spcAft>
              <a:buClr>
                <a:schemeClr val="accent1">
                  <a:lumMod val="75000"/>
                </a:schemeClr>
              </a:buClr>
              <a:buFont typeface="Wingdings" panose="05000000000000000000" pitchFamily="2" charset="2"/>
              <a:buChar char="v"/>
              <a:defRPr/>
            </a:pPr>
            <a:r>
              <a:rPr lang="en-US" altLang="en-US" sz="2400" b="1" dirty="0">
                <a:solidFill>
                  <a:srgbClr val="00B050"/>
                </a:solidFill>
              </a:rPr>
              <a:t>Web server </a:t>
            </a:r>
            <a:endParaRPr lang="en-US" altLang="en-US" sz="2400" dirty="0">
              <a:solidFill>
                <a:srgbClr val="00B050"/>
              </a:solidFill>
            </a:endParaRPr>
          </a:p>
          <a:p>
            <a:pPr lvl="1">
              <a:lnSpc>
                <a:spcPct val="120000"/>
              </a:lnSpc>
              <a:spcAft>
                <a:spcPts val="0"/>
              </a:spcAft>
              <a:buFont typeface="Arial" panose="020B0604020202020204" pitchFamily="34" charset="0"/>
              <a:buChar char="•"/>
              <a:defRPr/>
            </a:pPr>
            <a:r>
              <a:rPr lang="en-US" altLang="en-US" sz="2800" dirty="0"/>
              <a:t>It is a piece of computer software that can respond to a browser's request for a page, and deliver the page to the Web browser through the Internet</a:t>
            </a:r>
          </a:p>
          <a:p>
            <a:pPr fontAlgn="auto">
              <a:lnSpc>
                <a:spcPct val="120000"/>
              </a:lnSpc>
              <a:spcAft>
                <a:spcPts val="0"/>
              </a:spcAft>
              <a:buClr>
                <a:schemeClr val="accent1">
                  <a:lumMod val="75000"/>
                </a:schemeClr>
              </a:buClr>
              <a:buFont typeface="Wingdings" panose="05000000000000000000" pitchFamily="2" charset="2"/>
              <a:buChar char="v"/>
              <a:defRPr/>
            </a:pPr>
            <a:r>
              <a:rPr lang="en-US" altLang="en-US" sz="2400" b="1" dirty="0">
                <a:solidFill>
                  <a:srgbClr val="00B050"/>
                </a:solidFill>
              </a:rPr>
              <a:t>Hypertext</a:t>
            </a:r>
            <a:r>
              <a:rPr lang="en-US" altLang="en-US" sz="2400" dirty="0">
                <a:solidFill>
                  <a:srgbClr val="00B050"/>
                </a:solidFill>
              </a:rPr>
              <a:t> </a:t>
            </a:r>
          </a:p>
          <a:p>
            <a:pPr lvl="1">
              <a:lnSpc>
                <a:spcPct val="120000"/>
              </a:lnSpc>
              <a:spcAft>
                <a:spcPts val="0"/>
              </a:spcAft>
              <a:buFont typeface="Arial" panose="020B0604020202020204" pitchFamily="34" charset="0"/>
              <a:buChar char="•"/>
              <a:defRPr/>
            </a:pPr>
            <a:r>
              <a:rPr lang="en-US" altLang="en-US" sz="2200" dirty="0"/>
              <a:t> </a:t>
            </a:r>
            <a:r>
              <a:rPr lang="en-US" altLang="en-US" sz="2800" dirty="0"/>
              <a:t>Machine-readable text </a:t>
            </a:r>
          </a:p>
          <a:p>
            <a:pPr lvl="1">
              <a:lnSpc>
                <a:spcPct val="120000"/>
              </a:lnSpc>
              <a:spcAft>
                <a:spcPts val="0"/>
              </a:spcAft>
              <a:buFont typeface="Arial" panose="020B0604020202020204" pitchFamily="34" charset="0"/>
              <a:buChar char="•"/>
              <a:defRPr/>
            </a:pPr>
            <a:r>
              <a:rPr lang="en-US" altLang="en-US" sz="2800" dirty="0"/>
              <a:t>It is not sequential but is organized  </a:t>
            </a:r>
          </a:p>
          <a:p>
            <a:pPr fontAlgn="auto">
              <a:lnSpc>
                <a:spcPct val="120000"/>
              </a:lnSpc>
              <a:spcAft>
                <a:spcPts val="0"/>
              </a:spcAft>
              <a:buClr>
                <a:schemeClr val="accent1">
                  <a:lumMod val="75000"/>
                </a:schemeClr>
              </a:buClr>
              <a:buFont typeface="Wingdings" panose="05000000000000000000" pitchFamily="2" charset="2"/>
              <a:buChar char="v"/>
              <a:defRPr/>
            </a:pPr>
            <a:r>
              <a:rPr lang="en-US" altLang="en-US" sz="2400" b="1" dirty="0"/>
              <a:t>Internet Service Provider (ISP)</a:t>
            </a:r>
            <a:r>
              <a:rPr lang="en-US" altLang="en-US" sz="2400" dirty="0"/>
              <a:t> </a:t>
            </a:r>
          </a:p>
          <a:p>
            <a:pPr lvl="1" fontAlgn="auto">
              <a:lnSpc>
                <a:spcPct val="120000"/>
              </a:lnSpc>
              <a:buClr>
                <a:schemeClr val="accent1">
                  <a:lumMod val="75000"/>
                </a:schemeClr>
              </a:buClr>
              <a:buFont typeface="Arial" panose="020B0604020202020204" pitchFamily="34" charset="0"/>
              <a:buChar char="•"/>
              <a:defRPr/>
            </a:pPr>
            <a:r>
              <a:rPr lang="en-US" altLang="en-US" sz="2400" dirty="0"/>
              <a:t>A company that provides Internet service </a:t>
            </a:r>
          </a:p>
        </p:txBody>
      </p:sp>
      <p:sp>
        <p:nvSpPr>
          <p:cNvPr id="2" name="Slide Number Placeholder 1">
            <a:extLst>
              <a:ext uri="{FF2B5EF4-FFF2-40B4-BE49-F238E27FC236}">
                <a16:creationId xmlns:a16="http://schemas.microsoft.com/office/drawing/2014/main" id="{60ABC94A-849E-4293-BA7D-2869E2664BEB}"/>
              </a:ext>
            </a:extLst>
          </p:cNvPr>
          <p:cNvSpPr>
            <a:spLocks noGrp="1"/>
          </p:cNvSpPr>
          <p:nvPr>
            <p:ph type="sldNum" sz="quarter" idx="12"/>
          </p:nvPr>
        </p:nvSpPr>
        <p:spPr/>
        <p:txBody>
          <a:bodyPr/>
          <a:lstStyle/>
          <a:p>
            <a:pPr>
              <a:defRPr/>
            </a:pPr>
            <a:fld id="{DACAA3AB-9572-4F28-82D7-C3C3DBBDCAB3}" type="slidenum">
              <a:rPr lang="en-US" altLang="en-US"/>
              <a:pPr>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45DEC91D-CCC1-48FB-9153-982F4C37FBDC}"/>
              </a:ext>
            </a:extLst>
          </p:cNvPr>
          <p:cNvSpPr>
            <a:spLocks noGrp="1"/>
          </p:cNvSpPr>
          <p:nvPr>
            <p:ph type="title"/>
          </p:nvPr>
        </p:nvSpPr>
        <p:spPr>
          <a:xfrm>
            <a:off x="762000" y="228600"/>
            <a:ext cx="10058400" cy="886968"/>
          </a:xfrm>
        </p:spPr>
        <p:txBody>
          <a:bodyPr>
            <a:normAutofit fontScale="90000"/>
          </a:bodyPr>
          <a:lstStyle/>
          <a:p>
            <a:pPr fontAlgn="auto">
              <a:spcAft>
                <a:spcPts val="0"/>
              </a:spcAft>
              <a:defRPr/>
            </a:pPr>
            <a:br>
              <a:rPr lang="en-US" altLang="en-US" dirty="0"/>
            </a:br>
            <a:r>
              <a:rPr lang="en-US" altLang="en-US" dirty="0"/>
              <a:t>Terms</a:t>
            </a:r>
            <a:br>
              <a:rPr lang="en-US" altLang="en-US" dirty="0"/>
            </a:br>
            <a:endParaRPr lang="en-US" altLang="en-US" dirty="0"/>
          </a:p>
        </p:txBody>
      </p:sp>
      <p:sp>
        <p:nvSpPr>
          <p:cNvPr id="37891" name="Content Placeholder 2">
            <a:extLst>
              <a:ext uri="{FF2B5EF4-FFF2-40B4-BE49-F238E27FC236}">
                <a16:creationId xmlns:a16="http://schemas.microsoft.com/office/drawing/2014/main" id="{8518FB7B-8445-4A9F-A132-F97BD7D268D3}"/>
              </a:ext>
            </a:extLst>
          </p:cNvPr>
          <p:cNvSpPr>
            <a:spLocks noGrp="1" noChangeArrowheads="1"/>
          </p:cNvSpPr>
          <p:nvPr>
            <p:ph idx="1"/>
          </p:nvPr>
        </p:nvSpPr>
        <p:spPr>
          <a:xfrm>
            <a:off x="685800" y="1295400"/>
            <a:ext cx="10549128" cy="5105400"/>
          </a:xfrm>
        </p:spPr>
        <p:txBody>
          <a:bodyPr>
            <a:normAutofit lnSpcReduction="10000"/>
          </a:bodyPr>
          <a:lstStyle/>
          <a:p>
            <a:pPr>
              <a:lnSpc>
                <a:spcPct val="150000"/>
              </a:lnSpc>
              <a:buFont typeface="Wingdings" panose="05000000000000000000" pitchFamily="2" charset="2"/>
              <a:buChar char="v"/>
              <a:defRPr/>
            </a:pPr>
            <a:r>
              <a:rPr lang="en-US" altLang="en-US" sz="2800" b="1" dirty="0">
                <a:solidFill>
                  <a:srgbClr val="7030A0"/>
                </a:solidFill>
              </a:rPr>
              <a:t>Uniform Resource Locator </a:t>
            </a:r>
            <a:r>
              <a:rPr lang="en-US" altLang="en-US" sz="2800" b="1" dirty="0"/>
              <a:t>(</a:t>
            </a:r>
            <a:r>
              <a:rPr lang="en-US" altLang="en-US" sz="2800" b="1" dirty="0">
                <a:solidFill>
                  <a:srgbClr val="C00000"/>
                </a:solidFill>
              </a:rPr>
              <a:t>URL</a:t>
            </a:r>
            <a:r>
              <a:rPr lang="en-US" altLang="en-US" sz="2800" b="1" dirty="0"/>
              <a:t>)</a:t>
            </a:r>
            <a:r>
              <a:rPr lang="en-US" altLang="en-US" sz="2800" dirty="0"/>
              <a:t> </a:t>
            </a:r>
          </a:p>
          <a:p>
            <a:pPr lvl="1">
              <a:lnSpc>
                <a:spcPct val="150000"/>
              </a:lnSpc>
              <a:buFont typeface="Wingdings" panose="05000000000000000000" pitchFamily="2" charset="2"/>
              <a:buChar char="ü"/>
              <a:defRPr/>
            </a:pPr>
            <a:r>
              <a:rPr lang="en-US" altLang="en-US" sz="2800" dirty="0"/>
              <a:t>It is an </a:t>
            </a:r>
            <a:r>
              <a:rPr lang="en-US" altLang="en-US" sz="2800" u="sng" dirty="0">
                <a:solidFill>
                  <a:srgbClr val="00B0F0"/>
                </a:solidFill>
              </a:rPr>
              <a:t>address</a:t>
            </a:r>
            <a:r>
              <a:rPr lang="en-US" altLang="en-US" sz="2800" dirty="0"/>
              <a:t> on the Internet, such as </a:t>
            </a:r>
            <a:r>
              <a:rPr lang="en-US" altLang="en-US" sz="2800" u="sng" dirty="0">
                <a:solidFill>
                  <a:srgbClr val="0070C0"/>
                </a:solidFill>
                <a:hlinkClick r:id="rId3"/>
              </a:rPr>
              <a:t>http://www.</a:t>
            </a:r>
            <a:r>
              <a:rPr lang="en-US" altLang="en-US" sz="2800" u="sng" dirty="0">
                <a:solidFill>
                  <a:srgbClr val="0070C0"/>
                </a:solidFill>
              </a:rPr>
              <a:t>wku.edu.et</a:t>
            </a:r>
            <a:r>
              <a:rPr lang="en-US" altLang="en-US" sz="2800" dirty="0"/>
              <a:t>, which </a:t>
            </a:r>
            <a:r>
              <a:rPr lang="en-US" altLang="en-US" sz="2800" i="1" dirty="0">
                <a:solidFill>
                  <a:srgbClr val="FF0000"/>
                </a:solidFill>
              </a:rPr>
              <a:t>enables computers and other devices to visit </a:t>
            </a:r>
            <a:r>
              <a:rPr lang="en-US" altLang="en-US" sz="2800" dirty="0"/>
              <a:t>it.</a:t>
            </a:r>
          </a:p>
          <a:p>
            <a:pPr>
              <a:lnSpc>
                <a:spcPct val="150000"/>
              </a:lnSpc>
              <a:buFont typeface="Wingdings" panose="05000000000000000000" pitchFamily="2" charset="2"/>
              <a:buChar char="v"/>
            </a:pPr>
            <a:r>
              <a:rPr lang="en-US" altLang="en-US" sz="2400" b="1" dirty="0"/>
              <a:t>Web Address</a:t>
            </a:r>
            <a:r>
              <a:rPr lang="en-US" altLang="en-US" sz="2400" dirty="0"/>
              <a:t>: the address of information and/or </a:t>
            </a:r>
            <a:r>
              <a:rPr lang="en-US" altLang="en-US" sz="2400" i="1" dirty="0">
                <a:solidFill>
                  <a:srgbClr val="FF0000"/>
                </a:solidFill>
              </a:rPr>
              <a:t>resources available on the internet.</a:t>
            </a:r>
          </a:p>
          <a:p>
            <a:pPr>
              <a:lnSpc>
                <a:spcPct val="150000"/>
              </a:lnSpc>
              <a:buFont typeface="Wingdings" panose="05000000000000000000" pitchFamily="2" charset="2"/>
              <a:buChar char="v"/>
            </a:pPr>
            <a:r>
              <a:rPr lang="en-US" altLang="en-US" sz="2400" b="1" dirty="0"/>
              <a:t>http</a:t>
            </a:r>
            <a:r>
              <a:rPr lang="en-US" altLang="en-US" sz="2400" dirty="0"/>
              <a:t>: http stands for hypertext transfer protocol. </a:t>
            </a:r>
          </a:p>
          <a:p>
            <a:pPr>
              <a:lnSpc>
                <a:spcPct val="150000"/>
              </a:lnSpc>
              <a:buFont typeface="Wingdings" panose="05000000000000000000" pitchFamily="2" charset="2"/>
              <a:buChar char="v"/>
            </a:pPr>
            <a:r>
              <a:rPr lang="en-US" altLang="en-US" sz="2400" b="1" dirty="0"/>
              <a:t>ftp</a:t>
            </a:r>
            <a:r>
              <a:rPr lang="en-US" altLang="en-US" sz="2400" dirty="0"/>
              <a:t>: ftp stands for File Transfer Protocol. It is used to </a:t>
            </a:r>
            <a:r>
              <a:rPr lang="en-US" altLang="en-US" sz="2400" i="1" dirty="0">
                <a:solidFill>
                  <a:srgbClr val="FF0000"/>
                </a:solidFill>
              </a:rPr>
              <a:t>upload or download various files</a:t>
            </a:r>
            <a:r>
              <a:rPr lang="en-US" altLang="en-US" sz="2400" dirty="0"/>
              <a:t>. </a:t>
            </a:r>
          </a:p>
        </p:txBody>
      </p:sp>
      <p:sp>
        <p:nvSpPr>
          <p:cNvPr id="2" name="Slide Number Placeholder 1">
            <a:extLst>
              <a:ext uri="{FF2B5EF4-FFF2-40B4-BE49-F238E27FC236}">
                <a16:creationId xmlns:a16="http://schemas.microsoft.com/office/drawing/2014/main" id="{F5D170D7-A140-415B-8D52-BBB8B62BA528}"/>
              </a:ext>
            </a:extLst>
          </p:cNvPr>
          <p:cNvSpPr>
            <a:spLocks noGrp="1"/>
          </p:cNvSpPr>
          <p:nvPr>
            <p:ph type="sldNum" sz="quarter" idx="12"/>
          </p:nvPr>
        </p:nvSpPr>
        <p:spPr/>
        <p:txBody>
          <a:bodyPr/>
          <a:lstStyle/>
          <a:p>
            <a:pPr>
              <a:defRPr/>
            </a:pPr>
            <a:fld id="{A96EE931-71FC-4E75-BB6F-5CBCFEE4ABFF}" type="slidenum">
              <a:rPr lang="en-US" altLang="en-US"/>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5E5ADF3-7195-4BAF-80D8-2FCBAF35E73C}"/>
              </a:ext>
            </a:extLst>
          </p:cNvPr>
          <p:cNvSpPr>
            <a:spLocks noGrp="1" noChangeArrowheads="1"/>
          </p:cNvSpPr>
          <p:nvPr>
            <p:ph type="title"/>
          </p:nvPr>
        </p:nvSpPr>
        <p:spPr>
          <a:xfrm>
            <a:off x="3009900" y="1063228"/>
            <a:ext cx="6172200" cy="765572"/>
          </a:xfrm>
        </p:spPr>
        <p:txBody>
          <a:bodyPr>
            <a:normAutofit/>
          </a:bodyPr>
          <a:lstStyle/>
          <a:p>
            <a:pPr fontAlgn="auto">
              <a:spcAft>
                <a:spcPts val="0"/>
              </a:spcAft>
              <a:defRPr/>
            </a:pPr>
            <a:r>
              <a:rPr lang="en-US" altLang="en-US" dirty="0"/>
              <a:t>Overview of Internet</a:t>
            </a:r>
          </a:p>
        </p:txBody>
      </p:sp>
      <p:sp>
        <p:nvSpPr>
          <p:cNvPr id="39939" name="Rectangle 3">
            <a:extLst>
              <a:ext uri="{FF2B5EF4-FFF2-40B4-BE49-F238E27FC236}">
                <a16:creationId xmlns:a16="http://schemas.microsoft.com/office/drawing/2014/main" id="{D95D1474-7F4B-4290-A8C2-6DFEE2B27429}"/>
              </a:ext>
            </a:extLst>
          </p:cNvPr>
          <p:cNvSpPr>
            <a:spLocks noGrp="1" noChangeArrowheads="1"/>
          </p:cNvSpPr>
          <p:nvPr>
            <p:ph idx="1"/>
          </p:nvPr>
        </p:nvSpPr>
        <p:spPr>
          <a:xfrm>
            <a:off x="1466850" y="1925637"/>
            <a:ext cx="4114800" cy="742950"/>
          </a:xfrm>
        </p:spPr>
        <p:txBody>
          <a:bodyPr>
            <a:normAutofit/>
          </a:bodyPr>
          <a:lstStyle/>
          <a:p>
            <a:pPr>
              <a:buFont typeface="Wingdings" panose="05000000000000000000" pitchFamily="2" charset="2"/>
              <a:buChar char="v"/>
            </a:pPr>
            <a:r>
              <a:rPr lang="en-US" altLang="en-US" sz="3200" b="1" dirty="0"/>
              <a:t>How does it work?</a:t>
            </a:r>
          </a:p>
        </p:txBody>
      </p:sp>
      <p:sp>
        <p:nvSpPr>
          <p:cNvPr id="2" name="Slide Number Placeholder 1">
            <a:extLst>
              <a:ext uri="{FF2B5EF4-FFF2-40B4-BE49-F238E27FC236}">
                <a16:creationId xmlns:a16="http://schemas.microsoft.com/office/drawing/2014/main" id="{35017665-CC13-469E-8573-8F9D5A508617}"/>
              </a:ext>
            </a:extLst>
          </p:cNvPr>
          <p:cNvSpPr>
            <a:spLocks noGrp="1"/>
          </p:cNvSpPr>
          <p:nvPr>
            <p:ph type="sldNum" sz="quarter" idx="12"/>
          </p:nvPr>
        </p:nvSpPr>
        <p:spPr/>
        <p:txBody>
          <a:bodyPr/>
          <a:lstStyle/>
          <a:p>
            <a:pPr>
              <a:defRPr/>
            </a:pPr>
            <a:fld id="{0145CF51-6CE5-41BC-AEE1-0F83478CD0EB}" type="slidenum">
              <a:rPr lang="en-US" altLang="en-US"/>
              <a:pPr>
                <a:defRPr/>
              </a:pPr>
              <a:t>14</a:t>
            </a:fld>
            <a:endParaRPr lang="en-US" altLang="en-US"/>
          </a:p>
        </p:txBody>
      </p:sp>
      <p:sp>
        <p:nvSpPr>
          <p:cNvPr id="35844" name="laptop">
            <a:extLst>
              <a:ext uri="{FF2B5EF4-FFF2-40B4-BE49-F238E27FC236}">
                <a16:creationId xmlns:a16="http://schemas.microsoft.com/office/drawing/2014/main" id="{B8170076-C9DB-4840-86B4-053E98929104}"/>
              </a:ext>
            </a:extLst>
          </p:cNvPr>
          <p:cNvSpPr>
            <a:spLocks noEditPoints="1" noChangeArrowheads="1"/>
          </p:cNvSpPr>
          <p:nvPr/>
        </p:nvSpPr>
        <p:spPr bwMode="auto">
          <a:xfrm>
            <a:off x="4152900" y="3543300"/>
            <a:ext cx="1428750" cy="1314450"/>
          </a:xfrm>
          <a:custGeom>
            <a:avLst/>
            <a:gdLst>
              <a:gd name="T0" fmla="*/ 2147483646 w 21600"/>
              <a:gd name="T1" fmla="*/ 0 h 21600"/>
              <a:gd name="T2" fmla="*/ 2147483646 w 21600"/>
              <a:gd name="T3" fmla="*/ 2147483646 h 21600"/>
              <a:gd name="T4" fmla="*/ 2147483646 w 21600"/>
              <a:gd name="T5" fmla="*/ 0 h 21600"/>
              <a:gd name="T6" fmla="*/ 2147483646 w 21600"/>
              <a:gd name="T7" fmla="*/ 2147483646 h 21600"/>
              <a:gd name="T8" fmla="*/ 2147483646 w 21600"/>
              <a:gd name="T9" fmla="*/ 0 h 21600"/>
              <a:gd name="T10" fmla="*/ 2147483646 w 21600"/>
              <a:gd name="T11" fmla="*/ 2147483646 h 21600"/>
              <a:gd name="T12" fmla="*/ 0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lIns="68572" tIns="34286" rIns="68572" bIns="34286"/>
          <a:lstStyle/>
          <a:p>
            <a:pPr eaLnBrk="1" fontAlgn="auto" hangingPunct="1">
              <a:spcBef>
                <a:spcPts val="0"/>
              </a:spcBef>
              <a:spcAft>
                <a:spcPts val="0"/>
              </a:spcAft>
              <a:defRPr/>
            </a:pPr>
            <a:endParaRPr lang="en-US" sz="1350">
              <a:latin typeface="+mn-lt"/>
            </a:endParaRPr>
          </a:p>
        </p:txBody>
      </p:sp>
      <p:sp>
        <p:nvSpPr>
          <p:cNvPr id="35845" name="tower">
            <a:extLst>
              <a:ext uri="{FF2B5EF4-FFF2-40B4-BE49-F238E27FC236}">
                <a16:creationId xmlns:a16="http://schemas.microsoft.com/office/drawing/2014/main" id="{B90EAE34-939A-45B0-9828-34FD7D93511D}"/>
              </a:ext>
            </a:extLst>
          </p:cNvPr>
          <p:cNvSpPr>
            <a:spLocks noEditPoints="1" noChangeArrowheads="1"/>
          </p:cNvSpPr>
          <p:nvPr/>
        </p:nvSpPr>
        <p:spPr bwMode="auto">
          <a:xfrm>
            <a:off x="7410450" y="3181350"/>
            <a:ext cx="1143000" cy="1700213"/>
          </a:xfrm>
          <a:custGeom>
            <a:avLst/>
            <a:gdLst>
              <a:gd name="T0" fmla="*/ 0 w 21600"/>
              <a:gd name="T1" fmla="*/ 2147483646 h 21600"/>
              <a:gd name="T2" fmla="*/ 2147483646 w 21600"/>
              <a:gd name="T3" fmla="*/ 0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w 21600"/>
              <a:gd name="T17" fmla="*/ 2147483646 h 21600"/>
              <a:gd name="T18" fmla="*/ 0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660033"/>
          </a:solidFill>
          <a:ln w="9525">
            <a:solidFill>
              <a:srgbClr val="000000"/>
            </a:solidFill>
            <a:miter lim="800000"/>
            <a:headEnd/>
            <a:tailEnd/>
          </a:ln>
        </p:spPr>
        <p:txBody>
          <a:bodyPr lIns="68572" tIns="34286" rIns="68572" bIns="34286"/>
          <a:lstStyle/>
          <a:p>
            <a:pPr eaLnBrk="1" fontAlgn="auto" hangingPunct="1">
              <a:spcBef>
                <a:spcPts val="0"/>
              </a:spcBef>
              <a:spcAft>
                <a:spcPts val="0"/>
              </a:spcAft>
              <a:defRPr/>
            </a:pPr>
            <a:endParaRPr lang="en-US" sz="1350">
              <a:latin typeface="+mn-lt"/>
            </a:endParaRPr>
          </a:p>
        </p:txBody>
      </p:sp>
      <p:sp>
        <p:nvSpPr>
          <p:cNvPr id="35846" name="Text Box 7">
            <a:extLst>
              <a:ext uri="{FF2B5EF4-FFF2-40B4-BE49-F238E27FC236}">
                <a16:creationId xmlns:a16="http://schemas.microsoft.com/office/drawing/2014/main" id="{B0D62AC5-AE8B-4930-8CB3-CD550A53B26A}"/>
              </a:ext>
            </a:extLst>
          </p:cNvPr>
          <p:cNvSpPr txBox="1">
            <a:spLocks noChangeArrowheads="1"/>
          </p:cNvSpPr>
          <p:nvPr/>
        </p:nvSpPr>
        <p:spPr bwMode="auto">
          <a:xfrm>
            <a:off x="3295650" y="3486150"/>
            <a:ext cx="1028700" cy="692150"/>
          </a:xfrm>
          <a:prstGeom prst="rect">
            <a:avLst/>
          </a:prstGeom>
          <a:noFill/>
          <a:ln>
            <a:noFill/>
          </a:ln>
        </p:spPr>
        <p:txBody>
          <a:bodyPr lIns="68572" tIns="34286" rIns="68572" bIns="3428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ct val="50000"/>
              </a:spcBef>
              <a:spcAft>
                <a:spcPts val="0"/>
              </a:spcAft>
              <a:defRPr/>
            </a:pPr>
            <a:r>
              <a:rPr lang="en-US" altLang="en-US" sz="1350" b="1" dirty="0"/>
              <a:t>A machine running a browser</a:t>
            </a:r>
          </a:p>
        </p:txBody>
      </p:sp>
      <p:sp>
        <p:nvSpPr>
          <p:cNvPr id="35847" name="Line 8">
            <a:extLst>
              <a:ext uri="{FF2B5EF4-FFF2-40B4-BE49-F238E27FC236}">
                <a16:creationId xmlns:a16="http://schemas.microsoft.com/office/drawing/2014/main" id="{BB13ABA2-3AA0-4220-BCDF-218214390E14}"/>
              </a:ext>
            </a:extLst>
          </p:cNvPr>
          <p:cNvSpPr>
            <a:spLocks noChangeShapeType="1"/>
          </p:cNvSpPr>
          <p:nvPr/>
        </p:nvSpPr>
        <p:spPr bwMode="auto">
          <a:xfrm>
            <a:off x="5467350" y="3829050"/>
            <a:ext cx="1771650" cy="0"/>
          </a:xfrm>
          <a:prstGeom prst="line">
            <a:avLst/>
          </a:prstGeom>
          <a:noFill/>
          <a:ln w="28575">
            <a:solidFill>
              <a:schemeClr val="tx1"/>
            </a:solidFill>
            <a:round/>
            <a:headEnd/>
            <a:tailEnd type="triangle" w="med" len="med"/>
          </a:ln>
        </p:spPr>
        <p:txBody>
          <a:bodyPr lIns="68572" tIns="34286" rIns="68572" bIns="34286"/>
          <a:lstStyle/>
          <a:p>
            <a:pPr eaLnBrk="1" fontAlgn="auto" hangingPunct="1">
              <a:spcBef>
                <a:spcPts val="0"/>
              </a:spcBef>
              <a:spcAft>
                <a:spcPts val="0"/>
              </a:spcAft>
              <a:defRPr/>
            </a:pPr>
            <a:endParaRPr lang="en-US" sz="1350">
              <a:latin typeface="+mn-lt"/>
            </a:endParaRPr>
          </a:p>
        </p:txBody>
      </p:sp>
      <p:sp>
        <p:nvSpPr>
          <p:cNvPr id="35848" name="Line 9">
            <a:extLst>
              <a:ext uri="{FF2B5EF4-FFF2-40B4-BE49-F238E27FC236}">
                <a16:creationId xmlns:a16="http://schemas.microsoft.com/office/drawing/2014/main" id="{08DCE5FE-3021-435F-91B9-146644549F4D}"/>
              </a:ext>
            </a:extLst>
          </p:cNvPr>
          <p:cNvSpPr>
            <a:spLocks noChangeShapeType="1"/>
          </p:cNvSpPr>
          <p:nvPr/>
        </p:nvSpPr>
        <p:spPr bwMode="auto">
          <a:xfrm flipH="1">
            <a:off x="5524500" y="4143375"/>
            <a:ext cx="1714500" cy="0"/>
          </a:xfrm>
          <a:prstGeom prst="line">
            <a:avLst/>
          </a:prstGeom>
          <a:noFill/>
          <a:ln w="28575">
            <a:solidFill>
              <a:schemeClr val="tx1"/>
            </a:solidFill>
            <a:round/>
            <a:headEnd/>
            <a:tailEnd type="triangle" w="med" len="med"/>
          </a:ln>
        </p:spPr>
        <p:txBody>
          <a:bodyPr lIns="68572" tIns="34286" rIns="68572" bIns="34286"/>
          <a:lstStyle/>
          <a:p>
            <a:pPr eaLnBrk="1" fontAlgn="auto" hangingPunct="1">
              <a:spcBef>
                <a:spcPts val="0"/>
              </a:spcBef>
              <a:spcAft>
                <a:spcPts val="0"/>
              </a:spcAft>
              <a:defRPr/>
            </a:pPr>
            <a:endParaRPr lang="en-US" sz="1350">
              <a:latin typeface="+mn-lt"/>
            </a:endParaRPr>
          </a:p>
        </p:txBody>
      </p:sp>
      <p:sp>
        <p:nvSpPr>
          <p:cNvPr id="35849" name="Text Box 10">
            <a:extLst>
              <a:ext uri="{FF2B5EF4-FFF2-40B4-BE49-F238E27FC236}">
                <a16:creationId xmlns:a16="http://schemas.microsoft.com/office/drawing/2014/main" id="{2366AE0E-E335-41A8-9E4C-AF66B2DA8901}"/>
              </a:ext>
            </a:extLst>
          </p:cNvPr>
          <p:cNvSpPr txBox="1">
            <a:spLocks noChangeArrowheads="1"/>
          </p:cNvSpPr>
          <p:nvPr/>
        </p:nvSpPr>
        <p:spPr bwMode="auto">
          <a:xfrm>
            <a:off x="5467350" y="3314700"/>
            <a:ext cx="1885950" cy="484188"/>
          </a:xfrm>
          <a:prstGeom prst="rect">
            <a:avLst/>
          </a:prstGeom>
          <a:noFill/>
          <a:ln>
            <a:noFill/>
          </a:ln>
        </p:spPr>
        <p:txBody>
          <a:bodyPr lIns="68572" tIns="34286" rIns="68572" bIns="3428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ct val="50000"/>
              </a:spcBef>
              <a:spcAft>
                <a:spcPts val="0"/>
              </a:spcAft>
              <a:defRPr/>
            </a:pPr>
            <a:r>
              <a:rPr lang="en-US" altLang="en-US" sz="1350" b="1" dirty="0"/>
              <a:t>Browser connects and requests a page</a:t>
            </a:r>
          </a:p>
        </p:txBody>
      </p:sp>
      <p:sp>
        <p:nvSpPr>
          <p:cNvPr id="35850" name="Text Box 11">
            <a:extLst>
              <a:ext uri="{FF2B5EF4-FFF2-40B4-BE49-F238E27FC236}">
                <a16:creationId xmlns:a16="http://schemas.microsoft.com/office/drawing/2014/main" id="{194109AA-74F6-4AE6-BF3B-F8889D87AA86}"/>
              </a:ext>
            </a:extLst>
          </p:cNvPr>
          <p:cNvSpPr txBox="1">
            <a:spLocks noChangeArrowheads="1"/>
          </p:cNvSpPr>
          <p:nvPr/>
        </p:nvSpPr>
        <p:spPr bwMode="auto">
          <a:xfrm>
            <a:off x="5505450" y="4200524"/>
            <a:ext cx="1905000" cy="484740"/>
          </a:xfrm>
          <a:prstGeom prst="rect">
            <a:avLst/>
          </a:prstGeom>
          <a:noFill/>
          <a:ln>
            <a:noFill/>
          </a:ln>
        </p:spPr>
        <p:txBody>
          <a:bodyPr wrap="square" lIns="68572" tIns="34286" rIns="68572" bIns="3428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ct val="50000"/>
              </a:spcBef>
              <a:spcAft>
                <a:spcPts val="0"/>
              </a:spcAft>
              <a:defRPr/>
            </a:pPr>
            <a:r>
              <a:rPr lang="en-US" altLang="en-US" sz="1350" b="1" dirty="0"/>
              <a:t>Server sends back the requested page</a:t>
            </a:r>
          </a:p>
        </p:txBody>
      </p:sp>
      <p:sp>
        <p:nvSpPr>
          <p:cNvPr id="35851" name="Text Box 12">
            <a:extLst>
              <a:ext uri="{FF2B5EF4-FFF2-40B4-BE49-F238E27FC236}">
                <a16:creationId xmlns:a16="http://schemas.microsoft.com/office/drawing/2014/main" id="{4BC8AC49-C7ED-4B12-82FB-E3643132648F}"/>
              </a:ext>
            </a:extLst>
          </p:cNvPr>
          <p:cNvSpPr txBox="1">
            <a:spLocks noChangeArrowheads="1"/>
          </p:cNvSpPr>
          <p:nvPr/>
        </p:nvSpPr>
        <p:spPr bwMode="auto">
          <a:xfrm>
            <a:off x="7410450" y="2400300"/>
            <a:ext cx="1543050" cy="692150"/>
          </a:xfrm>
          <a:prstGeom prst="rect">
            <a:avLst/>
          </a:prstGeom>
          <a:noFill/>
          <a:ln>
            <a:noFill/>
          </a:ln>
        </p:spPr>
        <p:txBody>
          <a:bodyPr wrap="square" lIns="68572" tIns="34286" rIns="68572" bIns="3428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ct val="50000"/>
              </a:spcBef>
              <a:spcAft>
                <a:spcPts val="0"/>
              </a:spcAft>
              <a:defRPr/>
            </a:pPr>
            <a:r>
              <a:rPr lang="en-US" altLang="en-US" sz="1350" b="1" dirty="0"/>
              <a:t>A server machine running a web server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80F3B98-9751-4C80-BD64-4DEF407EB731}"/>
              </a:ext>
            </a:extLst>
          </p:cNvPr>
          <p:cNvSpPr>
            <a:spLocks noGrp="1" noChangeArrowheads="1"/>
          </p:cNvSpPr>
          <p:nvPr>
            <p:ph type="title"/>
          </p:nvPr>
        </p:nvSpPr>
        <p:spPr>
          <a:xfrm>
            <a:off x="1981200" y="304800"/>
            <a:ext cx="6172200" cy="765572"/>
          </a:xfrm>
        </p:spPr>
        <p:txBody>
          <a:bodyPr>
            <a:normAutofit/>
          </a:bodyPr>
          <a:lstStyle/>
          <a:p>
            <a:pPr fontAlgn="auto">
              <a:spcAft>
                <a:spcPts val="0"/>
              </a:spcAft>
              <a:defRPr/>
            </a:pPr>
            <a:r>
              <a:rPr lang="en-US" altLang="en-US" dirty="0"/>
              <a:t>Overview of Internet</a:t>
            </a:r>
          </a:p>
        </p:txBody>
      </p:sp>
      <p:sp>
        <p:nvSpPr>
          <p:cNvPr id="37891" name="Rectangle 3">
            <a:extLst>
              <a:ext uri="{FF2B5EF4-FFF2-40B4-BE49-F238E27FC236}">
                <a16:creationId xmlns:a16="http://schemas.microsoft.com/office/drawing/2014/main" id="{2E1FA315-C64B-4193-9E1D-AFB4AEE55D48}"/>
              </a:ext>
            </a:extLst>
          </p:cNvPr>
          <p:cNvSpPr>
            <a:spLocks noGrp="1" noChangeArrowheads="1"/>
          </p:cNvSpPr>
          <p:nvPr>
            <p:ph idx="1"/>
          </p:nvPr>
        </p:nvSpPr>
        <p:spPr>
          <a:xfrm>
            <a:off x="1066800" y="1143000"/>
            <a:ext cx="10058400" cy="5342509"/>
          </a:xfrm>
        </p:spPr>
        <p:txBody>
          <a:bodyPr rtlCol="0">
            <a:noAutofit/>
          </a:bodyPr>
          <a:lstStyle/>
          <a:p>
            <a:pPr marL="0" indent="0" defTabSz="684610" fontAlgn="auto">
              <a:spcAft>
                <a:spcPts val="0"/>
              </a:spcAft>
              <a:buClr>
                <a:schemeClr val="accent1">
                  <a:lumMod val="75000"/>
                </a:schemeClr>
              </a:buClr>
              <a:buNone/>
              <a:defRPr/>
            </a:pPr>
            <a:r>
              <a:rPr lang="en-US" altLang="en-US" sz="2800" b="1" dirty="0"/>
              <a:t>How does it work?</a:t>
            </a:r>
          </a:p>
          <a:p>
            <a:pPr marL="800100" lvl="1" indent="-457200" defTabSz="684610" fontAlgn="auto">
              <a:lnSpc>
                <a:spcPct val="150000"/>
              </a:lnSpc>
              <a:buClr>
                <a:schemeClr val="accent1">
                  <a:lumMod val="75000"/>
                </a:schemeClr>
              </a:buClr>
              <a:buFont typeface="Wingdings" panose="05000000000000000000" pitchFamily="2" charset="2"/>
              <a:buChar char="v"/>
              <a:defRPr/>
            </a:pPr>
            <a:r>
              <a:rPr lang="en-US" altLang="en-US" sz="2800" dirty="0"/>
              <a:t>Requesting the page </a:t>
            </a:r>
            <a:r>
              <a:rPr lang="en-US" altLang="en-US" sz="2800" b="1" dirty="0">
                <a:solidFill>
                  <a:srgbClr val="660033"/>
                </a:solidFill>
              </a:rPr>
              <a:t>http://www.yahoo.com</a:t>
            </a:r>
          </a:p>
          <a:p>
            <a:pPr marL="800100" lvl="1" indent="-457200" defTabSz="684610" fontAlgn="auto">
              <a:lnSpc>
                <a:spcPct val="150000"/>
              </a:lnSpc>
              <a:buClr>
                <a:schemeClr val="accent1">
                  <a:lumMod val="75000"/>
                </a:schemeClr>
              </a:buClr>
              <a:buFont typeface="Wingdings" panose="05000000000000000000" pitchFamily="2" charset="2"/>
              <a:buChar char="v"/>
              <a:defRPr/>
            </a:pPr>
            <a:r>
              <a:rPr lang="en-US" altLang="en-US" sz="2800" i="1" dirty="0">
                <a:solidFill>
                  <a:srgbClr val="7030A0"/>
                </a:solidFill>
              </a:rPr>
              <a:t>The browser broke the URL into 3 parts:</a:t>
            </a:r>
          </a:p>
          <a:p>
            <a:pPr marL="1143000" lvl="2" indent="-457200" defTabSz="684610" fontAlgn="auto">
              <a:lnSpc>
                <a:spcPct val="150000"/>
              </a:lnSpc>
              <a:buClr>
                <a:schemeClr val="accent1">
                  <a:lumMod val="75000"/>
                </a:schemeClr>
              </a:buClr>
              <a:buFont typeface="Wingdings" panose="05000000000000000000" pitchFamily="2" charset="2"/>
              <a:buChar char="ü"/>
              <a:defRPr/>
            </a:pPr>
            <a:r>
              <a:rPr lang="en-US" altLang="en-US" sz="2800" dirty="0"/>
              <a:t>The </a:t>
            </a:r>
            <a:r>
              <a:rPr lang="en-US" altLang="en-US" sz="2800" dirty="0">
                <a:solidFill>
                  <a:srgbClr val="C00000"/>
                </a:solidFill>
              </a:rPr>
              <a:t>protocol</a:t>
            </a:r>
            <a:r>
              <a:rPr lang="en-US" altLang="en-US" sz="2800" dirty="0"/>
              <a:t> ("http")</a:t>
            </a:r>
          </a:p>
          <a:p>
            <a:pPr marL="1143000" lvl="2" indent="-457200" defTabSz="684610" fontAlgn="auto">
              <a:lnSpc>
                <a:spcPct val="150000"/>
              </a:lnSpc>
              <a:buClr>
                <a:schemeClr val="accent1">
                  <a:lumMod val="75000"/>
                </a:schemeClr>
              </a:buClr>
              <a:buFont typeface="Wingdings" panose="05000000000000000000" pitchFamily="2" charset="2"/>
              <a:buChar char="ü"/>
              <a:defRPr/>
            </a:pPr>
            <a:r>
              <a:rPr lang="en-US" altLang="en-US" sz="2800" dirty="0"/>
              <a:t>The </a:t>
            </a:r>
            <a:r>
              <a:rPr lang="en-US" altLang="en-US" sz="2800" dirty="0">
                <a:solidFill>
                  <a:srgbClr val="00B0F0"/>
                </a:solidFill>
              </a:rPr>
              <a:t>server name </a:t>
            </a:r>
            <a:r>
              <a:rPr lang="en-US" altLang="en-US" sz="2800" dirty="0"/>
              <a:t>("www.yahoo.com")</a:t>
            </a:r>
          </a:p>
          <a:p>
            <a:pPr marL="1143000" lvl="2" indent="-457200" defTabSz="684610" fontAlgn="auto">
              <a:lnSpc>
                <a:spcPct val="150000"/>
              </a:lnSpc>
              <a:buClr>
                <a:schemeClr val="accent1">
                  <a:lumMod val="75000"/>
                </a:schemeClr>
              </a:buClr>
              <a:buFont typeface="Wingdings" panose="05000000000000000000" pitchFamily="2" charset="2"/>
              <a:buChar char="ü"/>
              <a:defRPr/>
            </a:pPr>
            <a:r>
              <a:rPr lang="en-US" altLang="en-US" sz="2800" dirty="0"/>
              <a:t>The </a:t>
            </a:r>
            <a:r>
              <a:rPr lang="en-US" altLang="en-US" sz="2800" dirty="0">
                <a:solidFill>
                  <a:srgbClr val="92D050"/>
                </a:solidFill>
              </a:rPr>
              <a:t>file name </a:t>
            </a:r>
            <a:r>
              <a:rPr lang="en-US" altLang="en-US" sz="2800" dirty="0"/>
              <a:t>("index.html")</a:t>
            </a:r>
          </a:p>
          <a:p>
            <a:pPr marL="800100" lvl="1" indent="-457200" defTabSz="684610" fontAlgn="auto">
              <a:lnSpc>
                <a:spcPct val="150000"/>
              </a:lnSpc>
              <a:buClr>
                <a:schemeClr val="accent1">
                  <a:lumMod val="75000"/>
                </a:schemeClr>
              </a:buClr>
              <a:buFont typeface="Arial" panose="020B0604020202020204" pitchFamily="34" charset="0"/>
              <a:buChar char="•"/>
              <a:defRPr/>
            </a:pPr>
            <a:r>
              <a:rPr lang="en-US" altLang="en-US" sz="2800" dirty="0"/>
              <a:t>Browser </a:t>
            </a:r>
            <a:r>
              <a:rPr lang="en-US" altLang="en-US" sz="2800" dirty="0">
                <a:sym typeface="Wingdings" panose="05000000000000000000" pitchFamily="2" charset="2"/>
              </a:rPr>
              <a:t> DNS ……Name to IP translation</a:t>
            </a:r>
            <a:r>
              <a:rPr lang="en-US" altLang="en-US" sz="2800" dirty="0"/>
              <a:t>s</a:t>
            </a:r>
          </a:p>
          <a:p>
            <a:pPr marL="800100" lvl="1" indent="-457200" defTabSz="684610">
              <a:lnSpc>
                <a:spcPct val="150000"/>
              </a:lnSpc>
              <a:buFont typeface="Arial" panose="020B0604020202020204" pitchFamily="34" charset="0"/>
              <a:buChar char="•"/>
              <a:defRPr/>
            </a:pPr>
            <a:r>
              <a:rPr lang="en-US" altLang="en-US" sz="2800" dirty="0"/>
              <a:t>Browser</a:t>
            </a:r>
            <a:r>
              <a:rPr lang="en-US" altLang="en-US" sz="2800" dirty="0">
                <a:sym typeface="Wingdings" panose="05000000000000000000" pitchFamily="2" charset="2"/>
              </a:rPr>
              <a:t> Server …..Creation of connection</a:t>
            </a:r>
          </a:p>
          <a:p>
            <a:pPr marL="800100" lvl="1" indent="-457200" defTabSz="684610" fontAlgn="auto">
              <a:lnSpc>
                <a:spcPct val="150000"/>
              </a:lnSpc>
              <a:buClr>
                <a:schemeClr val="accent1">
                  <a:lumMod val="75000"/>
                </a:schemeClr>
              </a:buClr>
              <a:buFont typeface="Wingdings" panose="05000000000000000000" pitchFamily="2" charset="2"/>
              <a:buChar char="v"/>
              <a:defRPr/>
            </a:pPr>
            <a:endParaRPr lang="en-US" altLang="en-US" sz="2800" dirty="0"/>
          </a:p>
        </p:txBody>
      </p:sp>
      <p:sp>
        <p:nvSpPr>
          <p:cNvPr id="2" name="Slide Number Placeholder 1">
            <a:extLst>
              <a:ext uri="{FF2B5EF4-FFF2-40B4-BE49-F238E27FC236}">
                <a16:creationId xmlns:a16="http://schemas.microsoft.com/office/drawing/2014/main" id="{B4209D6C-462A-40CE-8112-32816D2A7DFA}"/>
              </a:ext>
            </a:extLst>
          </p:cNvPr>
          <p:cNvSpPr>
            <a:spLocks noGrp="1"/>
          </p:cNvSpPr>
          <p:nvPr>
            <p:ph type="sldNum" sz="quarter" idx="12"/>
          </p:nvPr>
        </p:nvSpPr>
        <p:spPr/>
        <p:txBody>
          <a:bodyPr/>
          <a:lstStyle/>
          <a:p>
            <a:pPr>
              <a:defRPr/>
            </a:pPr>
            <a:fld id="{1A0453B2-18E0-49B0-B5F1-02043ADB8AB4}" type="slidenum">
              <a:rPr lang="en-US" altLang="en-US"/>
              <a:pPr>
                <a:defRPr/>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3F7AF-F621-423B-8533-EFCD17166819}"/>
              </a:ext>
            </a:extLst>
          </p:cNvPr>
          <p:cNvSpPr>
            <a:spLocks noGrp="1"/>
          </p:cNvSpPr>
          <p:nvPr>
            <p:ph type="title"/>
          </p:nvPr>
        </p:nvSpPr>
        <p:spPr/>
        <p:txBody>
          <a:bodyPr/>
          <a:lstStyle/>
          <a:p>
            <a:r>
              <a:rPr lang="en-US" altLang="en-US" dirty="0"/>
              <a:t>Overview of Internet</a:t>
            </a:r>
            <a:endParaRPr lang="en-US" dirty="0"/>
          </a:p>
        </p:txBody>
      </p:sp>
      <p:sp>
        <p:nvSpPr>
          <p:cNvPr id="3" name="Content Placeholder 2">
            <a:extLst>
              <a:ext uri="{FF2B5EF4-FFF2-40B4-BE49-F238E27FC236}">
                <a16:creationId xmlns:a16="http://schemas.microsoft.com/office/drawing/2014/main" id="{C2C966A1-DED9-4F64-BBB1-2E36926C9D23}"/>
              </a:ext>
            </a:extLst>
          </p:cNvPr>
          <p:cNvSpPr>
            <a:spLocks noGrp="1"/>
          </p:cNvSpPr>
          <p:nvPr>
            <p:ph idx="1"/>
          </p:nvPr>
        </p:nvSpPr>
        <p:spPr>
          <a:xfrm>
            <a:off x="838200" y="1752600"/>
            <a:ext cx="10472928" cy="4724400"/>
          </a:xfrm>
        </p:spPr>
        <p:txBody>
          <a:bodyPr>
            <a:normAutofit/>
          </a:bodyPr>
          <a:lstStyle/>
          <a:p>
            <a:pPr marL="800100" lvl="1" indent="-457200" defTabSz="684610">
              <a:lnSpc>
                <a:spcPct val="150000"/>
              </a:lnSpc>
              <a:buFont typeface="Wingdings" panose="05000000000000000000" pitchFamily="2" charset="2"/>
              <a:buChar char="ü"/>
              <a:defRPr/>
            </a:pPr>
            <a:r>
              <a:rPr lang="en-US" altLang="en-US" sz="2800" dirty="0"/>
              <a:t>Browser sends a GET request to the server, asking for the file </a:t>
            </a:r>
            <a:r>
              <a:rPr lang="en-US" altLang="en-US" sz="2800" i="1" dirty="0"/>
              <a:t>"http:// www.yahoo.com/index.html</a:t>
            </a:r>
            <a:r>
              <a:rPr lang="en-US" altLang="en-US" sz="2800" dirty="0"/>
              <a:t>".</a:t>
            </a:r>
          </a:p>
          <a:p>
            <a:pPr marL="800100" lvl="1" indent="-457200" defTabSz="684610">
              <a:lnSpc>
                <a:spcPct val="150000"/>
              </a:lnSpc>
              <a:buFont typeface="Wingdings" panose="05000000000000000000" pitchFamily="2" charset="2"/>
              <a:buChar char="ü"/>
              <a:defRPr/>
            </a:pPr>
            <a:r>
              <a:rPr lang="en-US" altLang="en-US" sz="2800" dirty="0"/>
              <a:t>The server then sends the HTML text for the Web page to the browser</a:t>
            </a:r>
          </a:p>
          <a:p>
            <a:pPr marL="800100" lvl="1" indent="-457200" defTabSz="684610">
              <a:lnSpc>
                <a:spcPct val="150000"/>
              </a:lnSpc>
              <a:buFont typeface="Wingdings" panose="05000000000000000000" pitchFamily="2" charset="2"/>
              <a:buChar char="ü"/>
              <a:defRPr/>
            </a:pPr>
            <a:r>
              <a:rPr lang="en-US" altLang="en-US" sz="2800" dirty="0"/>
              <a:t>Browser displays the page based on the HTML tag</a:t>
            </a:r>
            <a:endParaRPr lang="en-US" dirty="0"/>
          </a:p>
        </p:txBody>
      </p:sp>
      <p:sp>
        <p:nvSpPr>
          <p:cNvPr id="4" name="Slide Number Placeholder 3">
            <a:extLst>
              <a:ext uri="{FF2B5EF4-FFF2-40B4-BE49-F238E27FC236}">
                <a16:creationId xmlns:a16="http://schemas.microsoft.com/office/drawing/2014/main" id="{D8A6BF2F-8881-44DC-8F01-21AF00C27246}"/>
              </a:ext>
            </a:extLst>
          </p:cNvPr>
          <p:cNvSpPr>
            <a:spLocks noGrp="1"/>
          </p:cNvSpPr>
          <p:nvPr>
            <p:ph type="sldNum" sz="quarter" idx="12"/>
          </p:nvPr>
        </p:nvSpPr>
        <p:spPr/>
        <p:txBody>
          <a:bodyPr/>
          <a:lstStyle/>
          <a:p>
            <a:pPr>
              <a:defRPr/>
            </a:pPr>
            <a:fld id="{A6E53299-DEC4-4B47-893E-4F091B5E9308}" type="slidenum">
              <a:rPr lang="en-US" altLang="en-US" smtClean="0"/>
              <a:pPr>
                <a:defRPr/>
              </a:pPr>
              <a:t>16</a:t>
            </a:fld>
            <a:endParaRPr lang="en-US" altLang="en-US"/>
          </a:p>
        </p:txBody>
      </p:sp>
    </p:spTree>
    <p:extLst>
      <p:ext uri="{BB962C8B-B14F-4D97-AF65-F5344CB8AC3E}">
        <p14:creationId xmlns:p14="http://schemas.microsoft.com/office/powerpoint/2010/main" val="2133080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9C7F1D4-2C5A-46B6-A8F7-4B63913A789A}"/>
              </a:ext>
            </a:extLst>
          </p:cNvPr>
          <p:cNvSpPr>
            <a:spLocks noGrp="1" noChangeArrowheads="1"/>
          </p:cNvSpPr>
          <p:nvPr>
            <p:ph type="title"/>
          </p:nvPr>
        </p:nvSpPr>
        <p:spPr>
          <a:xfrm>
            <a:off x="3009900" y="163821"/>
            <a:ext cx="6172200" cy="765572"/>
          </a:xfrm>
        </p:spPr>
        <p:txBody>
          <a:bodyPr>
            <a:normAutofit/>
          </a:bodyPr>
          <a:lstStyle/>
          <a:p>
            <a:pPr fontAlgn="auto">
              <a:spcAft>
                <a:spcPts val="0"/>
              </a:spcAft>
              <a:defRPr/>
            </a:pPr>
            <a:r>
              <a:rPr lang="en-US" altLang="en-US" dirty="0"/>
              <a:t>Overview of Internet</a:t>
            </a:r>
          </a:p>
        </p:txBody>
      </p:sp>
      <p:sp>
        <p:nvSpPr>
          <p:cNvPr id="39939" name="Rectangle 3">
            <a:extLst>
              <a:ext uri="{FF2B5EF4-FFF2-40B4-BE49-F238E27FC236}">
                <a16:creationId xmlns:a16="http://schemas.microsoft.com/office/drawing/2014/main" id="{7F518D59-8672-44B9-BFB8-C269A2FD63F2}"/>
              </a:ext>
            </a:extLst>
          </p:cNvPr>
          <p:cNvSpPr>
            <a:spLocks noGrp="1" noChangeArrowheads="1"/>
          </p:cNvSpPr>
          <p:nvPr>
            <p:ph idx="1"/>
          </p:nvPr>
        </p:nvSpPr>
        <p:spPr>
          <a:xfrm>
            <a:off x="914400" y="1066800"/>
            <a:ext cx="10668000" cy="5418709"/>
          </a:xfrm>
        </p:spPr>
        <p:txBody>
          <a:bodyPr rtlCol="0">
            <a:normAutofit/>
          </a:bodyPr>
          <a:lstStyle/>
          <a:p>
            <a:pPr marL="0" indent="0" fontAlgn="auto">
              <a:lnSpc>
                <a:spcPct val="80000"/>
              </a:lnSpc>
              <a:spcAft>
                <a:spcPts val="0"/>
              </a:spcAft>
              <a:buClr>
                <a:schemeClr val="accent1">
                  <a:lumMod val="75000"/>
                </a:schemeClr>
              </a:buClr>
              <a:buNone/>
              <a:defRPr/>
            </a:pPr>
            <a:r>
              <a:rPr lang="en-US" altLang="en-US" sz="3600" dirty="0"/>
              <a:t>Top Level Domain (TLD) names</a:t>
            </a:r>
          </a:p>
          <a:p>
            <a:pPr lvl="1" fontAlgn="auto">
              <a:lnSpc>
                <a:spcPct val="80000"/>
              </a:lnSpc>
              <a:buClr>
                <a:schemeClr val="accent1">
                  <a:lumMod val="75000"/>
                </a:schemeClr>
              </a:buClr>
              <a:buFont typeface="Wingdings" panose="05000000000000000000" pitchFamily="2" charset="2"/>
              <a:buChar char="Ø"/>
              <a:defRPr/>
            </a:pPr>
            <a:r>
              <a:rPr lang="en-US" altLang="en-US" sz="2400" b="1" dirty="0"/>
              <a:t>.com  - </a:t>
            </a:r>
            <a:r>
              <a:rPr lang="en-US" altLang="en-US" sz="2400" dirty="0">
                <a:solidFill>
                  <a:srgbClr val="00B050"/>
                </a:solidFill>
              </a:rPr>
              <a:t>Originally</a:t>
            </a:r>
            <a:r>
              <a:rPr lang="en-US" altLang="en-US" sz="2400" dirty="0"/>
              <a:t> for </a:t>
            </a:r>
            <a:r>
              <a:rPr lang="en-US" altLang="en-US" sz="2400" i="1" dirty="0">
                <a:solidFill>
                  <a:srgbClr val="FF0000"/>
                </a:solidFill>
              </a:rPr>
              <a:t>commercial organizations</a:t>
            </a:r>
            <a:r>
              <a:rPr lang="en-US" altLang="en-US" sz="2400" dirty="0"/>
              <a:t>, but now used by </a:t>
            </a:r>
            <a:r>
              <a:rPr lang="en-US" altLang="en-US" sz="2400" dirty="0">
                <a:solidFill>
                  <a:srgbClr val="00B050"/>
                </a:solidFill>
              </a:rPr>
              <a:t>individuals</a:t>
            </a:r>
            <a:r>
              <a:rPr lang="en-US" altLang="en-US" sz="2400" dirty="0"/>
              <a:t>, </a:t>
            </a:r>
            <a:r>
              <a:rPr lang="en-US" altLang="en-US" sz="2400" dirty="0">
                <a:solidFill>
                  <a:srgbClr val="00B050"/>
                </a:solidFill>
              </a:rPr>
              <a:t>government agencies</a:t>
            </a:r>
            <a:r>
              <a:rPr lang="en-US" altLang="en-US" sz="2400" dirty="0"/>
              <a:t>, and </a:t>
            </a:r>
            <a:r>
              <a:rPr lang="en-US" altLang="en-US" sz="2400" dirty="0" err="1">
                <a:solidFill>
                  <a:srgbClr val="00B050"/>
                </a:solidFill>
              </a:rPr>
              <a:t>non_profits</a:t>
            </a:r>
            <a:r>
              <a:rPr lang="en-US" altLang="en-US" sz="2400" dirty="0"/>
              <a:t> as well</a:t>
            </a:r>
          </a:p>
          <a:p>
            <a:pPr lvl="2" fontAlgn="auto">
              <a:lnSpc>
                <a:spcPct val="80000"/>
              </a:lnSpc>
              <a:buClr>
                <a:schemeClr val="accent1">
                  <a:lumMod val="75000"/>
                </a:schemeClr>
              </a:buClr>
              <a:buFont typeface="Wingdings" panose="05000000000000000000" pitchFamily="2" charset="2"/>
              <a:buChar char="ü"/>
              <a:defRPr/>
            </a:pPr>
            <a:r>
              <a:rPr lang="en-US" altLang="en-US" sz="2000" i="1" dirty="0"/>
              <a:t>www.google.com</a:t>
            </a:r>
          </a:p>
          <a:p>
            <a:pPr lvl="1" fontAlgn="auto">
              <a:lnSpc>
                <a:spcPct val="80000"/>
              </a:lnSpc>
              <a:buClr>
                <a:schemeClr val="accent1">
                  <a:lumMod val="75000"/>
                </a:schemeClr>
              </a:buClr>
              <a:buFont typeface="Wingdings" panose="05000000000000000000" pitchFamily="2" charset="2"/>
              <a:buChar char="Ø"/>
              <a:defRPr/>
            </a:pPr>
            <a:r>
              <a:rPr lang="en-US" altLang="en-US" sz="2400" b="1" dirty="0" err="1"/>
              <a:t>.Net</a:t>
            </a:r>
            <a:r>
              <a:rPr lang="en-US" altLang="en-US" sz="2400" b="1" dirty="0"/>
              <a:t> - </a:t>
            </a:r>
            <a:r>
              <a:rPr lang="en-US" altLang="en-US" sz="2400" dirty="0"/>
              <a:t>Internet service providers and other network-related companies</a:t>
            </a:r>
          </a:p>
          <a:p>
            <a:pPr lvl="2" fontAlgn="auto">
              <a:lnSpc>
                <a:spcPct val="80000"/>
              </a:lnSpc>
              <a:buClr>
                <a:schemeClr val="accent1">
                  <a:lumMod val="75000"/>
                </a:schemeClr>
              </a:buClr>
              <a:buFont typeface="Wingdings" panose="05000000000000000000" pitchFamily="2" charset="2"/>
              <a:buChar char="ü"/>
              <a:defRPr/>
            </a:pPr>
            <a:r>
              <a:rPr lang="en-US" altLang="en-US" sz="2000" i="1" dirty="0"/>
              <a:t>www.ethio.net</a:t>
            </a:r>
          </a:p>
          <a:p>
            <a:pPr lvl="1" fontAlgn="auto">
              <a:lnSpc>
                <a:spcPct val="80000"/>
              </a:lnSpc>
              <a:buClr>
                <a:schemeClr val="accent1">
                  <a:lumMod val="75000"/>
                </a:schemeClr>
              </a:buClr>
              <a:buFont typeface="Wingdings" panose="05000000000000000000" pitchFamily="2" charset="2"/>
              <a:buChar char="Ø"/>
              <a:defRPr/>
            </a:pPr>
            <a:r>
              <a:rPr lang="en-US" altLang="en-US" sz="2400" b="1" dirty="0"/>
              <a:t>.org - </a:t>
            </a:r>
            <a:r>
              <a:rPr lang="en-US" altLang="en-US" sz="2400" dirty="0"/>
              <a:t>Noncommercial (often nonprofit) organizations</a:t>
            </a:r>
          </a:p>
          <a:p>
            <a:pPr lvl="2" fontAlgn="auto">
              <a:lnSpc>
                <a:spcPct val="80000"/>
              </a:lnSpc>
              <a:buClr>
                <a:schemeClr val="accent1">
                  <a:lumMod val="75000"/>
                </a:schemeClr>
              </a:buClr>
              <a:buFont typeface="Wingdings" panose="05000000000000000000" pitchFamily="2" charset="2"/>
              <a:buChar char="ü"/>
              <a:defRPr/>
            </a:pPr>
            <a:r>
              <a:rPr lang="en-US" altLang="en-US" sz="2000" i="1" dirty="0"/>
              <a:t>www.sourceforge.org</a:t>
            </a:r>
          </a:p>
          <a:p>
            <a:pPr lvl="1" fontAlgn="auto">
              <a:lnSpc>
                <a:spcPct val="80000"/>
              </a:lnSpc>
              <a:buClr>
                <a:schemeClr val="accent1">
                  <a:lumMod val="75000"/>
                </a:schemeClr>
              </a:buClr>
              <a:buFont typeface="Wingdings" panose="05000000000000000000" pitchFamily="2" charset="2"/>
              <a:buChar char="Ø"/>
              <a:defRPr/>
            </a:pPr>
            <a:r>
              <a:rPr lang="en-US" altLang="en-US" sz="2400" b="1" dirty="0"/>
              <a:t>.gov - </a:t>
            </a:r>
            <a:r>
              <a:rPr lang="en-US" altLang="en-US" sz="2400" dirty="0"/>
              <a:t>government agencies</a:t>
            </a:r>
          </a:p>
          <a:p>
            <a:pPr lvl="2" fontAlgn="auto">
              <a:lnSpc>
                <a:spcPct val="80000"/>
              </a:lnSpc>
              <a:buClr>
                <a:schemeClr val="accent1">
                  <a:lumMod val="75000"/>
                </a:schemeClr>
              </a:buClr>
              <a:buFont typeface="Wingdings" panose="05000000000000000000" pitchFamily="2" charset="2"/>
              <a:buChar char="ü"/>
              <a:defRPr/>
            </a:pPr>
            <a:r>
              <a:rPr lang="en-US" altLang="en-US" sz="2000" i="1" dirty="0"/>
              <a:t>www.ena.gov.et</a:t>
            </a:r>
          </a:p>
          <a:p>
            <a:pPr lvl="1" fontAlgn="auto">
              <a:lnSpc>
                <a:spcPct val="80000"/>
              </a:lnSpc>
              <a:buClr>
                <a:schemeClr val="accent1">
                  <a:lumMod val="75000"/>
                </a:schemeClr>
              </a:buClr>
              <a:buFont typeface="Wingdings" panose="05000000000000000000" pitchFamily="2" charset="2"/>
              <a:buChar char="Ø"/>
              <a:defRPr/>
            </a:pPr>
            <a:r>
              <a:rPr lang="en-US" altLang="en-US" sz="2400" b="1" dirty="0"/>
              <a:t>.mil - </a:t>
            </a:r>
            <a:r>
              <a:rPr lang="en-US" altLang="en-US" sz="2000" dirty="0"/>
              <a:t>military</a:t>
            </a:r>
          </a:p>
          <a:p>
            <a:pPr lvl="1" fontAlgn="auto">
              <a:lnSpc>
                <a:spcPct val="80000"/>
              </a:lnSpc>
              <a:buClr>
                <a:schemeClr val="accent1">
                  <a:lumMod val="75000"/>
                </a:schemeClr>
              </a:buClr>
              <a:buFont typeface="Wingdings" panose="05000000000000000000" pitchFamily="2" charset="2"/>
              <a:buChar char="Ø"/>
              <a:defRPr/>
            </a:pPr>
            <a:r>
              <a:rPr lang="en-US" altLang="en-US" sz="2400" b="1" dirty="0"/>
              <a:t>.</a:t>
            </a:r>
            <a:r>
              <a:rPr lang="en-US" altLang="en-US" sz="2400" b="1" dirty="0" err="1"/>
              <a:t>edu</a:t>
            </a:r>
            <a:r>
              <a:rPr lang="en-US" altLang="en-US" sz="2400" b="1" dirty="0"/>
              <a:t> - </a:t>
            </a:r>
            <a:r>
              <a:rPr lang="en-US" altLang="en-US" sz="2400" dirty="0"/>
              <a:t>Educational domains</a:t>
            </a:r>
          </a:p>
          <a:p>
            <a:pPr lvl="2" fontAlgn="auto">
              <a:lnSpc>
                <a:spcPct val="80000"/>
              </a:lnSpc>
              <a:buClr>
                <a:schemeClr val="accent1">
                  <a:lumMod val="75000"/>
                </a:schemeClr>
              </a:buClr>
              <a:buFont typeface="Wingdings" panose="05000000000000000000" pitchFamily="2" charset="2"/>
              <a:buChar char="ü"/>
              <a:defRPr/>
            </a:pPr>
            <a:r>
              <a:rPr lang="en-US" altLang="en-US" sz="2000" i="1" dirty="0"/>
              <a:t>www.wku.edu.et</a:t>
            </a:r>
          </a:p>
          <a:p>
            <a:pPr lvl="1" fontAlgn="auto">
              <a:lnSpc>
                <a:spcPct val="80000"/>
              </a:lnSpc>
              <a:buClr>
                <a:schemeClr val="accent1">
                  <a:lumMod val="75000"/>
                </a:schemeClr>
              </a:buClr>
              <a:buFont typeface="Wingdings" panose="05000000000000000000" pitchFamily="2" charset="2"/>
              <a:buChar char="Ø"/>
              <a:defRPr/>
            </a:pPr>
            <a:r>
              <a:rPr lang="en-US" altLang="en-US" sz="2400" b="1" dirty="0"/>
              <a:t>.int - </a:t>
            </a:r>
            <a:r>
              <a:rPr lang="en-US" altLang="en-US" sz="2400" dirty="0"/>
              <a:t>International organizations like NATO and the International Red Cross</a:t>
            </a:r>
          </a:p>
        </p:txBody>
      </p:sp>
      <p:sp>
        <p:nvSpPr>
          <p:cNvPr id="2" name="Slide Number Placeholder 1">
            <a:extLst>
              <a:ext uri="{FF2B5EF4-FFF2-40B4-BE49-F238E27FC236}">
                <a16:creationId xmlns:a16="http://schemas.microsoft.com/office/drawing/2014/main" id="{F16D838C-A83B-4ED6-8A38-468B8B1D96A8}"/>
              </a:ext>
            </a:extLst>
          </p:cNvPr>
          <p:cNvSpPr>
            <a:spLocks noGrp="1"/>
          </p:cNvSpPr>
          <p:nvPr>
            <p:ph type="sldNum" sz="quarter" idx="12"/>
          </p:nvPr>
        </p:nvSpPr>
        <p:spPr/>
        <p:txBody>
          <a:bodyPr/>
          <a:lstStyle/>
          <a:p>
            <a:pPr>
              <a:defRPr/>
            </a:pPr>
            <a:fld id="{2E7AF245-B427-4286-BD78-AAB28C3E1129}" type="slidenum">
              <a:rPr lang="en-US" altLang="en-US"/>
              <a:pPr>
                <a:defRPr/>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962627-CE13-4B34-BEA6-68E1D9541AE7}"/>
              </a:ext>
            </a:extLst>
          </p:cNvPr>
          <p:cNvSpPr>
            <a:spLocks noGrp="1" noChangeArrowheads="1"/>
          </p:cNvSpPr>
          <p:nvPr>
            <p:ph type="title"/>
          </p:nvPr>
        </p:nvSpPr>
        <p:spPr>
          <a:xfrm>
            <a:off x="3009900" y="1063228"/>
            <a:ext cx="6172200" cy="765572"/>
          </a:xfrm>
        </p:spPr>
        <p:txBody>
          <a:bodyPr>
            <a:normAutofit/>
          </a:bodyPr>
          <a:lstStyle/>
          <a:p>
            <a:pPr fontAlgn="auto">
              <a:spcAft>
                <a:spcPts val="0"/>
              </a:spcAft>
              <a:defRPr/>
            </a:pPr>
            <a:r>
              <a:rPr lang="en-US" altLang="en-US"/>
              <a:t>Overview of Internet</a:t>
            </a:r>
          </a:p>
        </p:txBody>
      </p:sp>
      <p:sp>
        <p:nvSpPr>
          <p:cNvPr id="48131" name="Rectangle 3">
            <a:extLst>
              <a:ext uri="{FF2B5EF4-FFF2-40B4-BE49-F238E27FC236}">
                <a16:creationId xmlns:a16="http://schemas.microsoft.com/office/drawing/2014/main" id="{4FA82B31-8DAA-4C2B-8178-E62DBCC54211}"/>
              </a:ext>
            </a:extLst>
          </p:cNvPr>
          <p:cNvSpPr>
            <a:spLocks noGrp="1" noChangeArrowheads="1"/>
          </p:cNvSpPr>
          <p:nvPr>
            <p:ph idx="1"/>
          </p:nvPr>
        </p:nvSpPr>
        <p:spPr>
          <a:xfrm>
            <a:off x="1295400" y="2000250"/>
            <a:ext cx="9753600" cy="4272534"/>
          </a:xfrm>
        </p:spPr>
        <p:txBody>
          <a:bodyPr>
            <a:normAutofit/>
          </a:bodyPr>
          <a:lstStyle/>
          <a:p>
            <a:pPr>
              <a:buFontTx/>
              <a:buNone/>
            </a:pPr>
            <a:r>
              <a:rPr lang="en-US" altLang="en-US" sz="3200" dirty="0"/>
              <a:t>More</a:t>
            </a:r>
            <a:r>
              <a:rPr lang="en-US" altLang="en-US" sz="3200" i="1" dirty="0">
                <a:solidFill>
                  <a:srgbClr val="00B050"/>
                </a:solidFill>
              </a:rPr>
              <a:t> three-or-more-letter </a:t>
            </a:r>
            <a:r>
              <a:rPr lang="en-US" altLang="en-US" sz="3200" dirty="0"/>
              <a:t>TLDs are coming into use, such as these:</a:t>
            </a:r>
          </a:p>
          <a:p>
            <a:pPr lvl="1">
              <a:buFont typeface="Wingdings" panose="05000000000000000000" pitchFamily="2" charset="2"/>
              <a:buChar char="Ø"/>
            </a:pPr>
            <a:r>
              <a:rPr lang="en-US" altLang="en-US" sz="2800" b="1" dirty="0"/>
              <a:t> .aero - </a:t>
            </a:r>
            <a:r>
              <a:rPr lang="en-US" altLang="en-US" sz="2800" dirty="0"/>
              <a:t>Airlines</a:t>
            </a:r>
          </a:p>
          <a:p>
            <a:pPr lvl="1">
              <a:buFont typeface="Wingdings" panose="05000000000000000000" pitchFamily="2" charset="2"/>
              <a:buChar char="Ø"/>
            </a:pPr>
            <a:r>
              <a:rPr lang="en-US" altLang="en-US" sz="2800" b="1" dirty="0"/>
              <a:t> .coop  - </a:t>
            </a:r>
            <a:r>
              <a:rPr lang="en-US" altLang="en-US" sz="2800" dirty="0"/>
              <a:t>Cooperatives</a:t>
            </a:r>
          </a:p>
          <a:p>
            <a:pPr lvl="1">
              <a:buFont typeface="Wingdings" panose="05000000000000000000" pitchFamily="2" charset="2"/>
              <a:buChar char="Ø"/>
            </a:pPr>
            <a:r>
              <a:rPr lang="en-US" altLang="en-US" sz="2800" b="1" dirty="0"/>
              <a:t> .info - </a:t>
            </a:r>
            <a:r>
              <a:rPr lang="en-US" altLang="en-US" sz="2800" dirty="0"/>
              <a:t>Anyone</a:t>
            </a:r>
          </a:p>
          <a:p>
            <a:pPr lvl="1">
              <a:buFont typeface="Wingdings" panose="05000000000000000000" pitchFamily="2" charset="2"/>
              <a:buChar char="Ø"/>
            </a:pPr>
            <a:r>
              <a:rPr lang="en-US" altLang="en-US" sz="2800" b="1" dirty="0"/>
              <a:t> .name – </a:t>
            </a:r>
            <a:r>
              <a:rPr lang="en-US" altLang="en-US" sz="2800" dirty="0"/>
              <a:t>Individuals</a:t>
            </a:r>
          </a:p>
        </p:txBody>
      </p:sp>
      <p:sp>
        <p:nvSpPr>
          <p:cNvPr id="2" name="Slide Number Placeholder 1">
            <a:extLst>
              <a:ext uri="{FF2B5EF4-FFF2-40B4-BE49-F238E27FC236}">
                <a16:creationId xmlns:a16="http://schemas.microsoft.com/office/drawing/2014/main" id="{2803C275-AE5D-43A6-A5EA-244EAA273A82}"/>
              </a:ext>
            </a:extLst>
          </p:cNvPr>
          <p:cNvSpPr>
            <a:spLocks noGrp="1"/>
          </p:cNvSpPr>
          <p:nvPr>
            <p:ph type="sldNum" sz="quarter" idx="12"/>
          </p:nvPr>
        </p:nvSpPr>
        <p:spPr/>
        <p:txBody>
          <a:bodyPr/>
          <a:lstStyle/>
          <a:p>
            <a:pPr>
              <a:defRPr/>
            </a:pPr>
            <a:fld id="{A7476A7C-2CEF-4271-840A-87C5BE786FEA}" type="slidenum">
              <a:rPr lang="en-US" altLang="en-US"/>
              <a:pPr>
                <a:defRPr/>
              </a:pPr>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447AD49-0D88-4BB3-BD8C-C0D8FC1A92FD}"/>
              </a:ext>
            </a:extLst>
          </p:cNvPr>
          <p:cNvSpPr>
            <a:spLocks noGrp="1" noChangeArrowheads="1"/>
          </p:cNvSpPr>
          <p:nvPr>
            <p:ph type="title"/>
          </p:nvPr>
        </p:nvSpPr>
        <p:spPr>
          <a:xfrm>
            <a:off x="2209800" y="152400"/>
            <a:ext cx="6172200" cy="765572"/>
          </a:xfrm>
        </p:spPr>
        <p:txBody>
          <a:bodyPr>
            <a:normAutofit/>
          </a:bodyPr>
          <a:lstStyle/>
          <a:p>
            <a:pPr fontAlgn="auto">
              <a:spcAft>
                <a:spcPts val="0"/>
              </a:spcAft>
              <a:defRPr/>
            </a:pPr>
            <a:r>
              <a:rPr lang="en-US" altLang="en-US" dirty="0"/>
              <a:t>Overview of Internet</a:t>
            </a:r>
          </a:p>
        </p:txBody>
      </p:sp>
      <p:sp>
        <p:nvSpPr>
          <p:cNvPr id="50179" name="Rectangle 3">
            <a:extLst>
              <a:ext uri="{FF2B5EF4-FFF2-40B4-BE49-F238E27FC236}">
                <a16:creationId xmlns:a16="http://schemas.microsoft.com/office/drawing/2014/main" id="{378BDA34-77DC-4952-B3A1-3189648EB22B}"/>
              </a:ext>
            </a:extLst>
          </p:cNvPr>
          <p:cNvSpPr>
            <a:spLocks noGrp="1" noChangeArrowheads="1"/>
          </p:cNvSpPr>
          <p:nvPr>
            <p:ph idx="1"/>
          </p:nvPr>
        </p:nvSpPr>
        <p:spPr>
          <a:xfrm>
            <a:off x="850641" y="857250"/>
            <a:ext cx="9829800" cy="6000750"/>
          </a:xfrm>
        </p:spPr>
        <p:txBody>
          <a:bodyPr>
            <a:normAutofit/>
          </a:bodyPr>
          <a:lstStyle/>
          <a:p>
            <a:pPr>
              <a:lnSpc>
                <a:spcPct val="100000"/>
              </a:lnSpc>
              <a:spcBef>
                <a:spcPts val="600"/>
              </a:spcBef>
              <a:buFontTx/>
              <a:buNone/>
            </a:pPr>
            <a:r>
              <a:rPr lang="en-US" altLang="en-US" sz="2400" dirty="0"/>
              <a:t>Internet Address</a:t>
            </a:r>
          </a:p>
          <a:p>
            <a:pPr marL="274320" indent="-274320">
              <a:lnSpc>
                <a:spcPct val="100000"/>
              </a:lnSpc>
              <a:spcBef>
                <a:spcPts val="600"/>
              </a:spcBef>
              <a:buFont typeface="Wingdings" panose="05000000000000000000" pitchFamily="2" charset="2"/>
              <a:buChar char="v"/>
            </a:pPr>
            <a:r>
              <a:rPr lang="en-US" altLang="en-US" sz="2400" dirty="0"/>
              <a:t>Each computer connected to the Internet </a:t>
            </a:r>
            <a:r>
              <a:rPr lang="en-US" altLang="en-US" sz="2400" b="1" dirty="0"/>
              <a:t>must </a:t>
            </a:r>
            <a:r>
              <a:rPr lang="en-US" altLang="en-US" sz="2400" dirty="0"/>
              <a:t>have a unique address, known as IP address. </a:t>
            </a:r>
          </a:p>
          <a:p>
            <a:pPr marL="274320" indent="-274320">
              <a:lnSpc>
                <a:spcPct val="100000"/>
              </a:lnSpc>
              <a:spcBef>
                <a:spcPts val="600"/>
              </a:spcBef>
              <a:buFont typeface="Wingdings" panose="05000000000000000000" pitchFamily="2" charset="2"/>
              <a:buChar char="v"/>
            </a:pPr>
            <a:r>
              <a:rPr lang="en-US" altLang="en-US" sz="2400" dirty="0"/>
              <a:t>Internet addresses are in the form </a:t>
            </a:r>
            <a:r>
              <a:rPr lang="en-US" altLang="en-US" sz="2400" b="1" dirty="0"/>
              <a:t>#.#.#.# </a:t>
            </a:r>
            <a:r>
              <a:rPr lang="en-US" altLang="en-US" sz="2400" dirty="0"/>
              <a:t>where # must be a number from 0 – 255</a:t>
            </a:r>
          </a:p>
        </p:txBody>
      </p:sp>
      <p:sp>
        <p:nvSpPr>
          <p:cNvPr id="2" name="Slide Number Placeholder 1">
            <a:extLst>
              <a:ext uri="{FF2B5EF4-FFF2-40B4-BE49-F238E27FC236}">
                <a16:creationId xmlns:a16="http://schemas.microsoft.com/office/drawing/2014/main" id="{535493DF-63BC-4846-A365-8B9997EAF698}"/>
              </a:ext>
            </a:extLst>
          </p:cNvPr>
          <p:cNvSpPr>
            <a:spLocks noGrp="1"/>
          </p:cNvSpPr>
          <p:nvPr>
            <p:ph type="sldNum" sz="quarter" idx="12"/>
          </p:nvPr>
        </p:nvSpPr>
        <p:spPr/>
        <p:txBody>
          <a:bodyPr/>
          <a:lstStyle/>
          <a:p>
            <a:pPr>
              <a:defRPr/>
            </a:pPr>
            <a:fld id="{56E366DD-92D2-4897-9714-14867022CB87}" type="slidenum">
              <a:rPr lang="en-US" altLang="en-US"/>
              <a:pPr>
                <a:defRPr/>
              </a:pPr>
              <a:t>19</a:t>
            </a:fld>
            <a:endParaRPr lang="en-US" altLang="en-US"/>
          </a:p>
        </p:txBody>
      </p:sp>
      <p:pic>
        <p:nvPicPr>
          <p:cNvPr id="4" name="Picture 3">
            <a:extLst>
              <a:ext uri="{FF2B5EF4-FFF2-40B4-BE49-F238E27FC236}">
                <a16:creationId xmlns:a16="http://schemas.microsoft.com/office/drawing/2014/main" id="{1324A02E-8751-449A-C68D-F17617AAC073}"/>
              </a:ext>
            </a:extLst>
          </p:cNvPr>
          <p:cNvPicPr>
            <a:picLocks noChangeAspect="1"/>
          </p:cNvPicPr>
          <p:nvPr/>
        </p:nvPicPr>
        <p:blipFill>
          <a:blip r:embed="rId3"/>
          <a:stretch>
            <a:fillRect/>
          </a:stretch>
        </p:blipFill>
        <p:spPr>
          <a:xfrm>
            <a:off x="4582108" y="2612333"/>
            <a:ext cx="5867400" cy="4010025"/>
          </a:xfrm>
          <a:prstGeom prst="rect">
            <a:avLst/>
          </a:prstGeom>
        </p:spPr>
      </p:pic>
      <p:sp>
        <p:nvSpPr>
          <p:cNvPr id="6" name="TextBox 5">
            <a:extLst>
              <a:ext uri="{FF2B5EF4-FFF2-40B4-BE49-F238E27FC236}">
                <a16:creationId xmlns:a16="http://schemas.microsoft.com/office/drawing/2014/main" id="{ECA1612C-C595-7641-1D66-2FBFC99B9030}"/>
              </a:ext>
            </a:extLst>
          </p:cNvPr>
          <p:cNvSpPr txBox="1"/>
          <p:nvPr/>
        </p:nvSpPr>
        <p:spPr>
          <a:xfrm>
            <a:off x="188852" y="3244334"/>
            <a:ext cx="4230748" cy="830997"/>
          </a:xfrm>
          <a:prstGeom prst="rect">
            <a:avLst/>
          </a:prstGeom>
          <a:noFill/>
        </p:spPr>
        <p:txBody>
          <a:bodyPr wrap="square">
            <a:spAutoFit/>
          </a:bodyPr>
          <a:lstStyle/>
          <a:p>
            <a:pPr algn="l"/>
            <a:r>
              <a:rPr lang="en-US" sz="2400" b="0" i="0" u="none" strike="noStrike" dirty="0">
                <a:effectLst/>
                <a:latin typeface="AmazonEmberLight"/>
              </a:rPr>
              <a:t>How Does DNS Route Traffic To Your Web Application?</a:t>
            </a:r>
            <a:endParaRPr lang="en-US" sz="2400" b="0" i="0" dirty="0">
              <a:effectLst/>
              <a:latin typeface="AmazonEmber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447AD49-0D88-4BB3-BD8C-C0D8FC1A92FD}"/>
              </a:ext>
            </a:extLst>
          </p:cNvPr>
          <p:cNvSpPr>
            <a:spLocks noGrp="1" noChangeArrowheads="1"/>
          </p:cNvSpPr>
          <p:nvPr>
            <p:ph type="title"/>
          </p:nvPr>
        </p:nvSpPr>
        <p:spPr>
          <a:xfrm>
            <a:off x="2209800" y="152400"/>
            <a:ext cx="6172200" cy="765572"/>
          </a:xfrm>
        </p:spPr>
        <p:txBody>
          <a:bodyPr>
            <a:normAutofit/>
          </a:bodyPr>
          <a:lstStyle/>
          <a:p>
            <a:pPr fontAlgn="auto">
              <a:spcAft>
                <a:spcPts val="0"/>
              </a:spcAft>
              <a:defRPr/>
            </a:pPr>
            <a:r>
              <a:rPr lang="en-US" altLang="en-US" dirty="0"/>
              <a:t>Overview of Internet</a:t>
            </a:r>
          </a:p>
        </p:txBody>
      </p:sp>
      <p:sp>
        <p:nvSpPr>
          <p:cNvPr id="50179" name="Rectangle 3">
            <a:extLst>
              <a:ext uri="{FF2B5EF4-FFF2-40B4-BE49-F238E27FC236}">
                <a16:creationId xmlns:a16="http://schemas.microsoft.com/office/drawing/2014/main" id="{378BDA34-77DC-4952-B3A1-3189648EB22B}"/>
              </a:ext>
            </a:extLst>
          </p:cNvPr>
          <p:cNvSpPr>
            <a:spLocks noGrp="1" noChangeArrowheads="1"/>
          </p:cNvSpPr>
          <p:nvPr>
            <p:ph idx="1"/>
          </p:nvPr>
        </p:nvSpPr>
        <p:spPr>
          <a:xfrm>
            <a:off x="76200" y="933450"/>
            <a:ext cx="12039600" cy="5848350"/>
          </a:xfrm>
        </p:spPr>
        <p:txBody>
          <a:bodyPr>
            <a:noAutofit/>
          </a:bodyPr>
          <a:lstStyle/>
          <a:p>
            <a:pPr algn="l" rtl="0">
              <a:lnSpc>
                <a:spcPct val="100000"/>
              </a:lnSpc>
              <a:buFont typeface="+mj-lt"/>
              <a:buAutoNum type="arabicPeriod"/>
            </a:pPr>
            <a:r>
              <a:rPr lang="en-US" sz="1600" b="0" i="0" dirty="0">
                <a:solidFill>
                  <a:srgbClr val="333333"/>
                </a:solidFill>
                <a:effectLst/>
                <a:latin typeface="+mj-lt"/>
              </a:rPr>
              <a:t>A user opens a web browser, enters www.example.com in the address bar, and presses Enter.</a:t>
            </a:r>
          </a:p>
          <a:p>
            <a:pPr algn="l" rtl="0">
              <a:lnSpc>
                <a:spcPct val="100000"/>
              </a:lnSpc>
              <a:buFont typeface="+mj-lt"/>
              <a:buAutoNum type="arabicPeriod"/>
            </a:pPr>
            <a:r>
              <a:rPr lang="en-US" sz="1600" b="0" i="0" dirty="0">
                <a:solidFill>
                  <a:srgbClr val="333333"/>
                </a:solidFill>
                <a:effectLst/>
                <a:latin typeface="+mj-lt"/>
              </a:rPr>
              <a:t>The request for www.example.com is routed to a DNS resolver, which is typically managed by the user's Internet service provider (ISP).</a:t>
            </a:r>
          </a:p>
          <a:p>
            <a:pPr algn="l" rtl="0">
              <a:lnSpc>
                <a:spcPct val="100000"/>
              </a:lnSpc>
              <a:buFont typeface="+mj-lt"/>
              <a:buAutoNum type="arabicPeriod"/>
            </a:pPr>
            <a:r>
              <a:rPr lang="en-US" sz="1600" b="0" i="0" dirty="0">
                <a:solidFill>
                  <a:srgbClr val="333333"/>
                </a:solidFill>
                <a:effectLst/>
                <a:latin typeface="+mj-lt"/>
              </a:rPr>
              <a:t>The DNS resolver for the ISP forwards the request for www.example.com to a DNS root name server.</a:t>
            </a:r>
          </a:p>
          <a:p>
            <a:pPr algn="l" rtl="0">
              <a:lnSpc>
                <a:spcPct val="100000"/>
              </a:lnSpc>
              <a:buFont typeface="+mj-lt"/>
              <a:buAutoNum type="arabicPeriod"/>
            </a:pPr>
            <a:r>
              <a:rPr lang="en-US" sz="1600" b="0" i="0" dirty="0">
                <a:solidFill>
                  <a:srgbClr val="333333"/>
                </a:solidFill>
                <a:effectLst/>
                <a:latin typeface="+mj-lt"/>
              </a:rPr>
              <a:t>The DNS resolver for the ISP forwards the request for www.example.com again, this time to one of the TLD name servers for .com domains. The name server for .com domains responds to the request with the names of the four Amazon Route 53 name servers that are associated with the example.com domain.</a:t>
            </a:r>
          </a:p>
          <a:p>
            <a:pPr algn="l" rtl="0">
              <a:lnSpc>
                <a:spcPct val="100000"/>
              </a:lnSpc>
              <a:buFont typeface="+mj-lt"/>
              <a:buAutoNum type="arabicPeriod"/>
            </a:pPr>
            <a:r>
              <a:rPr lang="en-US" sz="1600" b="0" i="0" dirty="0">
                <a:solidFill>
                  <a:srgbClr val="333333"/>
                </a:solidFill>
                <a:effectLst/>
                <a:latin typeface="+mj-lt"/>
              </a:rPr>
              <a:t>The DNS resolver for the ISP chooses an Amazon Route 53 name server and forwards the request for www.example.com to that name server.</a:t>
            </a:r>
          </a:p>
          <a:p>
            <a:pPr algn="l" rtl="0">
              <a:lnSpc>
                <a:spcPct val="100000"/>
              </a:lnSpc>
              <a:buFont typeface="+mj-lt"/>
              <a:buAutoNum type="arabicPeriod"/>
            </a:pPr>
            <a:r>
              <a:rPr lang="en-US" sz="1600" b="0" i="0" dirty="0">
                <a:solidFill>
                  <a:srgbClr val="333333"/>
                </a:solidFill>
                <a:effectLst/>
                <a:latin typeface="+mj-lt"/>
              </a:rPr>
              <a:t>The Amazon Route 53 name server looks in the example.com hosted zone for the www.example.com record, gets the associated value, such as the IP address for a web server, 192.0.2.44, and returns the IP address to the DNS resolver.</a:t>
            </a:r>
          </a:p>
          <a:p>
            <a:pPr algn="l" rtl="0">
              <a:lnSpc>
                <a:spcPct val="100000"/>
              </a:lnSpc>
              <a:buFont typeface="+mj-lt"/>
              <a:buAutoNum type="arabicPeriod"/>
            </a:pPr>
            <a:r>
              <a:rPr lang="en-US" sz="1600" b="0" i="0" dirty="0">
                <a:solidFill>
                  <a:srgbClr val="333333"/>
                </a:solidFill>
                <a:effectLst/>
                <a:latin typeface="+mj-lt"/>
              </a:rPr>
              <a:t>The DNS resolver for the ISP finally has the IP address that the user needs. The resolver returns that value to the web browser. The DNS resolver also caches (stores) the IP address for example.com for an amount of time that you specify so that it can respond more quickly the next time someone browses to example.com. For more information, see time to live (TTL).</a:t>
            </a:r>
          </a:p>
          <a:p>
            <a:pPr algn="l" rtl="0">
              <a:lnSpc>
                <a:spcPct val="100000"/>
              </a:lnSpc>
              <a:buFont typeface="+mj-lt"/>
              <a:buAutoNum type="arabicPeriod"/>
            </a:pPr>
            <a:r>
              <a:rPr lang="en-US" sz="1600" b="0" i="0" dirty="0">
                <a:solidFill>
                  <a:srgbClr val="333333"/>
                </a:solidFill>
                <a:effectLst/>
                <a:latin typeface="+mj-lt"/>
              </a:rPr>
              <a:t>The web browser sends a request for www.example.com to the IP address that it got from the DNS resolver. This is where your content is, for example, a web server running on an Amazon EC2 instance or an Amazon S3 bucket that's configured as a website endpoint.</a:t>
            </a:r>
          </a:p>
          <a:p>
            <a:pPr algn="l" rtl="0">
              <a:lnSpc>
                <a:spcPct val="100000"/>
              </a:lnSpc>
              <a:buFont typeface="+mj-lt"/>
              <a:buAutoNum type="arabicPeriod"/>
            </a:pPr>
            <a:r>
              <a:rPr lang="en-US" sz="1600" b="0" i="0" dirty="0">
                <a:solidFill>
                  <a:srgbClr val="333333"/>
                </a:solidFill>
                <a:effectLst/>
                <a:latin typeface="+mj-lt"/>
              </a:rPr>
              <a:t>The web server or other resource at 192.0.2.44 returns the web page for www.example.com to the web browser, and the web browser displays the page.</a:t>
            </a:r>
          </a:p>
        </p:txBody>
      </p:sp>
      <p:sp>
        <p:nvSpPr>
          <p:cNvPr id="2" name="Slide Number Placeholder 1">
            <a:extLst>
              <a:ext uri="{FF2B5EF4-FFF2-40B4-BE49-F238E27FC236}">
                <a16:creationId xmlns:a16="http://schemas.microsoft.com/office/drawing/2014/main" id="{535493DF-63BC-4846-A365-8B9997EAF698}"/>
              </a:ext>
            </a:extLst>
          </p:cNvPr>
          <p:cNvSpPr>
            <a:spLocks noGrp="1"/>
          </p:cNvSpPr>
          <p:nvPr>
            <p:ph type="sldNum" sz="quarter" idx="12"/>
          </p:nvPr>
        </p:nvSpPr>
        <p:spPr/>
        <p:txBody>
          <a:bodyPr/>
          <a:lstStyle/>
          <a:p>
            <a:pPr>
              <a:defRPr/>
            </a:pPr>
            <a:fld id="{56E366DD-92D2-4897-9714-14867022CB87}" type="slidenum">
              <a:rPr lang="en-US" altLang="en-US"/>
              <a:pPr>
                <a:defRPr/>
              </a:pPr>
              <a:t>20</a:t>
            </a:fld>
            <a:endParaRPr lang="en-US" altLang="en-US"/>
          </a:p>
        </p:txBody>
      </p:sp>
    </p:spTree>
    <p:extLst>
      <p:ext uri="{BB962C8B-B14F-4D97-AF65-F5344CB8AC3E}">
        <p14:creationId xmlns:p14="http://schemas.microsoft.com/office/powerpoint/2010/main" val="3873176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A10A48D-5030-4700-8519-37EF1E0FE2F9}"/>
              </a:ext>
            </a:extLst>
          </p:cNvPr>
          <p:cNvSpPr>
            <a:spLocks noGrp="1" noChangeArrowheads="1"/>
          </p:cNvSpPr>
          <p:nvPr>
            <p:ph type="title"/>
          </p:nvPr>
        </p:nvSpPr>
        <p:spPr>
          <a:xfrm>
            <a:off x="2209800" y="278954"/>
            <a:ext cx="6172200" cy="765572"/>
          </a:xfrm>
        </p:spPr>
        <p:txBody>
          <a:bodyPr>
            <a:normAutofit/>
          </a:bodyPr>
          <a:lstStyle/>
          <a:p>
            <a:pPr fontAlgn="auto">
              <a:spcAft>
                <a:spcPts val="0"/>
              </a:spcAft>
              <a:defRPr/>
            </a:pPr>
            <a:r>
              <a:rPr lang="en-US" altLang="en-US" dirty="0"/>
              <a:t>Overview of Internet</a:t>
            </a:r>
          </a:p>
        </p:txBody>
      </p:sp>
      <p:sp>
        <p:nvSpPr>
          <p:cNvPr id="54275" name="Rectangle 3">
            <a:extLst>
              <a:ext uri="{FF2B5EF4-FFF2-40B4-BE49-F238E27FC236}">
                <a16:creationId xmlns:a16="http://schemas.microsoft.com/office/drawing/2014/main" id="{D40E738A-2F08-4807-B7A6-DF7AAB8E5A20}"/>
              </a:ext>
            </a:extLst>
          </p:cNvPr>
          <p:cNvSpPr>
            <a:spLocks noGrp="1" noChangeArrowheads="1"/>
          </p:cNvSpPr>
          <p:nvPr>
            <p:ph idx="1"/>
          </p:nvPr>
        </p:nvSpPr>
        <p:spPr>
          <a:xfrm>
            <a:off x="914400" y="1286891"/>
            <a:ext cx="10320528" cy="5342509"/>
          </a:xfrm>
        </p:spPr>
        <p:txBody>
          <a:bodyPr>
            <a:normAutofit/>
          </a:bodyPr>
          <a:lstStyle/>
          <a:p>
            <a:r>
              <a:rPr lang="en-US" altLang="en-US" sz="2800" dirty="0">
                <a:solidFill>
                  <a:srgbClr val="7030A0"/>
                </a:solidFill>
              </a:rPr>
              <a:t>Firewall </a:t>
            </a:r>
            <a:r>
              <a:rPr lang="en-US" altLang="en-US" sz="2800" dirty="0"/>
              <a:t>– </a:t>
            </a:r>
          </a:p>
          <a:p>
            <a:pPr lvl="1">
              <a:lnSpc>
                <a:spcPct val="150000"/>
              </a:lnSpc>
            </a:pPr>
            <a:r>
              <a:rPr lang="en-US" altLang="en-US" sz="2800" dirty="0"/>
              <a:t>It  used  to </a:t>
            </a:r>
            <a:r>
              <a:rPr lang="en-US" altLang="en-US" sz="2800" dirty="0">
                <a:solidFill>
                  <a:srgbClr val="00B050"/>
                </a:solidFill>
              </a:rPr>
              <a:t>filters</a:t>
            </a:r>
            <a:r>
              <a:rPr lang="en-US" altLang="en-US" sz="2800" dirty="0"/>
              <a:t> the information coming through the </a:t>
            </a:r>
            <a:r>
              <a:rPr lang="en-US" altLang="en-US" sz="2800" dirty="0">
                <a:solidFill>
                  <a:srgbClr val="FF0000"/>
                </a:solidFill>
              </a:rPr>
              <a:t>Internet connection into your private network or computer system</a:t>
            </a:r>
            <a:r>
              <a:rPr lang="en-US" altLang="en-US" sz="2800" dirty="0"/>
              <a:t>. </a:t>
            </a:r>
          </a:p>
          <a:p>
            <a:pPr lvl="1">
              <a:lnSpc>
                <a:spcPct val="150000"/>
              </a:lnSpc>
            </a:pPr>
            <a:r>
              <a:rPr lang="en-US" altLang="en-US" sz="2800" dirty="0"/>
              <a:t>If an incoming packet of information is flagged by the filters, it is not allowed to pass through</a:t>
            </a:r>
          </a:p>
        </p:txBody>
      </p:sp>
      <p:sp>
        <p:nvSpPr>
          <p:cNvPr id="2" name="Slide Number Placeholder 1">
            <a:extLst>
              <a:ext uri="{FF2B5EF4-FFF2-40B4-BE49-F238E27FC236}">
                <a16:creationId xmlns:a16="http://schemas.microsoft.com/office/drawing/2014/main" id="{0292A6A7-79F7-4F61-A224-78571E464C7E}"/>
              </a:ext>
            </a:extLst>
          </p:cNvPr>
          <p:cNvSpPr>
            <a:spLocks noGrp="1"/>
          </p:cNvSpPr>
          <p:nvPr>
            <p:ph type="sldNum" sz="quarter" idx="12"/>
          </p:nvPr>
        </p:nvSpPr>
        <p:spPr/>
        <p:txBody>
          <a:bodyPr/>
          <a:lstStyle/>
          <a:p>
            <a:pPr>
              <a:defRPr/>
            </a:pPr>
            <a:fld id="{F416FFDE-3E38-4DF4-9C7B-7C13BFFEE830}" type="slidenum">
              <a:rPr lang="en-US" altLang="en-US"/>
              <a:pPr>
                <a:defRPr/>
              </a:pPr>
              <a:t>21</a:t>
            </a:fld>
            <a:endParaRPr lang="en-US" altLang="en-US"/>
          </a:p>
        </p:txBody>
      </p:sp>
      <p:pic>
        <p:nvPicPr>
          <p:cNvPr id="54277" name="Picture 4">
            <a:extLst>
              <a:ext uri="{FF2B5EF4-FFF2-40B4-BE49-F238E27FC236}">
                <a16:creationId xmlns:a16="http://schemas.microsoft.com/office/drawing/2014/main" id="{01B49F93-150D-41F1-A2B0-30879CD75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0" y="4648200"/>
            <a:ext cx="3429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8E56-445A-4A78-9E74-5A0BFF602C77}"/>
              </a:ext>
            </a:extLst>
          </p:cNvPr>
          <p:cNvSpPr>
            <a:spLocks noGrp="1"/>
          </p:cNvSpPr>
          <p:nvPr>
            <p:ph type="title"/>
          </p:nvPr>
        </p:nvSpPr>
        <p:spPr>
          <a:xfrm>
            <a:off x="762000" y="31652"/>
            <a:ext cx="10058400" cy="1187548"/>
          </a:xfrm>
        </p:spPr>
        <p:txBody>
          <a:bodyPr/>
          <a:lstStyle/>
          <a:p>
            <a:r>
              <a:rPr lang="en-US" altLang="en-US" dirty="0"/>
              <a:t>Overview of Internet</a:t>
            </a:r>
            <a:endParaRPr lang="en-US" dirty="0"/>
          </a:p>
        </p:txBody>
      </p:sp>
      <p:sp>
        <p:nvSpPr>
          <p:cNvPr id="3" name="Content Placeholder 2">
            <a:extLst>
              <a:ext uri="{FF2B5EF4-FFF2-40B4-BE49-F238E27FC236}">
                <a16:creationId xmlns:a16="http://schemas.microsoft.com/office/drawing/2014/main" id="{917FA8F9-9AD2-4F50-B74E-AA5CDE891C46}"/>
              </a:ext>
            </a:extLst>
          </p:cNvPr>
          <p:cNvSpPr>
            <a:spLocks noGrp="1"/>
          </p:cNvSpPr>
          <p:nvPr>
            <p:ph idx="1"/>
          </p:nvPr>
        </p:nvSpPr>
        <p:spPr>
          <a:xfrm>
            <a:off x="457200" y="914400"/>
            <a:ext cx="11277600" cy="5336110"/>
          </a:xfrm>
        </p:spPr>
        <p:txBody>
          <a:bodyPr>
            <a:normAutofit fontScale="70000" lnSpcReduction="20000"/>
          </a:bodyPr>
          <a:lstStyle/>
          <a:p>
            <a:pPr lvl="1"/>
            <a:endParaRPr lang="en-US" altLang="en-US" sz="2800" dirty="0"/>
          </a:p>
          <a:p>
            <a:pPr lvl="1">
              <a:lnSpc>
                <a:spcPct val="120000"/>
              </a:lnSpc>
            </a:pPr>
            <a:r>
              <a:rPr lang="en-US" altLang="en-US" sz="3000" b="1" i="1" dirty="0">
                <a:solidFill>
                  <a:srgbClr val="7030A0"/>
                </a:solidFill>
              </a:rPr>
              <a:t>Methods/Types of  Firewalls </a:t>
            </a:r>
          </a:p>
          <a:p>
            <a:pPr lvl="2">
              <a:lnSpc>
                <a:spcPct val="120000"/>
              </a:lnSpc>
            </a:pPr>
            <a:r>
              <a:rPr lang="en-US" altLang="en-US" sz="3000" b="1" dirty="0">
                <a:solidFill>
                  <a:srgbClr val="00B050"/>
                </a:solidFill>
              </a:rPr>
              <a:t>Packet filtering</a:t>
            </a:r>
            <a:r>
              <a:rPr lang="en-US" altLang="en-US" sz="3000" dirty="0">
                <a:solidFill>
                  <a:srgbClr val="00B050"/>
                </a:solidFill>
              </a:rPr>
              <a:t>:-</a:t>
            </a:r>
          </a:p>
          <a:p>
            <a:pPr lvl="3">
              <a:lnSpc>
                <a:spcPct val="120000"/>
              </a:lnSpc>
              <a:buFont typeface="Wingdings" panose="05000000000000000000" pitchFamily="2" charset="2"/>
              <a:buChar char="Ø"/>
            </a:pPr>
            <a:r>
              <a:rPr lang="en-US" sz="3000" dirty="0"/>
              <a:t>controls the </a:t>
            </a:r>
            <a:r>
              <a:rPr lang="en-US" sz="3000" dirty="0">
                <a:solidFill>
                  <a:srgbClr val="FF66CC"/>
                </a:solidFill>
              </a:rPr>
              <a:t>network </a:t>
            </a:r>
            <a:r>
              <a:rPr lang="en-US" sz="3000" dirty="0"/>
              <a:t>access by analyzing the</a:t>
            </a:r>
            <a:r>
              <a:rPr lang="en-US" sz="3000" dirty="0">
                <a:solidFill>
                  <a:srgbClr val="FF0000"/>
                </a:solidFill>
              </a:rPr>
              <a:t> outgoing and incoming packets</a:t>
            </a:r>
            <a:r>
              <a:rPr lang="en-US" sz="3000" dirty="0"/>
              <a:t>. </a:t>
            </a:r>
          </a:p>
          <a:p>
            <a:pPr lvl="3">
              <a:lnSpc>
                <a:spcPct val="120000"/>
              </a:lnSpc>
              <a:buFont typeface="Wingdings" panose="05000000000000000000" pitchFamily="2" charset="2"/>
              <a:buChar char="Ø"/>
            </a:pPr>
            <a:r>
              <a:rPr lang="en-US" sz="3000" dirty="0"/>
              <a:t>It lets a packet pass or block its way by comparing  with pre-established </a:t>
            </a:r>
            <a:r>
              <a:rPr lang="en-US" sz="3000" b="1" i="1" dirty="0">
                <a:solidFill>
                  <a:srgbClr val="0070C0"/>
                </a:solidFill>
              </a:rPr>
              <a:t>criteria like allowed IP addresses, packet type, port number, etc.</a:t>
            </a:r>
            <a:endParaRPr lang="en-US" altLang="en-US" sz="3000" b="1" i="1" dirty="0">
              <a:solidFill>
                <a:srgbClr val="0070C0"/>
              </a:solidFill>
            </a:endParaRPr>
          </a:p>
          <a:p>
            <a:pPr lvl="2">
              <a:lnSpc>
                <a:spcPct val="120000"/>
              </a:lnSpc>
            </a:pPr>
            <a:r>
              <a:rPr lang="en-US" altLang="en-US" sz="3000" b="1" dirty="0">
                <a:solidFill>
                  <a:srgbClr val="00B050"/>
                </a:solidFill>
              </a:rPr>
              <a:t>Proxy service</a:t>
            </a:r>
            <a:r>
              <a:rPr lang="en-US" altLang="en-US" sz="3000" dirty="0">
                <a:solidFill>
                  <a:srgbClr val="00B050"/>
                </a:solidFill>
              </a:rPr>
              <a:t>:-</a:t>
            </a:r>
          </a:p>
          <a:p>
            <a:pPr lvl="3">
              <a:lnSpc>
                <a:spcPct val="120000"/>
              </a:lnSpc>
              <a:buFont typeface="Wingdings" panose="05000000000000000000" pitchFamily="2" charset="2"/>
              <a:buChar char="Ø"/>
            </a:pPr>
            <a:r>
              <a:rPr lang="en-US" sz="3100" dirty="0"/>
              <a:t>Also called the application level gateways, </a:t>
            </a:r>
          </a:p>
          <a:p>
            <a:pPr lvl="3">
              <a:lnSpc>
                <a:spcPct val="120000"/>
              </a:lnSpc>
              <a:buFont typeface="Wingdings" panose="05000000000000000000" pitchFamily="2" charset="2"/>
              <a:buChar char="Ø"/>
            </a:pPr>
            <a:r>
              <a:rPr lang="en-US" sz="3100" dirty="0"/>
              <a:t>It is the most secured type of firewalls </a:t>
            </a:r>
          </a:p>
          <a:p>
            <a:pPr lvl="3">
              <a:lnSpc>
                <a:spcPct val="120000"/>
              </a:lnSpc>
              <a:buFont typeface="Wingdings" panose="05000000000000000000" pitchFamily="2" charset="2"/>
              <a:buChar char="Ø"/>
            </a:pPr>
            <a:r>
              <a:rPr lang="en-US" sz="3100" dirty="0"/>
              <a:t>protect the network resources </a:t>
            </a:r>
            <a:r>
              <a:rPr lang="en-US" sz="3100" i="1" dirty="0">
                <a:solidFill>
                  <a:srgbClr val="FF0000"/>
                </a:solidFill>
              </a:rPr>
              <a:t>by filtering messages at the application layer</a:t>
            </a:r>
            <a:r>
              <a:rPr lang="en-US" sz="3100" dirty="0"/>
              <a:t>.  </a:t>
            </a:r>
            <a:endParaRPr lang="en-US" altLang="en-US" sz="3100" dirty="0"/>
          </a:p>
          <a:p>
            <a:pPr lvl="2">
              <a:lnSpc>
                <a:spcPct val="120000"/>
              </a:lnSpc>
            </a:pPr>
            <a:r>
              <a:rPr lang="en-US" altLang="en-US" sz="3000" b="1" dirty="0">
                <a:solidFill>
                  <a:srgbClr val="00B050"/>
                </a:solidFill>
              </a:rPr>
              <a:t>Stateful inspection</a:t>
            </a:r>
            <a:r>
              <a:rPr lang="en-US" altLang="en-US" sz="3000" dirty="0">
                <a:solidFill>
                  <a:srgbClr val="00B050"/>
                </a:solidFill>
              </a:rPr>
              <a:t>:-</a:t>
            </a:r>
          </a:p>
          <a:p>
            <a:pPr lvl="2">
              <a:lnSpc>
                <a:spcPct val="120000"/>
              </a:lnSpc>
            </a:pPr>
            <a:r>
              <a:rPr lang="en-US" sz="3000" dirty="0"/>
              <a:t>is a firewall technology that monitors the state of </a:t>
            </a:r>
            <a:r>
              <a:rPr lang="en-US" sz="3000" dirty="0">
                <a:solidFill>
                  <a:srgbClr val="0070C0"/>
                </a:solidFill>
              </a:rPr>
              <a:t>active connections </a:t>
            </a:r>
            <a:r>
              <a:rPr lang="en-US" sz="3000" dirty="0"/>
              <a:t>and uses this information to determine which network </a:t>
            </a:r>
            <a:r>
              <a:rPr lang="en-US" sz="3000" b="1" dirty="0"/>
              <a:t>packets</a:t>
            </a:r>
            <a:r>
              <a:rPr lang="en-US" sz="3000" dirty="0"/>
              <a:t> to allow through the firewall.</a:t>
            </a:r>
            <a:endParaRPr lang="en-US" altLang="en-US" sz="3000" dirty="0"/>
          </a:p>
        </p:txBody>
      </p:sp>
      <p:sp>
        <p:nvSpPr>
          <p:cNvPr id="4" name="Slide Number Placeholder 3">
            <a:extLst>
              <a:ext uri="{FF2B5EF4-FFF2-40B4-BE49-F238E27FC236}">
                <a16:creationId xmlns:a16="http://schemas.microsoft.com/office/drawing/2014/main" id="{768F3DF8-189E-4018-BAC0-0BDEB1743E99}"/>
              </a:ext>
            </a:extLst>
          </p:cNvPr>
          <p:cNvSpPr>
            <a:spLocks noGrp="1"/>
          </p:cNvSpPr>
          <p:nvPr>
            <p:ph type="sldNum" sz="quarter" idx="12"/>
          </p:nvPr>
        </p:nvSpPr>
        <p:spPr/>
        <p:txBody>
          <a:bodyPr/>
          <a:lstStyle/>
          <a:p>
            <a:pPr>
              <a:defRPr/>
            </a:pPr>
            <a:fld id="{A6E53299-DEC4-4B47-893E-4F091B5E9308}" type="slidenum">
              <a:rPr lang="en-US" altLang="en-US" smtClean="0"/>
              <a:pPr>
                <a:defRPr/>
              </a:pPr>
              <a:t>22</a:t>
            </a:fld>
            <a:endParaRPr lang="en-US" altLang="en-US"/>
          </a:p>
        </p:txBody>
      </p:sp>
    </p:spTree>
    <p:extLst>
      <p:ext uri="{BB962C8B-B14F-4D97-AF65-F5344CB8AC3E}">
        <p14:creationId xmlns:p14="http://schemas.microsoft.com/office/powerpoint/2010/main" val="3815471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504F0EFE-2AF2-457A-A944-94476A470DC7}"/>
              </a:ext>
            </a:extLst>
          </p:cNvPr>
          <p:cNvSpPr>
            <a:spLocks noGrp="1" noChangeArrowheads="1"/>
          </p:cNvSpPr>
          <p:nvPr>
            <p:ph type="title"/>
          </p:nvPr>
        </p:nvSpPr>
        <p:spPr>
          <a:xfrm>
            <a:off x="1069848" y="484632"/>
            <a:ext cx="10058400" cy="963168"/>
          </a:xfrm>
        </p:spPr>
        <p:txBody>
          <a:bodyPr/>
          <a:lstStyle/>
          <a:p>
            <a:pPr fontAlgn="auto">
              <a:spcAft>
                <a:spcPts val="0"/>
              </a:spcAft>
              <a:defRPr/>
            </a:pPr>
            <a:r>
              <a:rPr lang="en-US" altLang="en-US" dirty="0"/>
              <a:t>World Wide Web</a:t>
            </a:r>
          </a:p>
        </p:txBody>
      </p:sp>
      <p:sp>
        <p:nvSpPr>
          <p:cNvPr id="58371" name="Rectangle 3">
            <a:extLst>
              <a:ext uri="{FF2B5EF4-FFF2-40B4-BE49-F238E27FC236}">
                <a16:creationId xmlns:a16="http://schemas.microsoft.com/office/drawing/2014/main" id="{59D5388B-2641-4090-9466-2F0574AB542B}"/>
              </a:ext>
            </a:extLst>
          </p:cNvPr>
          <p:cNvSpPr>
            <a:spLocks noGrp="1" noChangeArrowheads="1"/>
          </p:cNvSpPr>
          <p:nvPr>
            <p:ph idx="1"/>
          </p:nvPr>
        </p:nvSpPr>
        <p:spPr>
          <a:xfrm>
            <a:off x="838200" y="1447800"/>
            <a:ext cx="10472928" cy="4925568"/>
          </a:xfrm>
        </p:spPr>
        <p:txBody>
          <a:bodyPr>
            <a:normAutofit fontScale="92500" lnSpcReduction="20000"/>
          </a:bodyPr>
          <a:lstStyle/>
          <a:p>
            <a:pPr marL="274320" indent="-274320">
              <a:lnSpc>
                <a:spcPct val="100000"/>
              </a:lnSpc>
              <a:buFont typeface="Wingdings" panose="05000000000000000000" pitchFamily="2" charset="2"/>
              <a:buChar char="v"/>
            </a:pPr>
            <a:r>
              <a:rPr lang="en-US" altLang="en-US" sz="2800" dirty="0"/>
              <a:t>The </a:t>
            </a:r>
            <a:r>
              <a:rPr lang="en-US" altLang="en-US" sz="2800" b="1" dirty="0"/>
              <a:t>World Wide Web</a:t>
            </a:r>
            <a:r>
              <a:rPr lang="en-US" altLang="en-US" sz="2800" dirty="0"/>
              <a:t> is a system of interlinked hypertext documents (</a:t>
            </a:r>
            <a:r>
              <a:rPr lang="en-US" altLang="en-US" sz="2800" b="1" dirty="0"/>
              <a:t>websites) </a:t>
            </a:r>
            <a:r>
              <a:rPr lang="en-US" altLang="en-US" sz="2800" dirty="0"/>
              <a:t>you can</a:t>
            </a:r>
            <a:r>
              <a:rPr lang="en-US" altLang="en-US" sz="2800" b="1" dirty="0"/>
              <a:t> </a:t>
            </a:r>
            <a:r>
              <a:rPr lang="en-US" altLang="en-US" sz="2800" dirty="0"/>
              <a:t>accessed through the Internet</a:t>
            </a:r>
          </a:p>
          <a:p>
            <a:pPr marL="274320" indent="-274320">
              <a:lnSpc>
                <a:spcPct val="100000"/>
              </a:lnSpc>
              <a:buFont typeface="Wingdings" panose="05000000000000000000" pitchFamily="2" charset="2"/>
              <a:buChar char="v"/>
            </a:pPr>
            <a:r>
              <a:rPr lang="en-US" altLang="en-US" sz="2800" b="1" dirty="0">
                <a:latin typeface="Cambria (Body)"/>
              </a:rPr>
              <a:t>Website </a:t>
            </a:r>
            <a:r>
              <a:rPr lang="en-US" sz="2800" kern="100" dirty="0">
                <a:effectLst/>
                <a:latin typeface="Cambria (Body)"/>
                <a:ea typeface="Calibri" panose="020F0502020204030204" pitchFamily="34" charset="0"/>
                <a:cs typeface="Times New Roman" panose="02020603050405020304" pitchFamily="18" charset="0"/>
              </a:rPr>
              <a:t>consist of multiple web pages interconnected through hyperlinks. </a:t>
            </a:r>
          </a:p>
          <a:p>
            <a:pPr lvl="1">
              <a:lnSpc>
                <a:spcPct val="100000"/>
              </a:lnSpc>
              <a:buFont typeface="Arial" panose="020B0604020202020204" pitchFamily="34" charset="0"/>
              <a:buChar char="•"/>
            </a:pPr>
            <a:r>
              <a:rPr lang="en-US" sz="2600" kern="100" dirty="0">
                <a:effectLst/>
                <a:latin typeface="Cambria (Body)"/>
                <a:ea typeface="Calibri" panose="020F0502020204030204" pitchFamily="34" charset="0"/>
                <a:cs typeface="Times New Roman" panose="02020603050405020304" pitchFamily="18" charset="0"/>
              </a:rPr>
              <a:t>These pages can contain text, images, videos, interactive elements, and other multimedia content. </a:t>
            </a:r>
          </a:p>
          <a:p>
            <a:pPr lvl="1">
              <a:lnSpc>
                <a:spcPct val="100000"/>
              </a:lnSpc>
              <a:buFont typeface="Arial" panose="020B0604020202020204" pitchFamily="34" charset="0"/>
              <a:buChar char="•"/>
            </a:pPr>
            <a:r>
              <a:rPr lang="en-US" sz="2600" b="1" kern="100" dirty="0">
                <a:effectLst/>
                <a:latin typeface="Cambria (Body)"/>
                <a:ea typeface="Calibri" panose="020F0502020204030204" pitchFamily="34" charset="0"/>
                <a:cs typeface="Times New Roman" panose="02020603050405020304" pitchFamily="18" charset="0"/>
              </a:rPr>
              <a:t>Websites </a:t>
            </a:r>
            <a:r>
              <a:rPr lang="en-US" sz="2600" kern="100" dirty="0">
                <a:effectLst/>
                <a:latin typeface="Cambria (Body)"/>
                <a:ea typeface="Calibri" panose="020F0502020204030204" pitchFamily="34" charset="0"/>
                <a:cs typeface="Times New Roman" panose="02020603050405020304" pitchFamily="18" charset="0"/>
              </a:rPr>
              <a:t>may also incorporate features like forms, search functionality, user authentication, and e-commerce capabilities, depending on their specific goals and requirements.</a:t>
            </a:r>
            <a:endParaRPr lang="en-US" altLang="en-US" sz="2600" dirty="0">
              <a:latin typeface="Cambria (Body)"/>
            </a:endParaRPr>
          </a:p>
          <a:p>
            <a:pPr marL="274320" indent="-274320" algn="just">
              <a:lnSpc>
                <a:spcPct val="100000"/>
              </a:lnSpc>
              <a:buFont typeface="Wingdings" panose="05000000000000000000" pitchFamily="2" charset="2"/>
              <a:buChar char="v"/>
            </a:pPr>
            <a:r>
              <a:rPr lang="en-US" altLang="en-US" sz="3200" b="1" dirty="0"/>
              <a:t>Architecture</a:t>
            </a:r>
          </a:p>
          <a:p>
            <a:pPr lvl="1" algn="just">
              <a:lnSpc>
                <a:spcPct val="100000"/>
              </a:lnSpc>
            </a:pPr>
            <a:r>
              <a:rPr lang="en-US" altLang="en-US" sz="2800" dirty="0"/>
              <a:t>The WWW is a distributed client-server service, </a:t>
            </a:r>
          </a:p>
          <a:p>
            <a:pPr lvl="1" algn="just">
              <a:lnSpc>
                <a:spcPct val="100000"/>
              </a:lnSpc>
            </a:pPr>
            <a:r>
              <a:rPr lang="en-US" altLang="en-US" sz="2800" dirty="0"/>
              <a:t> client using a browser can access a service using a server. </a:t>
            </a:r>
          </a:p>
          <a:p>
            <a:pPr lvl="1" algn="just">
              <a:lnSpc>
                <a:spcPct val="100000"/>
              </a:lnSpc>
            </a:pPr>
            <a:r>
              <a:rPr lang="en-US" altLang="en-US" sz="2800" dirty="0"/>
              <a:t>The service provided is distributed over many locations called </a:t>
            </a:r>
            <a:r>
              <a:rPr lang="en-US" altLang="en-US" sz="2800" b="1" dirty="0"/>
              <a:t>sites</a:t>
            </a:r>
            <a:r>
              <a:rPr lang="en-US" altLang="en-US" sz="2800" dirty="0"/>
              <a:t>.</a:t>
            </a:r>
          </a:p>
        </p:txBody>
      </p:sp>
      <p:sp>
        <p:nvSpPr>
          <p:cNvPr id="2" name="Slide Number Placeholder 1">
            <a:extLst>
              <a:ext uri="{FF2B5EF4-FFF2-40B4-BE49-F238E27FC236}">
                <a16:creationId xmlns:a16="http://schemas.microsoft.com/office/drawing/2014/main" id="{71014C3A-2892-4626-8169-880A1021DCAE}"/>
              </a:ext>
            </a:extLst>
          </p:cNvPr>
          <p:cNvSpPr>
            <a:spLocks noGrp="1"/>
          </p:cNvSpPr>
          <p:nvPr>
            <p:ph type="sldNum" sz="quarter" idx="12"/>
          </p:nvPr>
        </p:nvSpPr>
        <p:spPr/>
        <p:txBody>
          <a:bodyPr/>
          <a:lstStyle/>
          <a:p>
            <a:pPr>
              <a:defRPr/>
            </a:pPr>
            <a:fld id="{9A3B3297-A8E7-498D-AEA7-0F11F1890C3A}" type="slidenum">
              <a:rPr lang="en-US" altLang="en-US"/>
              <a:pPr>
                <a:defRPr/>
              </a:pPr>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504F0EFE-2AF2-457A-A944-94476A470DC7}"/>
              </a:ext>
            </a:extLst>
          </p:cNvPr>
          <p:cNvSpPr>
            <a:spLocks noGrp="1" noChangeArrowheads="1"/>
          </p:cNvSpPr>
          <p:nvPr>
            <p:ph type="title"/>
          </p:nvPr>
        </p:nvSpPr>
        <p:spPr>
          <a:xfrm>
            <a:off x="1066800" y="220091"/>
            <a:ext cx="10058400" cy="963168"/>
          </a:xfrm>
        </p:spPr>
        <p:txBody>
          <a:bodyPr/>
          <a:lstStyle/>
          <a:p>
            <a:pPr fontAlgn="auto">
              <a:spcAft>
                <a:spcPts val="0"/>
              </a:spcAft>
              <a:defRPr/>
            </a:pPr>
            <a:r>
              <a:rPr lang="en-US" altLang="en-US" dirty="0"/>
              <a:t>World Wide Web</a:t>
            </a:r>
          </a:p>
        </p:txBody>
      </p:sp>
      <p:sp>
        <p:nvSpPr>
          <p:cNvPr id="58371" name="Rectangle 3">
            <a:extLst>
              <a:ext uri="{FF2B5EF4-FFF2-40B4-BE49-F238E27FC236}">
                <a16:creationId xmlns:a16="http://schemas.microsoft.com/office/drawing/2014/main" id="{59D5388B-2641-4090-9466-2F0574AB542B}"/>
              </a:ext>
            </a:extLst>
          </p:cNvPr>
          <p:cNvSpPr>
            <a:spLocks noGrp="1" noChangeArrowheads="1"/>
          </p:cNvSpPr>
          <p:nvPr>
            <p:ph idx="1"/>
          </p:nvPr>
        </p:nvSpPr>
        <p:spPr>
          <a:xfrm>
            <a:off x="381000" y="992156"/>
            <a:ext cx="11430000" cy="5645754"/>
          </a:xfrm>
        </p:spPr>
        <p:txBody>
          <a:bodyPr>
            <a:normAutofit fontScale="77500" lnSpcReduction="20000"/>
          </a:bodyPr>
          <a:lstStyle/>
          <a:p>
            <a:pPr marL="274320" indent="-274320">
              <a:lnSpc>
                <a:spcPct val="100000"/>
              </a:lnSpc>
              <a:buFont typeface="Wingdings" panose="05000000000000000000" pitchFamily="2" charset="2"/>
              <a:buChar char="v"/>
            </a:pPr>
            <a:r>
              <a:rPr lang="en-US" altLang="en-US" sz="3300" dirty="0"/>
              <a:t>The </a:t>
            </a:r>
            <a:r>
              <a:rPr lang="en-US" altLang="en-US" sz="3300" b="1" dirty="0"/>
              <a:t>World Wide Web</a:t>
            </a:r>
            <a:r>
              <a:rPr lang="en-US" altLang="en-US" sz="3300" dirty="0"/>
              <a:t> is a system of interlinked hypertext documents (</a:t>
            </a:r>
            <a:r>
              <a:rPr lang="en-US" altLang="en-US" sz="3300" b="1" dirty="0"/>
              <a:t>websites) </a:t>
            </a:r>
            <a:r>
              <a:rPr lang="en-US" altLang="en-US" sz="3300" dirty="0"/>
              <a:t>you can</a:t>
            </a:r>
            <a:r>
              <a:rPr lang="en-US" altLang="en-US" sz="3300" b="1" dirty="0"/>
              <a:t> </a:t>
            </a:r>
            <a:r>
              <a:rPr lang="en-US" altLang="en-US" sz="3300" dirty="0"/>
              <a:t>accessed through the Internet</a:t>
            </a:r>
          </a:p>
          <a:p>
            <a:pPr marL="274320" indent="-274320">
              <a:lnSpc>
                <a:spcPct val="100000"/>
              </a:lnSpc>
              <a:buFont typeface="Wingdings" panose="05000000000000000000" pitchFamily="2" charset="2"/>
              <a:buChar char="v"/>
            </a:pPr>
            <a:r>
              <a:rPr lang="en-US" altLang="en-US" sz="3300" b="1" dirty="0">
                <a:latin typeface="Cambria (Body)"/>
              </a:rPr>
              <a:t>Website </a:t>
            </a:r>
            <a:r>
              <a:rPr lang="en-US" sz="3300" kern="100" dirty="0">
                <a:effectLst/>
                <a:latin typeface="Cambria (Body)"/>
                <a:ea typeface="Calibri" panose="020F0502020204030204" pitchFamily="34" charset="0"/>
                <a:cs typeface="Times New Roman" panose="02020603050405020304" pitchFamily="18" charset="0"/>
              </a:rPr>
              <a:t>consist of multiple web pages interconnected through hyperlinks. </a:t>
            </a:r>
          </a:p>
          <a:p>
            <a:pPr lvl="1">
              <a:lnSpc>
                <a:spcPct val="100000"/>
              </a:lnSpc>
              <a:buFont typeface="Arial" panose="020B0604020202020204" pitchFamily="34" charset="0"/>
              <a:buChar char="•"/>
            </a:pPr>
            <a:r>
              <a:rPr lang="en-US" sz="2800" kern="100" dirty="0">
                <a:effectLst/>
                <a:latin typeface="Cambria (Body)"/>
                <a:ea typeface="Calibri" panose="020F0502020204030204" pitchFamily="34" charset="0"/>
                <a:cs typeface="Times New Roman" panose="02020603050405020304" pitchFamily="18" charset="0"/>
              </a:rPr>
              <a:t>These pages can contain text, images, videos, interactive elements, and other multimedia content. </a:t>
            </a:r>
          </a:p>
          <a:p>
            <a:pPr lvl="1">
              <a:lnSpc>
                <a:spcPct val="100000"/>
              </a:lnSpc>
              <a:buFont typeface="Arial" panose="020B0604020202020204" pitchFamily="34" charset="0"/>
              <a:buChar char="•"/>
            </a:pPr>
            <a:r>
              <a:rPr lang="en-US" sz="2600" b="1" kern="100" dirty="0">
                <a:effectLst/>
                <a:latin typeface="Cambria (Body)"/>
                <a:ea typeface="Calibri" panose="020F0502020204030204" pitchFamily="34" charset="0"/>
                <a:cs typeface="Times New Roman" panose="02020603050405020304" pitchFamily="18" charset="0"/>
              </a:rPr>
              <a:t>Websites </a:t>
            </a:r>
            <a:r>
              <a:rPr lang="en-US" sz="2600" kern="100" dirty="0">
                <a:effectLst/>
                <a:latin typeface="Cambria (Body)"/>
                <a:ea typeface="Calibri" panose="020F0502020204030204" pitchFamily="34" charset="0"/>
                <a:cs typeface="Times New Roman" panose="02020603050405020304" pitchFamily="18" charset="0"/>
              </a:rPr>
              <a:t>may also incorporate features like forms, search functionality, user authentication, and e-commerce capabilities, depending on their specific goals and requirements. Can resemble other forms of media-news articles&amp; tv programs</a:t>
            </a:r>
            <a:endParaRPr lang="en-US" altLang="en-US" sz="2600" dirty="0">
              <a:latin typeface="Cambria (Body)"/>
            </a:endParaRPr>
          </a:p>
          <a:p>
            <a:pPr marL="274320" indent="-274320" algn="just">
              <a:lnSpc>
                <a:spcPct val="100000"/>
              </a:lnSpc>
              <a:buFont typeface="Wingdings" panose="05000000000000000000" pitchFamily="2" charset="2"/>
              <a:buChar char="v"/>
            </a:pPr>
            <a:r>
              <a:rPr lang="en-US" altLang="en-US" sz="4100" b="1" dirty="0">
                <a:solidFill>
                  <a:srgbClr val="FF0000"/>
                </a:solidFill>
              </a:rPr>
              <a:t>Architecture</a:t>
            </a:r>
          </a:p>
          <a:p>
            <a:pPr lvl="1" algn="just">
              <a:lnSpc>
                <a:spcPct val="100000"/>
              </a:lnSpc>
            </a:pPr>
            <a:r>
              <a:rPr lang="en-US" altLang="en-US" sz="3300" dirty="0"/>
              <a:t>The WWW is a distributed client-server service, </a:t>
            </a:r>
          </a:p>
          <a:p>
            <a:pPr lvl="1" algn="just">
              <a:lnSpc>
                <a:spcPct val="100000"/>
              </a:lnSpc>
            </a:pPr>
            <a:r>
              <a:rPr lang="en-US" altLang="en-US" sz="3300" b="1" dirty="0"/>
              <a:t>Client </a:t>
            </a:r>
            <a:r>
              <a:rPr lang="en-US" altLang="en-US" sz="3300" dirty="0"/>
              <a:t>using a browser can access a service using a server. </a:t>
            </a:r>
          </a:p>
          <a:p>
            <a:pPr lvl="1" algn="just">
              <a:lnSpc>
                <a:spcPct val="100000"/>
              </a:lnSpc>
            </a:pPr>
            <a:r>
              <a:rPr lang="en-US" sz="3300" b="1" i="0" dirty="0">
                <a:solidFill>
                  <a:srgbClr val="1F1F1F"/>
                </a:solidFill>
                <a:effectLst/>
                <a:highlight>
                  <a:srgbClr val="FFFFFF"/>
                </a:highlight>
                <a:latin typeface="Cambria (Body)"/>
              </a:rPr>
              <a:t>Servers</a:t>
            </a:r>
            <a:r>
              <a:rPr lang="en-US" sz="3300" b="0" i="0" dirty="0">
                <a:solidFill>
                  <a:srgbClr val="1F1F1F"/>
                </a:solidFill>
                <a:effectLst/>
                <a:highlight>
                  <a:srgbClr val="FFFFFF"/>
                </a:highlight>
                <a:latin typeface="Cambria (Body)"/>
              </a:rPr>
              <a:t> are powerful computers that store website files and resources. When you request a webpage through your browser, the server locates the files and sends them back to your device. </a:t>
            </a:r>
            <a:r>
              <a:rPr lang="en-US" altLang="en-US" sz="3300" dirty="0"/>
              <a:t>The service provided is distributed over many locations called </a:t>
            </a:r>
            <a:r>
              <a:rPr lang="en-US" altLang="en-US" sz="3300" b="1" dirty="0"/>
              <a:t>sites</a:t>
            </a:r>
            <a:r>
              <a:rPr lang="en-US" altLang="en-US" sz="3300" dirty="0"/>
              <a:t>. </a:t>
            </a:r>
          </a:p>
        </p:txBody>
      </p:sp>
      <p:sp>
        <p:nvSpPr>
          <p:cNvPr id="2" name="Slide Number Placeholder 1">
            <a:extLst>
              <a:ext uri="{FF2B5EF4-FFF2-40B4-BE49-F238E27FC236}">
                <a16:creationId xmlns:a16="http://schemas.microsoft.com/office/drawing/2014/main" id="{71014C3A-2892-4626-8169-880A1021DCAE}"/>
              </a:ext>
            </a:extLst>
          </p:cNvPr>
          <p:cNvSpPr>
            <a:spLocks noGrp="1"/>
          </p:cNvSpPr>
          <p:nvPr>
            <p:ph type="sldNum" sz="quarter" idx="12"/>
          </p:nvPr>
        </p:nvSpPr>
        <p:spPr/>
        <p:txBody>
          <a:bodyPr/>
          <a:lstStyle/>
          <a:p>
            <a:pPr>
              <a:defRPr/>
            </a:pPr>
            <a:fld id="{9A3B3297-A8E7-498D-AEA7-0F11F1890C3A}" type="slidenum">
              <a:rPr lang="en-US" altLang="en-US"/>
              <a:pPr>
                <a:defRPr/>
              </a:pPr>
              <a:t>24</a:t>
            </a:fld>
            <a:endParaRPr lang="en-US" altLang="en-US"/>
          </a:p>
        </p:txBody>
      </p:sp>
    </p:spTree>
    <p:extLst>
      <p:ext uri="{BB962C8B-B14F-4D97-AF65-F5344CB8AC3E}">
        <p14:creationId xmlns:p14="http://schemas.microsoft.com/office/powerpoint/2010/main" val="96929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7F2BF417-F4DD-4FB6-9286-99323E25A1D2}"/>
              </a:ext>
            </a:extLst>
          </p:cNvPr>
          <p:cNvSpPr>
            <a:spLocks noGrp="1" noChangeArrowheads="1"/>
          </p:cNvSpPr>
          <p:nvPr>
            <p:ph type="title"/>
          </p:nvPr>
        </p:nvSpPr>
        <p:spPr/>
        <p:txBody>
          <a:bodyPr/>
          <a:lstStyle/>
          <a:p>
            <a:pPr fontAlgn="auto">
              <a:spcAft>
                <a:spcPts val="0"/>
              </a:spcAft>
              <a:defRPr/>
            </a:pPr>
            <a:r>
              <a:rPr lang="en-US" altLang="en-US"/>
              <a:t>World Wide Web</a:t>
            </a:r>
          </a:p>
        </p:txBody>
      </p:sp>
      <p:sp>
        <p:nvSpPr>
          <p:cNvPr id="2" name="Slide Number Placeholder 1">
            <a:extLst>
              <a:ext uri="{FF2B5EF4-FFF2-40B4-BE49-F238E27FC236}">
                <a16:creationId xmlns:a16="http://schemas.microsoft.com/office/drawing/2014/main" id="{822A0AC7-537B-42D6-A12A-B00351CF8433}"/>
              </a:ext>
            </a:extLst>
          </p:cNvPr>
          <p:cNvSpPr>
            <a:spLocks noGrp="1"/>
          </p:cNvSpPr>
          <p:nvPr>
            <p:ph type="sldNum" sz="quarter" idx="12"/>
          </p:nvPr>
        </p:nvSpPr>
        <p:spPr/>
        <p:txBody>
          <a:bodyPr/>
          <a:lstStyle/>
          <a:p>
            <a:pPr>
              <a:defRPr/>
            </a:pPr>
            <a:fld id="{00C8057D-767B-4971-9663-35F7DAF7DA54}" type="slidenum">
              <a:rPr lang="en-US" altLang="en-US"/>
              <a:pPr>
                <a:defRPr/>
              </a:pPr>
              <a:t>25</a:t>
            </a:fld>
            <a:endParaRPr lang="en-US" altLang="en-US"/>
          </a:p>
        </p:txBody>
      </p:sp>
      <p:pic>
        <p:nvPicPr>
          <p:cNvPr id="60420" name="Picture 4">
            <a:extLst>
              <a:ext uri="{FF2B5EF4-FFF2-40B4-BE49-F238E27FC236}">
                <a16:creationId xmlns:a16="http://schemas.microsoft.com/office/drawing/2014/main" id="{068F2447-FC73-47B2-A896-05756502A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107972"/>
            <a:ext cx="6170613" cy="338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The Top 11 Search Engines, Ranked by Popularity">
            <a:extLst>
              <a:ext uri="{FF2B5EF4-FFF2-40B4-BE49-F238E27FC236}">
                <a16:creationId xmlns:a16="http://schemas.microsoft.com/office/drawing/2014/main" id="{044B056D-DE54-B70B-830D-654C9A2289E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06" r="11561" b="10845"/>
          <a:stretch/>
        </p:blipFill>
        <p:spPr bwMode="auto">
          <a:xfrm>
            <a:off x="838200" y="1905000"/>
            <a:ext cx="4419600" cy="30826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4BB568-79DB-EBB0-51DF-F07601E6A27C}"/>
              </a:ext>
            </a:extLst>
          </p:cNvPr>
          <p:cNvSpPr txBox="1"/>
          <p:nvPr/>
        </p:nvSpPr>
        <p:spPr>
          <a:xfrm>
            <a:off x="191293" y="4890769"/>
            <a:ext cx="5713413" cy="1200329"/>
          </a:xfrm>
          <a:prstGeom prst="rect">
            <a:avLst/>
          </a:prstGeom>
          <a:noFill/>
        </p:spPr>
        <p:txBody>
          <a:bodyPr wrap="square">
            <a:spAutoFit/>
          </a:bodyPr>
          <a:lstStyle/>
          <a:p>
            <a:br>
              <a:rPr lang="en-US" dirty="0"/>
            </a:br>
            <a:r>
              <a:rPr lang="en-US" b="1" i="0" dirty="0">
                <a:solidFill>
                  <a:srgbClr val="1F1F1F"/>
                </a:solidFill>
                <a:effectLst/>
                <a:highlight>
                  <a:srgbClr val="FFFFFF"/>
                </a:highlight>
                <a:latin typeface="Google Sans"/>
              </a:rPr>
              <a:t>search engine </a:t>
            </a:r>
            <a:r>
              <a:rPr lang="en-US" b="0" i="0" dirty="0">
                <a:solidFill>
                  <a:srgbClr val="1F1F1F"/>
                </a:solidFill>
                <a:effectLst/>
                <a:highlight>
                  <a:srgbClr val="FFFFFF"/>
                </a:highlight>
                <a:latin typeface="Google Sans"/>
              </a:rPr>
              <a:t>is a software system that helps you find information on the internet. It acts like a giant index that keeps track of billions of web pages and their content. </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F19A4629-359C-4A50-8E72-D143C678AFE6}"/>
              </a:ext>
            </a:extLst>
          </p:cNvPr>
          <p:cNvSpPr>
            <a:spLocks noGrp="1" noChangeArrowheads="1"/>
          </p:cNvSpPr>
          <p:nvPr>
            <p:ph type="title"/>
          </p:nvPr>
        </p:nvSpPr>
        <p:spPr>
          <a:xfrm>
            <a:off x="1066800" y="0"/>
            <a:ext cx="10058400" cy="1219200"/>
          </a:xfrm>
        </p:spPr>
        <p:txBody>
          <a:bodyPr/>
          <a:lstStyle/>
          <a:p>
            <a:pPr fontAlgn="auto">
              <a:spcAft>
                <a:spcPts val="0"/>
              </a:spcAft>
              <a:defRPr/>
            </a:pPr>
            <a:r>
              <a:rPr lang="en-US" altLang="en-US" dirty="0"/>
              <a:t>World Wide Web</a:t>
            </a:r>
          </a:p>
        </p:txBody>
      </p:sp>
      <p:sp>
        <p:nvSpPr>
          <p:cNvPr id="62467" name="Rectangle 2">
            <a:extLst>
              <a:ext uri="{FF2B5EF4-FFF2-40B4-BE49-F238E27FC236}">
                <a16:creationId xmlns:a16="http://schemas.microsoft.com/office/drawing/2014/main" id="{11A2C125-2432-4C03-A194-285B1BAAB79A}"/>
              </a:ext>
            </a:extLst>
          </p:cNvPr>
          <p:cNvSpPr>
            <a:spLocks noGrp="1" noChangeArrowheads="1"/>
          </p:cNvSpPr>
          <p:nvPr>
            <p:ph idx="1"/>
          </p:nvPr>
        </p:nvSpPr>
        <p:spPr>
          <a:xfrm>
            <a:off x="838200" y="1143000"/>
            <a:ext cx="10290048" cy="4901184"/>
          </a:xfrm>
        </p:spPr>
        <p:txBody>
          <a:bodyPr/>
          <a:lstStyle/>
          <a:p>
            <a:pPr algn="just" defTabSz="684213">
              <a:lnSpc>
                <a:spcPct val="100000"/>
              </a:lnSpc>
              <a:buFont typeface="Wingdings" panose="05000000000000000000" pitchFamily="2" charset="2"/>
              <a:buChar char="v"/>
            </a:pPr>
            <a:r>
              <a:rPr lang="en-US" altLang="en-US" sz="2800" dirty="0"/>
              <a:t>The documents in the WWW can be grouped into  </a:t>
            </a:r>
          </a:p>
          <a:p>
            <a:pPr marL="555625" lvl="1" indent="-212725" algn="just" defTabSz="684213">
              <a:lnSpc>
                <a:spcPct val="100000"/>
              </a:lnSpc>
            </a:pPr>
            <a:r>
              <a:rPr lang="fr-FR" altLang="en-US" sz="2800" b="1" i="1" dirty="0"/>
              <a:t>Statice Documents :- </a:t>
            </a:r>
            <a:r>
              <a:rPr lang="en-US" sz="2800" dirty="0"/>
              <a:t>a document with a fixed content</a:t>
            </a:r>
            <a:endParaRPr lang="fr-FR" altLang="en-US" sz="2800" b="1" i="1" dirty="0"/>
          </a:p>
          <a:p>
            <a:pPr marL="555625" lvl="1" indent="-212725" algn="just" defTabSz="684213">
              <a:lnSpc>
                <a:spcPct val="100000"/>
              </a:lnSpc>
            </a:pPr>
            <a:r>
              <a:rPr lang="fr-FR" altLang="en-US" sz="2800" b="1" i="1" dirty="0"/>
              <a:t>Dynamic Documents (server </a:t>
            </a:r>
            <a:r>
              <a:rPr lang="fr-FR" altLang="en-US" sz="2800" b="1" i="1" dirty="0" err="1"/>
              <a:t>side</a:t>
            </a:r>
            <a:r>
              <a:rPr lang="fr-FR" altLang="en-US" sz="2800" b="1" i="1" dirty="0"/>
              <a:t>):-</a:t>
            </a:r>
          </a:p>
          <a:p>
            <a:pPr marL="1074420" lvl="2" indent="-457200" algn="just" defTabSz="684213">
              <a:lnSpc>
                <a:spcPct val="100000"/>
              </a:lnSpc>
              <a:buFont typeface="Wingdings" panose="05000000000000000000" pitchFamily="2" charset="2"/>
              <a:buChar char="ü"/>
            </a:pPr>
            <a:r>
              <a:rPr lang="en-US" sz="2600" i="1" dirty="0">
                <a:solidFill>
                  <a:srgbClr val="FF0000"/>
                </a:solidFill>
              </a:rPr>
              <a:t>content of the document is created when the browser accesses the server</a:t>
            </a:r>
            <a:r>
              <a:rPr lang="en-US" sz="2600" dirty="0"/>
              <a:t>. </a:t>
            </a:r>
          </a:p>
          <a:p>
            <a:pPr marL="1074420" lvl="2" indent="-457200" algn="just" defTabSz="684213">
              <a:lnSpc>
                <a:spcPct val="100000"/>
              </a:lnSpc>
              <a:buFont typeface="Wingdings" panose="05000000000000000000" pitchFamily="2" charset="2"/>
              <a:buChar char="ü"/>
            </a:pPr>
            <a:r>
              <a:rPr lang="en-US" sz="2600" dirty="0"/>
              <a:t>When the browser request arrives, the server runs an application that creates dynamic documents.</a:t>
            </a:r>
            <a:endParaRPr lang="fr-FR" altLang="en-US" sz="2600" b="1" i="1" dirty="0"/>
          </a:p>
          <a:p>
            <a:pPr marL="555625" lvl="1" indent="-212725" algn="just" defTabSz="684213">
              <a:lnSpc>
                <a:spcPct val="100000"/>
              </a:lnSpc>
            </a:pPr>
            <a:r>
              <a:rPr lang="fr-FR" altLang="en-US" sz="2800" b="1" i="1" dirty="0"/>
              <a:t>Active Documents (client </a:t>
            </a:r>
            <a:r>
              <a:rPr lang="fr-FR" altLang="en-US" sz="2800" b="1" i="1" dirty="0" err="1"/>
              <a:t>side</a:t>
            </a:r>
            <a:r>
              <a:rPr lang="fr-FR" altLang="en-US" sz="2800" b="1" i="1" dirty="0"/>
              <a:t>):-</a:t>
            </a:r>
          </a:p>
          <a:p>
            <a:pPr marL="1074420" lvl="2" indent="-457200" algn="just" defTabSz="684213">
              <a:lnSpc>
                <a:spcPct val="100000"/>
              </a:lnSpc>
              <a:buFont typeface="Wingdings" panose="05000000000000000000" pitchFamily="2" charset="2"/>
              <a:buChar char="ü"/>
            </a:pPr>
            <a:r>
              <a:rPr lang="en-US" sz="2600" dirty="0"/>
              <a:t>provide a continuous update of the screen content</a:t>
            </a:r>
            <a:endParaRPr lang="en-US" altLang="en-US" sz="2600" b="1" i="1" dirty="0"/>
          </a:p>
          <a:p>
            <a:pPr marL="555625" lvl="1" indent="-212725" algn="just" defTabSz="684213"/>
            <a:endParaRPr lang="en-US" altLang="en-US" dirty="0"/>
          </a:p>
        </p:txBody>
      </p:sp>
      <p:sp>
        <p:nvSpPr>
          <p:cNvPr id="2" name="Slide Number Placeholder 1">
            <a:extLst>
              <a:ext uri="{FF2B5EF4-FFF2-40B4-BE49-F238E27FC236}">
                <a16:creationId xmlns:a16="http://schemas.microsoft.com/office/drawing/2014/main" id="{A5502AD6-814F-4555-B604-7B538B0DB087}"/>
              </a:ext>
            </a:extLst>
          </p:cNvPr>
          <p:cNvSpPr>
            <a:spLocks noGrp="1"/>
          </p:cNvSpPr>
          <p:nvPr>
            <p:ph type="sldNum" sz="quarter" idx="12"/>
          </p:nvPr>
        </p:nvSpPr>
        <p:spPr/>
        <p:txBody>
          <a:bodyPr/>
          <a:lstStyle/>
          <a:p>
            <a:pPr>
              <a:defRPr/>
            </a:pPr>
            <a:fld id="{731FA9FB-71C3-4430-9576-10D83B736778}" type="slidenum">
              <a:rPr lang="en-US" altLang="en-US"/>
              <a:pPr>
                <a:defRPr/>
              </a:pPr>
              <a:t>26</a:t>
            </a:fld>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0052B2A7-EF0B-4117-919A-C27147083D87}"/>
              </a:ext>
            </a:extLst>
          </p:cNvPr>
          <p:cNvSpPr>
            <a:spLocks noGrp="1" noChangeArrowheads="1"/>
          </p:cNvSpPr>
          <p:nvPr>
            <p:ph type="title"/>
          </p:nvPr>
        </p:nvSpPr>
        <p:spPr/>
        <p:txBody>
          <a:bodyPr/>
          <a:lstStyle/>
          <a:p>
            <a:pPr fontAlgn="auto">
              <a:spcAft>
                <a:spcPts val="0"/>
              </a:spcAft>
              <a:defRPr/>
            </a:pPr>
            <a:r>
              <a:rPr lang="en-US" altLang="en-US"/>
              <a:t>World Wide Web</a:t>
            </a:r>
          </a:p>
        </p:txBody>
      </p:sp>
      <p:sp>
        <p:nvSpPr>
          <p:cNvPr id="26626" name="Rectangle 2">
            <a:extLst>
              <a:ext uri="{FF2B5EF4-FFF2-40B4-BE49-F238E27FC236}">
                <a16:creationId xmlns:a16="http://schemas.microsoft.com/office/drawing/2014/main" id="{E525B640-820A-4A8E-BB27-BF43F95B1F5D}"/>
              </a:ext>
            </a:extLst>
          </p:cNvPr>
          <p:cNvSpPr>
            <a:spLocks noGrp="1" noChangeArrowheads="1"/>
          </p:cNvSpPr>
          <p:nvPr>
            <p:ph idx="1"/>
          </p:nvPr>
        </p:nvSpPr>
        <p:spPr>
          <a:xfrm>
            <a:off x="3009900" y="2057400"/>
            <a:ext cx="6172200" cy="400050"/>
          </a:xfrm>
        </p:spPr>
        <p:txBody>
          <a:bodyPr rtlCol="0">
            <a:normAutofit/>
          </a:bodyPr>
          <a:lstStyle/>
          <a:p>
            <a:pPr marL="257145" indent="-257145" defTabSz="685720" fontAlgn="auto">
              <a:spcAft>
                <a:spcPts val="0"/>
              </a:spcAft>
              <a:buClr>
                <a:schemeClr val="accent1">
                  <a:lumMod val="75000"/>
                </a:schemeClr>
              </a:buClr>
              <a:buFont typeface="Wingdings" panose="05000000000000000000" pitchFamily="2" charset="2"/>
              <a:buNone/>
              <a:defRPr/>
            </a:pPr>
            <a:r>
              <a:rPr lang="en-US" dirty="0">
                <a:effectLst>
                  <a:outerShdw blurRad="38100" dist="38100" dir="2700000" algn="tl">
                    <a:srgbClr val="C0C0C0"/>
                  </a:outerShdw>
                </a:effectLst>
              </a:rPr>
              <a:t>Static document</a:t>
            </a:r>
          </a:p>
        </p:txBody>
      </p:sp>
      <p:sp>
        <p:nvSpPr>
          <p:cNvPr id="2" name="Slide Number Placeholder 1">
            <a:extLst>
              <a:ext uri="{FF2B5EF4-FFF2-40B4-BE49-F238E27FC236}">
                <a16:creationId xmlns:a16="http://schemas.microsoft.com/office/drawing/2014/main" id="{A7501A2E-2136-40A7-B1BE-198ABCD17F3B}"/>
              </a:ext>
            </a:extLst>
          </p:cNvPr>
          <p:cNvSpPr>
            <a:spLocks noGrp="1"/>
          </p:cNvSpPr>
          <p:nvPr>
            <p:ph type="sldNum" sz="quarter" idx="12"/>
          </p:nvPr>
        </p:nvSpPr>
        <p:spPr/>
        <p:txBody>
          <a:bodyPr/>
          <a:lstStyle/>
          <a:p>
            <a:pPr>
              <a:defRPr/>
            </a:pPr>
            <a:fld id="{48D90A3D-D276-4764-AC56-D3C5D2925DAC}" type="slidenum">
              <a:rPr lang="en-US" altLang="en-US"/>
              <a:pPr>
                <a:defRPr/>
              </a:pPr>
              <a:t>27</a:t>
            </a:fld>
            <a:endParaRPr lang="en-US" altLang="en-US"/>
          </a:p>
        </p:txBody>
      </p:sp>
      <p:pic>
        <p:nvPicPr>
          <p:cNvPr id="64517" name="Picture 4">
            <a:extLst>
              <a:ext uri="{FF2B5EF4-FFF2-40B4-BE49-F238E27FC236}">
                <a16:creationId xmlns:a16="http://schemas.microsoft.com/office/drawing/2014/main" id="{FF25D2DB-8B43-409D-A0F8-A8ACAFF27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477379"/>
            <a:ext cx="5761038" cy="3241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E1DCD7B2-6C10-4CB3-A55E-83EECFB3FDD4}"/>
              </a:ext>
            </a:extLst>
          </p:cNvPr>
          <p:cNvSpPr>
            <a:spLocks noGrp="1" noChangeArrowheads="1"/>
          </p:cNvSpPr>
          <p:nvPr>
            <p:ph type="title"/>
          </p:nvPr>
        </p:nvSpPr>
        <p:spPr/>
        <p:txBody>
          <a:bodyPr/>
          <a:lstStyle/>
          <a:p>
            <a:pPr fontAlgn="auto">
              <a:spcAft>
                <a:spcPts val="0"/>
              </a:spcAft>
              <a:defRPr/>
            </a:pPr>
            <a:r>
              <a:rPr lang="en-US" altLang="en-US"/>
              <a:t>World Wide Web</a:t>
            </a:r>
          </a:p>
        </p:txBody>
      </p:sp>
      <p:sp>
        <p:nvSpPr>
          <p:cNvPr id="27650" name="Rectangle 2">
            <a:extLst>
              <a:ext uri="{FF2B5EF4-FFF2-40B4-BE49-F238E27FC236}">
                <a16:creationId xmlns:a16="http://schemas.microsoft.com/office/drawing/2014/main" id="{BC927FA1-2F2B-456F-9AAB-F7CCF1E47F17}"/>
              </a:ext>
            </a:extLst>
          </p:cNvPr>
          <p:cNvSpPr>
            <a:spLocks noGrp="1" noChangeArrowheads="1"/>
          </p:cNvSpPr>
          <p:nvPr>
            <p:ph idx="1"/>
          </p:nvPr>
        </p:nvSpPr>
        <p:spPr>
          <a:xfrm>
            <a:off x="3009900" y="2057400"/>
            <a:ext cx="6172200" cy="400050"/>
          </a:xfrm>
        </p:spPr>
        <p:txBody>
          <a:bodyPr rtlCol="0">
            <a:normAutofit/>
          </a:bodyPr>
          <a:lstStyle/>
          <a:p>
            <a:pPr marL="257145" indent="-257145" defTabSz="685720" fontAlgn="auto">
              <a:spcAft>
                <a:spcPts val="0"/>
              </a:spcAft>
              <a:buClr>
                <a:schemeClr val="accent1">
                  <a:lumMod val="75000"/>
                </a:schemeClr>
              </a:buClr>
              <a:buFont typeface="Wingdings" panose="05000000000000000000" pitchFamily="2" charset="2"/>
              <a:buNone/>
              <a:defRPr/>
            </a:pPr>
            <a:r>
              <a:rPr lang="en-US" dirty="0">
                <a:effectLst>
                  <a:outerShdw blurRad="38100" dist="38100" dir="2700000" algn="tl">
                    <a:srgbClr val="C0C0C0"/>
                  </a:outerShdw>
                </a:effectLst>
              </a:rPr>
              <a:t>Dynamic document using CGI</a:t>
            </a:r>
          </a:p>
        </p:txBody>
      </p:sp>
      <p:sp>
        <p:nvSpPr>
          <p:cNvPr id="2" name="Slide Number Placeholder 1">
            <a:extLst>
              <a:ext uri="{FF2B5EF4-FFF2-40B4-BE49-F238E27FC236}">
                <a16:creationId xmlns:a16="http://schemas.microsoft.com/office/drawing/2014/main" id="{664FDD70-958C-4DC1-B77C-7D07AF8F9ED3}"/>
              </a:ext>
            </a:extLst>
          </p:cNvPr>
          <p:cNvSpPr>
            <a:spLocks noGrp="1"/>
          </p:cNvSpPr>
          <p:nvPr>
            <p:ph type="sldNum" sz="quarter" idx="12"/>
          </p:nvPr>
        </p:nvSpPr>
        <p:spPr/>
        <p:txBody>
          <a:bodyPr/>
          <a:lstStyle/>
          <a:p>
            <a:pPr>
              <a:defRPr/>
            </a:pPr>
            <a:fld id="{77851B19-339C-416B-A295-5E021A0F3160}" type="slidenum">
              <a:rPr lang="en-US" altLang="en-US"/>
              <a:pPr>
                <a:defRPr/>
              </a:pPr>
              <a:t>28</a:t>
            </a:fld>
            <a:endParaRPr lang="en-US" altLang="en-US"/>
          </a:p>
        </p:txBody>
      </p:sp>
      <p:pic>
        <p:nvPicPr>
          <p:cNvPr id="66565" name="Picture 5">
            <a:extLst>
              <a:ext uri="{FF2B5EF4-FFF2-40B4-BE49-F238E27FC236}">
                <a16:creationId xmlns:a16="http://schemas.microsoft.com/office/drawing/2014/main" id="{027BCE2A-3F70-4CAC-B8A6-E1ABE82AF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9950" y="2628900"/>
            <a:ext cx="5222875"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9F90F28B-C394-42F0-BED4-EDCB9176D96C}"/>
              </a:ext>
            </a:extLst>
          </p:cNvPr>
          <p:cNvSpPr>
            <a:spLocks noGrp="1" noChangeArrowheads="1"/>
          </p:cNvSpPr>
          <p:nvPr>
            <p:ph type="title"/>
          </p:nvPr>
        </p:nvSpPr>
        <p:spPr/>
        <p:txBody>
          <a:bodyPr/>
          <a:lstStyle/>
          <a:p>
            <a:pPr fontAlgn="auto">
              <a:spcAft>
                <a:spcPts val="0"/>
              </a:spcAft>
              <a:defRPr/>
            </a:pPr>
            <a:r>
              <a:rPr lang="en-US" altLang="en-US"/>
              <a:t>World Wide Web</a:t>
            </a:r>
          </a:p>
        </p:txBody>
      </p:sp>
      <p:sp>
        <p:nvSpPr>
          <p:cNvPr id="70659" name="Rectangle 2">
            <a:extLst>
              <a:ext uri="{FF2B5EF4-FFF2-40B4-BE49-F238E27FC236}">
                <a16:creationId xmlns:a16="http://schemas.microsoft.com/office/drawing/2014/main" id="{0E1A994C-C6CE-4210-AA0E-A9BEB6BD747E}"/>
              </a:ext>
            </a:extLst>
          </p:cNvPr>
          <p:cNvSpPr>
            <a:spLocks noGrp="1" noChangeArrowheads="1"/>
          </p:cNvSpPr>
          <p:nvPr>
            <p:ph idx="1"/>
          </p:nvPr>
        </p:nvSpPr>
        <p:spPr>
          <a:xfrm>
            <a:off x="3009900" y="2057400"/>
            <a:ext cx="6172200" cy="400050"/>
          </a:xfrm>
        </p:spPr>
        <p:txBody>
          <a:bodyPr/>
          <a:lstStyle/>
          <a:p>
            <a:pPr>
              <a:spcBef>
                <a:spcPct val="0"/>
              </a:spcBef>
              <a:buFontTx/>
              <a:buNone/>
            </a:pPr>
            <a:r>
              <a:rPr lang="en-US" altLang="en-US" b="1" dirty="0"/>
              <a:t>Active document using Java applet</a:t>
            </a:r>
          </a:p>
        </p:txBody>
      </p:sp>
      <p:sp>
        <p:nvSpPr>
          <p:cNvPr id="2" name="Slide Number Placeholder 1">
            <a:extLst>
              <a:ext uri="{FF2B5EF4-FFF2-40B4-BE49-F238E27FC236}">
                <a16:creationId xmlns:a16="http://schemas.microsoft.com/office/drawing/2014/main" id="{274296B8-DF89-4D88-B4EC-F54784FE77D9}"/>
              </a:ext>
            </a:extLst>
          </p:cNvPr>
          <p:cNvSpPr>
            <a:spLocks noGrp="1"/>
          </p:cNvSpPr>
          <p:nvPr>
            <p:ph type="sldNum" sz="quarter" idx="12"/>
          </p:nvPr>
        </p:nvSpPr>
        <p:spPr/>
        <p:txBody>
          <a:bodyPr/>
          <a:lstStyle/>
          <a:p>
            <a:pPr>
              <a:defRPr/>
            </a:pPr>
            <a:fld id="{65379042-207C-43DB-9628-B390CFA6CED6}" type="slidenum">
              <a:rPr lang="en-US" altLang="en-US"/>
              <a:pPr>
                <a:defRPr/>
              </a:pPr>
              <a:t>29</a:t>
            </a:fld>
            <a:endParaRPr lang="en-US" altLang="en-US"/>
          </a:p>
        </p:txBody>
      </p:sp>
      <p:pic>
        <p:nvPicPr>
          <p:cNvPr id="70661" name="Picture 5">
            <a:extLst>
              <a:ext uri="{FF2B5EF4-FFF2-40B4-BE49-F238E27FC236}">
                <a16:creationId xmlns:a16="http://schemas.microsoft.com/office/drawing/2014/main" id="{624AAB00-F55E-44A0-8309-2C4CBC895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571750"/>
            <a:ext cx="6330950"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2DF8796-2F73-4D3F-9F70-51AF68B8CAF2}"/>
              </a:ext>
            </a:extLst>
          </p:cNvPr>
          <p:cNvSpPr>
            <a:spLocks noGrp="1" noChangeArrowheads="1"/>
          </p:cNvSpPr>
          <p:nvPr>
            <p:ph type="title"/>
          </p:nvPr>
        </p:nvSpPr>
        <p:spPr>
          <a:xfrm>
            <a:off x="1069848" y="484632"/>
            <a:ext cx="10058400" cy="582168"/>
          </a:xfrm>
        </p:spPr>
        <p:txBody>
          <a:bodyPr>
            <a:normAutofit fontScale="90000"/>
          </a:bodyPr>
          <a:lstStyle/>
          <a:p>
            <a:pPr fontAlgn="auto">
              <a:spcAft>
                <a:spcPts val="0"/>
              </a:spcAft>
              <a:defRPr/>
            </a:pPr>
            <a:r>
              <a:rPr lang="en-US" altLang="en-US" dirty="0"/>
              <a:t>World Wide Web</a:t>
            </a:r>
          </a:p>
        </p:txBody>
      </p:sp>
      <p:sp>
        <p:nvSpPr>
          <p:cNvPr id="74755" name="Rectangle 3">
            <a:extLst>
              <a:ext uri="{FF2B5EF4-FFF2-40B4-BE49-F238E27FC236}">
                <a16:creationId xmlns:a16="http://schemas.microsoft.com/office/drawing/2014/main" id="{90C4674C-BACF-4DBA-8982-6DBD38B15A23}"/>
              </a:ext>
            </a:extLst>
          </p:cNvPr>
          <p:cNvSpPr>
            <a:spLocks noGrp="1" noChangeArrowheads="1"/>
          </p:cNvSpPr>
          <p:nvPr>
            <p:ph idx="1"/>
          </p:nvPr>
        </p:nvSpPr>
        <p:spPr>
          <a:xfrm>
            <a:off x="762000" y="1295399"/>
            <a:ext cx="10744200" cy="5342509"/>
          </a:xfrm>
        </p:spPr>
        <p:txBody>
          <a:bodyPr>
            <a:noAutofit/>
          </a:bodyPr>
          <a:lstStyle/>
          <a:p>
            <a:pPr>
              <a:lnSpc>
                <a:spcPct val="80000"/>
              </a:lnSpc>
              <a:buFont typeface="Arial" panose="020B0604020202020204" pitchFamily="34" charset="0"/>
              <a:buChar char="•"/>
            </a:pPr>
            <a:r>
              <a:rPr lang="en-GB" altLang="en-US" sz="2800" dirty="0"/>
              <a:t>Web applications</a:t>
            </a:r>
          </a:p>
          <a:p>
            <a:pPr lvl="1">
              <a:lnSpc>
                <a:spcPct val="80000"/>
              </a:lnSpc>
              <a:buFont typeface="Arial" panose="020B0604020202020204" pitchFamily="34" charset="0"/>
              <a:buChar char="•"/>
            </a:pPr>
            <a:r>
              <a:rPr lang="en-GB" altLang="en-US" sz="2800" dirty="0"/>
              <a:t>Very wide range of functionality</a:t>
            </a:r>
          </a:p>
          <a:p>
            <a:pPr lvl="2">
              <a:lnSpc>
                <a:spcPct val="80000"/>
              </a:lnSpc>
              <a:buFont typeface="Arial" panose="020B0604020202020204" pitchFamily="34" charset="0"/>
              <a:buChar char="•"/>
            </a:pPr>
            <a:r>
              <a:rPr lang="en-GB" altLang="en-US" sz="2800" dirty="0"/>
              <a:t>web mail</a:t>
            </a:r>
          </a:p>
          <a:p>
            <a:pPr lvl="2">
              <a:lnSpc>
                <a:spcPct val="80000"/>
              </a:lnSpc>
              <a:buFont typeface="Arial" panose="020B0604020202020204" pitchFamily="34" charset="0"/>
              <a:buChar char="•"/>
            </a:pPr>
            <a:r>
              <a:rPr lang="en-GB" altLang="en-US" sz="2800" dirty="0"/>
              <a:t>online retail sales and auction sites</a:t>
            </a:r>
          </a:p>
          <a:p>
            <a:pPr lvl="2">
              <a:lnSpc>
                <a:spcPct val="80000"/>
              </a:lnSpc>
              <a:buFont typeface="Arial" panose="020B0604020202020204" pitchFamily="34" charset="0"/>
              <a:buChar char="•"/>
            </a:pPr>
            <a:r>
              <a:rPr lang="en-GB" altLang="en-US" sz="2800" dirty="0"/>
              <a:t>wikis, discussion boards, weblogs</a:t>
            </a:r>
          </a:p>
          <a:p>
            <a:pPr lvl="2">
              <a:lnSpc>
                <a:spcPct val="80000"/>
              </a:lnSpc>
              <a:buFont typeface="Arial" panose="020B0604020202020204" pitchFamily="34" charset="0"/>
              <a:buChar char="•"/>
            </a:pPr>
            <a:r>
              <a:rPr lang="en-GB" altLang="en-US" sz="2800" dirty="0"/>
              <a:t>online news, radio, tv, etc….</a:t>
            </a:r>
          </a:p>
          <a:p>
            <a:pPr lvl="2">
              <a:lnSpc>
                <a:spcPct val="80000"/>
              </a:lnSpc>
              <a:buFont typeface="Arial" panose="020B0604020202020204" pitchFamily="34" charset="0"/>
              <a:buChar char="•"/>
            </a:pPr>
            <a:r>
              <a:rPr lang="en-GB" altLang="en-US" sz="2800" dirty="0"/>
              <a:t>multi-player online role-playing games, etc…</a:t>
            </a:r>
          </a:p>
          <a:p>
            <a:pPr>
              <a:lnSpc>
                <a:spcPct val="80000"/>
              </a:lnSpc>
              <a:buFont typeface="Arial" panose="020B0604020202020204" pitchFamily="34" charset="0"/>
              <a:buChar char="•"/>
            </a:pPr>
            <a:r>
              <a:rPr lang="en-GB" altLang="en-US" sz="2800" dirty="0"/>
              <a:t>software components of a web app</a:t>
            </a:r>
          </a:p>
          <a:p>
            <a:pPr lvl="1">
              <a:lnSpc>
                <a:spcPct val="80000"/>
              </a:lnSpc>
              <a:buFont typeface="Arial" panose="020B0604020202020204" pitchFamily="34" charset="0"/>
              <a:buChar char="•"/>
            </a:pPr>
            <a:r>
              <a:rPr lang="en-GB" altLang="en-US" sz="2800" b="1" dirty="0"/>
              <a:t>web server</a:t>
            </a:r>
          </a:p>
          <a:p>
            <a:pPr lvl="2">
              <a:lnSpc>
                <a:spcPct val="80000"/>
              </a:lnSpc>
              <a:buFont typeface="Arial" panose="020B0604020202020204" pitchFamily="34" charset="0"/>
              <a:buChar char="•"/>
            </a:pPr>
            <a:r>
              <a:rPr lang="en-GB" altLang="en-US" sz="2800" dirty="0"/>
              <a:t>configuration files</a:t>
            </a:r>
          </a:p>
          <a:p>
            <a:pPr lvl="1">
              <a:lnSpc>
                <a:spcPct val="80000"/>
              </a:lnSpc>
              <a:buFont typeface="Arial" panose="020B0604020202020204" pitchFamily="34" charset="0"/>
              <a:buChar char="•"/>
            </a:pPr>
            <a:r>
              <a:rPr lang="en-GB" altLang="en-US" sz="2800" b="1" dirty="0"/>
              <a:t>general processor components</a:t>
            </a:r>
          </a:p>
          <a:p>
            <a:pPr lvl="2">
              <a:lnSpc>
                <a:spcPct val="80000"/>
              </a:lnSpc>
              <a:buFont typeface="Arial" panose="020B0604020202020204" pitchFamily="34" charset="0"/>
              <a:buChar char="•"/>
            </a:pPr>
            <a:r>
              <a:rPr lang="en-GB" altLang="en-US" sz="2800" dirty="0"/>
              <a:t>e.g. PHP, ASP processors</a:t>
            </a:r>
          </a:p>
        </p:txBody>
      </p:sp>
      <p:sp>
        <p:nvSpPr>
          <p:cNvPr id="2" name="Slide Number Placeholder 1">
            <a:extLst>
              <a:ext uri="{FF2B5EF4-FFF2-40B4-BE49-F238E27FC236}">
                <a16:creationId xmlns:a16="http://schemas.microsoft.com/office/drawing/2014/main" id="{5A2FC169-166D-48BE-A209-482D0B64EEB1}"/>
              </a:ext>
            </a:extLst>
          </p:cNvPr>
          <p:cNvSpPr>
            <a:spLocks noGrp="1"/>
          </p:cNvSpPr>
          <p:nvPr>
            <p:ph type="sldNum" sz="quarter" idx="12"/>
          </p:nvPr>
        </p:nvSpPr>
        <p:spPr/>
        <p:txBody>
          <a:bodyPr/>
          <a:lstStyle/>
          <a:p>
            <a:pPr>
              <a:defRPr/>
            </a:pPr>
            <a:fld id="{074B2ACA-EB0B-4E92-8B52-7ADDE854BE99}" type="slidenum">
              <a:rPr lang="en-US" altLang="en-US"/>
              <a:pPr>
                <a:defRPr/>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BDDFF91-F425-42B3-9F38-3334B67D0D4C}"/>
              </a:ext>
            </a:extLst>
          </p:cNvPr>
          <p:cNvSpPr>
            <a:spLocks noGrp="1" noChangeArrowheads="1"/>
          </p:cNvSpPr>
          <p:nvPr>
            <p:ph type="title"/>
          </p:nvPr>
        </p:nvSpPr>
        <p:spPr>
          <a:xfrm>
            <a:off x="1069848" y="219457"/>
            <a:ext cx="10058400" cy="999743"/>
          </a:xfrm>
        </p:spPr>
        <p:txBody>
          <a:bodyPr>
            <a:normAutofit fontScale="90000"/>
          </a:bodyPr>
          <a:lstStyle/>
          <a:p>
            <a:pPr fontAlgn="auto">
              <a:spcAft>
                <a:spcPts val="0"/>
              </a:spcAft>
              <a:defRPr/>
            </a:pPr>
            <a:br>
              <a:rPr lang="en-US" altLang="en-US" dirty="0"/>
            </a:br>
            <a:r>
              <a:rPr lang="en-US" altLang="en-US" dirty="0"/>
              <a:t>World Wide Web</a:t>
            </a:r>
          </a:p>
        </p:txBody>
      </p:sp>
      <p:sp>
        <p:nvSpPr>
          <p:cNvPr id="76803" name="Rectangle 3">
            <a:extLst>
              <a:ext uri="{FF2B5EF4-FFF2-40B4-BE49-F238E27FC236}">
                <a16:creationId xmlns:a16="http://schemas.microsoft.com/office/drawing/2014/main" id="{9280061D-2768-4EC1-AE96-8FDB600F11DB}"/>
              </a:ext>
            </a:extLst>
          </p:cNvPr>
          <p:cNvSpPr>
            <a:spLocks noGrp="1" noChangeArrowheads="1"/>
          </p:cNvSpPr>
          <p:nvPr>
            <p:ph idx="1"/>
          </p:nvPr>
        </p:nvSpPr>
        <p:spPr>
          <a:xfrm>
            <a:off x="1063752" y="1496183"/>
            <a:ext cx="10058400" cy="4776602"/>
          </a:xfrm>
        </p:spPr>
        <p:txBody>
          <a:bodyPr>
            <a:noAutofit/>
          </a:bodyPr>
          <a:lstStyle/>
          <a:p>
            <a:pPr>
              <a:buFont typeface="Arial" panose="020B0604020202020204" pitchFamily="34" charset="0"/>
              <a:buChar char="•"/>
            </a:pPr>
            <a:r>
              <a:rPr lang="en-GB" altLang="en-US" sz="2800" dirty="0"/>
              <a:t>software components of a web app</a:t>
            </a:r>
          </a:p>
          <a:p>
            <a:pPr lvl="1">
              <a:buFont typeface="Arial" panose="020B0604020202020204" pitchFamily="34" charset="0"/>
              <a:buChar char="•"/>
            </a:pPr>
            <a:r>
              <a:rPr lang="en-GB" altLang="en-US" sz="2800" b="1" dirty="0"/>
              <a:t>Databases </a:t>
            </a:r>
          </a:p>
          <a:p>
            <a:pPr lvl="2">
              <a:buFont typeface="Arial" panose="020B0604020202020204" pitchFamily="34" charset="0"/>
              <a:buChar char="•"/>
            </a:pPr>
            <a:r>
              <a:rPr lang="en-GB" altLang="en-US" sz="2800" dirty="0"/>
              <a:t>possibly distributed or mirrored</a:t>
            </a:r>
          </a:p>
          <a:p>
            <a:pPr lvl="1">
              <a:buFont typeface="Arial" panose="020B0604020202020204" pitchFamily="34" charset="0"/>
              <a:buChar char="•"/>
            </a:pPr>
            <a:r>
              <a:rPr lang="en-GB" altLang="en-US" sz="2800" b="1" dirty="0"/>
              <a:t>Session information</a:t>
            </a:r>
          </a:p>
          <a:p>
            <a:pPr lvl="2">
              <a:buFont typeface="Arial" panose="020B0604020202020204" pitchFamily="34" charset="0"/>
              <a:buChar char="•"/>
            </a:pPr>
            <a:r>
              <a:rPr lang="en-GB" altLang="en-US" sz="2800" dirty="0" err="1"/>
              <a:t>statefull</a:t>
            </a:r>
            <a:r>
              <a:rPr lang="en-GB" altLang="en-US" sz="2800" dirty="0"/>
              <a:t> servers hold session information</a:t>
            </a:r>
          </a:p>
          <a:p>
            <a:pPr lvl="2">
              <a:buFont typeface="Arial" panose="020B0604020202020204" pitchFamily="34" charset="0"/>
              <a:buChar char="•"/>
            </a:pPr>
            <a:r>
              <a:rPr lang="en-GB" altLang="en-US" sz="2800" dirty="0"/>
              <a:t>may persevere in a database</a:t>
            </a:r>
          </a:p>
          <a:p>
            <a:pPr lvl="1">
              <a:buFont typeface="Arial" panose="020B0604020202020204" pitchFamily="34" charset="0"/>
              <a:buChar char="•"/>
            </a:pPr>
            <a:r>
              <a:rPr lang="en-GB" altLang="en-US" sz="2800" b="1" dirty="0"/>
              <a:t>Global Information</a:t>
            </a:r>
          </a:p>
          <a:p>
            <a:pPr lvl="2"/>
            <a:r>
              <a:rPr lang="en-GB" altLang="en-US" sz="2800" dirty="0"/>
              <a:t>shared by all or many web app processes</a:t>
            </a:r>
          </a:p>
          <a:p>
            <a:pPr lvl="2"/>
            <a:r>
              <a:rPr lang="en-GB" altLang="en-US" sz="2800" dirty="0"/>
              <a:t>e.g. number of hits on the site, user profiles</a:t>
            </a:r>
            <a:endParaRPr lang="en-US" altLang="en-US" sz="2800" dirty="0"/>
          </a:p>
        </p:txBody>
      </p:sp>
      <p:sp>
        <p:nvSpPr>
          <p:cNvPr id="2" name="Slide Number Placeholder 1">
            <a:extLst>
              <a:ext uri="{FF2B5EF4-FFF2-40B4-BE49-F238E27FC236}">
                <a16:creationId xmlns:a16="http://schemas.microsoft.com/office/drawing/2014/main" id="{B6241651-2AF3-4C4F-B267-D7C887A4AB35}"/>
              </a:ext>
            </a:extLst>
          </p:cNvPr>
          <p:cNvSpPr>
            <a:spLocks noGrp="1"/>
          </p:cNvSpPr>
          <p:nvPr>
            <p:ph type="sldNum" sz="quarter" idx="12"/>
          </p:nvPr>
        </p:nvSpPr>
        <p:spPr/>
        <p:txBody>
          <a:bodyPr/>
          <a:lstStyle/>
          <a:p>
            <a:pPr>
              <a:defRPr/>
            </a:pPr>
            <a:fld id="{B9730BA7-9C1C-4510-9F6D-09A1AD01EFB7}" type="slidenum">
              <a:rPr lang="en-US" altLang="en-US"/>
              <a:pPr>
                <a:defRPr/>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D5A6FAB-AF16-45DA-9DE1-FE39AF9E47AA}"/>
              </a:ext>
            </a:extLst>
          </p:cNvPr>
          <p:cNvSpPr>
            <a:spLocks noGrp="1" noChangeArrowheads="1"/>
          </p:cNvSpPr>
          <p:nvPr>
            <p:ph type="title"/>
          </p:nvPr>
        </p:nvSpPr>
        <p:spPr>
          <a:xfrm>
            <a:off x="1069848" y="484632"/>
            <a:ext cx="10058400" cy="1001268"/>
          </a:xfrm>
        </p:spPr>
        <p:txBody>
          <a:bodyPr/>
          <a:lstStyle/>
          <a:p>
            <a:pPr fontAlgn="auto">
              <a:spcAft>
                <a:spcPts val="0"/>
              </a:spcAft>
              <a:defRPr/>
            </a:pPr>
            <a:r>
              <a:rPr lang="en-US" altLang="en-US" dirty="0"/>
              <a:t>Client-Server Architecture</a:t>
            </a:r>
          </a:p>
        </p:txBody>
      </p:sp>
      <p:sp>
        <p:nvSpPr>
          <p:cNvPr id="74755" name="Rectangle 3">
            <a:extLst>
              <a:ext uri="{FF2B5EF4-FFF2-40B4-BE49-F238E27FC236}">
                <a16:creationId xmlns:a16="http://schemas.microsoft.com/office/drawing/2014/main" id="{4E957498-7887-4C08-92D0-E7E01595FF85}"/>
              </a:ext>
            </a:extLst>
          </p:cNvPr>
          <p:cNvSpPr>
            <a:spLocks noGrp="1" noChangeArrowheads="1"/>
          </p:cNvSpPr>
          <p:nvPr>
            <p:ph idx="1"/>
          </p:nvPr>
        </p:nvSpPr>
        <p:spPr>
          <a:xfrm>
            <a:off x="838200" y="1524000"/>
            <a:ext cx="10283952" cy="4748784"/>
          </a:xfrm>
        </p:spPr>
        <p:txBody>
          <a:bodyPr rtlCol="0">
            <a:normAutofit/>
          </a:bodyPr>
          <a:lstStyle/>
          <a:p>
            <a:pPr marL="274320" indent="-274320" fontAlgn="auto">
              <a:lnSpc>
                <a:spcPct val="100000"/>
              </a:lnSpc>
              <a:spcAft>
                <a:spcPts val="0"/>
              </a:spcAft>
              <a:buClr>
                <a:schemeClr val="accent1">
                  <a:lumMod val="75000"/>
                </a:schemeClr>
              </a:buClr>
              <a:buFont typeface="Wingdings" panose="05000000000000000000" pitchFamily="2" charset="2"/>
              <a:buChar char="v"/>
              <a:defRPr/>
            </a:pPr>
            <a:r>
              <a:rPr lang="en-US" altLang="en-US" sz="2800" dirty="0"/>
              <a:t>A network architecture in which each computer or process on the network is either a </a:t>
            </a:r>
            <a:r>
              <a:rPr lang="en-US" altLang="en-US" sz="2800" i="1" dirty="0"/>
              <a:t>client</a:t>
            </a:r>
            <a:r>
              <a:rPr lang="en-US" altLang="en-US" sz="2800" dirty="0"/>
              <a:t> or a </a:t>
            </a:r>
            <a:r>
              <a:rPr lang="en-US" altLang="en-US" sz="2800" i="1" dirty="0"/>
              <a:t>server</a:t>
            </a:r>
            <a:endParaRPr lang="en-US" altLang="en-US" sz="2800" dirty="0"/>
          </a:p>
          <a:p>
            <a:pPr marL="274320" indent="-274320" fontAlgn="auto">
              <a:lnSpc>
                <a:spcPct val="100000"/>
              </a:lnSpc>
              <a:spcAft>
                <a:spcPts val="0"/>
              </a:spcAft>
              <a:buClr>
                <a:schemeClr val="accent1">
                  <a:lumMod val="75000"/>
                </a:schemeClr>
              </a:buClr>
              <a:buFont typeface="Wingdings" panose="05000000000000000000" pitchFamily="2" charset="2"/>
              <a:buChar char="Ø"/>
              <a:defRPr/>
            </a:pPr>
            <a:r>
              <a:rPr lang="en-US" altLang="en-US" sz="2800" dirty="0"/>
              <a:t>Components of client/server architecture:</a:t>
            </a:r>
          </a:p>
          <a:p>
            <a:pPr lvl="1" indent="-274320" fontAlgn="auto">
              <a:lnSpc>
                <a:spcPct val="100000"/>
              </a:lnSpc>
              <a:buClr>
                <a:schemeClr val="accent1">
                  <a:lumMod val="75000"/>
                </a:schemeClr>
              </a:buClr>
              <a:buFont typeface="Wingdings" panose="05000000000000000000" pitchFamily="2" charset="2"/>
              <a:buChar char="ü"/>
              <a:defRPr/>
            </a:pPr>
            <a:r>
              <a:rPr lang="en-US" altLang="en-US" sz="2800" dirty="0"/>
              <a:t>Communication network </a:t>
            </a:r>
          </a:p>
          <a:p>
            <a:pPr lvl="1" indent="-274320" fontAlgn="auto">
              <a:lnSpc>
                <a:spcPct val="100000"/>
              </a:lnSpc>
              <a:buClr>
                <a:schemeClr val="accent1">
                  <a:lumMod val="75000"/>
                </a:schemeClr>
              </a:buClr>
              <a:buFont typeface="Wingdings" panose="05000000000000000000" pitchFamily="2" charset="2"/>
              <a:buChar char="ü"/>
              <a:defRPr/>
            </a:pPr>
            <a:r>
              <a:rPr lang="en-US" altLang="en-US" sz="2800" dirty="0"/>
              <a:t>Clients</a:t>
            </a:r>
          </a:p>
          <a:p>
            <a:pPr lvl="1" indent="-274320" fontAlgn="auto">
              <a:lnSpc>
                <a:spcPct val="100000"/>
              </a:lnSpc>
              <a:buClr>
                <a:schemeClr val="accent1">
                  <a:lumMod val="75000"/>
                </a:schemeClr>
              </a:buClr>
              <a:buFont typeface="Wingdings" panose="05000000000000000000" pitchFamily="2" charset="2"/>
              <a:buChar char="ü"/>
              <a:defRPr/>
            </a:pPr>
            <a:r>
              <a:rPr lang="en-US" altLang="en-US" sz="2800" dirty="0"/>
              <a:t>Servers</a:t>
            </a:r>
          </a:p>
        </p:txBody>
      </p:sp>
      <p:sp>
        <p:nvSpPr>
          <p:cNvPr id="2" name="Slide Number Placeholder 1">
            <a:extLst>
              <a:ext uri="{FF2B5EF4-FFF2-40B4-BE49-F238E27FC236}">
                <a16:creationId xmlns:a16="http://schemas.microsoft.com/office/drawing/2014/main" id="{64B79D2F-AD9C-49D4-A292-A0043137A144}"/>
              </a:ext>
            </a:extLst>
          </p:cNvPr>
          <p:cNvSpPr>
            <a:spLocks noGrp="1"/>
          </p:cNvSpPr>
          <p:nvPr>
            <p:ph type="sldNum" sz="quarter" idx="12"/>
          </p:nvPr>
        </p:nvSpPr>
        <p:spPr/>
        <p:txBody>
          <a:bodyPr/>
          <a:lstStyle/>
          <a:p>
            <a:pPr>
              <a:defRPr/>
            </a:pPr>
            <a:fld id="{7F9CE6AE-5CB9-4B59-BCAB-148FC4470780}" type="slidenum">
              <a:rPr lang="en-US" altLang="en-US"/>
              <a:pPr>
                <a:defRPr/>
              </a:pPr>
              <a:t>32</a:t>
            </a:fld>
            <a:endParaRPr lang="en-US" altLang="en-US"/>
          </a:p>
        </p:txBody>
      </p:sp>
      <p:pic>
        <p:nvPicPr>
          <p:cNvPr id="3074" name="Picture 2" descr="Client–server model - Wikipedia">
            <a:extLst>
              <a:ext uri="{FF2B5EF4-FFF2-40B4-BE49-F238E27FC236}">
                <a16:creationId xmlns:a16="http://schemas.microsoft.com/office/drawing/2014/main" id="{190C91A0-A557-E82B-5E8B-9DB707BA0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752" y="3254214"/>
            <a:ext cx="5486400" cy="32089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81FED2FA-1466-45EF-88D8-FF88A3FB6021}"/>
              </a:ext>
            </a:extLst>
          </p:cNvPr>
          <p:cNvSpPr>
            <a:spLocks noGrp="1" noChangeArrowheads="1"/>
          </p:cNvSpPr>
          <p:nvPr>
            <p:ph type="title"/>
          </p:nvPr>
        </p:nvSpPr>
        <p:spPr>
          <a:xfrm>
            <a:off x="2667000" y="457200"/>
            <a:ext cx="6171009" cy="914400"/>
          </a:xfrm>
        </p:spPr>
        <p:txBody>
          <a:bodyPr/>
          <a:lstStyle/>
          <a:p>
            <a:pPr fontAlgn="auto">
              <a:spcAft>
                <a:spcPts val="0"/>
              </a:spcAft>
              <a:buClr>
                <a:srgbClr val="FF0033"/>
              </a:buCl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3600" dirty="0"/>
              <a:t>HTTP</a:t>
            </a:r>
          </a:p>
        </p:txBody>
      </p:sp>
      <p:sp>
        <p:nvSpPr>
          <p:cNvPr id="91139" name="Rectangle 3">
            <a:extLst>
              <a:ext uri="{FF2B5EF4-FFF2-40B4-BE49-F238E27FC236}">
                <a16:creationId xmlns:a16="http://schemas.microsoft.com/office/drawing/2014/main" id="{C8DFE1EC-41C0-411C-9026-9782FDE6931D}"/>
              </a:ext>
            </a:extLst>
          </p:cNvPr>
          <p:cNvSpPr>
            <a:spLocks noGrp="1" noChangeArrowheads="1"/>
          </p:cNvSpPr>
          <p:nvPr>
            <p:ph idx="1"/>
          </p:nvPr>
        </p:nvSpPr>
        <p:spPr>
          <a:xfrm>
            <a:off x="1295400" y="1447800"/>
            <a:ext cx="9753600" cy="4672584"/>
          </a:xfrm>
        </p:spPr>
        <p:txBody>
          <a:bodyPr>
            <a:normAutofit/>
          </a:bodyPr>
          <a:lstStyle/>
          <a:p>
            <a:pPr marL="274320" indent="-274320">
              <a:spcBef>
                <a:spcPts val="400"/>
              </a:spcBef>
              <a:buClr>
                <a:srgbClr val="3333CC"/>
              </a:buClr>
              <a:buFont typeface="Courier New" panose="02070309020205020404" pitchFamily="49" charset="0"/>
              <a:buChar char="o"/>
              <a:tabLst>
                <a:tab pos="244475" algn="l"/>
                <a:tab pos="552450" algn="l"/>
                <a:tab pos="860425" algn="l"/>
                <a:tab pos="1166813" algn="l"/>
                <a:tab pos="1476375" algn="l"/>
                <a:tab pos="1782763" algn="l"/>
                <a:tab pos="2090738" algn="l"/>
                <a:tab pos="2398713" algn="l"/>
                <a:tab pos="2706688" algn="l"/>
                <a:tab pos="3013075" algn="l"/>
                <a:tab pos="3321050" algn="l"/>
                <a:tab pos="3629025" algn="l"/>
                <a:tab pos="3937000" algn="l"/>
                <a:tab pos="4243388" algn="l"/>
                <a:tab pos="4552950" algn="l"/>
                <a:tab pos="4859338" algn="l"/>
                <a:tab pos="5167313" algn="l"/>
                <a:tab pos="5475288" algn="l"/>
                <a:tab pos="5783263" algn="l"/>
                <a:tab pos="6091238" algn="l"/>
              </a:tabLst>
            </a:pPr>
            <a:r>
              <a:rPr lang="en-US" altLang="en-US" sz="3200" dirty="0"/>
              <a:t>Hypertext Transfer Protocol (HTTP):</a:t>
            </a:r>
          </a:p>
          <a:p>
            <a:pPr lvl="2" indent="-457200">
              <a:spcBef>
                <a:spcPts val="338"/>
              </a:spcBef>
              <a:buClr>
                <a:srgbClr val="000000"/>
              </a:buClr>
              <a:buFont typeface="Arial" panose="020B0604020202020204" pitchFamily="34" charset="0"/>
              <a:buChar char="•"/>
              <a:tabLst>
                <a:tab pos="244475" algn="l"/>
                <a:tab pos="552450" algn="l"/>
                <a:tab pos="860425" algn="l"/>
                <a:tab pos="1166813" algn="l"/>
                <a:tab pos="1476375" algn="l"/>
                <a:tab pos="1782763" algn="l"/>
                <a:tab pos="2090738" algn="l"/>
                <a:tab pos="2398713" algn="l"/>
                <a:tab pos="2706688" algn="l"/>
                <a:tab pos="3013075" algn="l"/>
                <a:tab pos="3321050" algn="l"/>
                <a:tab pos="3629025" algn="l"/>
                <a:tab pos="3937000" algn="l"/>
                <a:tab pos="4243388" algn="l"/>
                <a:tab pos="4552950" algn="l"/>
                <a:tab pos="4859338" algn="l"/>
                <a:tab pos="5167313" algn="l"/>
                <a:tab pos="5475288" algn="l"/>
                <a:tab pos="5783263" algn="l"/>
                <a:tab pos="6091238" algn="l"/>
              </a:tabLst>
            </a:pPr>
            <a:r>
              <a:rPr lang="en-US" altLang="en-US" sz="3000" dirty="0">
                <a:solidFill>
                  <a:srgbClr val="00B050"/>
                </a:solidFill>
              </a:rPr>
              <a:t>application-level</a:t>
            </a:r>
            <a:r>
              <a:rPr lang="en-US" altLang="en-US" sz="3000" dirty="0">
                <a:solidFill>
                  <a:schemeClr val="accent1"/>
                </a:solidFill>
              </a:rPr>
              <a:t> </a:t>
            </a:r>
            <a:r>
              <a:rPr lang="en-US" altLang="en-US" sz="3000" dirty="0"/>
              <a:t>protocol for distributed, collaborative, hypermedia information systems</a:t>
            </a:r>
          </a:p>
          <a:p>
            <a:pPr marL="763587" lvl="1" indent="-457200">
              <a:spcBef>
                <a:spcPts val="338"/>
              </a:spcBef>
              <a:buClr>
                <a:srgbClr val="000000"/>
              </a:buClr>
              <a:buFont typeface="Arial" panose="020B0604020202020204" pitchFamily="34" charset="0"/>
              <a:buChar char="•"/>
              <a:tabLst>
                <a:tab pos="244475" algn="l"/>
                <a:tab pos="552450" algn="l"/>
                <a:tab pos="860425" algn="l"/>
                <a:tab pos="1166813" algn="l"/>
                <a:tab pos="1476375" algn="l"/>
                <a:tab pos="1782763" algn="l"/>
                <a:tab pos="2090738" algn="l"/>
                <a:tab pos="2398713" algn="l"/>
                <a:tab pos="2706688" algn="l"/>
                <a:tab pos="3013075" algn="l"/>
                <a:tab pos="3321050" algn="l"/>
                <a:tab pos="3629025" algn="l"/>
                <a:tab pos="3937000" algn="l"/>
                <a:tab pos="4243388" algn="l"/>
                <a:tab pos="4552950" algn="l"/>
                <a:tab pos="4859338" algn="l"/>
                <a:tab pos="5167313" algn="l"/>
                <a:tab pos="5475288" algn="l"/>
                <a:tab pos="5783263" algn="l"/>
                <a:tab pos="6091238" algn="l"/>
              </a:tabLst>
            </a:pPr>
            <a:r>
              <a:rPr lang="en-US" altLang="en-US" sz="3200" dirty="0"/>
              <a:t>It is generic</a:t>
            </a:r>
          </a:p>
          <a:p>
            <a:pPr marL="763587" lvl="1" indent="-457200">
              <a:spcBef>
                <a:spcPts val="338"/>
              </a:spcBef>
              <a:buClr>
                <a:srgbClr val="000000"/>
              </a:buClr>
              <a:buFont typeface="Arial" panose="020B0604020202020204" pitchFamily="34" charset="0"/>
              <a:buChar char="•"/>
              <a:tabLst>
                <a:tab pos="244475" algn="l"/>
                <a:tab pos="552450" algn="l"/>
                <a:tab pos="860425" algn="l"/>
                <a:tab pos="1166813" algn="l"/>
                <a:tab pos="1476375" algn="l"/>
                <a:tab pos="1782763" algn="l"/>
                <a:tab pos="2090738" algn="l"/>
                <a:tab pos="2398713" algn="l"/>
                <a:tab pos="2706688" algn="l"/>
                <a:tab pos="3013075" algn="l"/>
                <a:tab pos="3321050" algn="l"/>
                <a:tab pos="3629025" algn="l"/>
                <a:tab pos="3937000" algn="l"/>
                <a:tab pos="4243388" algn="l"/>
                <a:tab pos="4552950" algn="l"/>
                <a:tab pos="4859338" algn="l"/>
                <a:tab pos="5167313" algn="l"/>
                <a:tab pos="5475288" algn="l"/>
                <a:tab pos="5783263" algn="l"/>
                <a:tab pos="6091238" algn="l"/>
              </a:tabLst>
            </a:pPr>
            <a:r>
              <a:rPr lang="en-US" altLang="en-US" sz="3200" dirty="0"/>
              <a:t>can be used for many tasks, such as name servers &amp; distributed object management systems</a:t>
            </a:r>
          </a:p>
        </p:txBody>
      </p:sp>
      <p:sp>
        <p:nvSpPr>
          <p:cNvPr id="2" name="Slide Number Placeholder 1">
            <a:extLst>
              <a:ext uri="{FF2B5EF4-FFF2-40B4-BE49-F238E27FC236}">
                <a16:creationId xmlns:a16="http://schemas.microsoft.com/office/drawing/2014/main" id="{72AECFB0-BE09-40CC-AFA0-6BC40D919999}"/>
              </a:ext>
            </a:extLst>
          </p:cNvPr>
          <p:cNvSpPr>
            <a:spLocks noGrp="1"/>
          </p:cNvSpPr>
          <p:nvPr>
            <p:ph type="sldNum" sz="quarter" idx="12"/>
          </p:nvPr>
        </p:nvSpPr>
        <p:spPr/>
        <p:txBody>
          <a:bodyPr/>
          <a:lstStyle/>
          <a:p>
            <a:pPr>
              <a:defRPr/>
            </a:pPr>
            <a:fld id="{14BC0A3B-EFE3-42F7-8045-79B6839B7DFE}" type="slidenum">
              <a:rPr lang="en-US" altLang="en-US"/>
              <a:pPr>
                <a:defRPr/>
              </a:pPr>
              <a:t>33</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92680DC-4C49-4BA2-BA1A-38FFF3B0C464}"/>
              </a:ext>
            </a:extLst>
          </p:cNvPr>
          <p:cNvSpPr>
            <a:spLocks noGrp="1" noChangeArrowheads="1"/>
          </p:cNvSpPr>
          <p:nvPr>
            <p:ph type="title"/>
          </p:nvPr>
        </p:nvSpPr>
        <p:spPr>
          <a:xfrm>
            <a:off x="2590800" y="457200"/>
            <a:ext cx="6169819" cy="857250"/>
          </a:xfrm>
        </p:spPr>
        <p:txBody>
          <a:bodyPr/>
          <a:lstStyle/>
          <a:p>
            <a:pPr fontAlgn="auto">
              <a:spcAft>
                <a:spcPts val="0"/>
              </a:spcAft>
              <a:buClr>
                <a:srgbClr val="FF0033"/>
              </a:buCl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3000" dirty="0"/>
              <a:t>HTTP</a:t>
            </a:r>
          </a:p>
        </p:txBody>
      </p:sp>
      <p:sp>
        <p:nvSpPr>
          <p:cNvPr id="2" name="Slide Number Placeholder 1">
            <a:extLst>
              <a:ext uri="{FF2B5EF4-FFF2-40B4-BE49-F238E27FC236}">
                <a16:creationId xmlns:a16="http://schemas.microsoft.com/office/drawing/2014/main" id="{5A4E9C13-C4E5-414F-B8CF-DD62961ECE84}"/>
              </a:ext>
            </a:extLst>
          </p:cNvPr>
          <p:cNvSpPr>
            <a:spLocks noGrp="1"/>
          </p:cNvSpPr>
          <p:nvPr>
            <p:ph type="sldNum" sz="quarter" idx="12"/>
          </p:nvPr>
        </p:nvSpPr>
        <p:spPr/>
        <p:txBody>
          <a:bodyPr/>
          <a:lstStyle/>
          <a:p>
            <a:pPr>
              <a:defRPr/>
            </a:pPr>
            <a:fld id="{C0FCD599-FDC6-4DE9-A11D-7051DA25CCCD}" type="slidenum">
              <a:rPr lang="fi-FI" altLang="en-US" smtClean="0"/>
              <a:pPr>
                <a:defRPr/>
              </a:pPr>
              <a:t>34</a:t>
            </a:fld>
            <a:endParaRPr lang="fi-FI" altLang="en-US"/>
          </a:p>
        </p:txBody>
      </p:sp>
      <p:sp>
        <p:nvSpPr>
          <p:cNvPr id="62467" name="Rectangle 3">
            <a:extLst>
              <a:ext uri="{FF2B5EF4-FFF2-40B4-BE49-F238E27FC236}">
                <a16:creationId xmlns:a16="http://schemas.microsoft.com/office/drawing/2014/main" id="{12606123-3641-4920-87DD-297A8B20A33E}"/>
              </a:ext>
            </a:extLst>
          </p:cNvPr>
          <p:cNvSpPr>
            <a:spLocks noGrp="1" noChangeArrowheads="1"/>
          </p:cNvSpPr>
          <p:nvPr>
            <p:ph type="subTitle" idx="4294967295"/>
          </p:nvPr>
        </p:nvSpPr>
        <p:spPr>
          <a:xfrm>
            <a:off x="871728" y="1319784"/>
            <a:ext cx="10439400" cy="5081016"/>
          </a:xfrm>
        </p:spPr>
        <p:txBody>
          <a:bodyPr rtlCol="0" anchor="ctr">
            <a:noAutofit/>
          </a:bodyPr>
          <a:lstStyle/>
          <a:p>
            <a:pPr lvl="1" indent="-457200" fontAlgn="auto">
              <a:buClr>
                <a:srgbClr val="000000"/>
              </a:buClr>
              <a:buFont typeface="Wingdings" panose="05000000000000000000" pitchFamily="2" charset="2"/>
              <a:buChar char="v"/>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solidFill>
                  <a:srgbClr val="3333CC"/>
                </a:solidFill>
              </a:rPr>
              <a:t>HTTP/1.0 allowed only connectionless message passing</a:t>
            </a:r>
          </a:p>
          <a:p>
            <a:pPr marL="1030367" lvl="3" indent="-274320">
              <a:buClr>
                <a:srgbClr val="000000"/>
              </a:buClr>
              <a:buFont typeface="Arial" panose="020B0604020202020204" pitchFamily="34" charset="0"/>
              <a:buChar cha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t>each request/response required a new connection</a:t>
            </a:r>
          </a:p>
          <a:p>
            <a:pPr marL="1073230" lvl="4" indent="-274320">
              <a:buClr>
                <a:srgbClr val="000000"/>
              </a:buClr>
              <a:buFont typeface="Arial" panose="020B0604020202020204" pitchFamily="34" charset="0"/>
              <a:buChar cha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t>to download a page there is  overload the server, lots of overhead</a:t>
            </a:r>
          </a:p>
          <a:p>
            <a:pPr marL="207407" indent="-457200">
              <a:buClr>
                <a:srgbClr val="000000"/>
              </a:buClr>
              <a:buFont typeface="Wingdings" panose="05000000000000000000" pitchFamily="2" charset="2"/>
              <a:buChar char="v"/>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solidFill>
                  <a:srgbClr val="3333CC"/>
                </a:solidFill>
              </a:rPr>
              <a:t>HTTP/1.1 provides persistent connection by default</a:t>
            </a:r>
          </a:p>
          <a:p>
            <a:pPr marL="1073230" lvl="4" indent="-274320">
              <a:buClr>
                <a:srgbClr val="000000"/>
              </a:buClr>
              <a:buFont typeface="Arial" panose="020B0604020202020204" pitchFamily="34" charset="0"/>
              <a:buChar cha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t>once client &amp; server connect, remains open until told to close it </a:t>
            </a:r>
            <a:r>
              <a:rPr lang="en-US" altLang="en-US" sz="2800" i="1" dirty="0"/>
              <a:t>(or timeout)‏</a:t>
            </a:r>
          </a:p>
          <a:p>
            <a:pPr marL="1073230" lvl="4" indent="-274320">
              <a:buClr>
                <a:srgbClr val="000000"/>
              </a:buClr>
              <a:buFont typeface="Arial" panose="020B0604020202020204" pitchFamily="34" charset="0"/>
              <a:buChar cha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t>reduces number of connections, saves overhead</a:t>
            </a:r>
          </a:p>
          <a:p>
            <a:pPr marL="1624527" lvl="5" indent="-274320">
              <a:buClr>
                <a:srgbClr val="000000"/>
              </a:buClr>
              <a:buFont typeface="Arial" panose="020B0604020202020204" pitchFamily="34" charset="0"/>
              <a:buChar cha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t>client can send multiple requests without waiting for responses</a:t>
            </a:r>
          </a:p>
          <a:p>
            <a:pPr marL="1235870" lvl="6" indent="0">
              <a:buClr>
                <a:srgbClr val="000000"/>
              </a:buClr>
              <a:buNone/>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2800" dirty="0"/>
              <a:t>e.g., can request all images in a page at once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92680DC-4C49-4BA2-BA1A-38FFF3B0C464}"/>
              </a:ext>
            </a:extLst>
          </p:cNvPr>
          <p:cNvSpPr>
            <a:spLocks noGrp="1" noChangeArrowheads="1"/>
          </p:cNvSpPr>
          <p:nvPr>
            <p:ph type="title"/>
          </p:nvPr>
        </p:nvSpPr>
        <p:spPr>
          <a:xfrm>
            <a:off x="2286000" y="422987"/>
            <a:ext cx="6169819" cy="857250"/>
          </a:xfrm>
        </p:spPr>
        <p:txBody>
          <a:bodyPr/>
          <a:lstStyle/>
          <a:p>
            <a:pPr fontAlgn="auto">
              <a:spcAft>
                <a:spcPts val="0"/>
              </a:spcAft>
              <a:buClr>
                <a:srgbClr val="FF0033"/>
              </a:buCl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sz="3000" dirty="0"/>
              <a:t>HTTP</a:t>
            </a:r>
          </a:p>
        </p:txBody>
      </p:sp>
      <p:sp>
        <p:nvSpPr>
          <p:cNvPr id="2" name="Slide Number Placeholder 1">
            <a:extLst>
              <a:ext uri="{FF2B5EF4-FFF2-40B4-BE49-F238E27FC236}">
                <a16:creationId xmlns:a16="http://schemas.microsoft.com/office/drawing/2014/main" id="{5A4E9C13-C4E5-414F-B8CF-DD62961ECE84}"/>
              </a:ext>
            </a:extLst>
          </p:cNvPr>
          <p:cNvSpPr>
            <a:spLocks noGrp="1"/>
          </p:cNvSpPr>
          <p:nvPr>
            <p:ph type="sldNum" sz="quarter" idx="12"/>
          </p:nvPr>
        </p:nvSpPr>
        <p:spPr/>
        <p:txBody>
          <a:bodyPr/>
          <a:lstStyle/>
          <a:p>
            <a:pPr>
              <a:defRPr/>
            </a:pPr>
            <a:fld id="{C0FCD599-FDC6-4DE9-A11D-7051DA25CCCD}" type="slidenum">
              <a:rPr lang="fi-FI" altLang="en-US" smtClean="0"/>
              <a:pPr>
                <a:defRPr/>
              </a:pPr>
              <a:t>35</a:t>
            </a:fld>
            <a:endParaRPr lang="fi-FI" altLang="en-US"/>
          </a:p>
        </p:txBody>
      </p:sp>
      <p:sp>
        <p:nvSpPr>
          <p:cNvPr id="62467" name="Rectangle 3">
            <a:extLst>
              <a:ext uri="{FF2B5EF4-FFF2-40B4-BE49-F238E27FC236}">
                <a16:creationId xmlns:a16="http://schemas.microsoft.com/office/drawing/2014/main" id="{12606123-3641-4920-87DD-297A8B20A33E}"/>
              </a:ext>
            </a:extLst>
          </p:cNvPr>
          <p:cNvSpPr>
            <a:spLocks noGrp="1" noChangeArrowheads="1"/>
          </p:cNvSpPr>
          <p:nvPr>
            <p:ph type="subTitle" idx="4294967295"/>
          </p:nvPr>
        </p:nvSpPr>
        <p:spPr>
          <a:xfrm>
            <a:off x="358282" y="1291123"/>
            <a:ext cx="11376518" cy="4596384"/>
          </a:xfrm>
        </p:spPr>
        <p:txBody>
          <a:bodyPr rtlCol="0" anchor="ctr">
            <a:noAutofit/>
          </a:bodyPr>
          <a:lstStyle/>
          <a:p>
            <a:pPr marL="0" indent="0" algn="l">
              <a:lnSpc>
                <a:spcPct val="100000"/>
              </a:lnSpc>
              <a:buNone/>
            </a:pPr>
            <a:r>
              <a:rPr lang="en-US" sz="3200" b="1" i="0" dirty="0">
                <a:solidFill>
                  <a:srgbClr val="FF0000"/>
                </a:solidFill>
                <a:effectLst/>
                <a:highlight>
                  <a:srgbClr val="FFFFFF"/>
                </a:highlight>
                <a:latin typeface="Cambria (Body)"/>
              </a:rPr>
              <a:t>Request-Response:</a:t>
            </a:r>
            <a:endParaRPr lang="en-US" sz="3200" b="0" i="0" dirty="0">
              <a:solidFill>
                <a:srgbClr val="FF0000"/>
              </a:solidFill>
              <a:effectLst/>
              <a:highlight>
                <a:srgbClr val="FFFFFF"/>
              </a:highlight>
              <a:latin typeface="Cambria (Body)"/>
            </a:endParaRPr>
          </a:p>
          <a:p>
            <a:pPr algn="l">
              <a:lnSpc>
                <a:spcPct val="100000"/>
              </a:lnSpc>
              <a:buFont typeface="Arial" panose="020B0604020202020204" pitchFamily="34" charset="0"/>
              <a:buChar char="•"/>
            </a:pPr>
            <a:r>
              <a:rPr lang="en-US" b="1" i="0" dirty="0">
                <a:solidFill>
                  <a:srgbClr val="FF0000"/>
                </a:solidFill>
                <a:effectLst/>
                <a:highlight>
                  <a:srgbClr val="FFFFFF"/>
                </a:highlight>
                <a:latin typeface="Cambria (Body)"/>
              </a:rPr>
              <a:t>Request:</a:t>
            </a:r>
            <a:r>
              <a:rPr lang="en-US" b="0" i="0" dirty="0">
                <a:solidFill>
                  <a:srgbClr val="FF0000"/>
                </a:solidFill>
                <a:effectLst/>
                <a:highlight>
                  <a:srgbClr val="FFFFFF"/>
                </a:highlight>
                <a:latin typeface="Cambria (Body)"/>
              </a:rPr>
              <a:t> </a:t>
            </a:r>
            <a:r>
              <a:rPr lang="en-US" b="0" i="0" dirty="0">
                <a:solidFill>
                  <a:srgbClr val="1F1F1F"/>
                </a:solidFill>
                <a:effectLst/>
                <a:highlight>
                  <a:srgbClr val="FFFFFF"/>
                </a:highlight>
                <a:latin typeface="Cambria (Body)"/>
              </a:rPr>
              <a:t>The client sends an HTTP request to the server. This request includes:</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Method:</a:t>
            </a:r>
            <a:r>
              <a:rPr lang="en-US" b="0" i="0" dirty="0">
                <a:solidFill>
                  <a:srgbClr val="1F1F1F"/>
                </a:solidFill>
                <a:effectLst/>
                <a:highlight>
                  <a:srgbClr val="FFFFFF"/>
                </a:highlight>
                <a:latin typeface="Cambria (Body)"/>
              </a:rPr>
              <a:t> The type of action being requested (e.g., GET to retrieve a webpage, POST to submit a form).</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URL:</a:t>
            </a:r>
            <a:r>
              <a:rPr lang="en-US" b="0" i="0" dirty="0">
                <a:solidFill>
                  <a:srgbClr val="1F1F1F"/>
                </a:solidFill>
                <a:effectLst/>
                <a:highlight>
                  <a:srgbClr val="FFFFFF"/>
                </a:highlight>
                <a:latin typeface="Cambria (Body)"/>
              </a:rPr>
              <a:t> The address of the specific resource being requested.</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Headers:</a:t>
            </a:r>
            <a:r>
              <a:rPr lang="en-US" b="0" i="0" dirty="0">
                <a:solidFill>
                  <a:srgbClr val="1F1F1F"/>
                </a:solidFill>
                <a:effectLst/>
                <a:highlight>
                  <a:srgbClr val="FFFFFF"/>
                </a:highlight>
                <a:latin typeface="Cambria (Body)"/>
              </a:rPr>
              <a:t> Additional information about the request, like the browser type or cookies.</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Body (Optional):</a:t>
            </a:r>
            <a:r>
              <a:rPr lang="en-US" b="0" i="0" dirty="0">
                <a:solidFill>
                  <a:srgbClr val="1F1F1F"/>
                </a:solidFill>
                <a:effectLst/>
                <a:highlight>
                  <a:srgbClr val="FFFFFF"/>
                </a:highlight>
                <a:latin typeface="Cambria (Body)"/>
              </a:rPr>
              <a:t> Data sent along with the request, often used for form submissions.</a:t>
            </a:r>
          </a:p>
          <a:p>
            <a:pPr algn="l">
              <a:lnSpc>
                <a:spcPct val="100000"/>
              </a:lnSpc>
              <a:buFont typeface="Arial" panose="020B0604020202020204" pitchFamily="34" charset="0"/>
              <a:buChar char="•"/>
            </a:pPr>
            <a:r>
              <a:rPr lang="en-US" b="1" i="0" dirty="0">
                <a:solidFill>
                  <a:srgbClr val="FF0000"/>
                </a:solidFill>
                <a:effectLst/>
                <a:highlight>
                  <a:srgbClr val="FFFFFF"/>
                </a:highlight>
                <a:latin typeface="Cambria (Body)"/>
              </a:rPr>
              <a:t>Response: </a:t>
            </a:r>
            <a:r>
              <a:rPr lang="en-US" b="0" i="0" dirty="0">
                <a:solidFill>
                  <a:srgbClr val="1F1F1F"/>
                </a:solidFill>
                <a:effectLst/>
                <a:highlight>
                  <a:srgbClr val="FFFFFF"/>
                </a:highlight>
                <a:latin typeface="Cambria (Body)"/>
              </a:rPr>
              <a:t>The server processes the request and sends back an HTTP response. The response includes:</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Status Code:</a:t>
            </a:r>
            <a:r>
              <a:rPr lang="en-US" b="0" i="0" dirty="0">
                <a:solidFill>
                  <a:srgbClr val="1F1F1F"/>
                </a:solidFill>
                <a:effectLst/>
                <a:highlight>
                  <a:srgbClr val="FFFFFF"/>
                </a:highlight>
                <a:latin typeface="Cambria (Body)"/>
              </a:rPr>
              <a:t> A three-digit code indicating the outcome of the request (e.g., 200 OK, 404 Not Found).</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Headers:</a:t>
            </a:r>
            <a:r>
              <a:rPr lang="en-US" b="0" i="0" dirty="0">
                <a:solidFill>
                  <a:srgbClr val="1F1F1F"/>
                </a:solidFill>
                <a:effectLst/>
                <a:highlight>
                  <a:srgbClr val="FFFFFF"/>
                </a:highlight>
                <a:latin typeface="Cambria (Body)"/>
              </a:rPr>
              <a:t> Additional information about the response, like the content type or server information.</a:t>
            </a:r>
          </a:p>
          <a:p>
            <a:pPr marL="742950" lvl="1" indent="-285750" algn="l">
              <a:lnSpc>
                <a:spcPct val="100000"/>
              </a:lnSpc>
              <a:buFont typeface="+mj-lt"/>
              <a:buAutoNum type="arabicPeriod"/>
            </a:pPr>
            <a:r>
              <a:rPr lang="en-US" b="1" i="0" dirty="0">
                <a:solidFill>
                  <a:srgbClr val="1F1F1F"/>
                </a:solidFill>
                <a:effectLst/>
                <a:highlight>
                  <a:srgbClr val="FFFFFF"/>
                </a:highlight>
                <a:latin typeface="Cambria (Body)"/>
              </a:rPr>
              <a:t>Body:</a:t>
            </a:r>
            <a:r>
              <a:rPr lang="en-US" b="0" i="0" dirty="0">
                <a:solidFill>
                  <a:srgbClr val="1F1F1F"/>
                </a:solidFill>
                <a:effectLst/>
                <a:highlight>
                  <a:srgbClr val="FFFFFF"/>
                </a:highlight>
                <a:latin typeface="Cambria (Body)"/>
              </a:rPr>
              <a:t> The actual data being sent, like the HTML content of a webpage or the result of a form submission.</a:t>
            </a:r>
          </a:p>
        </p:txBody>
      </p:sp>
    </p:spTree>
    <p:extLst>
      <p:ext uri="{BB962C8B-B14F-4D97-AF65-F5344CB8AC3E}">
        <p14:creationId xmlns:p14="http://schemas.microsoft.com/office/powerpoint/2010/main" val="401531415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C72D191B-5050-460E-8873-A25F0D704909}"/>
              </a:ext>
            </a:extLst>
          </p:cNvPr>
          <p:cNvSpPr>
            <a:spLocks noGrp="1"/>
          </p:cNvSpPr>
          <p:nvPr>
            <p:ph type="title"/>
          </p:nvPr>
        </p:nvSpPr>
        <p:spPr>
          <a:xfrm>
            <a:off x="1295413" y="857252"/>
            <a:ext cx="9143984" cy="1177919"/>
          </a:xfrm>
        </p:spPr>
        <p:txBody>
          <a:bodyPr>
            <a:normAutofit fontScale="90000"/>
          </a:bodyPr>
          <a:lstStyle/>
          <a:p>
            <a:pPr fontAlgn="auto">
              <a:spcAft>
                <a:spcPts val="0"/>
              </a:spcAft>
              <a:defRPr/>
            </a:pPr>
            <a:r>
              <a:rPr lang="en-US" altLang="en-US" dirty="0"/>
              <a:t>Example of an HTTP Request from a Web browser</a:t>
            </a:r>
          </a:p>
        </p:txBody>
      </p:sp>
      <p:sp>
        <p:nvSpPr>
          <p:cNvPr id="2" name="Slide Number Placeholder 1">
            <a:extLst>
              <a:ext uri="{FF2B5EF4-FFF2-40B4-BE49-F238E27FC236}">
                <a16:creationId xmlns:a16="http://schemas.microsoft.com/office/drawing/2014/main" id="{25824993-C3C2-4058-BE54-CF17433D4810}"/>
              </a:ext>
            </a:extLst>
          </p:cNvPr>
          <p:cNvSpPr>
            <a:spLocks noGrp="1"/>
          </p:cNvSpPr>
          <p:nvPr>
            <p:ph type="sldNum" sz="quarter" idx="12"/>
          </p:nvPr>
        </p:nvSpPr>
        <p:spPr/>
        <p:txBody>
          <a:bodyPr/>
          <a:lstStyle/>
          <a:p>
            <a:pPr>
              <a:defRPr/>
            </a:pPr>
            <a:fld id="{3AF3FC34-EF61-48CD-9B6D-43FECF1F3FB8}" type="slidenum">
              <a:rPr lang="fi-FI" altLang="en-US" smtClean="0"/>
              <a:pPr>
                <a:defRPr/>
              </a:pPr>
              <a:t>36</a:t>
            </a:fld>
            <a:endParaRPr lang="fi-FI" altLang="en-US"/>
          </a:p>
        </p:txBody>
      </p:sp>
      <p:sp>
        <p:nvSpPr>
          <p:cNvPr id="97284" name="Text Box 3">
            <a:extLst>
              <a:ext uri="{FF2B5EF4-FFF2-40B4-BE49-F238E27FC236}">
                <a16:creationId xmlns:a16="http://schemas.microsoft.com/office/drawing/2014/main" id="{4E9E2263-A877-4D17-9C29-820712F3284A}"/>
              </a:ext>
            </a:extLst>
          </p:cNvPr>
          <p:cNvSpPr txBox="1">
            <a:spLocks noChangeArrowheads="1"/>
          </p:cNvSpPr>
          <p:nvPr/>
        </p:nvSpPr>
        <p:spPr bwMode="auto">
          <a:xfrm>
            <a:off x="2894024" y="3294064"/>
            <a:ext cx="5678580"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r>
              <a:rPr lang="en-US" altLang="en-US" sz="1500" dirty="0">
                <a:solidFill>
                  <a:srgbClr val="FF0000"/>
                </a:solidFill>
                <a:latin typeface="Arial" panose="020B0604020202020204" pitchFamily="34" charset="0"/>
                <a:cs typeface="Arial" panose="020B0604020202020204" pitchFamily="34" charset="0"/>
              </a:rPr>
              <a:t>GET</a:t>
            </a:r>
            <a:r>
              <a:rPr lang="en-US" altLang="en-US" sz="1500" dirty="0">
                <a:solidFill>
                  <a:schemeClr val="accent2"/>
                </a:solidFill>
                <a:latin typeface="Arial" panose="020B0604020202020204" pitchFamily="34" charset="0"/>
                <a:cs typeface="Arial" panose="020B0604020202020204" pitchFamily="34" charset="0"/>
              </a:rPr>
              <a:t> http://www.kelley.indiana.edu/ardennis/home.htm HTTP/1.1</a:t>
            </a:r>
          </a:p>
          <a:p>
            <a:pPr eaLnBrk="1" hangingPunct="1"/>
            <a:r>
              <a:rPr lang="en-US" altLang="en-US" sz="1500" dirty="0">
                <a:solidFill>
                  <a:schemeClr val="accent2"/>
                </a:solidFill>
                <a:latin typeface="Arial" panose="020B0604020202020204" pitchFamily="34" charset="0"/>
                <a:cs typeface="Arial" panose="020B0604020202020204" pitchFamily="34" charset="0"/>
              </a:rPr>
              <a:t>Date: Mon 06 Aug 2001 17:35:46 GMT</a:t>
            </a:r>
          </a:p>
          <a:p>
            <a:pPr eaLnBrk="1" hangingPunct="1"/>
            <a:r>
              <a:rPr lang="en-US" altLang="en-US" sz="1600" dirty="0">
                <a:solidFill>
                  <a:schemeClr val="accent2"/>
                </a:solidFill>
                <a:latin typeface="Arial" panose="020B0604020202020204" pitchFamily="34" charset="0"/>
                <a:cs typeface="Arial" panose="020B0604020202020204" pitchFamily="34" charset="0"/>
              </a:rPr>
              <a:t>User-Agent</a:t>
            </a:r>
            <a:r>
              <a:rPr lang="en-US" altLang="en-US" sz="1500" dirty="0">
                <a:solidFill>
                  <a:schemeClr val="accent2"/>
                </a:solidFill>
                <a:latin typeface="Arial" panose="020B0604020202020204" pitchFamily="34" charset="0"/>
                <a:cs typeface="Arial" panose="020B0604020202020204" pitchFamily="34" charset="0"/>
              </a:rPr>
              <a:t>: Mozilla/6.0</a:t>
            </a:r>
          </a:p>
          <a:p>
            <a:pPr eaLnBrk="1" hangingPunct="1"/>
            <a:r>
              <a:rPr lang="en-US" altLang="en-US" sz="1500" dirty="0" err="1">
                <a:solidFill>
                  <a:schemeClr val="accent2"/>
                </a:solidFill>
                <a:latin typeface="Arial" panose="020B0604020202020204" pitchFamily="34" charset="0"/>
                <a:cs typeface="Arial" panose="020B0604020202020204" pitchFamily="34" charset="0"/>
              </a:rPr>
              <a:t>Referer</a:t>
            </a:r>
            <a:r>
              <a:rPr lang="en-US" altLang="en-US" sz="1500" dirty="0">
                <a:solidFill>
                  <a:schemeClr val="accent2"/>
                </a:solidFill>
                <a:latin typeface="Arial" panose="020B0604020202020204" pitchFamily="34" charset="0"/>
                <a:cs typeface="Arial" panose="020B0604020202020204" pitchFamily="34" charset="0"/>
              </a:rPr>
              <a:t>: http://www.indiana.edu/~aisdept/faculty.htm</a:t>
            </a:r>
          </a:p>
        </p:txBody>
      </p:sp>
      <p:sp>
        <p:nvSpPr>
          <p:cNvPr id="93188" name="Text Box 4">
            <a:extLst>
              <a:ext uri="{FF2B5EF4-FFF2-40B4-BE49-F238E27FC236}">
                <a16:creationId xmlns:a16="http://schemas.microsoft.com/office/drawing/2014/main" id="{746DE71E-954F-49E8-A81B-16E09060C2ED}"/>
              </a:ext>
            </a:extLst>
          </p:cNvPr>
          <p:cNvSpPr txBox="1">
            <a:spLocks noChangeArrowheads="1"/>
          </p:cNvSpPr>
          <p:nvPr/>
        </p:nvSpPr>
        <p:spPr bwMode="auto">
          <a:xfrm>
            <a:off x="8024813" y="3943350"/>
            <a:ext cx="1501775" cy="300038"/>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1350" b="1"/>
              <a:t>Request Header</a:t>
            </a:r>
          </a:p>
        </p:txBody>
      </p:sp>
      <p:sp>
        <p:nvSpPr>
          <p:cNvPr id="93189" name="Line 5">
            <a:extLst>
              <a:ext uri="{FF2B5EF4-FFF2-40B4-BE49-F238E27FC236}">
                <a16:creationId xmlns:a16="http://schemas.microsoft.com/office/drawing/2014/main" id="{82BA4A63-FD1C-40D7-A2F0-1D03D26D817C}"/>
              </a:ext>
            </a:extLst>
          </p:cNvPr>
          <p:cNvSpPr>
            <a:spLocks noChangeShapeType="1"/>
          </p:cNvSpPr>
          <p:nvPr/>
        </p:nvSpPr>
        <p:spPr bwMode="auto">
          <a:xfrm>
            <a:off x="7924800" y="3600450"/>
            <a:ext cx="0" cy="8001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0" name="Line 6">
            <a:extLst>
              <a:ext uri="{FF2B5EF4-FFF2-40B4-BE49-F238E27FC236}">
                <a16:creationId xmlns:a16="http://schemas.microsoft.com/office/drawing/2014/main" id="{947C8F68-2580-4134-A7D9-506EF5BD3BE3}"/>
              </a:ext>
            </a:extLst>
          </p:cNvPr>
          <p:cNvSpPr>
            <a:spLocks noChangeShapeType="1"/>
          </p:cNvSpPr>
          <p:nvPr/>
        </p:nvSpPr>
        <p:spPr bwMode="auto">
          <a:xfrm flipH="1">
            <a:off x="7810500" y="4400550"/>
            <a:ext cx="114300"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1" name="Line 7">
            <a:extLst>
              <a:ext uri="{FF2B5EF4-FFF2-40B4-BE49-F238E27FC236}">
                <a16:creationId xmlns:a16="http://schemas.microsoft.com/office/drawing/2014/main" id="{1A8C05ED-07C8-4B7A-A659-B9D1C4E96A10}"/>
              </a:ext>
            </a:extLst>
          </p:cNvPr>
          <p:cNvSpPr>
            <a:spLocks noChangeShapeType="1"/>
          </p:cNvSpPr>
          <p:nvPr/>
        </p:nvSpPr>
        <p:spPr bwMode="auto">
          <a:xfrm flipH="1">
            <a:off x="7810500" y="3600450"/>
            <a:ext cx="114300"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2" name="Line 8">
            <a:extLst>
              <a:ext uri="{FF2B5EF4-FFF2-40B4-BE49-F238E27FC236}">
                <a16:creationId xmlns:a16="http://schemas.microsoft.com/office/drawing/2014/main" id="{32D56BB5-8A86-417A-96BA-22EA1E871C87}"/>
              </a:ext>
            </a:extLst>
          </p:cNvPr>
          <p:cNvSpPr>
            <a:spLocks noChangeShapeType="1"/>
          </p:cNvSpPr>
          <p:nvPr/>
        </p:nvSpPr>
        <p:spPr bwMode="auto">
          <a:xfrm flipH="1">
            <a:off x="7924800" y="4057650"/>
            <a:ext cx="114300"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3" name="Text Box 9">
            <a:extLst>
              <a:ext uri="{FF2B5EF4-FFF2-40B4-BE49-F238E27FC236}">
                <a16:creationId xmlns:a16="http://schemas.microsoft.com/office/drawing/2014/main" id="{974F8A03-734E-4C06-8D59-7B6B3B017368}"/>
              </a:ext>
            </a:extLst>
          </p:cNvPr>
          <p:cNvSpPr txBox="1">
            <a:spLocks noChangeArrowheads="1"/>
          </p:cNvSpPr>
          <p:nvPr/>
        </p:nvSpPr>
        <p:spPr bwMode="auto">
          <a:xfrm>
            <a:off x="8462963" y="3314700"/>
            <a:ext cx="1117600" cy="508000"/>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1350"/>
              <a:t>]-  </a:t>
            </a:r>
            <a:r>
              <a:rPr lang="en-US" altLang="en-US" sz="1350" b="1"/>
              <a:t>Request </a:t>
            </a:r>
          </a:p>
          <a:p>
            <a:pPr eaLnBrk="1" fontAlgn="auto" hangingPunct="1">
              <a:spcBef>
                <a:spcPts val="0"/>
              </a:spcBef>
              <a:spcAft>
                <a:spcPts val="0"/>
              </a:spcAft>
              <a:defRPr/>
            </a:pPr>
            <a:r>
              <a:rPr lang="en-US" altLang="en-US" sz="1350" b="1"/>
              <a:t>     Line</a:t>
            </a:r>
          </a:p>
        </p:txBody>
      </p:sp>
      <p:sp>
        <p:nvSpPr>
          <p:cNvPr id="93194" name="Text Box 10">
            <a:extLst>
              <a:ext uri="{FF2B5EF4-FFF2-40B4-BE49-F238E27FC236}">
                <a16:creationId xmlns:a16="http://schemas.microsoft.com/office/drawing/2014/main" id="{26DDC0F7-891C-41F4-B264-48913E579154}"/>
              </a:ext>
            </a:extLst>
          </p:cNvPr>
          <p:cNvSpPr txBox="1">
            <a:spLocks noChangeArrowheads="1"/>
          </p:cNvSpPr>
          <p:nvPr/>
        </p:nvSpPr>
        <p:spPr bwMode="auto">
          <a:xfrm>
            <a:off x="4895850" y="3741738"/>
            <a:ext cx="2740025" cy="300037"/>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1350"/>
              <a:t>]- Web browser (this is Netscape)</a:t>
            </a:r>
          </a:p>
        </p:txBody>
      </p:sp>
      <p:sp>
        <p:nvSpPr>
          <p:cNvPr id="93195" name="Text Box 11">
            <a:extLst>
              <a:ext uri="{FF2B5EF4-FFF2-40B4-BE49-F238E27FC236}">
                <a16:creationId xmlns:a16="http://schemas.microsoft.com/office/drawing/2014/main" id="{4E677724-99B5-4CE1-93DB-D51E11BD0049}"/>
              </a:ext>
            </a:extLst>
          </p:cNvPr>
          <p:cNvSpPr txBox="1">
            <a:spLocks noChangeArrowheads="1"/>
          </p:cNvSpPr>
          <p:nvPr/>
        </p:nvSpPr>
        <p:spPr bwMode="auto">
          <a:xfrm>
            <a:off x="3009900" y="2743200"/>
            <a:ext cx="4067175" cy="300038"/>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1350" b="1" dirty="0"/>
              <a:t>Command		URL			HTTP version</a:t>
            </a:r>
          </a:p>
        </p:txBody>
      </p:sp>
      <p:sp>
        <p:nvSpPr>
          <p:cNvPr id="93196" name="Line 12">
            <a:extLst>
              <a:ext uri="{FF2B5EF4-FFF2-40B4-BE49-F238E27FC236}">
                <a16:creationId xmlns:a16="http://schemas.microsoft.com/office/drawing/2014/main" id="{51736C02-7081-4558-AC4E-35537217899C}"/>
              </a:ext>
            </a:extLst>
          </p:cNvPr>
          <p:cNvSpPr>
            <a:spLocks noChangeShapeType="1"/>
          </p:cNvSpPr>
          <p:nvPr/>
        </p:nvSpPr>
        <p:spPr bwMode="auto">
          <a:xfrm flipV="1">
            <a:off x="2984500" y="3143250"/>
            <a:ext cx="0" cy="1143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7" name="Line 13">
            <a:extLst>
              <a:ext uri="{FF2B5EF4-FFF2-40B4-BE49-F238E27FC236}">
                <a16:creationId xmlns:a16="http://schemas.microsoft.com/office/drawing/2014/main" id="{91D5AC86-3CFF-49E2-9F23-9E84CA329C5A}"/>
              </a:ext>
            </a:extLst>
          </p:cNvPr>
          <p:cNvSpPr>
            <a:spLocks noChangeShapeType="1"/>
          </p:cNvSpPr>
          <p:nvPr/>
        </p:nvSpPr>
        <p:spPr bwMode="auto">
          <a:xfrm flipV="1">
            <a:off x="3352800" y="3143250"/>
            <a:ext cx="0" cy="1143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8" name="Line 14">
            <a:extLst>
              <a:ext uri="{FF2B5EF4-FFF2-40B4-BE49-F238E27FC236}">
                <a16:creationId xmlns:a16="http://schemas.microsoft.com/office/drawing/2014/main" id="{74252149-B959-4DCD-88FC-32380DE2363C}"/>
              </a:ext>
            </a:extLst>
          </p:cNvPr>
          <p:cNvSpPr>
            <a:spLocks noChangeShapeType="1"/>
          </p:cNvSpPr>
          <p:nvPr/>
        </p:nvSpPr>
        <p:spPr bwMode="auto">
          <a:xfrm>
            <a:off x="2981325" y="3143250"/>
            <a:ext cx="371475"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199" name="Line 15">
            <a:extLst>
              <a:ext uri="{FF2B5EF4-FFF2-40B4-BE49-F238E27FC236}">
                <a16:creationId xmlns:a16="http://schemas.microsoft.com/office/drawing/2014/main" id="{2E725689-90A4-4CEF-8B0E-3DDBE04C29B4}"/>
              </a:ext>
            </a:extLst>
          </p:cNvPr>
          <p:cNvSpPr>
            <a:spLocks noChangeShapeType="1"/>
          </p:cNvSpPr>
          <p:nvPr/>
        </p:nvSpPr>
        <p:spPr bwMode="auto">
          <a:xfrm flipV="1">
            <a:off x="3181350" y="3028950"/>
            <a:ext cx="0" cy="1143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00" name="Line 16">
            <a:extLst>
              <a:ext uri="{FF2B5EF4-FFF2-40B4-BE49-F238E27FC236}">
                <a16:creationId xmlns:a16="http://schemas.microsoft.com/office/drawing/2014/main" id="{6C440A11-64A5-4CAD-9664-2E0FA042C3D8}"/>
              </a:ext>
            </a:extLst>
          </p:cNvPr>
          <p:cNvSpPr>
            <a:spLocks noChangeShapeType="1"/>
          </p:cNvSpPr>
          <p:nvPr/>
        </p:nvSpPr>
        <p:spPr bwMode="auto">
          <a:xfrm flipV="1">
            <a:off x="3467100" y="3143250"/>
            <a:ext cx="0" cy="1143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01" name="Line 17">
            <a:extLst>
              <a:ext uri="{FF2B5EF4-FFF2-40B4-BE49-F238E27FC236}">
                <a16:creationId xmlns:a16="http://schemas.microsoft.com/office/drawing/2014/main" id="{E3DD5023-3F72-4082-9337-C5CCFE36BA76}"/>
              </a:ext>
            </a:extLst>
          </p:cNvPr>
          <p:cNvSpPr>
            <a:spLocks noChangeShapeType="1"/>
          </p:cNvSpPr>
          <p:nvPr/>
        </p:nvSpPr>
        <p:spPr bwMode="auto">
          <a:xfrm flipV="1">
            <a:off x="7499350" y="3143250"/>
            <a:ext cx="0" cy="1143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02" name="Line 18">
            <a:extLst>
              <a:ext uri="{FF2B5EF4-FFF2-40B4-BE49-F238E27FC236}">
                <a16:creationId xmlns:a16="http://schemas.microsoft.com/office/drawing/2014/main" id="{25B8104F-301C-409C-8AE0-248FCE03BDF1}"/>
              </a:ext>
            </a:extLst>
          </p:cNvPr>
          <p:cNvSpPr>
            <a:spLocks noChangeShapeType="1"/>
          </p:cNvSpPr>
          <p:nvPr/>
        </p:nvSpPr>
        <p:spPr bwMode="auto">
          <a:xfrm flipV="1">
            <a:off x="5295900" y="3028950"/>
            <a:ext cx="0" cy="11430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03" name="Line 19">
            <a:extLst>
              <a:ext uri="{FF2B5EF4-FFF2-40B4-BE49-F238E27FC236}">
                <a16:creationId xmlns:a16="http://schemas.microsoft.com/office/drawing/2014/main" id="{D9CBD0F9-498F-4052-B172-B3DD119F48C9}"/>
              </a:ext>
            </a:extLst>
          </p:cNvPr>
          <p:cNvSpPr>
            <a:spLocks noChangeShapeType="1"/>
          </p:cNvSpPr>
          <p:nvPr/>
        </p:nvSpPr>
        <p:spPr bwMode="auto">
          <a:xfrm>
            <a:off x="3467100" y="3143250"/>
            <a:ext cx="4032250"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grpSp>
        <p:nvGrpSpPr>
          <p:cNvPr id="97301" name="Group 20">
            <a:extLst>
              <a:ext uri="{FF2B5EF4-FFF2-40B4-BE49-F238E27FC236}">
                <a16:creationId xmlns:a16="http://schemas.microsoft.com/office/drawing/2014/main" id="{2430EEC0-BAF4-4658-B35E-2026FD3E14EA}"/>
              </a:ext>
            </a:extLst>
          </p:cNvPr>
          <p:cNvGrpSpPr>
            <a:grpSpLocks/>
          </p:cNvGrpSpPr>
          <p:nvPr/>
        </p:nvGrpSpPr>
        <p:grpSpPr bwMode="auto">
          <a:xfrm>
            <a:off x="7608888" y="3021013"/>
            <a:ext cx="800100" cy="228600"/>
            <a:chOff x="3888" y="1440"/>
            <a:chExt cx="672" cy="192"/>
          </a:xfrm>
        </p:grpSpPr>
        <p:sp>
          <p:nvSpPr>
            <p:cNvPr id="93212" name="Line 21">
              <a:extLst>
                <a:ext uri="{FF2B5EF4-FFF2-40B4-BE49-F238E27FC236}">
                  <a16:creationId xmlns:a16="http://schemas.microsoft.com/office/drawing/2014/main" id="{C8ECCCB9-7507-4877-9062-C7DE63693CFB}"/>
                </a:ext>
              </a:extLst>
            </p:cNvPr>
            <p:cNvSpPr>
              <a:spLocks noChangeShapeType="1"/>
            </p:cNvSpPr>
            <p:nvPr/>
          </p:nvSpPr>
          <p:spPr bwMode="auto">
            <a:xfrm flipV="1">
              <a:off x="3888" y="1536"/>
              <a:ext cx="0" cy="96"/>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13" name="Line 22">
              <a:extLst>
                <a:ext uri="{FF2B5EF4-FFF2-40B4-BE49-F238E27FC236}">
                  <a16:creationId xmlns:a16="http://schemas.microsoft.com/office/drawing/2014/main" id="{81776E15-D7EE-4D05-9DA8-3A8C0AB01C11}"/>
                </a:ext>
              </a:extLst>
            </p:cNvPr>
            <p:cNvSpPr>
              <a:spLocks noChangeShapeType="1"/>
            </p:cNvSpPr>
            <p:nvPr/>
          </p:nvSpPr>
          <p:spPr bwMode="auto">
            <a:xfrm flipV="1">
              <a:off x="4560" y="1536"/>
              <a:ext cx="0" cy="96"/>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14" name="Line 23">
              <a:extLst>
                <a:ext uri="{FF2B5EF4-FFF2-40B4-BE49-F238E27FC236}">
                  <a16:creationId xmlns:a16="http://schemas.microsoft.com/office/drawing/2014/main" id="{9C31C3FE-E4D2-4F07-9F4D-F5E0ABAE7167}"/>
                </a:ext>
              </a:extLst>
            </p:cNvPr>
            <p:cNvSpPr>
              <a:spLocks noChangeShapeType="1"/>
            </p:cNvSpPr>
            <p:nvPr/>
          </p:nvSpPr>
          <p:spPr bwMode="auto">
            <a:xfrm flipV="1">
              <a:off x="4224" y="1440"/>
              <a:ext cx="0" cy="96"/>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15" name="Line 24">
              <a:extLst>
                <a:ext uri="{FF2B5EF4-FFF2-40B4-BE49-F238E27FC236}">
                  <a16:creationId xmlns:a16="http://schemas.microsoft.com/office/drawing/2014/main" id="{F975A470-B7C3-4AA2-8300-22CC3983ABF5}"/>
                </a:ext>
              </a:extLst>
            </p:cNvPr>
            <p:cNvSpPr>
              <a:spLocks noChangeShapeType="1"/>
            </p:cNvSpPr>
            <p:nvPr/>
          </p:nvSpPr>
          <p:spPr bwMode="auto">
            <a:xfrm>
              <a:off x="3888" y="1536"/>
              <a:ext cx="672"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grpSp>
      <p:grpSp>
        <p:nvGrpSpPr>
          <p:cNvPr id="97302" name="Group 25">
            <a:extLst>
              <a:ext uri="{FF2B5EF4-FFF2-40B4-BE49-F238E27FC236}">
                <a16:creationId xmlns:a16="http://schemas.microsoft.com/office/drawing/2014/main" id="{F6C33B04-AA83-4542-8A53-1001388EC56B}"/>
              </a:ext>
            </a:extLst>
          </p:cNvPr>
          <p:cNvGrpSpPr>
            <a:grpSpLocks/>
          </p:cNvGrpSpPr>
          <p:nvPr/>
        </p:nvGrpSpPr>
        <p:grpSpPr bwMode="auto">
          <a:xfrm>
            <a:off x="2963863" y="4265613"/>
            <a:ext cx="4440237" cy="228600"/>
            <a:chOff x="240" y="2688"/>
            <a:chExt cx="3729" cy="192"/>
          </a:xfrm>
        </p:grpSpPr>
        <p:sp>
          <p:nvSpPr>
            <p:cNvPr id="93208" name="Line 26">
              <a:extLst>
                <a:ext uri="{FF2B5EF4-FFF2-40B4-BE49-F238E27FC236}">
                  <a16:creationId xmlns:a16="http://schemas.microsoft.com/office/drawing/2014/main" id="{39565F50-CD4B-4520-9E5C-3331C7D1F427}"/>
                </a:ext>
              </a:extLst>
            </p:cNvPr>
            <p:cNvSpPr>
              <a:spLocks noChangeShapeType="1"/>
            </p:cNvSpPr>
            <p:nvPr/>
          </p:nvSpPr>
          <p:spPr bwMode="auto">
            <a:xfrm>
              <a:off x="240" y="2688"/>
              <a:ext cx="0" cy="96"/>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09" name="Line 27">
              <a:extLst>
                <a:ext uri="{FF2B5EF4-FFF2-40B4-BE49-F238E27FC236}">
                  <a16:creationId xmlns:a16="http://schemas.microsoft.com/office/drawing/2014/main" id="{D40FD438-D0BE-4822-8B4D-ECC00DE63C62}"/>
                </a:ext>
              </a:extLst>
            </p:cNvPr>
            <p:cNvSpPr>
              <a:spLocks noChangeShapeType="1"/>
            </p:cNvSpPr>
            <p:nvPr/>
          </p:nvSpPr>
          <p:spPr bwMode="auto">
            <a:xfrm>
              <a:off x="3969" y="2688"/>
              <a:ext cx="0" cy="96"/>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10" name="Line 28">
              <a:extLst>
                <a:ext uri="{FF2B5EF4-FFF2-40B4-BE49-F238E27FC236}">
                  <a16:creationId xmlns:a16="http://schemas.microsoft.com/office/drawing/2014/main" id="{D436B482-590C-476C-AA1B-00445B0CAB9C}"/>
                </a:ext>
              </a:extLst>
            </p:cNvPr>
            <p:cNvSpPr>
              <a:spLocks noChangeShapeType="1"/>
            </p:cNvSpPr>
            <p:nvPr/>
          </p:nvSpPr>
          <p:spPr bwMode="auto">
            <a:xfrm>
              <a:off x="2208" y="2784"/>
              <a:ext cx="0" cy="96"/>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sp>
          <p:nvSpPr>
            <p:cNvPr id="93211" name="Line 29">
              <a:extLst>
                <a:ext uri="{FF2B5EF4-FFF2-40B4-BE49-F238E27FC236}">
                  <a16:creationId xmlns:a16="http://schemas.microsoft.com/office/drawing/2014/main" id="{F0515A81-A860-4AA3-BE03-4111EDE150DA}"/>
                </a:ext>
              </a:extLst>
            </p:cNvPr>
            <p:cNvSpPr>
              <a:spLocks noChangeShapeType="1"/>
            </p:cNvSpPr>
            <p:nvPr/>
          </p:nvSpPr>
          <p:spPr bwMode="auto">
            <a:xfrm flipV="1">
              <a:off x="240" y="2784"/>
              <a:ext cx="3729" cy="0"/>
            </a:xfrm>
            <a:prstGeom prst="line">
              <a:avLst/>
            </a:prstGeom>
            <a:noFill/>
            <a:ln w="12700">
              <a:solidFill>
                <a:schemeClr val="tx2"/>
              </a:solidFill>
              <a:round/>
              <a:headEnd type="none" w="sm" len="sm"/>
              <a:tailEnd type="none" w="sm" len="sm"/>
            </a:ln>
          </p:spPr>
          <p:txBody>
            <a:bodyPr wrap="none" anchor="ctr"/>
            <a:lstStyle/>
            <a:p>
              <a:pPr eaLnBrk="1" fontAlgn="auto" hangingPunct="1">
                <a:spcBef>
                  <a:spcPts val="0"/>
                </a:spcBef>
                <a:spcAft>
                  <a:spcPts val="0"/>
                </a:spcAft>
                <a:defRPr/>
              </a:pPr>
              <a:endParaRPr lang="en-US" sz="1350">
                <a:latin typeface="+mn-lt"/>
              </a:endParaRPr>
            </a:p>
          </p:txBody>
        </p:sp>
      </p:grpSp>
      <p:sp>
        <p:nvSpPr>
          <p:cNvPr id="93206" name="Text Box 30">
            <a:extLst>
              <a:ext uri="{FF2B5EF4-FFF2-40B4-BE49-F238E27FC236}">
                <a16:creationId xmlns:a16="http://schemas.microsoft.com/office/drawing/2014/main" id="{341786C2-8547-493E-9729-82551F0C1A59}"/>
              </a:ext>
            </a:extLst>
          </p:cNvPr>
          <p:cNvSpPr txBox="1">
            <a:spLocks noChangeArrowheads="1"/>
          </p:cNvSpPr>
          <p:nvPr/>
        </p:nvSpPr>
        <p:spPr bwMode="auto">
          <a:xfrm>
            <a:off x="3192463" y="4533900"/>
            <a:ext cx="4221162" cy="300038"/>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en-US" altLang="en-US" sz="1350" b="1"/>
              <a:t>URL that contained the link to the requested URL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5">
            <a:extLst>
              <a:ext uri="{FF2B5EF4-FFF2-40B4-BE49-F238E27FC236}">
                <a16:creationId xmlns:a16="http://schemas.microsoft.com/office/drawing/2014/main" id="{889ABBD2-5E8A-4204-820C-16D5A6873F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Rockwell" panose="02060603020205020403" pitchFamily="18" charset="0"/>
              </a:defRPr>
            </a:lvl1pPr>
            <a:lvl2pPr marL="557213" indent="-214313">
              <a:defRPr>
                <a:solidFill>
                  <a:schemeClr val="tx1"/>
                </a:solidFill>
                <a:latin typeface="Rockwell" panose="02060603020205020403" pitchFamily="18" charset="0"/>
              </a:defRPr>
            </a:lvl2pPr>
            <a:lvl3pPr marL="857250" indent="-171450">
              <a:defRPr>
                <a:solidFill>
                  <a:schemeClr val="tx1"/>
                </a:solidFill>
                <a:latin typeface="Rockwell" panose="02060603020205020403" pitchFamily="18" charset="0"/>
              </a:defRPr>
            </a:lvl3pPr>
            <a:lvl4pPr marL="1200150" indent="-171450">
              <a:defRPr>
                <a:solidFill>
                  <a:schemeClr val="tx1"/>
                </a:solidFill>
                <a:latin typeface="Rockwell" panose="02060603020205020403" pitchFamily="18" charset="0"/>
              </a:defRPr>
            </a:lvl4pPr>
            <a:lvl5pPr marL="1543050" indent="-171450">
              <a:defRPr>
                <a:solidFill>
                  <a:schemeClr val="tx1"/>
                </a:solidFill>
                <a:latin typeface="Rockwell" panose="02060603020205020403" pitchFamily="18" charset="0"/>
              </a:defRPr>
            </a:lvl5pPr>
            <a:lvl6pPr marL="2000250" indent="-171450" defTabSz="457200" fontAlgn="base">
              <a:spcBef>
                <a:spcPct val="0"/>
              </a:spcBef>
              <a:spcAft>
                <a:spcPct val="0"/>
              </a:spcAft>
              <a:defRPr>
                <a:solidFill>
                  <a:schemeClr val="tx1"/>
                </a:solidFill>
                <a:latin typeface="Rockwell" panose="02060603020205020403" pitchFamily="18" charset="0"/>
              </a:defRPr>
            </a:lvl6pPr>
            <a:lvl7pPr marL="2457450" indent="-171450" defTabSz="457200" fontAlgn="base">
              <a:spcBef>
                <a:spcPct val="0"/>
              </a:spcBef>
              <a:spcAft>
                <a:spcPct val="0"/>
              </a:spcAft>
              <a:defRPr>
                <a:solidFill>
                  <a:schemeClr val="tx1"/>
                </a:solidFill>
                <a:latin typeface="Rockwell" panose="02060603020205020403" pitchFamily="18" charset="0"/>
              </a:defRPr>
            </a:lvl7pPr>
            <a:lvl8pPr marL="2914650" indent="-171450" defTabSz="457200" fontAlgn="base">
              <a:spcBef>
                <a:spcPct val="0"/>
              </a:spcBef>
              <a:spcAft>
                <a:spcPct val="0"/>
              </a:spcAft>
              <a:defRPr>
                <a:solidFill>
                  <a:schemeClr val="tx1"/>
                </a:solidFill>
                <a:latin typeface="Rockwell" panose="02060603020205020403" pitchFamily="18" charset="0"/>
              </a:defRPr>
            </a:lvl8pPr>
            <a:lvl9pPr marL="3371850" indent="-17145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F5858888-1FA9-4B8A-A7C6-884B5CAD0494}" type="slidenum">
              <a:rPr lang="en-US" altLang="en-US" smtClean="0">
                <a:latin typeface="Arial" panose="020B0604020202020204" pitchFamily="34" charset="0"/>
                <a:cs typeface="Arial" panose="020B0604020202020204" pitchFamily="34" charset="0"/>
              </a:rPr>
              <a:pPr fontAlgn="base">
                <a:spcBef>
                  <a:spcPct val="0"/>
                </a:spcBef>
                <a:spcAft>
                  <a:spcPct val="0"/>
                </a:spcAft>
              </a:pPr>
              <a:t>37</a:t>
            </a:fld>
            <a:endParaRPr lang="en-US" altLang="en-US">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1878FAEA-2B53-4955-B87D-43E5093987A9}"/>
              </a:ext>
            </a:extLst>
          </p:cNvPr>
          <p:cNvSpPr txBox="1">
            <a:spLocks noChangeArrowheads="1"/>
          </p:cNvSpPr>
          <p:nvPr/>
        </p:nvSpPr>
        <p:spPr bwMode="auto">
          <a:xfrm>
            <a:off x="838200" y="273050"/>
            <a:ext cx="6999288" cy="755650"/>
          </a:xfrm>
          <a:prstGeom prst="rect">
            <a:avLst/>
          </a:prstGeom>
          <a:noFill/>
          <a:ln w="9525">
            <a:noFill/>
            <a:miter lim="800000"/>
            <a:headEnd/>
            <a:tailEnd/>
          </a:ln>
        </p:spPr>
        <p:txBody>
          <a:bodyPr anchor="ctr"/>
          <a:lstStyle/>
          <a:p>
            <a:pPr eaLnBrk="1" fontAlgn="auto" hangingPunct="1">
              <a:spcBef>
                <a:spcPts val="0"/>
              </a:spcBef>
              <a:spcAft>
                <a:spcPts val="0"/>
              </a:spcAft>
              <a:defRPr/>
            </a:pPr>
            <a:r>
              <a:rPr lang="en-US" sz="3300" kern="0" dirty="0">
                <a:solidFill>
                  <a:schemeClr val="tx2"/>
                </a:solidFill>
                <a:latin typeface="+mj-lt"/>
                <a:ea typeface="+mj-ea"/>
                <a:cs typeface="Times New Roman" pitchFamily="18" charset="0"/>
              </a:rPr>
              <a:t>HTTP Request Types</a:t>
            </a:r>
            <a:r>
              <a:rPr lang="en-US" sz="3300" kern="0" dirty="0">
                <a:solidFill>
                  <a:schemeClr val="tx2"/>
                </a:solidFill>
                <a:latin typeface="+mj-lt"/>
                <a:ea typeface="+mj-ea"/>
                <a:cs typeface="+mj-cs"/>
              </a:rPr>
              <a:t> </a:t>
            </a:r>
          </a:p>
        </p:txBody>
      </p:sp>
      <p:sp>
        <p:nvSpPr>
          <p:cNvPr id="5" name="Rectangle 3">
            <a:extLst>
              <a:ext uri="{FF2B5EF4-FFF2-40B4-BE49-F238E27FC236}">
                <a16:creationId xmlns:a16="http://schemas.microsoft.com/office/drawing/2014/main" id="{05B59278-975F-420F-8285-0604219779AE}"/>
              </a:ext>
            </a:extLst>
          </p:cNvPr>
          <p:cNvSpPr txBox="1">
            <a:spLocks noChangeArrowheads="1"/>
          </p:cNvSpPr>
          <p:nvPr/>
        </p:nvSpPr>
        <p:spPr>
          <a:xfrm>
            <a:off x="838200" y="1118616"/>
            <a:ext cx="10320528" cy="5358384"/>
          </a:xfrm>
          <a:prstGeom prst="rect">
            <a:avLst/>
          </a:prstGeom>
        </p:spPr>
        <p:txBody>
          <a:bodyPr/>
          <a:lstStyle/>
          <a:p>
            <a:pPr marL="457200" indent="-457200" eaLnBrk="1" fontAlgn="auto" hangingPunct="1">
              <a:lnSpc>
                <a:spcPct val="90000"/>
              </a:lnSpc>
              <a:spcBef>
                <a:spcPct val="20000"/>
              </a:spcBef>
              <a:spcAft>
                <a:spcPts val="0"/>
              </a:spcAft>
              <a:buFont typeface="Wingdings" panose="05000000000000000000" pitchFamily="2" charset="2"/>
              <a:buChar char="v"/>
              <a:defRPr/>
            </a:pPr>
            <a:r>
              <a:rPr lang="en-CA" sz="2800" b="1" kern="0" dirty="0">
                <a:latin typeface="+mn-lt"/>
              </a:rPr>
              <a:t>GET</a:t>
            </a:r>
            <a:endParaRPr lang="en-CA" sz="3600" b="1" kern="0" dirty="0">
              <a:latin typeface="+mn-lt"/>
            </a:endParaRPr>
          </a:p>
          <a:p>
            <a:pPr marL="800100" lvl="1" indent="-457200" eaLnBrk="1" fontAlgn="auto" hangingPunct="1">
              <a:lnSpc>
                <a:spcPct val="90000"/>
              </a:lnSpc>
              <a:spcBef>
                <a:spcPct val="20000"/>
              </a:spcBef>
              <a:spcAft>
                <a:spcPts val="0"/>
              </a:spcAft>
              <a:buFont typeface="Arial" panose="020B0604020202020204" pitchFamily="34" charset="0"/>
              <a:buChar char="•"/>
              <a:defRPr/>
            </a:pPr>
            <a:r>
              <a:rPr lang="en-US" sz="2800" kern="0" dirty="0">
                <a:latin typeface="+mn-lt"/>
              </a:rPr>
              <a:t>Appends form data directly to the end of the URL—visible to users (not suitable for sending passwords)</a:t>
            </a:r>
          </a:p>
          <a:p>
            <a:pPr marL="800100" lvl="1" indent="-457200" eaLnBrk="1" fontAlgn="auto" hangingPunct="1">
              <a:lnSpc>
                <a:spcPct val="90000"/>
              </a:lnSpc>
              <a:spcBef>
                <a:spcPct val="20000"/>
              </a:spcBef>
              <a:spcAft>
                <a:spcPts val="0"/>
              </a:spcAft>
              <a:buFont typeface="Arial" panose="020B0604020202020204" pitchFamily="34" charset="0"/>
              <a:buChar char="•"/>
              <a:defRPr/>
            </a:pPr>
            <a:r>
              <a:rPr lang="en-CA" sz="2800" kern="0" dirty="0">
                <a:latin typeface="+mn-lt"/>
              </a:rPr>
              <a:t>Limited to 1024 characters for the entire URL</a:t>
            </a:r>
          </a:p>
          <a:p>
            <a:pPr marL="800100" lvl="1" indent="-457200" eaLnBrk="1" fontAlgn="auto" hangingPunct="1">
              <a:lnSpc>
                <a:spcPct val="90000"/>
              </a:lnSpc>
              <a:spcBef>
                <a:spcPct val="20000"/>
              </a:spcBef>
              <a:spcAft>
                <a:spcPts val="0"/>
              </a:spcAft>
              <a:buFont typeface="Arial" panose="020B0604020202020204" pitchFamily="34" charset="0"/>
              <a:buChar char="•"/>
              <a:defRPr/>
            </a:pPr>
            <a:r>
              <a:rPr lang="en-CA" sz="2800" kern="0" dirty="0">
                <a:latin typeface="+mn-lt"/>
              </a:rPr>
              <a:t>Result page can be bookmarked and cached</a:t>
            </a:r>
            <a:endParaRPr lang="en-US" sz="2800" kern="0" dirty="0">
              <a:latin typeface="+mn-lt"/>
            </a:endParaRPr>
          </a:p>
          <a:p>
            <a:pPr marL="571500" indent="-571500" eaLnBrk="1" fontAlgn="auto" hangingPunct="1">
              <a:lnSpc>
                <a:spcPct val="90000"/>
              </a:lnSpc>
              <a:spcBef>
                <a:spcPct val="20000"/>
              </a:spcBef>
              <a:spcAft>
                <a:spcPts val="0"/>
              </a:spcAft>
              <a:buFont typeface="Wingdings" panose="05000000000000000000" pitchFamily="2" charset="2"/>
              <a:buChar char="v"/>
              <a:defRPr/>
            </a:pPr>
            <a:r>
              <a:rPr lang="en-CA" sz="2800" b="1" kern="0" dirty="0">
                <a:latin typeface="+mn-lt"/>
              </a:rPr>
              <a:t>POST</a:t>
            </a:r>
          </a:p>
          <a:p>
            <a:pPr marL="800100" lvl="1" indent="-457200" eaLnBrk="1" fontAlgn="auto" hangingPunct="1">
              <a:lnSpc>
                <a:spcPct val="90000"/>
              </a:lnSpc>
              <a:spcBef>
                <a:spcPct val="20000"/>
              </a:spcBef>
              <a:spcAft>
                <a:spcPts val="0"/>
              </a:spcAft>
              <a:buFont typeface="Arial" panose="020B0604020202020204" pitchFamily="34" charset="0"/>
              <a:buChar char="•"/>
              <a:defRPr/>
            </a:pPr>
            <a:r>
              <a:rPr lang="en-US" sz="2800" kern="0" dirty="0">
                <a:latin typeface="+mn-lt"/>
              </a:rPr>
              <a:t>Sends form data in the HTTP request—invisible to users</a:t>
            </a:r>
          </a:p>
          <a:p>
            <a:pPr marL="800100" lvl="1" indent="-457200" eaLnBrk="1" fontAlgn="auto" hangingPunct="1">
              <a:lnSpc>
                <a:spcPct val="90000"/>
              </a:lnSpc>
              <a:spcBef>
                <a:spcPct val="20000"/>
              </a:spcBef>
              <a:spcAft>
                <a:spcPts val="0"/>
              </a:spcAft>
              <a:buFont typeface="Arial" panose="020B0604020202020204" pitchFamily="34" charset="0"/>
              <a:buChar char="•"/>
              <a:defRPr/>
            </a:pPr>
            <a:r>
              <a:rPr lang="en-CA" sz="2800" kern="0" dirty="0">
                <a:latin typeface="+mn-lt"/>
              </a:rPr>
              <a:t>Virtually no limit (but check your specific configuration)</a:t>
            </a:r>
          </a:p>
          <a:p>
            <a:pPr marL="800100" lvl="1" indent="-457200" eaLnBrk="1" fontAlgn="auto" hangingPunct="1">
              <a:lnSpc>
                <a:spcPct val="90000"/>
              </a:lnSpc>
              <a:spcBef>
                <a:spcPct val="20000"/>
              </a:spcBef>
              <a:spcAft>
                <a:spcPts val="0"/>
              </a:spcAft>
              <a:buFont typeface="Arial" panose="020B0604020202020204" pitchFamily="34" charset="0"/>
              <a:buChar char="•"/>
              <a:defRPr/>
            </a:pPr>
            <a:r>
              <a:rPr lang="en-CA" sz="2800" kern="0" dirty="0">
                <a:latin typeface="+mn-lt"/>
              </a:rPr>
              <a:t>Results are not cacheable or bookmarkable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a:extLst>
              <a:ext uri="{FF2B5EF4-FFF2-40B4-BE49-F238E27FC236}">
                <a16:creationId xmlns:a16="http://schemas.microsoft.com/office/drawing/2014/main" id="{C59DE0DC-BF13-44F8-BED8-50A5107AB351}"/>
              </a:ext>
            </a:extLst>
          </p:cNvPr>
          <p:cNvSpPr>
            <a:spLocks noGrp="1" noChangeArrowheads="1"/>
          </p:cNvSpPr>
          <p:nvPr>
            <p:ph type="title"/>
          </p:nvPr>
        </p:nvSpPr>
        <p:spPr>
          <a:xfrm>
            <a:off x="1143000" y="349989"/>
            <a:ext cx="9253728" cy="892969"/>
          </a:xfrm>
        </p:spPr>
        <p:txBody>
          <a:bodyPr>
            <a:normAutofit fontScale="90000"/>
          </a:bodyPr>
          <a:lstStyle/>
          <a:p>
            <a:pPr fontAlgn="auto">
              <a:spcAft>
                <a:spcPts val="0"/>
              </a:spcAft>
              <a:defRPr/>
            </a:pPr>
            <a:r>
              <a:rPr lang="en-US" altLang="en-US" dirty="0"/>
              <a:t>HTTP response from a Web server</a:t>
            </a:r>
            <a:r>
              <a:rPr lang="en-US" altLang="en-US" sz="3000" dirty="0"/>
              <a:t> </a:t>
            </a:r>
          </a:p>
        </p:txBody>
      </p:sp>
      <p:sp>
        <p:nvSpPr>
          <p:cNvPr id="103427" name="Slide Number Placeholder 5">
            <a:extLst>
              <a:ext uri="{FF2B5EF4-FFF2-40B4-BE49-F238E27FC236}">
                <a16:creationId xmlns:a16="http://schemas.microsoft.com/office/drawing/2014/main" id="{3E780CBD-9D2E-4ABD-B984-0D0BE18235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Rockwell" panose="02060603020205020403" pitchFamily="18" charset="0"/>
              </a:defRPr>
            </a:lvl1pPr>
            <a:lvl2pPr marL="557213" indent="-214313">
              <a:defRPr>
                <a:solidFill>
                  <a:schemeClr val="tx1"/>
                </a:solidFill>
                <a:latin typeface="Rockwell" panose="02060603020205020403" pitchFamily="18" charset="0"/>
              </a:defRPr>
            </a:lvl2pPr>
            <a:lvl3pPr marL="857250" indent="-171450">
              <a:defRPr>
                <a:solidFill>
                  <a:schemeClr val="tx1"/>
                </a:solidFill>
                <a:latin typeface="Rockwell" panose="02060603020205020403" pitchFamily="18" charset="0"/>
              </a:defRPr>
            </a:lvl3pPr>
            <a:lvl4pPr marL="1200150" indent="-171450">
              <a:defRPr>
                <a:solidFill>
                  <a:schemeClr val="tx1"/>
                </a:solidFill>
                <a:latin typeface="Rockwell" panose="02060603020205020403" pitchFamily="18" charset="0"/>
              </a:defRPr>
            </a:lvl4pPr>
            <a:lvl5pPr marL="1543050" indent="-171450">
              <a:defRPr>
                <a:solidFill>
                  <a:schemeClr val="tx1"/>
                </a:solidFill>
                <a:latin typeface="Rockwell" panose="02060603020205020403" pitchFamily="18" charset="0"/>
              </a:defRPr>
            </a:lvl5pPr>
            <a:lvl6pPr marL="2000250" indent="-171450" defTabSz="457200" fontAlgn="base">
              <a:spcBef>
                <a:spcPct val="0"/>
              </a:spcBef>
              <a:spcAft>
                <a:spcPct val="0"/>
              </a:spcAft>
              <a:defRPr>
                <a:solidFill>
                  <a:schemeClr val="tx1"/>
                </a:solidFill>
                <a:latin typeface="Rockwell" panose="02060603020205020403" pitchFamily="18" charset="0"/>
              </a:defRPr>
            </a:lvl6pPr>
            <a:lvl7pPr marL="2457450" indent="-171450" defTabSz="457200" fontAlgn="base">
              <a:spcBef>
                <a:spcPct val="0"/>
              </a:spcBef>
              <a:spcAft>
                <a:spcPct val="0"/>
              </a:spcAft>
              <a:defRPr>
                <a:solidFill>
                  <a:schemeClr val="tx1"/>
                </a:solidFill>
                <a:latin typeface="Rockwell" panose="02060603020205020403" pitchFamily="18" charset="0"/>
              </a:defRPr>
            </a:lvl7pPr>
            <a:lvl8pPr marL="2914650" indent="-171450" defTabSz="457200" fontAlgn="base">
              <a:spcBef>
                <a:spcPct val="0"/>
              </a:spcBef>
              <a:spcAft>
                <a:spcPct val="0"/>
              </a:spcAft>
              <a:defRPr>
                <a:solidFill>
                  <a:schemeClr val="tx1"/>
                </a:solidFill>
                <a:latin typeface="Rockwell" panose="02060603020205020403" pitchFamily="18" charset="0"/>
              </a:defRPr>
            </a:lvl8pPr>
            <a:lvl9pPr marL="3371850" indent="-17145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CC76F19D-DA61-4CD9-89F4-A29C46C907B1}" type="slidenum">
              <a:rPr lang="en-US" altLang="en-US" smtClean="0">
                <a:latin typeface="Arial" panose="020B0604020202020204" pitchFamily="34" charset="0"/>
                <a:cs typeface="Arial" panose="020B0604020202020204" pitchFamily="34" charset="0"/>
              </a:rPr>
              <a:pPr fontAlgn="base">
                <a:spcBef>
                  <a:spcPct val="0"/>
                </a:spcBef>
                <a:spcAft>
                  <a:spcPct val="0"/>
                </a:spcAft>
              </a:pPr>
              <a:t>38</a:t>
            </a:fld>
            <a:endParaRPr lang="en-US" altLang="en-US" dirty="0">
              <a:latin typeface="Arial" panose="020B0604020202020204" pitchFamily="34" charset="0"/>
              <a:cs typeface="Arial" panose="020B0604020202020204" pitchFamily="34" charset="0"/>
            </a:endParaRPr>
          </a:p>
        </p:txBody>
      </p:sp>
      <p:sp>
        <p:nvSpPr>
          <p:cNvPr id="4" name="Text Box 2">
            <a:extLst>
              <a:ext uri="{FF2B5EF4-FFF2-40B4-BE49-F238E27FC236}">
                <a16:creationId xmlns:a16="http://schemas.microsoft.com/office/drawing/2014/main" id="{3533703C-1CE1-4665-8172-BA78EFDB69AA}"/>
              </a:ext>
            </a:extLst>
          </p:cNvPr>
          <p:cNvSpPr txBox="1">
            <a:spLocks noChangeArrowheads="1"/>
          </p:cNvSpPr>
          <p:nvPr/>
        </p:nvSpPr>
        <p:spPr>
          <a:xfrm>
            <a:off x="685800" y="1676399"/>
            <a:ext cx="10625328" cy="4831611"/>
          </a:xfrm>
          <a:prstGeom prst="rect">
            <a:avLst/>
          </a:prstGeom>
          <a:noFill/>
          <a:ln/>
        </p:spPr>
        <p:txBody>
          <a:bodyPr/>
          <a:lstStyle/>
          <a:p>
            <a:pPr marL="257175" indent="-257175" eaLnBrk="1" fontAlgn="auto" hangingPunct="1">
              <a:spcBef>
                <a:spcPts val="0"/>
              </a:spcBef>
              <a:spcAft>
                <a:spcPts val="0"/>
              </a:spcAft>
              <a:defRPr/>
            </a:pPr>
            <a:r>
              <a:rPr lang="en-US" sz="2000" kern="0" dirty="0">
                <a:solidFill>
                  <a:schemeClr val="accent2"/>
                </a:solidFill>
                <a:latin typeface="+mn-lt"/>
              </a:rPr>
              <a:t>HTTP/1.1      200           OK</a:t>
            </a:r>
            <a:r>
              <a:rPr lang="en-US" sz="2000" kern="0" dirty="0">
                <a:latin typeface="+mn-lt"/>
              </a:rPr>
              <a:t> </a:t>
            </a:r>
            <a:r>
              <a:rPr lang="en-US" sz="2000" b="1" kern="0" dirty="0">
                <a:latin typeface="+mn-lt"/>
              </a:rPr>
              <a:t>]- Response Status</a:t>
            </a:r>
            <a:endParaRPr lang="en-US" sz="2000" kern="0" dirty="0">
              <a:latin typeface="+mn-lt"/>
            </a:endParaRPr>
          </a:p>
          <a:p>
            <a:pPr marL="257175" indent="-257175" eaLnBrk="1" fontAlgn="auto" hangingPunct="1">
              <a:spcBef>
                <a:spcPts val="0"/>
              </a:spcBef>
              <a:spcAft>
                <a:spcPts val="0"/>
              </a:spcAft>
              <a:defRPr/>
            </a:pPr>
            <a:r>
              <a:rPr lang="en-US" sz="2000" kern="0" dirty="0">
                <a:solidFill>
                  <a:schemeClr val="accent2"/>
                </a:solidFill>
                <a:latin typeface="+mn-lt"/>
              </a:rPr>
              <a:t>Date: Mon 06 Aug 2001 17:35:46 GMT</a:t>
            </a:r>
            <a:r>
              <a:rPr lang="en-US" sz="2000" kern="0" dirty="0">
                <a:latin typeface="+mn-lt"/>
              </a:rPr>
              <a:t> </a:t>
            </a:r>
            <a:r>
              <a:rPr lang="en-US" sz="2000" b="1" kern="0" dirty="0">
                <a:latin typeface="+mn-lt"/>
              </a:rPr>
              <a:t>]- Date</a:t>
            </a:r>
          </a:p>
          <a:p>
            <a:pPr marL="257175" indent="-257175" eaLnBrk="1" fontAlgn="auto" hangingPunct="1">
              <a:spcBef>
                <a:spcPts val="0"/>
              </a:spcBef>
              <a:spcAft>
                <a:spcPts val="0"/>
              </a:spcAft>
              <a:defRPr/>
            </a:pPr>
            <a:r>
              <a:rPr lang="en-US" sz="2000" kern="0" dirty="0">
                <a:solidFill>
                  <a:schemeClr val="accent2"/>
                </a:solidFill>
                <a:latin typeface="+mn-lt"/>
              </a:rPr>
              <a:t>Server: NCSA/1.3</a:t>
            </a:r>
            <a:r>
              <a:rPr lang="en-US" sz="2000" kern="0" dirty="0">
                <a:latin typeface="+mn-lt"/>
              </a:rPr>
              <a:t> </a:t>
            </a:r>
            <a:r>
              <a:rPr lang="en-US" sz="2000" b="1" kern="0" dirty="0">
                <a:latin typeface="+mn-lt"/>
              </a:rPr>
              <a:t>]- Web server</a:t>
            </a:r>
          </a:p>
          <a:p>
            <a:pPr marL="257175" indent="-257175" eaLnBrk="1" fontAlgn="auto" hangingPunct="1">
              <a:spcBef>
                <a:spcPts val="0"/>
              </a:spcBef>
              <a:spcAft>
                <a:spcPts val="0"/>
              </a:spcAft>
              <a:defRPr/>
            </a:pPr>
            <a:r>
              <a:rPr lang="en-US" sz="2000" kern="0" dirty="0">
                <a:solidFill>
                  <a:schemeClr val="accent2"/>
                </a:solidFill>
                <a:latin typeface="+mn-lt"/>
              </a:rPr>
              <a:t>Location: http:// www.kelley.indiana.edu/adennis/home.htm</a:t>
            </a:r>
            <a:r>
              <a:rPr lang="en-US" sz="2000" kern="0" dirty="0">
                <a:latin typeface="+mn-lt"/>
              </a:rPr>
              <a:t> </a:t>
            </a:r>
            <a:r>
              <a:rPr lang="en-US" sz="2000" b="1" kern="0" dirty="0">
                <a:latin typeface="+mn-lt"/>
              </a:rPr>
              <a:t>]- URL</a:t>
            </a:r>
          </a:p>
          <a:p>
            <a:pPr marL="257175" indent="-257175" eaLnBrk="1" fontAlgn="auto" hangingPunct="1">
              <a:spcBef>
                <a:spcPts val="0"/>
              </a:spcBef>
              <a:spcAft>
                <a:spcPts val="0"/>
              </a:spcAft>
              <a:defRPr/>
            </a:pPr>
            <a:r>
              <a:rPr lang="en-US" sz="2000" kern="0" dirty="0">
                <a:solidFill>
                  <a:schemeClr val="accent2"/>
                </a:solidFill>
                <a:latin typeface="+mn-lt"/>
              </a:rPr>
              <a:t>Content-type: text/html</a:t>
            </a:r>
            <a:r>
              <a:rPr lang="en-US" sz="2000" kern="0" dirty="0">
                <a:latin typeface="+mn-lt"/>
              </a:rPr>
              <a:t>  </a:t>
            </a:r>
            <a:r>
              <a:rPr lang="en-US" sz="2000" b="1" kern="0" dirty="0">
                <a:latin typeface="+mn-lt"/>
              </a:rPr>
              <a:t>]-  Type of file</a:t>
            </a:r>
          </a:p>
          <a:p>
            <a:pPr marL="257175" indent="-257175" eaLnBrk="1" fontAlgn="auto" hangingPunct="1">
              <a:spcBef>
                <a:spcPts val="0"/>
              </a:spcBef>
              <a:spcAft>
                <a:spcPts val="0"/>
              </a:spcAft>
              <a:defRPr/>
            </a:pPr>
            <a:r>
              <a:rPr lang="en-US" sz="2000" kern="0" dirty="0">
                <a:solidFill>
                  <a:schemeClr val="accent2"/>
                </a:solidFill>
                <a:latin typeface="+mn-lt"/>
              </a:rPr>
              <a:t>&lt;html&gt;</a:t>
            </a:r>
          </a:p>
          <a:p>
            <a:pPr marL="257175" indent="-257175" eaLnBrk="1" fontAlgn="auto" hangingPunct="1">
              <a:spcBef>
                <a:spcPts val="0"/>
              </a:spcBef>
              <a:spcAft>
                <a:spcPts val="0"/>
              </a:spcAft>
              <a:defRPr/>
            </a:pPr>
            <a:r>
              <a:rPr lang="en-US" sz="2000" kern="0" dirty="0">
                <a:solidFill>
                  <a:schemeClr val="accent2"/>
                </a:solidFill>
                <a:latin typeface="+mn-lt"/>
              </a:rPr>
              <a:t>&lt;head&gt;</a:t>
            </a:r>
          </a:p>
          <a:p>
            <a:pPr marL="257175" indent="-257175" eaLnBrk="1" fontAlgn="auto" hangingPunct="1">
              <a:spcBef>
                <a:spcPts val="0"/>
              </a:spcBef>
              <a:spcAft>
                <a:spcPts val="0"/>
              </a:spcAft>
              <a:defRPr/>
            </a:pPr>
            <a:r>
              <a:rPr lang="en-US" sz="2000" kern="0" dirty="0">
                <a:solidFill>
                  <a:schemeClr val="accent2"/>
                </a:solidFill>
                <a:latin typeface="+mn-lt"/>
              </a:rPr>
              <a:t>&lt;title&gt;Allen R. Dennis&lt;/title&gt;</a:t>
            </a:r>
          </a:p>
          <a:p>
            <a:pPr marL="257175" indent="-257175" eaLnBrk="1" fontAlgn="auto" hangingPunct="1">
              <a:spcBef>
                <a:spcPts val="0"/>
              </a:spcBef>
              <a:spcAft>
                <a:spcPts val="0"/>
              </a:spcAft>
              <a:defRPr/>
            </a:pPr>
            <a:r>
              <a:rPr lang="en-US" sz="2000" kern="0" dirty="0">
                <a:solidFill>
                  <a:schemeClr val="accent2"/>
                </a:solidFill>
                <a:latin typeface="+mn-lt"/>
              </a:rPr>
              <a:t>&lt;/head&gt;</a:t>
            </a:r>
          </a:p>
          <a:p>
            <a:pPr marL="257175" indent="-257175" eaLnBrk="1" fontAlgn="auto" hangingPunct="1">
              <a:spcBef>
                <a:spcPts val="0"/>
              </a:spcBef>
              <a:spcAft>
                <a:spcPts val="0"/>
              </a:spcAft>
              <a:defRPr/>
            </a:pPr>
            <a:r>
              <a:rPr lang="en-US" sz="2000" kern="0" dirty="0">
                <a:solidFill>
                  <a:schemeClr val="accent2"/>
                </a:solidFill>
                <a:latin typeface="+mn-lt"/>
              </a:rPr>
              <a:t>&lt;body&gt;</a:t>
            </a:r>
          </a:p>
          <a:p>
            <a:pPr marL="257175" indent="-257175" eaLnBrk="1" fontAlgn="auto" hangingPunct="1">
              <a:spcBef>
                <a:spcPts val="0"/>
              </a:spcBef>
              <a:spcAft>
                <a:spcPts val="0"/>
              </a:spcAft>
              <a:defRPr/>
            </a:pPr>
            <a:r>
              <a:rPr lang="en-US" sz="2000" kern="0" dirty="0">
                <a:solidFill>
                  <a:srgbClr val="FF0000"/>
                </a:solidFill>
                <a:latin typeface="+mn-lt"/>
              </a:rPr>
              <a:t>&lt;H2&gt; </a:t>
            </a:r>
            <a:r>
              <a:rPr lang="en-US" sz="2000" kern="0" dirty="0">
                <a:solidFill>
                  <a:srgbClr val="FF0000"/>
                </a:solidFill>
              </a:rPr>
              <a:t>well came  to  internet programming </a:t>
            </a:r>
            <a:r>
              <a:rPr lang="en-US" sz="2000" kern="0" dirty="0">
                <a:solidFill>
                  <a:srgbClr val="FF0000"/>
                </a:solidFill>
                <a:latin typeface="+mn-lt"/>
              </a:rPr>
              <a:t>&lt;/H2&gt;</a:t>
            </a:r>
          </a:p>
          <a:p>
            <a:pPr marL="257175" indent="-257175" eaLnBrk="1" fontAlgn="auto" hangingPunct="1">
              <a:spcBef>
                <a:spcPts val="0"/>
              </a:spcBef>
              <a:spcAft>
                <a:spcPts val="0"/>
              </a:spcAft>
              <a:defRPr/>
            </a:pPr>
            <a:r>
              <a:rPr lang="en-US" sz="2000" kern="0" dirty="0">
                <a:solidFill>
                  <a:srgbClr val="FF0000"/>
                </a:solidFill>
                <a:latin typeface="+mn-lt"/>
              </a:rPr>
              <a:t>&lt;P&gt;Welcome to the home page of Allen R. Dennis&lt;/P&gt;</a:t>
            </a:r>
          </a:p>
          <a:p>
            <a:pPr marL="257175" indent="-257175" eaLnBrk="1" fontAlgn="auto" hangingPunct="1">
              <a:spcBef>
                <a:spcPts val="0"/>
              </a:spcBef>
              <a:spcAft>
                <a:spcPts val="0"/>
              </a:spcAft>
              <a:defRPr/>
            </a:pPr>
            <a:r>
              <a:rPr lang="en-US" sz="2000" kern="0" dirty="0">
                <a:solidFill>
                  <a:schemeClr val="accent2"/>
                </a:solidFill>
                <a:latin typeface="+mn-lt"/>
              </a:rPr>
              <a:t>&lt;/body&gt;</a:t>
            </a:r>
          </a:p>
          <a:p>
            <a:pPr marL="257175" indent="-257175" eaLnBrk="1" fontAlgn="auto" hangingPunct="1">
              <a:spcBef>
                <a:spcPts val="0"/>
              </a:spcBef>
              <a:spcAft>
                <a:spcPts val="0"/>
              </a:spcAft>
              <a:defRPr/>
            </a:pPr>
            <a:r>
              <a:rPr lang="en-US" sz="2000" kern="0" dirty="0">
                <a:solidFill>
                  <a:schemeClr val="accent2"/>
                </a:solidFill>
                <a:latin typeface="+mn-lt"/>
              </a:rPr>
              <a:t>&lt;/html&gt;</a:t>
            </a:r>
          </a:p>
        </p:txBody>
      </p:sp>
      <p:sp>
        <p:nvSpPr>
          <p:cNvPr id="103430" name="AutoShape 5">
            <a:extLst>
              <a:ext uri="{FF2B5EF4-FFF2-40B4-BE49-F238E27FC236}">
                <a16:creationId xmlns:a16="http://schemas.microsoft.com/office/drawing/2014/main" id="{33B4AE8B-58A1-482F-8BDC-BA1833C2EE67}"/>
              </a:ext>
            </a:extLst>
          </p:cNvPr>
          <p:cNvSpPr>
            <a:spLocks/>
          </p:cNvSpPr>
          <p:nvPr/>
        </p:nvSpPr>
        <p:spPr bwMode="auto">
          <a:xfrm>
            <a:off x="8256588" y="2403475"/>
            <a:ext cx="53975" cy="1025525"/>
          </a:xfrm>
          <a:prstGeom prst="rightBracket">
            <a:avLst>
              <a:gd name="adj" fmla="val 158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algn="ctr" eaLnBrk="1" hangingPunct="1"/>
            <a:endParaRPr lang="en-CA" altLang="en-US" b="1">
              <a:solidFill>
                <a:schemeClr val="accent2"/>
              </a:solidFill>
              <a:latin typeface="Times New Roman" panose="02020603050405020304" pitchFamily="18" charset="0"/>
              <a:cs typeface="Arial" panose="020B0604020202020204" pitchFamily="34" charset="0"/>
            </a:endParaRPr>
          </a:p>
        </p:txBody>
      </p:sp>
      <p:sp>
        <p:nvSpPr>
          <p:cNvPr id="99335" name="Line 6">
            <a:extLst>
              <a:ext uri="{FF2B5EF4-FFF2-40B4-BE49-F238E27FC236}">
                <a16:creationId xmlns:a16="http://schemas.microsoft.com/office/drawing/2014/main" id="{40023C48-5A09-4882-A16F-F2A59DB20EA8}"/>
              </a:ext>
            </a:extLst>
          </p:cNvPr>
          <p:cNvSpPr>
            <a:spLocks noChangeShapeType="1"/>
          </p:cNvSpPr>
          <p:nvPr/>
        </p:nvSpPr>
        <p:spPr bwMode="auto">
          <a:xfrm flipH="1">
            <a:off x="8310563" y="2887663"/>
            <a:ext cx="161925" cy="0"/>
          </a:xfrm>
          <a:prstGeom prst="line">
            <a:avLst/>
          </a:prstGeom>
          <a:noFill/>
          <a:ln w="9525">
            <a:solidFill>
              <a:schemeClr val="tx1"/>
            </a:solidFill>
            <a:round/>
            <a:headEnd/>
            <a:tailEnd/>
          </a:ln>
        </p:spPr>
        <p:txBody>
          <a:bodyPr/>
          <a:lstStyle/>
          <a:p>
            <a:pPr eaLnBrk="1" fontAlgn="auto" hangingPunct="1">
              <a:spcBef>
                <a:spcPts val="0"/>
              </a:spcBef>
              <a:spcAft>
                <a:spcPts val="0"/>
              </a:spcAft>
              <a:defRPr/>
            </a:pPr>
            <a:endParaRPr lang="en-US" sz="1350">
              <a:latin typeface="+mn-lt"/>
            </a:endParaRPr>
          </a:p>
        </p:txBody>
      </p:sp>
      <p:sp>
        <p:nvSpPr>
          <p:cNvPr id="103432" name="Rectangle 7">
            <a:extLst>
              <a:ext uri="{FF2B5EF4-FFF2-40B4-BE49-F238E27FC236}">
                <a16:creationId xmlns:a16="http://schemas.microsoft.com/office/drawing/2014/main" id="{437A2F81-27E5-4D53-AB4F-0EBABF0BB8CD}"/>
              </a:ext>
            </a:extLst>
          </p:cNvPr>
          <p:cNvSpPr>
            <a:spLocks noChangeArrowheads="1"/>
          </p:cNvSpPr>
          <p:nvPr/>
        </p:nvSpPr>
        <p:spPr bwMode="auto">
          <a:xfrm>
            <a:off x="8472488" y="2686050"/>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r>
              <a:rPr lang="en-US" altLang="en-US" sz="1200" b="1" dirty="0">
                <a:latin typeface="Arial" panose="020B0604020202020204" pitchFamily="34" charset="0"/>
                <a:cs typeface="Arial" panose="020B0604020202020204" pitchFamily="34" charset="0"/>
              </a:rPr>
              <a:t>Response Header</a:t>
            </a:r>
          </a:p>
        </p:txBody>
      </p:sp>
      <p:sp>
        <p:nvSpPr>
          <p:cNvPr id="103433" name="Rectangle 8">
            <a:extLst>
              <a:ext uri="{FF2B5EF4-FFF2-40B4-BE49-F238E27FC236}">
                <a16:creationId xmlns:a16="http://schemas.microsoft.com/office/drawing/2014/main" id="{49BED91F-338B-408A-9B2E-11329FFD1EF8}"/>
              </a:ext>
            </a:extLst>
          </p:cNvPr>
          <p:cNvSpPr>
            <a:spLocks noChangeArrowheads="1"/>
          </p:cNvSpPr>
          <p:nvPr/>
        </p:nvSpPr>
        <p:spPr bwMode="auto">
          <a:xfrm>
            <a:off x="8439150" y="4171950"/>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r>
              <a:rPr lang="en-US" altLang="en-US" sz="1200" b="1">
                <a:latin typeface="Arial" panose="020B0604020202020204" pitchFamily="34" charset="0"/>
                <a:cs typeface="Arial" panose="020B0604020202020204" pitchFamily="34" charset="0"/>
              </a:rPr>
              <a:t>Response </a:t>
            </a:r>
          </a:p>
          <a:p>
            <a:pPr eaLnBrk="1" hangingPunct="1"/>
            <a:r>
              <a:rPr lang="en-US" altLang="en-US" sz="1200" b="1">
                <a:latin typeface="Arial" panose="020B0604020202020204" pitchFamily="34" charset="0"/>
                <a:cs typeface="Arial" panose="020B0604020202020204" pitchFamily="34" charset="0"/>
              </a:rPr>
              <a:t>Body</a:t>
            </a:r>
          </a:p>
        </p:txBody>
      </p:sp>
      <p:sp>
        <p:nvSpPr>
          <p:cNvPr id="99338" name="AutoShape 9">
            <a:extLst>
              <a:ext uri="{FF2B5EF4-FFF2-40B4-BE49-F238E27FC236}">
                <a16:creationId xmlns:a16="http://schemas.microsoft.com/office/drawing/2014/main" id="{9AE021E3-F4E6-478B-858C-2366C2CD404E}"/>
              </a:ext>
            </a:extLst>
          </p:cNvPr>
          <p:cNvSpPr>
            <a:spLocks/>
          </p:cNvSpPr>
          <p:nvPr/>
        </p:nvSpPr>
        <p:spPr bwMode="auto">
          <a:xfrm>
            <a:off x="7123113" y="3486150"/>
            <a:ext cx="161925" cy="1885950"/>
          </a:xfrm>
          <a:prstGeom prst="rightBracket">
            <a:avLst>
              <a:gd name="adj" fmla="val 97059"/>
            </a:avLst>
          </a:prstGeom>
          <a:no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sz="1350"/>
          </a:p>
        </p:txBody>
      </p:sp>
      <p:sp>
        <p:nvSpPr>
          <p:cNvPr id="99339" name="Line 10">
            <a:extLst>
              <a:ext uri="{FF2B5EF4-FFF2-40B4-BE49-F238E27FC236}">
                <a16:creationId xmlns:a16="http://schemas.microsoft.com/office/drawing/2014/main" id="{7A094A01-27CE-43C1-8AC6-F22145F0A61F}"/>
              </a:ext>
            </a:extLst>
          </p:cNvPr>
          <p:cNvSpPr>
            <a:spLocks noChangeShapeType="1"/>
          </p:cNvSpPr>
          <p:nvPr/>
        </p:nvSpPr>
        <p:spPr bwMode="auto">
          <a:xfrm flipV="1">
            <a:off x="7285038" y="4343400"/>
            <a:ext cx="1154112" cy="3175"/>
          </a:xfrm>
          <a:prstGeom prst="line">
            <a:avLst/>
          </a:prstGeom>
          <a:noFill/>
          <a:ln w="9525">
            <a:solidFill>
              <a:schemeClr val="tx1"/>
            </a:solidFill>
            <a:round/>
            <a:headEnd/>
            <a:tailEnd/>
          </a:ln>
        </p:spPr>
        <p:txBody>
          <a:bodyPr/>
          <a:lstStyle/>
          <a:p>
            <a:pPr eaLnBrk="1" fontAlgn="auto" hangingPunct="1">
              <a:spcBef>
                <a:spcPts val="0"/>
              </a:spcBef>
              <a:spcAft>
                <a:spcPts val="0"/>
              </a:spcAft>
              <a:defRPr/>
            </a:pPr>
            <a:endParaRPr lang="en-US" sz="1350">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D8DA500-A2DA-4875-9236-FE458C95BE4D}"/>
              </a:ext>
            </a:extLst>
          </p:cNvPr>
          <p:cNvSpPr>
            <a:spLocks noGrp="1" noChangeArrowheads="1"/>
          </p:cNvSpPr>
          <p:nvPr>
            <p:ph type="title"/>
          </p:nvPr>
        </p:nvSpPr>
        <p:spPr>
          <a:xfrm>
            <a:off x="1828800" y="228600"/>
            <a:ext cx="8966309" cy="796528"/>
          </a:xfrm>
        </p:spPr>
        <p:txBody>
          <a:bodyPr>
            <a:normAutofit/>
          </a:bodyPr>
          <a:lstStyle/>
          <a:p>
            <a:pPr fontAlgn="auto">
              <a:spcAft>
                <a:spcPts val="0"/>
              </a:spcAft>
              <a:buClr>
                <a:srgbClr val="FF0033"/>
              </a:buCl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dirty="0"/>
              <a:t>HTTP Response header fields</a:t>
            </a:r>
          </a:p>
        </p:txBody>
      </p:sp>
      <p:sp>
        <p:nvSpPr>
          <p:cNvPr id="2" name="Slide Number Placeholder 1">
            <a:extLst>
              <a:ext uri="{FF2B5EF4-FFF2-40B4-BE49-F238E27FC236}">
                <a16:creationId xmlns:a16="http://schemas.microsoft.com/office/drawing/2014/main" id="{39CDD4E3-ED64-4351-A8E4-D27EDA79A2AE}"/>
              </a:ext>
            </a:extLst>
          </p:cNvPr>
          <p:cNvSpPr>
            <a:spLocks noGrp="1"/>
          </p:cNvSpPr>
          <p:nvPr>
            <p:ph type="sldNum" sz="quarter" idx="12"/>
          </p:nvPr>
        </p:nvSpPr>
        <p:spPr/>
        <p:txBody>
          <a:bodyPr/>
          <a:lstStyle/>
          <a:p>
            <a:pPr>
              <a:defRPr/>
            </a:pPr>
            <a:fld id="{7F0547DB-4076-4D26-8FA8-D7E8C682BDFE}" type="slidenum">
              <a:rPr lang="fi-FI" altLang="en-US" smtClean="0"/>
              <a:pPr>
                <a:defRPr/>
              </a:pPr>
              <a:t>39</a:t>
            </a:fld>
            <a:endParaRPr lang="fi-FI" altLang="en-US"/>
          </a:p>
        </p:txBody>
      </p:sp>
      <p:sp>
        <p:nvSpPr>
          <p:cNvPr id="70659" name="Rectangle 3">
            <a:extLst>
              <a:ext uri="{FF2B5EF4-FFF2-40B4-BE49-F238E27FC236}">
                <a16:creationId xmlns:a16="http://schemas.microsoft.com/office/drawing/2014/main" id="{17A44276-FC76-4BA6-AA21-9AF34D9642A9}"/>
              </a:ext>
            </a:extLst>
          </p:cNvPr>
          <p:cNvSpPr>
            <a:spLocks noGrp="1" noChangeArrowheads="1"/>
          </p:cNvSpPr>
          <p:nvPr>
            <p:ph type="subTitle" idx="4294967295"/>
          </p:nvPr>
        </p:nvSpPr>
        <p:spPr>
          <a:xfrm>
            <a:off x="304800" y="1066800"/>
            <a:ext cx="11430000" cy="2133600"/>
          </a:xfrm>
        </p:spPr>
        <p:txBody>
          <a:bodyPr rtlCol="0" anchor="ctr">
            <a:noAutofit/>
          </a:bodyPr>
          <a:lstStyle/>
          <a:p>
            <a:pPr marL="490061" indent="-457200" algn="just">
              <a:lnSpc>
                <a:spcPct val="100000"/>
              </a:lnSpc>
              <a:spcBef>
                <a:spcPts val="404"/>
              </a:spcBef>
              <a:buClr>
                <a:srgbClr val="000000"/>
              </a:buClr>
              <a:buFont typeface="Arial" panose="020B0604020202020204" pitchFamily="34" charset="0"/>
              <a:buChar char="•"/>
              <a:tabLst>
                <a:tab pos="496491" algn="l"/>
                <a:tab pos="803672" algn="l"/>
                <a:tab pos="1112044" algn="l"/>
                <a:tab pos="1419225" algn="l"/>
                <a:tab pos="1727597" algn="l"/>
                <a:tab pos="2034779" algn="l"/>
                <a:tab pos="2341960" algn="l"/>
                <a:tab pos="2649141" algn="l"/>
                <a:tab pos="2957513" algn="l"/>
                <a:tab pos="3264694" algn="l"/>
                <a:tab pos="3573066" algn="l"/>
                <a:tab pos="3880247" algn="l"/>
                <a:tab pos="4188619" algn="l"/>
                <a:tab pos="4495800" algn="l"/>
                <a:tab pos="4804172" algn="l"/>
                <a:tab pos="5111354" algn="l"/>
                <a:tab pos="5419725" algn="l"/>
                <a:tab pos="5726906" algn="l"/>
                <a:tab pos="6034088" algn="l"/>
                <a:tab pos="6341269" algn="l"/>
                <a:tab pos="6649641" algn="l"/>
              </a:tabLst>
              <a:defRPr/>
            </a:pPr>
            <a:r>
              <a:rPr lang="en-US" altLang="en-US" sz="2600" dirty="0"/>
              <a:t>The first line of the server’s response contains a status code 200 	OK</a:t>
            </a:r>
          </a:p>
          <a:p>
            <a:pPr marL="307181" lvl="1" indent="0" algn="just" fontAlgn="auto">
              <a:lnSpc>
                <a:spcPct val="100000"/>
              </a:lnSpc>
              <a:spcBef>
                <a:spcPts val="404"/>
              </a:spcBef>
              <a:buClr>
                <a:srgbClr val="000000"/>
              </a:buClr>
              <a:buNone/>
              <a:tabLst>
                <a:tab pos="496491" algn="l"/>
                <a:tab pos="803672" algn="l"/>
                <a:tab pos="1112044" algn="l"/>
                <a:tab pos="1419225" algn="l"/>
                <a:tab pos="1727597" algn="l"/>
                <a:tab pos="2034779" algn="l"/>
                <a:tab pos="2341960" algn="l"/>
                <a:tab pos="2649141" algn="l"/>
                <a:tab pos="2957513" algn="l"/>
                <a:tab pos="3264694" algn="l"/>
                <a:tab pos="3573066" algn="l"/>
                <a:tab pos="3880247" algn="l"/>
                <a:tab pos="4188619" algn="l"/>
                <a:tab pos="4495800" algn="l"/>
                <a:tab pos="4804172" algn="l"/>
                <a:tab pos="5111354" algn="l"/>
                <a:tab pos="5419725" algn="l"/>
                <a:tab pos="5726906" algn="l"/>
                <a:tab pos="6034088" algn="l"/>
                <a:tab pos="6341269" algn="l"/>
                <a:tab pos="6649641" algn="l"/>
              </a:tabLst>
              <a:defRPr/>
            </a:pPr>
            <a:endParaRPr lang="en-US" altLang="en-US" sz="3200" dirty="0"/>
          </a:p>
          <a:p>
            <a:pPr marL="764381" lvl="1" indent="-457200" algn="just" fontAlgn="auto">
              <a:lnSpc>
                <a:spcPct val="100000"/>
              </a:lnSpc>
              <a:spcBef>
                <a:spcPts val="404"/>
              </a:spcBef>
              <a:buClr>
                <a:srgbClr val="000000"/>
              </a:buClr>
              <a:buFont typeface="Wingdings" panose="05000000000000000000" pitchFamily="2" charset="2"/>
              <a:buChar char="v"/>
              <a:tabLst>
                <a:tab pos="496491" algn="l"/>
                <a:tab pos="803672" algn="l"/>
                <a:tab pos="1112044" algn="l"/>
                <a:tab pos="1419225" algn="l"/>
                <a:tab pos="1727597" algn="l"/>
                <a:tab pos="2034779" algn="l"/>
                <a:tab pos="2341960" algn="l"/>
                <a:tab pos="2649141" algn="l"/>
                <a:tab pos="2957513" algn="l"/>
                <a:tab pos="3264694" algn="l"/>
                <a:tab pos="3573066" algn="l"/>
                <a:tab pos="3880247" algn="l"/>
                <a:tab pos="4188619" algn="l"/>
                <a:tab pos="4495800" algn="l"/>
                <a:tab pos="4804172" algn="l"/>
                <a:tab pos="5111354" algn="l"/>
                <a:tab pos="5419725" algn="l"/>
                <a:tab pos="5726906" algn="l"/>
                <a:tab pos="6034088" algn="l"/>
                <a:tab pos="6341269" algn="l"/>
                <a:tab pos="6649641" algn="l"/>
              </a:tabLst>
              <a:defRPr/>
            </a:pPr>
            <a:endParaRPr lang="en-US" altLang="en-US" sz="3200" dirty="0"/>
          </a:p>
          <a:p>
            <a:pPr marL="764381" lvl="1" indent="-457200" algn="just" fontAlgn="auto">
              <a:lnSpc>
                <a:spcPct val="100000"/>
              </a:lnSpc>
              <a:spcBef>
                <a:spcPts val="404"/>
              </a:spcBef>
              <a:buClr>
                <a:srgbClr val="000000"/>
              </a:buClr>
              <a:buFont typeface="Wingdings" panose="05000000000000000000" pitchFamily="2" charset="2"/>
              <a:buChar char="v"/>
              <a:tabLst>
                <a:tab pos="496491" algn="l"/>
                <a:tab pos="803672" algn="l"/>
                <a:tab pos="1112044" algn="l"/>
                <a:tab pos="1419225" algn="l"/>
                <a:tab pos="1727597" algn="l"/>
                <a:tab pos="2034779" algn="l"/>
                <a:tab pos="2341960" algn="l"/>
                <a:tab pos="2649141" algn="l"/>
                <a:tab pos="2957513" algn="l"/>
                <a:tab pos="3264694" algn="l"/>
                <a:tab pos="3573066" algn="l"/>
                <a:tab pos="3880247" algn="l"/>
                <a:tab pos="4188619" algn="l"/>
                <a:tab pos="4495800" algn="l"/>
                <a:tab pos="4804172" algn="l"/>
                <a:tab pos="5111354" algn="l"/>
                <a:tab pos="5419725" algn="l"/>
                <a:tab pos="5726906" algn="l"/>
                <a:tab pos="6034088" algn="l"/>
                <a:tab pos="6341269" algn="l"/>
                <a:tab pos="6649641" algn="l"/>
              </a:tabLst>
              <a:defRPr/>
            </a:pPr>
            <a:endParaRPr lang="en-US" altLang="en-US" sz="3200" dirty="0"/>
          </a:p>
        </p:txBody>
      </p:sp>
      <p:graphicFrame>
        <p:nvGraphicFramePr>
          <p:cNvPr id="3" name="Table 3">
            <a:extLst>
              <a:ext uri="{FF2B5EF4-FFF2-40B4-BE49-F238E27FC236}">
                <a16:creationId xmlns:a16="http://schemas.microsoft.com/office/drawing/2014/main" id="{B2A46849-B9C4-4448-B409-A4FECB167BC6}"/>
              </a:ext>
            </a:extLst>
          </p:cNvPr>
          <p:cNvGraphicFramePr>
            <a:graphicFrameLocks noGrp="1"/>
          </p:cNvGraphicFramePr>
          <p:nvPr>
            <p:extLst>
              <p:ext uri="{D42A27DB-BD31-4B8C-83A1-F6EECF244321}">
                <p14:modId xmlns:p14="http://schemas.microsoft.com/office/powerpoint/2010/main" val="2993345620"/>
              </p:ext>
            </p:extLst>
          </p:nvPr>
        </p:nvGraphicFramePr>
        <p:xfrm>
          <a:off x="869302" y="1914266"/>
          <a:ext cx="10472928" cy="3876934"/>
        </p:xfrm>
        <a:graphic>
          <a:graphicData uri="http://schemas.openxmlformats.org/drawingml/2006/table">
            <a:tbl>
              <a:tblPr firstRow="1" bandRow="1">
                <a:tableStyleId>{616DA210-FB5B-4158-B5E0-FEB733F419BA}</a:tableStyleId>
              </a:tblPr>
              <a:tblGrid>
                <a:gridCol w="3661863">
                  <a:extLst>
                    <a:ext uri="{9D8B030D-6E8A-4147-A177-3AD203B41FA5}">
                      <a16:colId xmlns:a16="http://schemas.microsoft.com/office/drawing/2014/main" val="3495993728"/>
                    </a:ext>
                  </a:extLst>
                </a:gridCol>
                <a:gridCol w="6811065">
                  <a:extLst>
                    <a:ext uri="{9D8B030D-6E8A-4147-A177-3AD203B41FA5}">
                      <a16:colId xmlns:a16="http://schemas.microsoft.com/office/drawing/2014/main" val="2378045049"/>
                    </a:ext>
                  </a:extLst>
                </a:gridCol>
              </a:tblGrid>
              <a:tr h="500844">
                <a:tc>
                  <a:txBody>
                    <a:bodyPr/>
                    <a:lstStyle/>
                    <a:p>
                      <a:r>
                        <a:rPr lang="en-US" altLang="en-US" sz="2400" dirty="0"/>
                        <a:t>200 	OK</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request was processed successfully</a:t>
                      </a:r>
                    </a:p>
                  </a:txBody>
                  <a:tcPr/>
                </a:tc>
                <a:extLst>
                  <a:ext uri="{0D108BD9-81ED-4DB2-BD59-A6C34878D82A}">
                    <a16:rowId xmlns:a16="http://schemas.microsoft.com/office/drawing/2014/main" val="3049974453"/>
                  </a:ext>
                </a:extLst>
              </a:tr>
              <a:tr h="423731">
                <a:tc>
                  <a:txBody>
                    <a:bodyPr/>
                    <a:lstStyle/>
                    <a:p>
                      <a:r>
                        <a:rPr lang="en-US" altLang="en-US" sz="2400" dirty="0"/>
                        <a:t>301 Moved permanently</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document has been moved</a:t>
                      </a:r>
                    </a:p>
                  </a:txBody>
                  <a:tcPr/>
                </a:tc>
                <a:extLst>
                  <a:ext uri="{0D108BD9-81ED-4DB2-BD59-A6C34878D82A}">
                    <a16:rowId xmlns:a16="http://schemas.microsoft.com/office/drawing/2014/main" val="2373594057"/>
                  </a:ext>
                </a:extLst>
              </a:tr>
              <a:tr h="423731">
                <a:tc>
                  <a:txBody>
                    <a:bodyPr/>
                    <a:lstStyle/>
                    <a:p>
                      <a:r>
                        <a:rPr lang="en-US" altLang="en-US" sz="2400" dirty="0"/>
                        <a:t>304 Not modified</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if cached version is up-to-date</a:t>
                      </a:r>
                    </a:p>
                  </a:txBody>
                  <a:tcPr/>
                </a:tc>
                <a:extLst>
                  <a:ext uri="{0D108BD9-81ED-4DB2-BD59-A6C34878D82A}">
                    <a16:rowId xmlns:a16="http://schemas.microsoft.com/office/drawing/2014/main" val="2405508778"/>
                  </a:ext>
                </a:extLst>
              </a:tr>
              <a:tr h="4897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400 Bad request	</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syntax error in client’s request</a:t>
                      </a:r>
                    </a:p>
                  </a:txBody>
                  <a:tcPr/>
                </a:tc>
                <a:extLst>
                  <a:ext uri="{0D108BD9-81ED-4DB2-BD59-A6C34878D82A}">
                    <a16:rowId xmlns:a16="http://schemas.microsoft.com/office/drawing/2014/main" val="2438641899"/>
                  </a:ext>
                </a:extLst>
              </a:tr>
              <a:tr h="454090">
                <a:tc>
                  <a: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lain" startAt="403"/>
                        <a:tabLst/>
                        <a:defRPr/>
                      </a:pPr>
                      <a:r>
                        <a:rPr lang="en-US" altLang="en-US" sz="2400" dirty="0"/>
                        <a:t>Forbidden</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client is not allowed access e.g., protected</a:t>
                      </a:r>
                    </a:p>
                  </a:txBody>
                  <a:tcPr/>
                </a:tc>
                <a:extLst>
                  <a:ext uri="{0D108BD9-81ED-4DB2-BD59-A6C34878D82A}">
                    <a16:rowId xmlns:a16="http://schemas.microsoft.com/office/drawing/2014/main" val="358476108"/>
                  </a:ext>
                </a:extLst>
              </a:tr>
              <a:tr h="4237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404 Not found</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file could not be found</a:t>
                      </a:r>
                      <a:endParaRPr lang="en-US" sz="2400" dirty="0"/>
                    </a:p>
                  </a:txBody>
                  <a:tcPr/>
                </a:tc>
                <a:extLst>
                  <a:ext uri="{0D108BD9-81ED-4DB2-BD59-A6C34878D82A}">
                    <a16:rowId xmlns:a16="http://schemas.microsoft.com/office/drawing/2014/main" val="2065507598"/>
                  </a:ext>
                </a:extLst>
              </a:tr>
              <a:tr h="524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500 Internal server error</a:t>
                      </a:r>
                    </a:p>
                  </a:txBody>
                  <a:tcPr/>
                </a:tc>
                <a:tc>
                  <a:txBody>
                    <a:bodyPr/>
                    <a:lstStyle/>
                    <a:p>
                      <a:r>
                        <a:rPr lang="en-US" altLang="en-US" sz="2400" dirty="0"/>
                        <a:t>server failed</a:t>
                      </a:r>
                      <a:endParaRPr lang="en-US" sz="2400" dirty="0"/>
                    </a:p>
                  </a:txBody>
                  <a:tcPr/>
                </a:tc>
                <a:extLst>
                  <a:ext uri="{0D108BD9-81ED-4DB2-BD59-A6C34878D82A}">
                    <a16:rowId xmlns:a16="http://schemas.microsoft.com/office/drawing/2014/main" val="3750377571"/>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503 Service unavailable</a:t>
                      </a:r>
                    </a:p>
                  </a:txBody>
                  <a:tcPr/>
                </a:tc>
                <a:tc>
                  <a:txBody>
                    <a:bodyPr/>
                    <a:lstStyle/>
                    <a:p>
                      <a:r>
                        <a:rPr lang="en-US" altLang="en-US" sz="2400" dirty="0"/>
                        <a:t>server is overloaded</a:t>
                      </a:r>
                      <a:endParaRPr lang="en-US" sz="2400" dirty="0"/>
                    </a:p>
                  </a:txBody>
                  <a:tcPr/>
                </a:tc>
                <a:extLst>
                  <a:ext uri="{0D108BD9-81ED-4DB2-BD59-A6C34878D82A}">
                    <a16:rowId xmlns:a16="http://schemas.microsoft.com/office/drawing/2014/main" val="3055723563"/>
                  </a:ext>
                </a:extLst>
              </a:tr>
            </a:tbl>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60D92C63-69B7-4964-BDAE-843332F6153A}"/>
              </a:ext>
            </a:extLst>
          </p:cNvPr>
          <p:cNvSpPr>
            <a:spLocks noGrp="1" noChangeArrowheads="1"/>
          </p:cNvSpPr>
          <p:nvPr>
            <p:ph type="title"/>
          </p:nvPr>
        </p:nvSpPr>
        <p:spPr>
          <a:xfrm>
            <a:off x="1147689" y="533400"/>
            <a:ext cx="8011718" cy="796528"/>
          </a:xfrm>
        </p:spPr>
        <p:txBody>
          <a:bodyPr>
            <a:normAutofit fontScale="90000"/>
          </a:bodyPr>
          <a:lstStyle/>
          <a:p>
            <a:pPr fontAlgn="auto">
              <a:spcAft>
                <a:spcPts val="0"/>
              </a:spcAft>
              <a:buClr>
                <a:srgbClr val="FF0033"/>
              </a:buClr>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US" altLang="en-US" dirty="0"/>
              <a:t>HTTP Response header fields</a:t>
            </a:r>
          </a:p>
        </p:txBody>
      </p:sp>
      <p:sp>
        <p:nvSpPr>
          <p:cNvPr id="2" name="Slide Number Placeholder 1">
            <a:extLst>
              <a:ext uri="{FF2B5EF4-FFF2-40B4-BE49-F238E27FC236}">
                <a16:creationId xmlns:a16="http://schemas.microsoft.com/office/drawing/2014/main" id="{83D41265-BC73-4D17-88BA-01564DE43B28}"/>
              </a:ext>
            </a:extLst>
          </p:cNvPr>
          <p:cNvSpPr>
            <a:spLocks noGrp="1"/>
          </p:cNvSpPr>
          <p:nvPr>
            <p:ph type="sldNum" sz="quarter" idx="12"/>
          </p:nvPr>
        </p:nvSpPr>
        <p:spPr/>
        <p:txBody>
          <a:bodyPr/>
          <a:lstStyle/>
          <a:p>
            <a:pPr>
              <a:defRPr/>
            </a:pPr>
            <a:fld id="{AAA444FC-27BD-4208-954D-64727F6FAB55}" type="slidenum">
              <a:rPr lang="fi-FI" altLang="en-US" smtClean="0"/>
              <a:pPr>
                <a:defRPr/>
              </a:pPr>
              <a:t>40</a:t>
            </a:fld>
            <a:endParaRPr lang="fi-FI" altLang="en-US"/>
          </a:p>
        </p:txBody>
      </p:sp>
      <p:sp>
        <p:nvSpPr>
          <p:cNvPr id="103427" name="Text Box 3">
            <a:extLst>
              <a:ext uri="{FF2B5EF4-FFF2-40B4-BE49-F238E27FC236}">
                <a16:creationId xmlns:a16="http://schemas.microsoft.com/office/drawing/2014/main" id="{61C3C68B-6F63-4273-A6C8-72C73893A7FB}"/>
              </a:ext>
            </a:extLst>
          </p:cNvPr>
          <p:cNvSpPr txBox="1">
            <a:spLocks noChangeArrowheads="1"/>
          </p:cNvSpPr>
          <p:nvPr/>
        </p:nvSpPr>
        <p:spPr bwMode="auto">
          <a:xfrm>
            <a:off x="685800" y="1187603"/>
            <a:ext cx="9601200" cy="4482794"/>
          </a:xfrm>
          <a:prstGeom prst="rect">
            <a:avLst/>
          </a:prstGeom>
          <a:noFill/>
          <a:ln>
            <a:noFill/>
          </a:ln>
        </p:spPr>
        <p:txBody>
          <a:bodyPr lIns="60567" tIns="30284" rIns="60567" bIns="30284"/>
          <a:lstStyle>
            <a:lvl1pPr marL="342900" indent="-342900" defTabSz="407988">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1pPr>
            <a:lvl2pPr marL="661988" indent="-252413" defTabSz="407988">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2pPr>
            <a:lvl3pPr marL="1143000" indent="-228600" defTabSz="407988">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3pPr>
            <a:lvl4pPr marL="1600200" indent="-228600" defTabSz="407988">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4pPr>
            <a:lvl5pPr marL="2057400" indent="-228600" defTabSz="407988">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5pPr>
            <a:lvl6pPr marL="2514600" indent="-228600" defTabSz="407988" eaLnBrk="0" fontAlgn="base" hangingPunct="0">
              <a:spcBef>
                <a:spcPct val="0"/>
              </a:spcBef>
              <a:spcAft>
                <a:spcPct val="0"/>
              </a:spcAft>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6pPr>
            <a:lvl7pPr marL="2971800" indent="-228600" defTabSz="407988" eaLnBrk="0" fontAlgn="base" hangingPunct="0">
              <a:spcBef>
                <a:spcPct val="0"/>
              </a:spcBef>
              <a:spcAft>
                <a:spcPct val="0"/>
              </a:spcAft>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7pPr>
            <a:lvl8pPr marL="3429000" indent="-228600" defTabSz="407988" eaLnBrk="0" fontAlgn="base" hangingPunct="0">
              <a:spcBef>
                <a:spcPct val="0"/>
              </a:spcBef>
              <a:spcAft>
                <a:spcPct val="0"/>
              </a:spcAft>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8pPr>
            <a:lvl9pPr marL="3886200" indent="-228600" defTabSz="407988" eaLnBrk="0" fontAlgn="base" hangingPunct="0">
              <a:spcBef>
                <a:spcPct val="0"/>
              </a:spcBef>
              <a:spcAft>
                <a:spcPct val="0"/>
              </a:spcAft>
              <a:tabLst>
                <a:tab pos="661988" algn="l"/>
                <a:tab pos="1071563" algn="l"/>
                <a:tab pos="1482725" algn="l"/>
                <a:tab pos="1892300" algn="l"/>
                <a:tab pos="2303463" algn="l"/>
                <a:tab pos="2713038" algn="l"/>
                <a:tab pos="3122613" algn="l"/>
                <a:tab pos="3532188" algn="l"/>
                <a:tab pos="3943350" algn="l"/>
                <a:tab pos="4352925" algn="l"/>
                <a:tab pos="4764088" algn="l"/>
                <a:tab pos="5173663" algn="l"/>
                <a:tab pos="5584825" algn="l"/>
                <a:tab pos="5994400" algn="l"/>
                <a:tab pos="6405563" algn="l"/>
                <a:tab pos="6815138" algn="l"/>
                <a:tab pos="7226300" algn="l"/>
                <a:tab pos="7635875" algn="l"/>
                <a:tab pos="8045450" algn="l"/>
                <a:tab pos="8455025" algn="l"/>
                <a:tab pos="8866188" algn="l"/>
              </a:tabLst>
              <a:defRPr>
                <a:solidFill>
                  <a:schemeClr val="tx1"/>
                </a:solidFill>
                <a:latin typeface="Arial" panose="020B0604020202020204" pitchFamily="34" charset="0"/>
                <a:cs typeface="Arial" panose="020B0604020202020204" pitchFamily="34" charset="0"/>
              </a:defRPr>
            </a:lvl9pPr>
          </a:lstStyle>
          <a:p>
            <a:pPr lvl="1" eaLnBrk="1" fontAlgn="auto" hangingPunct="1">
              <a:spcBef>
                <a:spcPts val="404"/>
              </a:spcBef>
              <a:spcAft>
                <a:spcPts val="0"/>
              </a:spcAft>
              <a:buSzPct val="100000"/>
              <a:defRPr/>
            </a:pPr>
            <a:endParaRPr lang="en-US" altLang="en-US" sz="2175" dirty="0">
              <a:solidFill>
                <a:srgbClr val="000000"/>
              </a:solidFill>
              <a:latin typeface="+mj-lt"/>
            </a:endParaRPr>
          </a:p>
          <a:p>
            <a:pPr marL="866775" lvl="1" indent="-457200" eaLnBrk="1" fontAlgn="auto" hangingPunct="1">
              <a:spcBef>
                <a:spcPts val="404"/>
              </a:spcBef>
              <a:spcAft>
                <a:spcPts val="0"/>
              </a:spcAft>
              <a:buSzPct val="100000"/>
              <a:buFont typeface="Arial" panose="020B0604020202020204" pitchFamily="34" charset="0"/>
              <a:buChar char="•"/>
              <a:defRPr/>
            </a:pPr>
            <a:r>
              <a:rPr lang="en-US" altLang="en-US" sz="2800" dirty="0">
                <a:solidFill>
                  <a:srgbClr val="000000"/>
                </a:solidFill>
                <a:latin typeface="+mj-lt"/>
              </a:rPr>
              <a:t>In addition to the status code, the server’s response may include</a:t>
            </a:r>
          </a:p>
          <a:p>
            <a:pPr marL="1347787" lvl="2" indent="-457200">
              <a:spcBef>
                <a:spcPts val="404"/>
              </a:spcBef>
              <a:buSzPct val="100000"/>
              <a:buFont typeface="Wingdings" panose="05000000000000000000" pitchFamily="2" charset="2"/>
              <a:buChar char="ü"/>
              <a:defRPr/>
            </a:pPr>
            <a:r>
              <a:rPr lang="en-US" altLang="en-US" sz="2800" i="1" dirty="0">
                <a:solidFill>
                  <a:srgbClr val="000000"/>
                </a:solidFill>
                <a:latin typeface="+mj-lt"/>
              </a:rPr>
              <a:t>Date,</a:t>
            </a:r>
          </a:p>
          <a:p>
            <a:pPr marL="1347787" lvl="2" indent="-457200">
              <a:spcBef>
                <a:spcPts val="404"/>
              </a:spcBef>
              <a:buSzPct val="100000"/>
              <a:buFont typeface="Wingdings" panose="05000000000000000000" pitchFamily="2" charset="2"/>
              <a:buChar char="ü"/>
              <a:defRPr/>
            </a:pPr>
            <a:r>
              <a:rPr lang="en-US" altLang="en-US" sz="2800" i="1" dirty="0">
                <a:solidFill>
                  <a:srgbClr val="000000"/>
                </a:solidFill>
                <a:latin typeface="+mj-lt"/>
              </a:rPr>
              <a:t> Server info, </a:t>
            </a:r>
          </a:p>
          <a:p>
            <a:pPr marL="1347787" lvl="2" indent="-457200">
              <a:spcBef>
                <a:spcPts val="404"/>
              </a:spcBef>
              <a:buSzPct val="100000"/>
              <a:buFont typeface="Wingdings" panose="05000000000000000000" pitchFamily="2" charset="2"/>
              <a:buChar char="ü"/>
              <a:defRPr/>
            </a:pPr>
            <a:r>
              <a:rPr lang="en-US" altLang="en-US" sz="2800" i="1" dirty="0">
                <a:solidFill>
                  <a:srgbClr val="000000"/>
                </a:solidFill>
                <a:latin typeface="+mj-lt"/>
              </a:rPr>
              <a:t>Last-modified,</a:t>
            </a:r>
          </a:p>
          <a:p>
            <a:pPr marL="1347787" lvl="2" indent="-457200">
              <a:spcBef>
                <a:spcPts val="404"/>
              </a:spcBef>
              <a:buSzPct val="100000"/>
              <a:buFont typeface="Wingdings" panose="05000000000000000000" pitchFamily="2" charset="2"/>
              <a:buChar char="ü"/>
              <a:defRPr/>
            </a:pPr>
            <a:r>
              <a:rPr lang="en-US" altLang="en-US" sz="2800" i="1" dirty="0">
                <a:solidFill>
                  <a:srgbClr val="000000"/>
                </a:solidFill>
                <a:latin typeface="+mj-lt"/>
              </a:rPr>
              <a:t> Content-length, </a:t>
            </a:r>
          </a:p>
          <a:p>
            <a:pPr marL="1347787" lvl="2" indent="-457200">
              <a:spcBef>
                <a:spcPts val="404"/>
              </a:spcBef>
              <a:buSzPct val="100000"/>
              <a:buFont typeface="Wingdings" panose="05000000000000000000" pitchFamily="2" charset="2"/>
              <a:buChar char="ü"/>
              <a:defRPr/>
            </a:pPr>
            <a:r>
              <a:rPr lang="en-US" altLang="en-US" sz="2800" i="1" dirty="0">
                <a:solidFill>
                  <a:srgbClr val="000000"/>
                </a:solidFill>
                <a:latin typeface="+mj-lt"/>
              </a:rPr>
              <a:t>Content-type , Expires</a:t>
            </a:r>
            <a:r>
              <a:rPr lang="en-US" altLang="en-US" sz="1650" i="1" dirty="0">
                <a:solidFill>
                  <a:srgbClr val="000000"/>
                </a:solidFill>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4B40DEFF-438A-4065-8A96-9A445019797B}"/>
              </a:ext>
            </a:extLst>
          </p:cNvPr>
          <p:cNvSpPr>
            <a:spLocks noGrp="1"/>
          </p:cNvSpPr>
          <p:nvPr>
            <p:ph type="title"/>
          </p:nvPr>
        </p:nvSpPr>
        <p:spPr>
          <a:xfrm>
            <a:off x="1752600" y="486809"/>
            <a:ext cx="6929438" cy="628650"/>
          </a:xfrm>
        </p:spPr>
        <p:txBody>
          <a:bodyPr>
            <a:normAutofit/>
          </a:bodyPr>
          <a:lstStyle/>
          <a:p>
            <a:pPr fontAlgn="auto">
              <a:spcAft>
                <a:spcPts val="0"/>
              </a:spcAft>
              <a:defRPr/>
            </a:pPr>
            <a:r>
              <a:rPr lang="en-US" altLang="en-US" sz="2800" b="1" dirty="0"/>
              <a:t>https</a:t>
            </a:r>
            <a:r>
              <a:rPr lang="en-US" altLang="en-US" sz="2400" b="1" dirty="0"/>
              <a:t> (Hyper Text Transfer Protocol Secure) </a:t>
            </a:r>
          </a:p>
        </p:txBody>
      </p:sp>
      <p:sp>
        <p:nvSpPr>
          <p:cNvPr id="2" name="Slide Number Placeholder 1">
            <a:extLst>
              <a:ext uri="{FF2B5EF4-FFF2-40B4-BE49-F238E27FC236}">
                <a16:creationId xmlns:a16="http://schemas.microsoft.com/office/drawing/2014/main" id="{528D443F-7771-4A22-B7D6-063968A2EEC3}"/>
              </a:ext>
            </a:extLst>
          </p:cNvPr>
          <p:cNvSpPr>
            <a:spLocks noGrp="1"/>
          </p:cNvSpPr>
          <p:nvPr>
            <p:ph type="sldNum" sz="quarter" idx="12"/>
          </p:nvPr>
        </p:nvSpPr>
        <p:spPr/>
        <p:txBody>
          <a:bodyPr/>
          <a:lstStyle/>
          <a:p>
            <a:pPr>
              <a:defRPr/>
            </a:pPr>
            <a:fld id="{A93BF96A-5539-4CC3-B6FF-8F0CB4089337}" type="slidenum">
              <a:rPr lang="fi-FI" altLang="en-US" smtClean="0"/>
              <a:pPr>
                <a:defRPr/>
              </a:pPr>
              <a:t>41</a:t>
            </a:fld>
            <a:endParaRPr lang="fi-FI" altLang="en-US"/>
          </a:p>
        </p:txBody>
      </p:sp>
      <p:sp>
        <p:nvSpPr>
          <p:cNvPr id="109572" name="TextBox 2">
            <a:extLst>
              <a:ext uri="{FF2B5EF4-FFF2-40B4-BE49-F238E27FC236}">
                <a16:creationId xmlns:a16="http://schemas.microsoft.com/office/drawing/2014/main" id="{002DF60F-A405-452F-A68B-22A99CC58B06}"/>
              </a:ext>
            </a:extLst>
          </p:cNvPr>
          <p:cNvSpPr txBox="1">
            <a:spLocks noChangeArrowheads="1"/>
          </p:cNvSpPr>
          <p:nvPr/>
        </p:nvSpPr>
        <p:spPr bwMode="auto">
          <a:xfrm>
            <a:off x="685800" y="1066800"/>
            <a:ext cx="11201400" cy="54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marL="457200" indent="-457200" eaLnBrk="1" hangingPunct="1">
              <a:lnSpc>
                <a:spcPct val="150000"/>
              </a:lnSpc>
              <a:buFont typeface="Wingdings" pitchFamily="2" charset="2"/>
              <a:buChar char="v"/>
            </a:pPr>
            <a:r>
              <a:rPr lang="en-US" altLang="en-US" sz="2600" dirty="0">
                <a:latin typeface="+mj-lt"/>
                <a:cs typeface="Arial" panose="020B0604020202020204" pitchFamily="34" charset="0"/>
              </a:rPr>
              <a:t>is a secure version of the Hyper (http). </a:t>
            </a:r>
          </a:p>
          <a:p>
            <a:pPr marL="457200" indent="-457200" eaLnBrk="1" hangingPunct="1">
              <a:lnSpc>
                <a:spcPct val="150000"/>
              </a:lnSpc>
              <a:buFont typeface="Wingdings" pitchFamily="2" charset="2"/>
              <a:buChar char="v"/>
            </a:pPr>
            <a:r>
              <a:rPr lang="en-US" altLang="en-US" sz="2600" dirty="0">
                <a:latin typeface="+mj-lt"/>
                <a:cs typeface="Arial" panose="020B0604020202020204" pitchFamily="34" charset="0"/>
              </a:rPr>
              <a:t>HTTPS allows secure ecommerce transactions, such as online banking.</a:t>
            </a:r>
          </a:p>
          <a:p>
            <a:pPr marL="457200" indent="-457200" eaLnBrk="1" hangingPunct="1">
              <a:lnSpc>
                <a:spcPct val="150000"/>
              </a:lnSpc>
              <a:buFont typeface="Wingdings" pitchFamily="2" charset="2"/>
              <a:buChar char="v"/>
            </a:pPr>
            <a:r>
              <a:rPr lang="en-US" altLang="en-US" sz="2600" dirty="0">
                <a:latin typeface="+mj-lt"/>
                <a:cs typeface="Arial" panose="020B0604020202020204" pitchFamily="34" charset="0"/>
              </a:rPr>
              <a:t>Web browsers such as Internet Explorer and Firefox display </a:t>
            </a:r>
            <a:r>
              <a:rPr lang="en-US" altLang="en-US" sz="2600" i="1" dirty="0">
                <a:solidFill>
                  <a:srgbClr val="FF66CC"/>
                </a:solidFill>
                <a:latin typeface="+mj-lt"/>
                <a:cs typeface="Arial" panose="020B0604020202020204" pitchFamily="34" charset="0"/>
              </a:rPr>
              <a:t>a padlock icon </a:t>
            </a:r>
            <a:r>
              <a:rPr lang="en-US" altLang="en-US" sz="2600" dirty="0">
                <a:latin typeface="+mj-lt"/>
                <a:cs typeface="Arial" panose="020B0604020202020204" pitchFamily="34" charset="0"/>
              </a:rPr>
              <a:t>to indicate that the website is secure, as it also displays https:// in the address bar.</a:t>
            </a:r>
          </a:p>
          <a:p>
            <a:pPr marL="457200" indent="-457200" eaLnBrk="1" hangingPunct="1">
              <a:lnSpc>
                <a:spcPct val="150000"/>
              </a:lnSpc>
              <a:buFont typeface="Wingdings" pitchFamily="2" charset="2"/>
              <a:buChar char="v"/>
            </a:pPr>
            <a:r>
              <a:rPr lang="en-US" altLang="en-US" sz="2600" dirty="0">
                <a:latin typeface="+mj-lt"/>
                <a:cs typeface="Arial" panose="020B0604020202020204" pitchFamily="34" charset="0"/>
              </a:rPr>
              <a:t>When a user connects to a website via HTTPS, the </a:t>
            </a:r>
            <a:r>
              <a:rPr lang="en-US" altLang="en-US" sz="2600" i="1" dirty="0">
                <a:solidFill>
                  <a:srgbClr val="FF66CC"/>
                </a:solidFill>
                <a:latin typeface="+mj-lt"/>
                <a:cs typeface="Arial" panose="020B0604020202020204" pitchFamily="34" charset="0"/>
              </a:rPr>
              <a:t>website encrypts the session with a digital certificate.</a:t>
            </a:r>
            <a:r>
              <a:rPr lang="en-US" altLang="en-US" sz="2600" dirty="0">
                <a:solidFill>
                  <a:srgbClr val="FF66CC"/>
                </a:solidFill>
                <a:latin typeface="+mj-lt"/>
                <a:cs typeface="Arial" panose="020B0604020202020204" pitchFamily="34" charset="0"/>
              </a:rPr>
              <a:t> </a:t>
            </a:r>
          </a:p>
          <a:p>
            <a:pPr marL="274320" indent="-274320" eaLnBrk="1" hangingPunct="1">
              <a:lnSpc>
                <a:spcPct val="150000"/>
              </a:lnSpc>
              <a:buFont typeface="Arial" panose="020B0604020202020204" pitchFamily="34" charset="0"/>
              <a:buChar char="•"/>
            </a:pPr>
            <a:r>
              <a:rPr lang="en-US" altLang="en-US" sz="2600" i="1" dirty="0">
                <a:solidFill>
                  <a:srgbClr val="FF0000"/>
                </a:solidFill>
                <a:latin typeface="+mj-lt"/>
                <a:cs typeface="Arial" panose="020B0604020202020204" pitchFamily="34" charset="0"/>
              </a:rPr>
              <a:t>“you never  and ever enter your credit card number and sensitive information in an http website!”</a:t>
            </a:r>
            <a:endParaRPr lang="en-US" altLang="en-US" sz="2600" dirty="0">
              <a:latin typeface="+mj-lt"/>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7CA507A6-9C3E-4B9A-9F02-52BDEF42B998}"/>
              </a:ext>
            </a:extLst>
          </p:cNvPr>
          <p:cNvSpPr>
            <a:spLocks noGrp="1" noChangeArrowheads="1"/>
          </p:cNvSpPr>
          <p:nvPr>
            <p:ph type="title"/>
          </p:nvPr>
        </p:nvSpPr>
        <p:spPr>
          <a:xfrm>
            <a:off x="1069848" y="484632"/>
            <a:ext cx="10058400" cy="1039368"/>
          </a:xfrm>
        </p:spPr>
        <p:txBody>
          <a:bodyPr/>
          <a:lstStyle/>
          <a:p>
            <a:pPr fontAlgn="auto">
              <a:spcAft>
                <a:spcPts val="0"/>
              </a:spcAft>
              <a:defRPr/>
            </a:pPr>
            <a:r>
              <a:rPr lang="fi-FI" altLang="en-US" dirty="0"/>
              <a:t>Static vs. dynamic pages</a:t>
            </a:r>
            <a:endParaRPr lang="en-US" altLang="en-US" dirty="0"/>
          </a:p>
        </p:txBody>
      </p:sp>
      <p:sp>
        <p:nvSpPr>
          <p:cNvPr id="107523" name="Rectangle 3">
            <a:extLst>
              <a:ext uri="{FF2B5EF4-FFF2-40B4-BE49-F238E27FC236}">
                <a16:creationId xmlns:a16="http://schemas.microsoft.com/office/drawing/2014/main" id="{FE6FD50A-3EC1-4DBA-AD31-F0A1FC766323}"/>
              </a:ext>
            </a:extLst>
          </p:cNvPr>
          <p:cNvSpPr>
            <a:spLocks noGrp="1" noChangeArrowheads="1"/>
          </p:cNvSpPr>
          <p:nvPr>
            <p:ph idx="1"/>
          </p:nvPr>
        </p:nvSpPr>
        <p:spPr>
          <a:xfrm>
            <a:off x="762000" y="1477108"/>
            <a:ext cx="10820400" cy="5160801"/>
          </a:xfrm>
        </p:spPr>
        <p:txBody>
          <a:bodyPr rtlCol="0">
            <a:normAutofit fontScale="92500"/>
          </a:bodyPr>
          <a:lstStyle/>
          <a:p>
            <a:pPr defTabSz="684610" fontAlgn="auto">
              <a:spcBef>
                <a:spcPts val="404"/>
              </a:spcBef>
              <a:spcAft>
                <a:spcPts val="0"/>
              </a:spcAft>
              <a:buClr>
                <a:srgbClr val="3333CC"/>
              </a:buClr>
              <a:buFont typeface="Wingdings" panose="05000000000000000000" pitchFamily="2" charset="2"/>
              <a:buChar char="v"/>
              <a:defRPr/>
            </a:pPr>
            <a:r>
              <a:rPr lang="en-US" altLang="en-US" sz="2800" dirty="0"/>
              <a:t>Static Web Pages</a:t>
            </a:r>
          </a:p>
          <a:p>
            <a:pPr defTabSz="684610" fontAlgn="auto">
              <a:spcBef>
                <a:spcPts val="404"/>
              </a:spcBef>
              <a:spcAft>
                <a:spcPts val="0"/>
              </a:spcAft>
              <a:buClr>
                <a:srgbClr val="3333CC"/>
              </a:buClr>
              <a:buFont typeface="Wingdings" panose="05000000000000000000" pitchFamily="2" charset="2"/>
              <a:buChar char="v"/>
              <a:defRPr/>
            </a:pPr>
            <a:r>
              <a:rPr lang="en-US" altLang="en-US" sz="2800" dirty="0"/>
              <a:t>most Web pages are </a:t>
            </a:r>
            <a:r>
              <a:rPr lang="en-US" altLang="en-US" sz="2800" i="1" dirty="0"/>
              <a:t>static</a:t>
            </a:r>
          </a:p>
          <a:p>
            <a:pPr marL="800100" lvl="1" indent="-457200" defTabSz="684610" fontAlgn="auto">
              <a:spcBef>
                <a:spcPts val="338"/>
              </a:spcBef>
              <a:buClr>
                <a:srgbClr val="000000"/>
              </a:buClr>
              <a:buFont typeface="Wingdings" panose="05000000000000000000" pitchFamily="2" charset="2"/>
              <a:buChar char="Ø"/>
              <a:defRPr/>
            </a:pPr>
            <a:r>
              <a:rPr lang="en-US" altLang="en-US" sz="2800" dirty="0"/>
              <a:t>Contents (text/links/images) are the same each time it is accessed</a:t>
            </a:r>
          </a:p>
          <a:p>
            <a:pPr marL="342900" lvl="1" indent="0" defTabSz="684610" fontAlgn="auto">
              <a:spcBef>
                <a:spcPts val="206"/>
              </a:spcBef>
              <a:buClr>
                <a:srgbClr val="000000"/>
              </a:buClr>
              <a:buNone/>
              <a:defRPr/>
            </a:pPr>
            <a:r>
              <a:rPr lang="en-US" altLang="en-US" sz="2800" i="1" dirty="0">
                <a:solidFill>
                  <a:srgbClr val="FF0033"/>
                </a:solidFill>
              </a:rPr>
              <a:t>e.g., online documents, most homepages</a:t>
            </a:r>
          </a:p>
          <a:p>
            <a:pPr marL="800100" lvl="1" indent="-457200" defTabSz="684610" fontAlgn="auto">
              <a:spcBef>
                <a:spcPts val="206"/>
              </a:spcBef>
              <a:buClr>
                <a:srgbClr val="FF0033"/>
              </a:buClr>
              <a:buFont typeface="Wingdings" panose="05000000000000000000" pitchFamily="2" charset="2"/>
              <a:buChar char="Ø"/>
              <a:defRPr/>
            </a:pPr>
            <a:r>
              <a:rPr lang="en-US" altLang="en-US" sz="2800" dirty="0"/>
              <a:t>HTML is used to specify text/image format</a:t>
            </a:r>
          </a:p>
          <a:p>
            <a:pPr defTabSz="684610" fontAlgn="auto">
              <a:spcBef>
                <a:spcPts val="404"/>
              </a:spcBef>
              <a:spcAft>
                <a:spcPts val="0"/>
              </a:spcAft>
              <a:buClr>
                <a:srgbClr val="3333CC"/>
              </a:buClr>
              <a:buFont typeface="Wingdings" panose="05000000000000000000" pitchFamily="2" charset="2"/>
              <a:buChar char="v"/>
              <a:defRPr/>
            </a:pPr>
            <a:r>
              <a:rPr lang="en-US" altLang="en-US" sz="2800" dirty="0"/>
              <a:t>Dynamic Web Pages</a:t>
            </a:r>
          </a:p>
          <a:p>
            <a:pPr marL="255985" indent="-255985" defTabSz="684610" fontAlgn="auto">
              <a:spcAft>
                <a:spcPts val="0"/>
              </a:spcAft>
              <a:buClr>
                <a:schemeClr val="accent1">
                  <a:lumMod val="75000"/>
                </a:schemeClr>
              </a:buClr>
              <a:defRPr/>
            </a:pPr>
            <a:r>
              <a:rPr lang="en-US" altLang="en-US" sz="2800" dirty="0"/>
              <a:t>as the Web moves towards online services and e-commerce, </a:t>
            </a:r>
            <a:r>
              <a:rPr lang="en-US" altLang="en-US" sz="2800" b="1" dirty="0"/>
              <a:t>Web pages must also provide </a:t>
            </a:r>
            <a:r>
              <a:rPr lang="en-US" altLang="en-US" sz="2800" b="1" i="1" dirty="0"/>
              <a:t>dynamic</a:t>
            </a:r>
            <a:r>
              <a:rPr lang="en-US" altLang="en-US" sz="2800" b="1" dirty="0"/>
              <a:t> content</a:t>
            </a:r>
          </a:p>
          <a:p>
            <a:pPr marL="800100" lvl="1" indent="-457200" defTabSz="684610" fontAlgn="auto">
              <a:buClr>
                <a:schemeClr val="accent1">
                  <a:lumMod val="75000"/>
                </a:schemeClr>
              </a:buClr>
              <a:buFont typeface="Wingdings" panose="05000000000000000000" pitchFamily="2" charset="2"/>
              <a:buChar char="Ø"/>
              <a:defRPr/>
            </a:pPr>
            <a:r>
              <a:rPr lang="en-US" altLang="en-US" sz="2800" dirty="0"/>
              <a:t>pages must be fluid, changeable (e.g., rotating banners)‏</a:t>
            </a:r>
          </a:p>
          <a:p>
            <a:pPr marL="800100" lvl="1" indent="-457200" defTabSz="684610" fontAlgn="auto">
              <a:buClr>
                <a:schemeClr val="accent1">
                  <a:lumMod val="75000"/>
                </a:schemeClr>
              </a:buClr>
              <a:buFont typeface="Wingdings" panose="05000000000000000000" pitchFamily="2" charset="2"/>
              <a:buChar char="Ø"/>
              <a:defRPr/>
            </a:pPr>
            <a:r>
              <a:rPr lang="en-US" altLang="en-US" sz="2800" dirty="0"/>
              <a:t>must be able to react to the user's actions, request and process info, tailor services</a:t>
            </a:r>
          </a:p>
          <a:p>
            <a:pPr marL="556022" lvl="1" indent="-213122" defTabSz="684610" fontAlgn="auto">
              <a:buClr>
                <a:schemeClr val="accent1">
                  <a:lumMod val="75000"/>
                </a:schemeClr>
              </a:buClr>
              <a:buFont typeface="Wingdings" panose="05000000000000000000" pitchFamily="2" charset="2"/>
              <a:buNone/>
              <a:defRPr/>
            </a:pPr>
            <a:r>
              <a:rPr lang="en-US" altLang="en-US" sz="2800" i="1" dirty="0">
                <a:solidFill>
                  <a:srgbClr val="FF0033"/>
                </a:solidFill>
              </a:rPr>
              <a:t>e.g., amazon.com, www.yahoo.com</a:t>
            </a:r>
          </a:p>
          <a:p>
            <a:pPr marL="856060" lvl="2" indent="-170260" defTabSz="684610" fontAlgn="auto">
              <a:buClr>
                <a:schemeClr val="accent1">
                  <a:lumMod val="75000"/>
                </a:schemeClr>
              </a:buClr>
              <a:defRPr/>
            </a:pPr>
            <a:endParaRPr lang="en-US" altLang="en-US" sz="825" dirty="0"/>
          </a:p>
          <a:p>
            <a:pPr marL="255985" indent="-255985" defTabSz="684610" fontAlgn="auto">
              <a:spcBef>
                <a:spcPts val="404"/>
              </a:spcBef>
              <a:spcAft>
                <a:spcPts val="0"/>
              </a:spcAft>
              <a:buClr>
                <a:srgbClr val="3333CC"/>
              </a:buClr>
              <a:buFont typeface="Wingdings" panose="05000000000000000000" pitchFamily="2" charset="2"/>
              <a:buNone/>
              <a:defRPr/>
            </a:pPr>
            <a:endParaRPr lang="en-US" altLang="en-US" sz="2700" dirty="0"/>
          </a:p>
          <a:p>
            <a:pPr marL="556022" lvl="1" indent="-213122" defTabSz="684610" fontAlgn="auto">
              <a:spcBef>
                <a:spcPts val="338"/>
              </a:spcBef>
              <a:buClr>
                <a:srgbClr val="000000"/>
              </a:buClr>
              <a:buFont typeface="Wingdings" panose="05000000000000000000" pitchFamily="2" charset="2"/>
              <a:buNone/>
              <a:defRPr/>
            </a:pPr>
            <a:endParaRPr lang="en-US" altLang="en-US" dirty="0"/>
          </a:p>
          <a:p>
            <a:pPr marL="255985" indent="-255985" defTabSz="684610" fontAlgn="auto">
              <a:spcAft>
                <a:spcPts val="0"/>
              </a:spcAft>
              <a:buClr>
                <a:schemeClr val="accent1">
                  <a:lumMod val="75000"/>
                </a:schemeClr>
              </a:buClr>
              <a:defRPr/>
            </a:pPr>
            <a:endParaRPr lang="en-US" altLang="en-US" sz="1200" dirty="0"/>
          </a:p>
        </p:txBody>
      </p:sp>
      <p:sp>
        <p:nvSpPr>
          <p:cNvPr id="2" name="Slide Number Placeholder 1">
            <a:extLst>
              <a:ext uri="{FF2B5EF4-FFF2-40B4-BE49-F238E27FC236}">
                <a16:creationId xmlns:a16="http://schemas.microsoft.com/office/drawing/2014/main" id="{E08DC8BD-8124-4E6E-BAA8-EEAE73176250}"/>
              </a:ext>
            </a:extLst>
          </p:cNvPr>
          <p:cNvSpPr>
            <a:spLocks noGrp="1"/>
          </p:cNvSpPr>
          <p:nvPr>
            <p:ph type="sldNum" sz="quarter" idx="12"/>
          </p:nvPr>
        </p:nvSpPr>
        <p:spPr/>
        <p:txBody>
          <a:bodyPr/>
          <a:lstStyle/>
          <a:p>
            <a:pPr>
              <a:defRPr/>
            </a:pPr>
            <a:fld id="{38BA9FAF-D214-4E2B-81DA-BC0A80F2D398}" type="slidenum">
              <a:rPr lang="en-US" altLang="en-US"/>
              <a:pPr>
                <a:defRPr/>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CC6E82B4-4D37-4B28-BB95-6F0F5598199E}"/>
              </a:ext>
            </a:extLst>
          </p:cNvPr>
          <p:cNvSpPr>
            <a:spLocks noGrp="1" noChangeArrowheads="1"/>
          </p:cNvSpPr>
          <p:nvPr>
            <p:ph type="title"/>
          </p:nvPr>
        </p:nvSpPr>
        <p:spPr>
          <a:xfrm>
            <a:off x="1676400" y="228600"/>
            <a:ext cx="7200900" cy="685800"/>
          </a:xfrm>
        </p:spPr>
        <p:txBody>
          <a:bodyPr>
            <a:normAutofit/>
          </a:bodyPr>
          <a:lstStyle/>
          <a:p>
            <a:pPr fontAlgn="auto">
              <a:spcAft>
                <a:spcPts val="0"/>
              </a:spcAft>
              <a:defRPr/>
            </a:pPr>
            <a:r>
              <a:rPr lang="en-US" altLang="en-US" sz="2400" dirty="0">
                <a:cs typeface="Times New Roman" panose="02020603050405020304" pitchFamily="18" charset="0"/>
              </a:rPr>
              <a:t> Client-Side Scripting versus Server-Side Scripting</a:t>
            </a:r>
            <a:r>
              <a:rPr lang="en-US" altLang="en-US" sz="2400" dirty="0"/>
              <a:t> </a:t>
            </a:r>
          </a:p>
        </p:txBody>
      </p:sp>
      <p:sp>
        <p:nvSpPr>
          <p:cNvPr id="117763" name="Slide Number Placeholder 5">
            <a:extLst>
              <a:ext uri="{FF2B5EF4-FFF2-40B4-BE49-F238E27FC236}">
                <a16:creationId xmlns:a16="http://schemas.microsoft.com/office/drawing/2014/main" id="{FA68A21F-BB78-4AB1-86D1-5DC352DFF0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Rockwell" panose="02060603020205020403" pitchFamily="18" charset="0"/>
              </a:defRPr>
            </a:lvl1pPr>
            <a:lvl2pPr marL="557213" indent="-214313">
              <a:defRPr>
                <a:solidFill>
                  <a:schemeClr val="tx1"/>
                </a:solidFill>
                <a:latin typeface="Rockwell" panose="02060603020205020403" pitchFamily="18" charset="0"/>
              </a:defRPr>
            </a:lvl2pPr>
            <a:lvl3pPr marL="857250" indent="-171450">
              <a:defRPr>
                <a:solidFill>
                  <a:schemeClr val="tx1"/>
                </a:solidFill>
                <a:latin typeface="Rockwell" panose="02060603020205020403" pitchFamily="18" charset="0"/>
              </a:defRPr>
            </a:lvl3pPr>
            <a:lvl4pPr marL="1200150" indent="-171450">
              <a:defRPr>
                <a:solidFill>
                  <a:schemeClr val="tx1"/>
                </a:solidFill>
                <a:latin typeface="Rockwell" panose="02060603020205020403" pitchFamily="18" charset="0"/>
              </a:defRPr>
            </a:lvl4pPr>
            <a:lvl5pPr marL="1543050" indent="-171450">
              <a:defRPr>
                <a:solidFill>
                  <a:schemeClr val="tx1"/>
                </a:solidFill>
                <a:latin typeface="Rockwell" panose="02060603020205020403" pitchFamily="18" charset="0"/>
              </a:defRPr>
            </a:lvl5pPr>
            <a:lvl6pPr marL="2000250" indent="-171450" defTabSz="457200" fontAlgn="base">
              <a:spcBef>
                <a:spcPct val="0"/>
              </a:spcBef>
              <a:spcAft>
                <a:spcPct val="0"/>
              </a:spcAft>
              <a:defRPr>
                <a:solidFill>
                  <a:schemeClr val="tx1"/>
                </a:solidFill>
                <a:latin typeface="Rockwell" panose="02060603020205020403" pitchFamily="18" charset="0"/>
              </a:defRPr>
            </a:lvl6pPr>
            <a:lvl7pPr marL="2457450" indent="-171450" defTabSz="457200" fontAlgn="base">
              <a:spcBef>
                <a:spcPct val="0"/>
              </a:spcBef>
              <a:spcAft>
                <a:spcPct val="0"/>
              </a:spcAft>
              <a:defRPr>
                <a:solidFill>
                  <a:schemeClr val="tx1"/>
                </a:solidFill>
                <a:latin typeface="Rockwell" panose="02060603020205020403" pitchFamily="18" charset="0"/>
              </a:defRPr>
            </a:lvl7pPr>
            <a:lvl8pPr marL="2914650" indent="-171450" defTabSz="457200" fontAlgn="base">
              <a:spcBef>
                <a:spcPct val="0"/>
              </a:spcBef>
              <a:spcAft>
                <a:spcPct val="0"/>
              </a:spcAft>
              <a:defRPr>
                <a:solidFill>
                  <a:schemeClr val="tx1"/>
                </a:solidFill>
                <a:latin typeface="Rockwell" panose="02060603020205020403" pitchFamily="18" charset="0"/>
              </a:defRPr>
            </a:lvl8pPr>
            <a:lvl9pPr marL="3371850" indent="-171450" defTabSz="457200" fontAlgn="base">
              <a:spcBef>
                <a:spcPct val="0"/>
              </a:spcBef>
              <a:spcAft>
                <a:spcPct val="0"/>
              </a:spcAft>
              <a:defRPr>
                <a:solidFill>
                  <a:schemeClr val="tx1"/>
                </a:solidFill>
                <a:latin typeface="Rockwell" panose="02060603020205020403" pitchFamily="18" charset="0"/>
              </a:defRPr>
            </a:lvl9pPr>
          </a:lstStyle>
          <a:p>
            <a:pPr fontAlgn="base">
              <a:spcBef>
                <a:spcPct val="0"/>
              </a:spcBef>
              <a:spcAft>
                <a:spcPct val="0"/>
              </a:spcAft>
            </a:pPr>
            <a:fld id="{D12D9325-8EED-4DB0-9545-3C51F832DDD3}" type="slidenum">
              <a:rPr lang="en-US" altLang="en-US" smtClean="0">
                <a:latin typeface="Arial" panose="020B0604020202020204" pitchFamily="34" charset="0"/>
                <a:cs typeface="Arial" panose="020B0604020202020204" pitchFamily="34" charset="0"/>
              </a:rPr>
              <a:pPr fontAlgn="base">
                <a:spcBef>
                  <a:spcPct val="0"/>
                </a:spcBef>
                <a:spcAft>
                  <a:spcPct val="0"/>
                </a:spcAft>
              </a:pPr>
              <a:t>43</a:t>
            </a:fld>
            <a:endParaRPr lang="en-US" altLang="en-US">
              <a:latin typeface="Arial" panose="020B0604020202020204" pitchFamily="34" charset="0"/>
              <a:cs typeface="Arial" panose="020B0604020202020204" pitchFamily="34" charset="0"/>
            </a:endParaRPr>
          </a:p>
        </p:txBody>
      </p:sp>
      <p:sp>
        <p:nvSpPr>
          <p:cNvPr id="5" name="Rectangle 3">
            <a:extLst>
              <a:ext uri="{FF2B5EF4-FFF2-40B4-BE49-F238E27FC236}">
                <a16:creationId xmlns:a16="http://schemas.microsoft.com/office/drawing/2014/main" id="{DF662142-D873-41A9-91AF-37BA97CB2FF0}"/>
              </a:ext>
            </a:extLst>
          </p:cNvPr>
          <p:cNvSpPr txBox="1">
            <a:spLocks noChangeArrowheads="1"/>
          </p:cNvSpPr>
          <p:nvPr/>
        </p:nvSpPr>
        <p:spPr>
          <a:xfrm>
            <a:off x="990600" y="914400"/>
            <a:ext cx="10210800" cy="5486400"/>
          </a:xfrm>
          <a:prstGeom prst="rect">
            <a:avLst/>
          </a:prstGeom>
        </p:spPr>
        <p:txBody>
          <a:bodyPr/>
          <a:lstStyle/>
          <a:p>
            <a:pPr marL="257175" indent="-257175" eaLnBrk="1" fontAlgn="auto" hangingPunct="1">
              <a:spcBef>
                <a:spcPct val="20000"/>
              </a:spcBef>
              <a:spcAft>
                <a:spcPts val="0"/>
              </a:spcAft>
              <a:buFontTx/>
              <a:buChar char="•"/>
              <a:defRPr/>
            </a:pPr>
            <a:r>
              <a:rPr lang="en-US" sz="2400" kern="0" dirty="0">
                <a:latin typeface="+mn-lt"/>
              </a:rPr>
              <a:t>Client-side scripts</a:t>
            </a:r>
          </a:p>
          <a:p>
            <a:pPr marL="857250" lvl="2" indent="-171450">
              <a:spcBef>
                <a:spcPct val="20000"/>
              </a:spcBef>
              <a:buFontTx/>
              <a:buChar char="•"/>
              <a:defRPr/>
            </a:pPr>
            <a:r>
              <a:rPr lang="en-US" sz="2400" kern="0" dirty="0"/>
              <a:t>Validate Reduce </a:t>
            </a:r>
            <a:r>
              <a:rPr lang="en-US" sz="2400" kern="0" dirty="0">
                <a:latin typeface="+mn-lt"/>
              </a:rPr>
              <a:t>requests needed to be passed to server</a:t>
            </a:r>
          </a:p>
          <a:p>
            <a:pPr marL="857250" lvl="2" indent="-171450" eaLnBrk="1" fontAlgn="auto" hangingPunct="1">
              <a:spcBef>
                <a:spcPct val="20000"/>
              </a:spcBef>
              <a:spcAft>
                <a:spcPts val="0"/>
              </a:spcAft>
              <a:buFontTx/>
              <a:buChar char="•"/>
              <a:defRPr/>
            </a:pPr>
            <a:r>
              <a:rPr lang="en-US" sz="2400" kern="0" dirty="0">
                <a:latin typeface="+mn-lt"/>
              </a:rPr>
              <a:t>Access browser</a:t>
            </a:r>
          </a:p>
          <a:p>
            <a:pPr marL="685800" lvl="2" eaLnBrk="1" fontAlgn="auto" hangingPunct="1">
              <a:spcBef>
                <a:spcPct val="20000"/>
              </a:spcBef>
              <a:spcAft>
                <a:spcPts val="0"/>
              </a:spcAft>
              <a:defRPr/>
            </a:pPr>
            <a:r>
              <a:rPr lang="en-US" sz="2400" kern="0" dirty="0" err="1">
                <a:latin typeface="+mn-lt"/>
              </a:rPr>
              <a:t>Eg.</a:t>
            </a:r>
            <a:r>
              <a:rPr lang="en-US" sz="2400" kern="0" dirty="0">
                <a:latin typeface="+mn-lt"/>
              </a:rPr>
              <a:t> </a:t>
            </a:r>
            <a:r>
              <a:rPr lang="en-US" sz="2400" b="1" kern="0" dirty="0">
                <a:latin typeface="+mn-lt"/>
              </a:rPr>
              <a:t>Java script, </a:t>
            </a:r>
            <a:r>
              <a:rPr lang="en-US" sz="2400" b="1" kern="0" dirty="0" err="1">
                <a:latin typeface="+mn-lt"/>
              </a:rPr>
              <a:t>vb</a:t>
            </a:r>
            <a:r>
              <a:rPr lang="en-US" sz="2400" b="1" kern="0" dirty="0">
                <a:latin typeface="+mn-lt"/>
              </a:rPr>
              <a:t> script etc </a:t>
            </a:r>
          </a:p>
          <a:p>
            <a:pPr marL="257175" indent="-257175" eaLnBrk="1" fontAlgn="auto" hangingPunct="1">
              <a:spcBef>
                <a:spcPct val="20000"/>
              </a:spcBef>
              <a:spcAft>
                <a:spcPts val="0"/>
              </a:spcAft>
              <a:buFontTx/>
              <a:buChar char="•"/>
              <a:defRPr/>
            </a:pPr>
            <a:r>
              <a:rPr lang="en-US" sz="2400" kern="0" dirty="0">
                <a:latin typeface="+mn-lt"/>
              </a:rPr>
              <a:t>Server-side scripts</a:t>
            </a:r>
          </a:p>
          <a:p>
            <a:pPr marL="557213" lvl="1" indent="-214313" eaLnBrk="1" fontAlgn="auto" hangingPunct="1">
              <a:spcBef>
                <a:spcPct val="20000"/>
              </a:spcBef>
              <a:spcAft>
                <a:spcPts val="0"/>
              </a:spcAft>
              <a:buFontTx/>
              <a:buChar char="–"/>
              <a:defRPr/>
            </a:pPr>
            <a:r>
              <a:rPr lang="en-US" sz="2400" kern="0" dirty="0">
                <a:latin typeface="+mn-lt"/>
              </a:rPr>
              <a:t>Executed on server</a:t>
            </a:r>
          </a:p>
          <a:p>
            <a:pPr marL="557213" lvl="1" indent="-214313" eaLnBrk="1" fontAlgn="auto" hangingPunct="1">
              <a:spcBef>
                <a:spcPct val="20000"/>
              </a:spcBef>
              <a:spcAft>
                <a:spcPts val="0"/>
              </a:spcAft>
              <a:buFontTx/>
              <a:buChar char="–"/>
              <a:defRPr/>
            </a:pPr>
            <a:r>
              <a:rPr lang="en-US" sz="2400" kern="0" dirty="0">
                <a:latin typeface="+mn-lt"/>
              </a:rPr>
              <a:t>Generate custom response for clients</a:t>
            </a:r>
          </a:p>
          <a:p>
            <a:pPr marL="557213" lvl="1" indent="-214313" eaLnBrk="1" fontAlgn="auto" hangingPunct="1">
              <a:spcBef>
                <a:spcPct val="20000"/>
              </a:spcBef>
              <a:spcAft>
                <a:spcPts val="0"/>
              </a:spcAft>
              <a:buFontTx/>
              <a:buChar char="–"/>
              <a:defRPr/>
            </a:pPr>
            <a:r>
              <a:rPr lang="en-US" sz="2400" kern="0" dirty="0">
                <a:latin typeface="+mn-lt"/>
              </a:rPr>
              <a:t>Wide range of programmatic capabilities</a:t>
            </a:r>
          </a:p>
          <a:p>
            <a:pPr marL="557213" lvl="1" indent="-214313" eaLnBrk="1" fontAlgn="auto" hangingPunct="1">
              <a:spcBef>
                <a:spcPct val="20000"/>
              </a:spcBef>
              <a:spcAft>
                <a:spcPts val="0"/>
              </a:spcAft>
              <a:buFontTx/>
              <a:buChar char="–"/>
              <a:defRPr/>
            </a:pPr>
            <a:r>
              <a:rPr lang="en-US" sz="2400" kern="0" dirty="0">
                <a:latin typeface="+mn-lt"/>
              </a:rPr>
              <a:t>Access to server-side software that extends server functionality</a:t>
            </a:r>
          </a:p>
          <a:p>
            <a:pPr marL="557213" lvl="1" indent="-214313" eaLnBrk="1" fontAlgn="auto" hangingPunct="1">
              <a:spcBef>
                <a:spcPct val="20000"/>
              </a:spcBef>
              <a:spcAft>
                <a:spcPts val="0"/>
              </a:spcAft>
              <a:buFontTx/>
              <a:buChar char="–"/>
              <a:defRPr/>
            </a:pPr>
            <a:r>
              <a:rPr lang="en-US" sz="2400" kern="0" dirty="0" err="1">
                <a:latin typeface="+mn-lt"/>
              </a:rPr>
              <a:t>Eg</a:t>
            </a:r>
            <a:r>
              <a:rPr lang="en-US" sz="2400" kern="0" dirty="0">
                <a:latin typeface="+mn-lt"/>
              </a:rPr>
              <a:t> </a:t>
            </a:r>
            <a:r>
              <a:rPr lang="en-US" sz="2400" b="1" dirty="0">
                <a:latin typeface="Arial" charset="0"/>
                <a:cs typeface="Arial" charset="0"/>
              </a:rPr>
              <a:t>ASP, PHP, JSP</a:t>
            </a:r>
          </a:p>
          <a:p>
            <a:pPr marL="557213" lvl="1" indent="-214313" eaLnBrk="1" fontAlgn="auto" hangingPunct="1">
              <a:spcBef>
                <a:spcPct val="20000"/>
              </a:spcBef>
              <a:spcAft>
                <a:spcPts val="0"/>
              </a:spcAft>
              <a:buFontTx/>
              <a:buChar char="–"/>
              <a:defRPr/>
            </a:pPr>
            <a:endParaRPr lang="en-US" kern="0" dirty="0">
              <a:latin typeface="+mn-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D503DFEC-3715-498E-886F-BC71A52D1DC4}"/>
              </a:ext>
            </a:extLst>
          </p:cNvPr>
          <p:cNvSpPr>
            <a:spLocks noGrp="1"/>
          </p:cNvSpPr>
          <p:nvPr>
            <p:ph type="title"/>
          </p:nvPr>
        </p:nvSpPr>
        <p:spPr>
          <a:xfrm>
            <a:off x="1066800" y="304800"/>
            <a:ext cx="9228535" cy="685800"/>
          </a:xfrm>
        </p:spPr>
        <p:txBody>
          <a:bodyPr>
            <a:normAutofit fontScale="90000"/>
          </a:bodyPr>
          <a:lstStyle/>
          <a:p>
            <a:pPr fontAlgn="auto">
              <a:spcAft>
                <a:spcPts val="0"/>
              </a:spcAft>
              <a:defRPr/>
            </a:pPr>
            <a:r>
              <a:rPr lang="en-GB" altLang="en-US" dirty="0"/>
              <a:t>Designing Web Applications</a:t>
            </a:r>
            <a:endParaRPr lang="en-US" altLang="en-US" dirty="0"/>
          </a:p>
        </p:txBody>
      </p:sp>
      <p:sp>
        <p:nvSpPr>
          <p:cNvPr id="2" name="Slide Number Placeholder 1">
            <a:extLst>
              <a:ext uri="{FF2B5EF4-FFF2-40B4-BE49-F238E27FC236}">
                <a16:creationId xmlns:a16="http://schemas.microsoft.com/office/drawing/2014/main" id="{29BEBDAF-07F6-4AB8-87CF-200B36C458C2}"/>
              </a:ext>
            </a:extLst>
          </p:cNvPr>
          <p:cNvSpPr>
            <a:spLocks noGrp="1"/>
          </p:cNvSpPr>
          <p:nvPr>
            <p:ph type="sldNum" sz="quarter" idx="12"/>
          </p:nvPr>
        </p:nvSpPr>
        <p:spPr/>
        <p:txBody>
          <a:bodyPr/>
          <a:lstStyle/>
          <a:p>
            <a:pPr>
              <a:defRPr/>
            </a:pPr>
            <a:fld id="{7D607F29-40AB-4728-A5B3-37356B56C1DC}" type="slidenum">
              <a:rPr lang="fi-FI" altLang="en-US" smtClean="0"/>
              <a:pPr>
                <a:defRPr/>
              </a:pPr>
              <a:t>44</a:t>
            </a:fld>
            <a:endParaRPr lang="fi-FI" altLang="en-US"/>
          </a:p>
        </p:txBody>
      </p:sp>
      <p:pic>
        <p:nvPicPr>
          <p:cNvPr id="119812" name="Picture 2">
            <a:extLst>
              <a:ext uri="{FF2B5EF4-FFF2-40B4-BE49-F238E27FC236}">
                <a16:creationId xmlns:a16="http://schemas.microsoft.com/office/drawing/2014/main" id="{50946321-A11F-42BA-B72D-FBE13AD02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229" y="1447800"/>
            <a:ext cx="8522971" cy="506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6" name="TextBox 3">
            <a:extLst>
              <a:ext uri="{FF2B5EF4-FFF2-40B4-BE49-F238E27FC236}">
                <a16:creationId xmlns:a16="http://schemas.microsoft.com/office/drawing/2014/main" id="{CF75FE97-530B-4DBA-BB98-420BA4D126D4}"/>
              </a:ext>
            </a:extLst>
          </p:cNvPr>
          <p:cNvSpPr txBox="1">
            <a:spLocks noChangeArrowheads="1"/>
          </p:cNvSpPr>
          <p:nvPr/>
        </p:nvSpPr>
        <p:spPr bwMode="auto">
          <a:xfrm>
            <a:off x="3195042" y="1020147"/>
            <a:ext cx="4972050" cy="62388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n-US" altLang="en-US" sz="2100" b="1" dirty="0"/>
              <a:t>Page Structure and Site Design</a:t>
            </a:r>
          </a:p>
          <a:p>
            <a:pPr eaLnBrk="1" fontAlgn="auto" hangingPunct="1">
              <a:spcBef>
                <a:spcPts val="0"/>
              </a:spcBef>
              <a:spcAft>
                <a:spcPts val="0"/>
              </a:spcAft>
              <a:defRPr/>
            </a:pPr>
            <a:endParaRPr lang="en-US" alt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a:extLst>
              <a:ext uri="{FF2B5EF4-FFF2-40B4-BE49-F238E27FC236}">
                <a16:creationId xmlns:a16="http://schemas.microsoft.com/office/drawing/2014/main" id="{06B46B33-847F-4145-9F6D-D3456D1987F5}"/>
              </a:ext>
            </a:extLst>
          </p:cNvPr>
          <p:cNvSpPr>
            <a:spLocks noGrp="1"/>
          </p:cNvSpPr>
          <p:nvPr>
            <p:ph type="title"/>
          </p:nvPr>
        </p:nvSpPr>
        <p:spPr>
          <a:xfrm>
            <a:off x="990600" y="762000"/>
            <a:ext cx="10320527" cy="5105400"/>
          </a:xfrm>
        </p:spPr>
        <p:txBody>
          <a:bodyPr>
            <a:noAutofit/>
          </a:bodyPr>
          <a:lstStyle/>
          <a:p>
            <a:pPr fontAlgn="auto">
              <a:spcAft>
                <a:spcPts val="0"/>
              </a:spcAft>
              <a:defRPr/>
            </a:pPr>
            <a:r>
              <a:rPr lang="en-US" altLang="en-US" sz="2800" u="sng" dirty="0"/>
              <a:t>Web design</a:t>
            </a:r>
            <a:r>
              <a:rPr lang="en-US" altLang="en-US" sz="2800" dirty="0"/>
              <a:t>-it </a:t>
            </a:r>
            <a:r>
              <a:rPr lang="en-US" altLang="en-US" sz="2800" b="0" dirty="0"/>
              <a:t>is to make web sites pleasing and good look by designing and adding features like colors, Combination of lines, shapes, texture and others.</a:t>
            </a:r>
            <a:br>
              <a:rPr lang="en-US" altLang="en-US" sz="2800" dirty="0"/>
            </a:br>
            <a:br>
              <a:rPr lang="en-US" altLang="en-US" sz="2800" dirty="0"/>
            </a:br>
            <a:r>
              <a:rPr lang="en-US" altLang="en-US" sz="2800" b="1" dirty="0"/>
              <a:t>(A) </a:t>
            </a:r>
            <a:r>
              <a:rPr lang="en-US" altLang="en-US" sz="2800" b="1" u="sng" dirty="0"/>
              <a:t>To design web sites: -</a:t>
            </a:r>
            <a:r>
              <a:rPr lang="en-US" altLang="en-US" sz="2800" b="1" dirty="0"/>
              <a:t> </a:t>
            </a:r>
            <a:r>
              <a:rPr lang="en-US" altLang="en-US" sz="2800" b="0" dirty="0"/>
              <a:t>we need to gather information, in such a way that:-</a:t>
            </a:r>
            <a:br>
              <a:rPr lang="en-US" altLang="en-US" sz="2800" b="0" dirty="0"/>
            </a:br>
            <a:r>
              <a:rPr lang="en-US" altLang="en-US" sz="2800" b="0" dirty="0"/>
              <a:t>     1. Purpose of the web site/application.</a:t>
            </a:r>
            <a:br>
              <a:rPr lang="en-US" altLang="en-US" sz="2800" b="0" dirty="0"/>
            </a:br>
            <a:r>
              <a:rPr lang="en-US" altLang="en-US" sz="2800" b="0" dirty="0"/>
              <a:t>     2. Goals of web site. Is it to entertain or what?</a:t>
            </a:r>
            <a:br>
              <a:rPr lang="en-US" altLang="en-US" sz="2800" b="0" dirty="0"/>
            </a:br>
            <a:r>
              <a:rPr lang="en-US" altLang="en-US" sz="2800" b="0" dirty="0"/>
              <a:t>     3. from where the information comes from?</a:t>
            </a:r>
            <a:br>
              <a:rPr lang="en-US" altLang="en-US" sz="2800" dirty="0"/>
            </a:br>
            <a:endParaRPr lang="en-US" altLang="en-US" sz="2800" dirty="0"/>
          </a:p>
        </p:txBody>
      </p:sp>
      <p:sp>
        <p:nvSpPr>
          <p:cNvPr id="3" name="Slide Number Placeholder 2">
            <a:extLst>
              <a:ext uri="{FF2B5EF4-FFF2-40B4-BE49-F238E27FC236}">
                <a16:creationId xmlns:a16="http://schemas.microsoft.com/office/drawing/2014/main" id="{26627D4C-360A-4EE4-80FE-8D58AAFEEF39}"/>
              </a:ext>
            </a:extLst>
          </p:cNvPr>
          <p:cNvSpPr>
            <a:spLocks noGrp="1"/>
          </p:cNvSpPr>
          <p:nvPr>
            <p:ph type="sldNum" sz="quarter" idx="12"/>
          </p:nvPr>
        </p:nvSpPr>
        <p:spPr/>
        <p:txBody>
          <a:bodyPr/>
          <a:lstStyle/>
          <a:p>
            <a:pPr>
              <a:defRPr/>
            </a:pPr>
            <a:fld id="{D44D0374-C367-4124-A1F8-7B9171F8C108}" type="slidenum">
              <a:rPr lang="fi-FI" altLang="en-US" smtClean="0"/>
              <a:pPr>
                <a:defRPr/>
              </a:pPr>
              <a:t>45</a:t>
            </a:fld>
            <a:endParaRPr lang="fi-FI" altLang="en-US"/>
          </a:p>
        </p:txBody>
      </p:sp>
      <p:sp>
        <p:nvSpPr>
          <p:cNvPr id="4" name="Title 1">
            <a:extLst>
              <a:ext uri="{FF2B5EF4-FFF2-40B4-BE49-F238E27FC236}">
                <a16:creationId xmlns:a16="http://schemas.microsoft.com/office/drawing/2014/main" id="{B29F14BB-5BC7-4718-915C-7E84A2866D2B}"/>
              </a:ext>
            </a:extLst>
          </p:cNvPr>
          <p:cNvSpPr txBox="1">
            <a:spLocks/>
          </p:cNvSpPr>
          <p:nvPr/>
        </p:nvSpPr>
        <p:spPr>
          <a:xfrm>
            <a:off x="1143000" y="429299"/>
            <a:ext cx="9228535" cy="68580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defRPr/>
            </a:pPr>
            <a:r>
              <a:rPr lang="en-GB" altLang="en-US"/>
              <a:t>Designing Web Applications</a:t>
            </a: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F527E21-8C33-40F4-AE12-102E768F8C51}"/>
              </a:ext>
            </a:extLst>
          </p:cNvPr>
          <p:cNvSpPr>
            <a:spLocks noGrp="1"/>
          </p:cNvSpPr>
          <p:nvPr>
            <p:ph type="sldNum" sz="quarter" idx="12"/>
          </p:nvPr>
        </p:nvSpPr>
        <p:spPr/>
        <p:txBody>
          <a:bodyPr/>
          <a:lstStyle/>
          <a:p>
            <a:pPr>
              <a:defRPr/>
            </a:pPr>
            <a:fld id="{5F2B876A-5752-4B7D-B793-DAAB6D4BD890}" type="slidenum">
              <a:rPr lang="fi-FI" altLang="en-US" smtClean="0"/>
              <a:pPr>
                <a:defRPr/>
              </a:pPr>
              <a:t>46</a:t>
            </a:fld>
            <a:endParaRPr lang="fi-FI" altLang="en-US"/>
          </a:p>
        </p:txBody>
      </p:sp>
      <p:sp>
        <p:nvSpPr>
          <p:cNvPr id="123907" name="Rectangle 3">
            <a:extLst>
              <a:ext uri="{FF2B5EF4-FFF2-40B4-BE49-F238E27FC236}">
                <a16:creationId xmlns:a16="http://schemas.microsoft.com/office/drawing/2014/main" id="{65AB9414-4D85-431C-9F53-183E29C8CE2D}"/>
              </a:ext>
            </a:extLst>
          </p:cNvPr>
          <p:cNvSpPr>
            <a:spLocks noChangeArrowheads="1"/>
          </p:cNvSpPr>
          <p:nvPr/>
        </p:nvSpPr>
        <p:spPr bwMode="auto">
          <a:xfrm>
            <a:off x="609600" y="1457504"/>
            <a:ext cx="10972800"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spcAft>
                <a:spcPts val="750"/>
              </a:spcAft>
            </a:pPr>
            <a:r>
              <a:rPr lang="en-US" altLang="en-US" b="1" dirty="0">
                <a:latin typeface="Calibri" panose="020F0502020204030204" pitchFamily="34" charset="0"/>
                <a:ea typeface="Calibri" panose="020F0502020204030204" pitchFamily="34" charset="0"/>
                <a:cs typeface="Times New Roman" panose="02020603050405020304" pitchFamily="18" charset="0"/>
              </a:rPr>
              <a:t>(B)</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sz="2800" b="1" u="sng" dirty="0">
                <a:latin typeface="+mj-lt"/>
                <a:ea typeface="Calibri" panose="020F0502020204030204" pitchFamily="34" charset="0"/>
                <a:cs typeface="Times New Roman" panose="02020603050405020304" pitchFamily="18" charset="0"/>
              </a:rPr>
              <a:t>Organize the information:-</a:t>
            </a:r>
            <a:r>
              <a:rPr lang="en-US" altLang="en-US" sz="2800" dirty="0">
                <a:latin typeface="+mj-lt"/>
                <a:ea typeface="Calibri" panose="020F0502020204030204" pitchFamily="34" charset="0"/>
                <a:cs typeface="Times New Roman" panose="02020603050405020304" pitchFamily="18" charset="0"/>
              </a:rPr>
              <a:t>  </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1. Alphabetical order</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2. Chronological order- associated with date.  </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3. Geographical  </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4. Topical- by using topics.</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5. Task-according to their purposes example download, read reviews.</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6. Priority- according to their importance, and priority</a:t>
            </a:r>
            <a:r>
              <a:rPr lang="en-US" altLang="en-US" dirty="0">
                <a:latin typeface="Calibri" panose="020F0502020204030204" pitchFamily="34" charset="0"/>
                <a:ea typeface="Calibri" panose="020F0502020204030204" pitchFamily="34" charset="0"/>
                <a:cs typeface="Times New Roman" panose="02020603050405020304" pitchFamily="18" charset="0"/>
              </a:rPr>
              <a:t>.   </a:t>
            </a:r>
          </a:p>
        </p:txBody>
      </p:sp>
      <p:sp>
        <p:nvSpPr>
          <p:cNvPr id="4" name="Title 1">
            <a:extLst>
              <a:ext uri="{FF2B5EF4-FFF2-40B4-BE49-F238E27FC236}">
                <a16:creationId xmlns:a16="http://schemas.microsoft.com/office/drawing/2014/main" id="{61C968A0-2716-41A4-A2AD-B8A5F1443AF0}"/>
              </a:ext>
            </a:extLst>
          </p:cNvPr>
          <p:cNvSpPr>
            <a:spLocks noGrp="1"/>
          </p:cNvSpPr>
          <p:nvPr>
            <p:ph type="title"/>
          </p:nvPr>
        </p:nvSpPr>
        <p:spPr>
          <a:xfrm>
            <a:off x="990600" y="242316"/>
            <a:ext cx="9228535" cy="685800"/>
          </a:xfrm>
        </p:spPr>
        <p:txBody>
          <a:bodyPr>
            <a:normAutofit fontScale="90000"/>
          </a:bodyPr>
          <a:lstStyle/>
          <a:p>
            <a:pPr fontAlgn="auto">
              <a:spcAft>
                <a:spcPts val="0"/>
              </a:spcAft>
              <a:defRPr/>
            </a:pPr>
            <a:r>
              <a:rPr lang="en-GB" altLang="en-US" dirty="0"/>
              <a:t>Designing Web Applications</a:t>
            </a:r>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E54752-CA40-41E2-A3B9-BDFC386CFA73}"/>
              </a:ext>
            </a:extLst>
          </p:cNvPr>
          <p:cNvSpPr>
            <a:spLocks noGrp="1"/>
          </p:cNvSpPr>
          <p:nvPr>
            <p:ph type="sldNum" sz="quarter" idx="12"/>
          </p:nvPr>
        </p:nvSpPr>
        <p:spPr/>
        <p:txBody>
          <a:bodyPr/>
          <a:lstStyle/>
          <a:p>
            <a:pPr>
              <a:defRPr/>
            </a:pPr>
            <a:fld id="{08E97B16-CFCD-45B7-84AE-CD4CF29A041B}" type="slidenum">
              <a:rPr lang="fi-FI" altLang="en-US" smtClean="0"/>
              <a:pPr>
                <a:defRPr/>
              </a:pPr>
              <a:t>47</a:t>
            </a:fld>
            <a:endParaRPr lang="fi-FI" altLang="en-US"/>
          </a:p>
        </p:txBody>
      </p:sp>
      <p:sp>
        <p:nvSpPr>
          <p:cNvPr id="125955" name="Rectangle 3">
            <a:extLst>
              <a:ext uri="{FF2B5EF4-FFF2-40B4-BE49-F238E27FC236}">
                <a16:creationId xmlns:a16="http://schemas.microsoft.com/office/drawing/2014/main" id="{897ABA19-5BBC-4500-8AEF-C45F305FC6BE}"/>
              </a:ext>
            </a:extLst>
          </p:cNvPr>
          <p:cNvSpPr>
            <a:spLocks noChangeArrowheads="1"/>
          </p:cNvSpPr>
          <p:nvPr/>
        </p:nvSpPr>
        <p:spPr bwMode="auto">
          <a:xfrm>
            <a:off x="975360" y="1219200"/>
            <a:ext cx="1053084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lnSpc>
                <a:spcPct val="150000"/>
              </a:lnSpc>
              <a:spcAft>
                <a:spcPts val="750"/>
              </a:spcAft>
            </a:pPr>
            <a:r>
              <a:rPr lang="en-US" altLang="en-US" sz="2800" b="1" dirty="0">
                <a:latin typeface="+mj-lt"/>
                <a:ea typeface="Calibri" panose="020F0502020204030204" pitchFamily="34" charset="0"/>
                <a:cs typeface="Times New Roman" panose="02020603050405020304" pitchFamily="18" charset="0"/>
              </a:rPr>
              <a:t>(C) </a:t>
            </a:r>
            <a:r>
              <a:rPr lang="en-US" altLang="en-US" sz="2800" b="1" u="sng" dirty="0">
                <a:latin typeface="+mj-lt"/>
                <a:ea typeface="Calibri" panose="020F0502020204030204" pitchFamily="34" charset="0"/>
                <a:cs typeface="Times New Roman" panose="02020603050405020304" pitchFamily="18" charset="0"/>
              </a:rPr>
              <a:t>Structure</a:t>
            </a:r>
            <a:r>
              <a:rPr lang="en-US" altLang="en-US" sz="2800" dirty="0">
                <a:latin typeface="+mj-lt"/>
                <a:ea typeface="Calibri" panose="020F0502020204030204" pitchFamily="34" charset="0"/>
                <a:cs typeface="Times New Roman" panose="02020603050405020304" pitchFamily="18" charset="0"/>
              </a:rPr>
              <a:t> </a:t>
            </a:r>
          </a:p>
          <a:p>
            <a:pPr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1. </a:t>
            </a:r>
            <a:r>
              <a:rPr lang="en-US" altLang="en-US" sz="2800" b="1" i="1" dirty="0">
                <a:latin typeface="+mj-lt"/>
                <a:ea typeface="Calibri" panose="020F0502020204030204" pitchFamily="34" charset="0"/>
                <a:cs typeface="Times New Roman" panose="02020603050405020304" pitchFamily="18" charset="0"/>
              </a:rPr>
              <a:t>Hierarchical:-</a:t>
            </a:r>
            <a:r>
              <a:rPr lang="en-US" altLang="en-US" sz="2800" dirty="0">
                <a:latin typeface="+mj-lt"/>
                <a:ea typeface="Calibri" panose="020F0502020204030204" pitchFamily="34" charset="0"/>
                <a:cs typeface="Times New Roman" panose="02020603050405020304" pitchFamily="18" charset="0"/>
              </a:rPr>
              <a:t>takes a top down approach (from high level categories to logical sub categories) and helps to visualize the structure of the web site.</a:t>
            </a:r>
          </a:p>
          <a:p>
            <a:pPr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2. </a:t>
            </a:r>
            <a:r>
              <a:rPr lang="en-US" altLang="en-US" sz="2800" b="1" i="1" dirty="0">
                <a:latin typeface="+mj-lt"/>
                <a:ea typeface="Calibri" panose="020F0502020204030204" pitchFamily="34" charset="0"/>
                <a:cs typeface="Times New Roman" panose="02020603050405020304" pitchFamily="18" charset="0"/>
              </a:rPr>
              <a:t>Hypertext structure-</a:t>
            </a:r>
            <a:r>
              <a:rPr lang="en-US" altLang="en-US" sz="2800" i="1" dirty="0">
                <a:latin typeface="+mj-lt"/>
                <a:ea typeface="Calibri" panose="020F0502020204030204" pitchFamily="34" charset="0"/>
                <a:cs typeface="Times New Roman" panose="02020603050405020304" pitchFamily="18" charset="0"/>
              </a:rPr>
              <a:t>text </a:t>
            </a:r>
            <a:r>
              <a:rPr lang="en-US" altLang="en-US" sz="2800" dirty="0">
                <a:latin typeface="+mj-lt"/>
                <a:ea typeface="Calibri" panose="020F0502020204030204" pitchFamily="34" charset="0"/>
                <a:cs typeface="Times New Roman" panose="02020603050405020304" pitchFamily="18" charset="0"/>
              </a:rPr>
              <a:t>or an image linked to another page.</a:t>
            </a:r>
          </a:p>
          <a:p>
            <a:pPr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3. </a:t>
            </a:r>
            <a:r>
              <a:rPr lang="en-US" altLang="en-US" sz="2800" b="1" i="1" dirty="0">
                <a:latin typeface="+mj-lt"/>
                <a:ea typeface="Calibri" panose="020F0502020204030204" pitchFamily="34" charset="0"/>
                <a:cs typeface="Times New Roman" panose="02020603050405020304" pitchFamily="18" charset="0"/>
              </a:rPr>
              <a:t>Database structure-</a:t>
            </a:r>
            <a:r>
              <a:rPr lang="en-US" altLang="en-US" sz="2800" i="1" dirty="0">
                <a:latin typeface="+mj-lt"/>
                <a:ea typeface="Calibri" panose="020F0502020204030204" pitchFamily="34" charset="0"/>
                <a:cs typeface="Times New Roman" panose="02020603050405020304" pitchFamily="18" charset="0"/>
              </a:rPr>
              <a:t>used</a:t>
            </a:r>
            <a:r>
              <a:rPr lang="en-US" altLang="en-US" sz="2800" b="1" i="1" dirty="0">
                <a:latin typeface="+mj-lt"/>
                <a:ea typeface="Calibri" panose="020F0502020204030204" pitchFamily="34" charset="0"/>
                <a:cs typeface="Times New Roman" panose="02020603050405020304" pitchFamily="18" charset="0"/>
              </a:rPr>
              <a:t> </a:t>
            </a:r>
            <a:r>
              <a:rPr lang="en-US" altLang="en-US" sz="2800" dirty="0">
                <a:latin typeface="+mj-lt"/>
                <a:ea typeface="Calibri" panose="020F0502020204030204" pitchFamily="34" charset="0"/>
                <a:cs typeface="Times New Roman" panose="02020603050405020304" pitchFamily="18" charset="0"/>
              </a:rPr>
              <a:t>for easily to maintain and updated outside of the web site itself.</a:t>
            </a:r>
          </a:p>
        </p:txBody>
      </p:sp>
      <p:sp>
        <p:nvSpPr>
          <p:cNvPr id="4" name="Title 1">
            <a:extLst>
              <a:ext uri="{FF2B5EF4-FFF2-40B4-BE49-F238E27FC236}">
                <a16:creationId xmlns:a16="http://schemas.microsoft.com/office/drawing/2014/main" id="{19978F12-25BA-4CD3-B7B8-0AC7F56AE6BE}"/>
              </a:ext>
            </a:extLst>
          </p:cNvPr>
          <p:cNvSpPr>
            <a:spLocks noGrp="1"/>
          </p:cNvSpPr>
          <p:nvPr>
            <p:ph type="title"/>
          </p:nvPr>
        </p:nvSpPr>
        <p:spPr>
          <a:xfrm>
            <a:off x="1295400" y="533400"/>
            <a:ext cx="9228535" cy="685800"/>
          </a:xfrm>
        </p:spPr>
        <p:txBody>
          <a:bodyPr>
            <a:normAutofit fontScale="90000"/>
          </a:bodyPr>
          <a:lstStyle/>
          <a:p>
            <a:pPr fontAlgn="auto">
              <a:spcAft>
                <a:spcPts val="0"/>
              </a:spcAft>
              <a:defRPr/>
            </a:pPr>
            <a:r>
              <a:rPr lang="en-GB" altLang="en-US" dirty="0"/>
              <a:t>Designing Web Applications</a:t>
            </a:r>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7B5C5AB-FBE1-4DAB-BA81-5B937D8DB6F6}"/>
              </a:ext>
            </a:extLst>
          </p:cNvPr>
          <p:cNvSpPr>
            <a:spLocks noGrp="1"/>
          </p:cNvSpPr>
          <p:nvPr>
            <p:ph type="sldNum" sz="quarter" idx="12"/>
          </p:nvPr>
        </p:nvSpPr>
        <p:spPr/>
        <p:txBody>
          <a:bodyPr/>
          <a:lstStyle/>
          <a:p>
            <a:pPr>
              <a:defRPr/>
            </a:pPr>
            <a:fld id="{36E85279-D8E1-4F84-A3B8-E27B97FF1AEB}" type="slidenum">
              <a:rPr lang="fi-FI" altLang="en-US" smtClean="0"/>
              <a:pPr>
                <a:defRPr/>
              </a:pPr>
              <a:t>48</a:t>
            </a:fld>
            <a:endParaRPr lang="fi-FI" altLang="en-US"/>
          </a:p>
        </p:txBody>
      </p:sp>
      <p:sp>
        <p:nvSpPr>
          <p:cNvPr id="128003" name="Rectangle 3">
            <a:extLst>
              <a:ext uri="{FF2B5EF4-FFF2-40B4-BE49-F238E27FC236}">
                <a16:creationId xmlns:a16="http://schemas.microsoft.com/office/drawing/2014/main" id="{C905B14D-F300-4B96-89DC-5AF88979E09C}"/>
              </a:ext>
            </a:extLst>
          </p:cNvPr>
          <p:cNvSpPr>
            <a:spLocks noChangeArrowheads="1"/>
          </p:cNvSpPr>
          <p:nvPr/>
        </p:nvSpPr>
        <p:spPr bwMode="auto">
          <a:xfrm>
            <a:off x="1076178" y="1349363"/>
            <a:ext cx="10405063"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lnSpc>
                <a:spcPct val="150000"/>
              </a:lnSpc>
              <a:spcAft>
                <a:spcPts val="750"/>
              </a:spcAft>
            </a:pPr>
            <a:r>
              <a:rPr lang="en-US" altLang="en-US" sz="2800" b="1" dirty="0">
                <a:latin typeface="Calibri" panose="020F0502020204030204" pitchFamily="34" charset="0"/>
                <a:ea typeface="Calibri" panose="020F0502020204030204" pitchFamily="34" charset="0"/>
                <a:cs typeface="Times New Roman" panose="02020603050405020304" pitchFamily="18" charset="0"/>
              </a:rPr>
              <a:t>(D</a:t>
            </a:r>
            <a:r>
              <a:rPr lang="en-US" altLang="en-US" sz="2800" b="1" dirty="0">
                <a:latin typeface="+mj-lt"/>
                <a:ea typeface="Calibri" panose="020F0502020204030204" pitchFamily="34" charset="0"/>
                <a:cs typeface="Times New Roman" panose="02020603050405020304" pitchFamily="18" charset="0"/>
              </a:rPr>
              <a:t>)</a:t>
            </a:r>
            <a:r>
              <a:rPr lang="en-US" altLang="en-US" sz="2800" dirty="0">
                <a:latin typeface="+mj-lt"/>
                <a:ea typeface="Calibri" panose="020F0502020204030204" pitchFamily="34" charset="0"/>
                <a:cs typeface="Times New Roman" panose="02020603050405020304" pitchFamily="18" charset="0"/>
              </a:rPr>
              <a:t> </a:t>
            </a:r>
            <a:r>
              <a:rPr lang="en-US" altLang="en-US" sz="2800" b="1" u="sng" dirty="0">
                <a:latin typeface="+mj-lt"/>
                <a:ea typeface="Calibri" panose="020F0502020204030204" pitchFamily="34" charset="0"/>
                <a:cs typeface="Times New Roman" panose="02020603050405020304" pitchFamily="18" charset="0"/>
              </a:rPr>
              <a:t>Develop a navigation schema</a:t>
            </a:r>
            <a:r>
              <a:rPr lang="en-US" altLang="en-US" sz="2800" dirty="0">
                <a:latin typeface="+mj-lt"/>
                <a:ea typeface="Calibri" panose="020F0502020204030204" pitchFamily="34" charset="0"/>
                <a:cs typeface="Times New Roman" panose="02020603050405020304" pitchFamily="18" charset="0"/>
              </a:rPr>
              <a:t>:-user moves around the site and finds the information.</a:t>
            </a:r>
          </a:p>
          <a:p>
            <a:pPr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These include…..</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Forward and backward arrows.</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Bookmarks or favorites lists</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Standard display for visited/unvisited lists </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Status bar</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Page URLs</a:t>
            </a:r>
          </a:p>
        </p:txBody>
      </p:sp>
      <p:sp>
        <p:nvSpPr>
          <p:cNvPr id="4" name="Title 1">
            <a:extLst>
              <a:ext uri="{FF2B5EF4-FFF2-40B4-BE49-F238E27FC236}">
                <a16:creationId xmlns:a16="http://schemas.microsoft.com/office/drawing/2014/main" id="{A8ED81DF-B2BC-4BF4-927B-404CA2A449CE}"/>
              </a:ext>
            </a:extLst>
          </p:cNvPr>
          <p:cNvSpPr>
            <a:spLocks noGrp="1"/>
          </p:cNvSpPr>
          <p:nvPr>
            <p:ph type="title"/>
          </p:nvPr>
        </p:nvSpPr>
        <p:spPr>
          <a:xfrm>
            <a:off x="1066800" y="664638"/>
            <a:ext cx="9228535" cy="685800"/>
          </a:xfrm>
        </p:spPr>
        <p:txBody>
          <a:bodyPr>
            <a:normAutofit fontScale="90000"/>
          </a:bodyPr>
          <a:lstStyle/>
          <a:p>
            <a:pPr fontAlgn="auto">
              <a:spcAft>
                <a:spcPts val="0"/>
              </a:spcAft>
              <a:defRPr/>
            </a:pPr>
            <a:r>
              <a:rPr lang="en-GB" altLang="en-US" dirty="0"/>
              <a:t>Designing Web Applications</a:t>
            </a:r>
            <a:endParaRPr lang="en-US"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6D36B-83DB-4F86-A248-60311D77B0C8}"/>
              </a:ext>
            </a:extLst>
          </p:cNvPr>
          <p:cNvSpPr>
            <a:spLocks noGrp="1"/>
          </p:cNvSpPr>
          <p:nvPr>
            <p:ph type="sldNum" sz="quarter" idx="12"/>
          </p:nvPr>
        </p:nvSpPr>
        <p:spPr/>
        <p:txBody>
          <a:bodyPr/>
          <a:lstStyle/>
          <a:p>
            <a:pPr>
              <a:defRPr/>
            </a:pPr>
            <a:fld id="{883A3340-CC38-4353-8908-B313A4D95FDD}" type="slidenum">
              <a:rPr lang="fi-FI" altLang="en-US" smtClean="0"/>
              <a:pPr>
                <a:defRPr/>
              </a:pPr>
              <a:t>49</a:t>
            </a:fld>
            <a:endParaRPr lang="fi-FI" altLang="en-US"/>
          </a:p>
        </p:txBody>
      </p:sp>
      <p:sp>
        <p:nvSpPr>
          <p:cNvPr id="132099" name="Rectangle 3">
            <a:extLst>
              <a:ext uri="{FF2B5EF4-FFF2-40B4-BE49-F238E27FC236}">
                <a16:creationId xmlns:a16="http://schemas.microsoft.com/office/drawing/2014/main" id="{F8C3F4F3-2C35-406D-9994-8D164313E994}"/>
              </a:ext>
            </a:extLst>
          </p:cNvPr>
          <p:cNvSpPr>
            <a:spLocks noChangeArrowheads="1"/>
          </p:cNvSpPr>
          <p:nvPr/>
        </p:nvSpPr>
        <p:spPr bwMode="auto">
          <a:xfrm>
            <a:off x="457200" y="609600"/>
            <a:ext cx="10972800" cy="555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eaLnBrk="1" hangingPunct="1">
              <a:spcAft>
                <a:spcPts val="750"/>
              </a:spcAft>
            </a:pPr>
            <a:r>
              <a:rPr lang="en-US" altLang="en-US" sz="2800" b="1" dirty="0">
                <a:latin typeface="+mj-lt"/>
                <a:ea typeface="Calibri" panose="020F0502020204030204" pitchFamily="34" charset="0"/>
                <a:cs typeface="Times New Roman" panose="02020603050405020304" pitchFamily="18" charset="0"/>
              </a:rPr>
              <a:t>(E)</a:t>
            </a:r>
            <a:r>
              <a:rPr lang="en-US" altLang="en-US" sz="2800" dirty="0">
                <a:latin typeface="+mj-lt"/>
                <a:ea typeface="Calibri" panose="020F0502020204030204" pitchFamily="34" charset="0"/>
                <a:cs typeface="Times New Roman" panose="02020603050405020304" pitchFamily="18" charset="0"/>
              </a:rPr>
              <a:t> </a:t>
            </a:r>
            <a:r>
              <a:rPr lang="en-US" altLang="en-US" sz="2800" b="1" u="sng" dirty="0">
                <a:latin typeface="+mj-lt"/>
                <a:ea typeface="Calibri" panose="020F0502020204030204" pitchFamily="34" charset="0"/>
                <a:cs typeface="Times New Roman" panose="02020603050405020304" pitchFamily="18" charset="0"/>
              </a:rPr>
              <a:t>Layout the web pages:</a:t>
            </a:r>
            <a:r>
              <a:rPr lang="en-US" altLang="en-US" sz="2800" dirty="0">
                <a:latin typeface="+mj-lt"/>
                <a:ea typeface="Calibri" panose="020F0502020204030204" pitchFamily="34" charset="0"/>
                <a:cs typeface="Times New Roman" panose="02020603050405020304" pitchFamily="18" charset="0"/>
              </a:rPr>
              <a:t>-it is the way pages are arranged.</a:t>
            </a:r>
          </a:p>
          <a:p>
            <a:pPr eaLnBrk="1" hangingPunct="1">
              <a:spcAft>
                <a:spcPts val="750"/>
              </a:spcAft>
            </a:pPr>
            <a:r>
              <a:rPr lang="en-US" altLang="en-US" sz="2800" dirty="0">
                <a:latin typeface="+mj-lt"/>
                <a:ea typeface="Calibri" panose="020F0502020204030204" pitchFamily="34" charset="0"/>
                <a:cs typeface="Times New Roman" panose="02020603050405020304" pitchFamily="18" charset="0"/>
              </a:rPr>
              <a:t> A few things should be remember to lay out a web site….</a:t>
            </a:r>
          </a:p>
          <a:p>
            <a:pPr marL="1200150" lvl="1" indent="-457200">
              <a:spcAft>
                <a:spcPts val="750"/>
              </a:spcAft>
              <a:buFont typeface="Wingdings" panose="05000000000000000000" pitchFamily="2" charset="2"/>
              <a:buChar char="ü"/>
            </a:pPr>
            <a:r>
              <a:rPr lang="en-US" altLang="en-US" sz="2800" b="1" dirty="0">
                <a:latin typeface="+mj-lt"/>
                <a:ea typeface="Calibri" panose="020F0502020204030204" pitchFamily="34" charset="0"/>
                <a:cs typeface="Times New Roman" panose="02020603050405020304" pitchFamily="18" charset="0"/>
              </a:rPr>
              <a:t>Use industry standard </a:t>
            </a:r>
            <a:r>
              <a:rPr lang="en-US" altLang="en-US" sz="2800" dirty="0">
                <a:latin typeface="+mj-lt"/>
                <a:ea typeface="Calibri" panose="020F0502020204030204" pitchFamily="34" charset="0"/>
                <a:cs typeface="Times New Roman" panose="02020603050405020304" pitchFamily="18" charset="0"/>
              </a:rPr>
              <a:t>HTML tags and test in different browsers, browser versions. </a:t>
            </a:r>
          </a:p>
          <a:p>
            <a:pPr marL="1200150" lvl="1" indent="-457200">
              <a:spcAft>
                <a:spcPts val="750"/>
              </a:spcAft>
              <a:buFont typeface="Wingdings" panose="05000000000000000000" pitchFamily="2" charset="2"/>
              <a:buChar char="ü"/>
            </a:pPr>
            <a:r>
              <a:rPr lang="en-US" altLang="en-US" sz="2800" b="1" dirty="0">
                <a:latin typeface="+mj-lt"/>
                <a:ea typeface="Calibri" panose="020F0502020204030204" pitchFamily="34" charset="0"/>
                <a:cs typeface="Times New Roman" panose="02020603050405020304" pitchFamily="18" charset="0"/>
              </a:rPr>
              <a:t>Monitor resolution- </a:t>
            </a:r>
            <a:r>
              <a:rPr lang="en-US" altLang="en-US" sz="2800" dirty="0">
                <a:latin typeface="+mj-lt"/>
                <a:ea typeface="Calibri" panose="020F0502020204030204" pitchFamily="34" charset="0"/>
                <a:cs typeface="Times New Roman" panose="02020603050405020304" pitchFamily="18" charset="0"/>
              </a:rPr>
              <a:t>can also affect the width and the height of the page so fix the computer resolution before.</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a:t>
            </a:r>
            <a:r>
              <a:rPr lang="en-US" altLang="en-US" sz="2800" b="1" dirty="0">
                <a:latin typeface="+mj-lt"/>
                <a:ea typeface="Calibri" panose="020F0502020204030204" pitchFamily="34" charset="0"/>
                <a:cs typeface="Times New Roman" panose="02020603050405020304" pitchFamily="18" charset="0"/>
              </a:rPr>
              <a:t>Data transfer-file size</a:t>
            </a:r>
            <a:r>
              <a:rPr lang="en-US" altLang="en-US" sz="2800" dirty="0">
                <a:latin typeface="+mj-lt"/>
                <a:ea typeface="Calibri" panose="020F0502020204030204" pitchFamily="34" charset="0"/>
                <a:cs typeface="Times New Roman" panose="02020603050405020304" pitchFamily="18" charset="0"/>
              </a:rPr>
              <a:t>:-try not to put unnecessary images because it will slow down the data transfer progress.</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Consistent banner image-should be the same in page to page.</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 Page back ground-solid color is the best to  </a:t>
            </a:r>
          </a:p>
          <a:p>
            <a:pPr marL="1200150" lvl="1" indent="-457200">
              <a:spcAft>
                <a:spcPts val="750"/>
              </a:spcAft>
              <a:buFont typeface="Wingdings" panose="05000000000000000000" pitchFamily="2" charset="2"/>
              <a:buChar char="ü"/>
            </a:pPr>
            <a:r>
              <a:rPr lang="en-US" altLang="en-US" sz="2800" dirty="0">
                <a:latin typeface="+mj-lt"/>
                <a:ea typeface="Calibri" panose="020F0502020204030204" pitchFamily="34" charset="0"/>
                <a:cs typeface="Times New Roman" panose="02020603050405020304" pitchFamily="18" charset="0"/>
              </a:rPr>
              <a:t>Use HTML Tables for controlling the layout of the web pages</a:t>
            </a:r>
            <a:r>
              <a:rPr lang="en-US" altLang="en-US" sz="1500" dirty="0">
                <a:latin typeface="+mj-lt"/>
                <a:ea typeface="Calibri" panose="020F0502020204030204" pitchFamily="34" charset="0"/>
                <a:cs typeface="Times New Roman" panose="02020603050405020304" pitchFamily="18"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F8957E-428E-4DC1-8F01-85D07AE9F463}"/>
              </a:ext>
            </a:extLst>
          </p:cNvPr>
          <p:cNvSpPr>
            <a:spLocks noGrp="1"/>
          </p:cNvSpPr>
          <p:nvPr>
            <p:ph type="sldNum" sz="quarter" idx="12"/>
          </p:nvPr>
        </p:nvSpPr>
        <p:spPr/>
        <p:txBody>
          <a:bodyPr/>
          <a:lstStyle/>
          <a:p>
            <a:pPr>
              <a:defRPr/>
            </a:pPr>
            <a:fld id="{CFD612A5-6135-4874-8A0D-823FAE7D7DF8}" type="slidenum">
              <a:rPr lang="fi-FI" altLang="en-US" smtClean="0"/>
              <a:pPr>
                <a:defRPr/>
              </a:pPr>
              <a:t>50</a:t>
            </a:fld>
            <a:endParaRPr lang="fi-FI" altLang="en-US"/>
          </a:p>
        </p:txBody>
      </p:sp>
      <p:sp>
        <p:nvSpPr>
          <p:cNvPr id="134147" name="Rectangle 3">
            <a:extLst>
              <a:ext uri="{FF2B5EF4-FFF2-40B4-BE49-F238E27FC236}">
                <a16:creationId xmlns:a16="http://schemas.microsoft.com/office/drawing/2014/main" id="{99BD7178-FACF-412C-889D-9DDF3DF9B195}"/>
              </a:ext>
            </a:extLst>
          </p:cNvPr>
          <p:cNvSpPr>
            <a:spLocks noChangeArrowheads="1"/>
          </p:cNvSpPr>
          <p:nvPr/>
        </p:nvSpPr>
        <p:spPr bwMode="auto">
          <a:xfrm>
            <a:off x="1181100" y="632304"/>
            <a:ext cx="9829800" cy="4947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fontAlgn="base">
              <a:spcBef>
                <a:spcPct val="0"/>
              </a:spcBef>
              <a:spcAft>
                <a:spcPct val="0"/>
              </a:spcAft>
              <a:defRPr>
                <a:solidFill>
                  <a:schemeClr val="tx1"/>
                </a:solidFill>
                <a:latin typeface="Rockwell" panose="02060603020205020403" pitchFamily="18" charset="0"/>
              </a:defRPr>
            </a:lvl6pPr>
            <a:lvl7pPr marL="2971800" indent="-228600" defTabSz="457200" fontAlgn="base">
              <a:spcBef>
                <a:spcPct val="0"/>
              </a:spcBef>
              <a:spcAft>
                <a:spcPct val="0"/>
              </a:spcAft>
              <a:defRPr>
                <a:solidFill>
                  <a:schemeClr val="tx1"/>
                </a:solidFill>
                <a:latin typeface="Rockwell" panose="02060603020205020403" pitchFamily="18" charset="0"/>
              </a:defRPr>
            </a:lvl7pPr>
            <a:lvl8pPr marL="3429000" indent="-228600" defTabSz="457200" fontAlgn="base">
              <a:spcBef>
                <a:spcPct val="0"/>
              </a:spcBef>
              <a:spcAft>
                <a:spcPct val="0"/>
              </a:spcAft>
              <a:defRPr>
                <a:solidFill>
                  <a:schemeClr val="tx1"/>
                </a:solidFill>
                <a:latin typeface="Rockwell" panose="02060603020205020403" pitchFamily="18" charset="0"/>
              </a:defRPr>
            </a:lvl8pPr>
            <a:lvl9pPr marL="3886200" indent="-228600" defTabSz="457200" fontAlgn="base">
              <a:spcBef>
                <a:spcPct val="0"/>
              </a:spcBef>
              <a:spcAft>
                <a:spcPct val="0"/>
              </a:spcAft>
              <a:defRPr>
                <a:solidFill>
                  <a:schemeClr val="tx1"/>
                </a:solidFill>
                <a:latin typeface="Rockwell" panose="02060603020205020403" pitchFamily="18" charset="0"/>
              </a:defRPr>
            </a:lvl9pPr>
          </a:lstStyle>
          <a:p>
            <a:pPr algn="just" eaLnBrk="1" hangingPunct="1">
              <a:lnSpc>
                <a:spcPct val="150000"/>
              </a:lnSpc>
              <a:spcAft>
                <a:spcPts val="750"/>
              </a:spcAft>
            </a:pPr>
            <a:r>
              <a:rPr lang="en-US" altLang="en-US" sz="2800" b="1" dirty="0">
                <a:latin typeface="+mj-lt"/>
                <a:ea typeface="Calibri" panose="020F0502020204030204" pitchFamily="34" charset="0"/>
                <a:cs typeface="Times New Roman" panose="02020603050405020304" pitchFamily="18" charset="0"/>
              </a:rPr>
              <a:t>(F) </a:t>
            </a:r>
            <a:r>
              <a:rPr lang="en-US" altLang="en-US" sz="2800" b="1" u="sng" dirty="0">
                <a:latin typeface="+mj-lt"/>
                <a:ea typeface="Calibri" panose="020F0502020204030204" pitchFamily="34" charset="0"/>
                <a:cs typeface="Times New Roman" panose="02020603050405020304" pitchFamily="18" charset="0"/>
              </a:rPr>
              <a:t>Web accessibility:</a:t>
            </a:r>
            <a:r>
              <a:rPr lang="en-US" altLang="en-US" sz="2800" b="1" dirty="0">
                <a:latin typeface="+mj-lt"/>
                <a:ea typeface="Calibri" panose="020F0502020204030204" pitchFamily="34" charset="0"/>
                <a:cs typeface="Times New Roman" panose="02020603050405020304" pitchFamily="18" charset="0"/>
              </a:rPr>
              <a:t>-</a:t>
            </a:r>
            <a:r>
              <a:rPr lang="en-US" altLang="en-US" sz="2800" dirty="0">
                <a:latin typeface="+mj-lt"/>
                <a:ea typeface="Calibri" panose="020F0502020204030204" pitchFamily="34" charset="0"/>
                <a:cs typeface="Times New Roman" panose="02020603050405020304" pitchFamily="18" charset="0"/>
              </a:rPr>
              <a:t>should be accessible to all</a:t>
            </a:r>
            <a:endParaRPr lang="en-US" altLang="en-US" sz="2800" i="1" dirty="0">
              <a:solidFill>
                <a:srgbClr val="FF66CC"/>
              </a:solidFill>
              <a:latin typeface="+mj-lt"/>
              <a:ea typeface="Calibri" panose="020F0502020204030204" pitchFamily="34" charset="0"/>
              <a:cs typeface="Times New Roman" panose="02020603050405020304" pitchFamily="18" charset="0"/>
            </a:endParaRPr>
          </a:p>
          <a:p>
            <a:pPr algn="just"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 Some tips to make the site accessible for all are as follows:-</a:t>
            </a:r>
          </a:p>
          <a:p>
            <a:pPr algn="just"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1. Hypertext links should be descriptive.</a:t>
            </a:r>
          </a:p>
          <a:p>
            <a:pPr algn="just" eaLnBrk="1" hangingPunct="1">
              <a:lnSpc>
                <a:spcPct val="150000"/>
              </a:lnSpc>
              <a:spcAft>
                <a:spcPts val="750"/>
              </a:spcAft>
            </a:pPr>
            <a:r>
              <a:rPr lang="en-US" altLang="en-US" sz="2800" dirty="0">
                <a:latin typeface="+mj-lt"/>
                <a:ea typeface="Calibri" panose="020F0502020204030204" pitchFamily="34" charset="0"/>
                <a:cs typeface="Times New Roman" panose="02020603050405020304" pitchFamily="18" charset="0"/>
              </a:rPr>
              <a:t>2. Provide alternative text descriptions for all graphics.</a:t>
            </a:r>
          </a:p>
          <a:p>
            <a:pPr algn="just" eaLnBrk="1" hangingPunct="1">
              <a:lnSpc>
                <a:spcPct val="150000"/>
              </a:lnSpc>
              <a:spcAft>
                <a:spcPts val="750"/>
              </a:spcAft>
            </a:pPr>
            <a:r>
              <a:rPr lang="en-US" altLang="en-US" sz="2800" b="1" u="sng" dirty="0">
                <a:latin typeface="+mj-lt"/>
                <a:ea typeface="Calibri" panose="020F0502020204030204" pitchFamily="34" charset="0"/>
                <a:cs typeface="Times New Roman" panose="02020603050405020304" pitchFamily="18" charset="0"/>
              </a:rPr>
              <a:t>(G) Test the site:-</a:t>
            </a:r>
            <a:r>
              <a:rPr lang="en-US" altLang="en-US" sz="2800" dirty="0">
                <a:latin typeface="+mj-lt"/>
                <a:ea typeface="Calibri" panose="020F0502020204030204" pitchFamily="34" charset="0"/>
                <a:cs typeface="Times New Roman" panose="02020603050405020304" pitchFamily="18" charset="0"/>
              </a:rPr>
              <a:t> for functionality (check for forms, tables, images and others) and for usability (checking not cleared things for the users).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1">
            <a:extLst>
              <a:ext uri="{FF2B5EF4-FFF2-40B4-BE49-F238E27FC236}">
                <a16:creationId xmlns:a16="http://schemas.microsoft.com/office/drawing/2014/main" id="{28D313AA-45A7-4A1B-A003-86466DBB7BC6}"/>
              </a:ext>
            </a:extLst>
          </p:cNvPr>
          <p:cNvSpPr>
            <a:spLocks noGrp="1" noChangeArrowheads="1"/>
          </p:cNvSpPr>
          <p:nvPr>
            <p:ph type="title"/>
          </p:nvPr>
        </p:nvSpPr>
        <p:spPr>
          <a:xfrm>
            <a:off x="1512093" y="373594"/>
            <a:ext cx="7784307" cy="798909"/>
          </a:xfrm>
        </p:spPr>
        <p:txBody>
          <a:bodyPr>
            <a:normAutofit fontScale="90000"/>
          </a:bodyPr>
          <a:lstStyle/>
          <a:p>
            <a:pPr defTabSz="684610" fontAlgn="auto">
              <a:spcAft>
                <a:spcPts val="0"/>
              </a:spcAft>
              <a:tabLst>
                <a:tab pos="0" algn="l"/>
                <a:tab pos="305991" algn="l"/>
                <a:tab pos="614363" algn="l"/>
                <a:tab pos="922735" algn="l"/>
                <a:tab pos="1229916" algn="l"/>
                <a:tab pos="1538288" algn="l"/>
                <a:tab pos="1845469" algn="l"/>
                <a:tab pos="2153841" algn="l"/>
                <a:tab pos="2461022" algn="l"/>
                <a:tab pos="2769394" algn="l"/>
                <a:tab pos="3076575" algn="l"/>
                <a:tab pos="3383756" algn="l"/>
                <a:tab pos="3690938" algn="l"/>
                <a:tab pos="3999310" algn="l"/>
                <a:tab pos="4306491" algn="l"/>
                <a:tab pos="4614863" algn="l"/>
                <a:tab pos="4922044" algn="l"/>
                <a:tab pos="5230416" algn="l"/>
                <a:tab pos="5537597" algn="l"/>
                <a:tab pos="5845969" algn="l"/>
                <a:tab pos="6153150" algn="l"/>
              </a:tabLst>
              <a:defRPr/>
            </a:pPr>
            <a:r>
              <a:rPr lang="en-GB" altLang="en-US" dirty="0"/>
              <a:t>Designing Web Applications</a:t>
            </a:r>
          </a:p>
        </p:txBody>
      </p:sp>
      <p:sp>
        <p:nvSpPr>
          <p:cNvPr id="136195" name="Rectangle 2">
            <a:extLst>
              <a:ext uri="{FF2B5EF4-FFF2-40B4-BE49-F238E27FC236}">
                <a16:creationId xmlns:a16="http://schemas.microsoft.com/office/drawing/2014/main" id="{88CEBCA7-C1DF-45E7-BE32-1DB313858984}"/>
              </a:ext>
            </a:extLst>
          </p:cNvPr>
          <p:cNvSpPr>
            <a:spLocks noGrp="1" noChangeArrowheads="1"/>
          </p:cNvSpPr>
          <p:nvPr>
            <p:ph idx="1"/>
          </p:nvPr>
        </p:nvSpPr>
        <p:spPr>
          <a:xfrm>
            <a:off x="914400" y="1371600"/>
            <a:ext cx="10396728" cy="5112806"/>
          </a:xfrm>
        </p:spPr>
        <p:txBody>
          <a:bodyPr>
            <a:normAutofit/>
          </a:bodyPr>
          <a:lstStyle/>
          <a:p>
            <a:pPr marL="274320" indent="-274320" defTabSz="684213">
              <a:spcBef>
                <a:spcPts val="475"/>
              </a:spcBef>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It is challenging because it  needs many languages to learn!</a:t>
            </a:r>
          </a:p>
          <a:p>
            <a:pPr marL="274320" indent="-274320" defTabSz="684213">
              <a:spcBef>
                <a:spcPts val="475"/>
              </a:spcBef>
              <a:buFont typeface="Wingdings" pitchFamily="2" charset="2"/>
              <a:buChar char="v"/>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b="1" dirty="0">
                <a:solidFill>
                  <a:srgbClr val="00B050"/>
                </a:solidFill>
              </a:rPr>
              <a:t>Client side design</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visual and logical layout </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Validation</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JavaScript controls and content manipulation</a:t>
            </a:r>
          </a:p>
          <a:p>
            <a:pPr marL="274320" indent="-274320" defTabSz="684213">
              <a:spcBef>
                <a:spcPts val="475"/>
              </a:spcBef>
              <a:buFont typeface="Wingdings" pitchFamily="2" charset="2"/>
              <a:buChar char="v"/>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b="1" dirty="0">
                <a:solidFill>
                  <a:srgbClr val="00B050"/>
                </a:solidFill>
              </a:rPr>
              <a:t>Server side:</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Database design</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Server-side language and design patterns</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Security</a:t>
            </a:r>
          </a:p>
          <a:p>
            <a:pPr marL="555625" lvl="1" indent="-274320" defTabSz="684213">
              <a:tabLst>
                <a:tab pos="304800" algn="l"/>
                <a:tab pos="612775" algn="l"/>
                <a:tab pos="919163" algn="l"/>
                <a:tab pos="1228725" algn="l"/>
                <a:tab pos="1533525" algn="l"/>
                <a:tab pos="1843088" algn="l"/>
                <a:tab pos="2149475" algn="l"/>
                <a:tab pos="2457450" algn="l"/>
                <a:tab pos="2765425" algn="l"/>
                <a:tab pos="3073400" algn="l"/>
                <a:tab pos="3381375" algn="l"/>
                <a:tab pos="3689350" algn="l"/>
                <a:tab pos="3995738" algn="l"/>
                <a:tab pos="4305300" algn="l"/>
                <a:tab pos="4611688" algn="l"/>
                <a:tab pos="4919663" algn="l"/>
                <a:tab pos="5227638" algn="l"/>
                <a:tab pos="5534025" algn="l"/>
                <a:tab pos="5843588" algn="l"/>
                <a:tab pos="6149975" algn="l"/>
              </a:tabLst>
            </a:pPr>
            <a:r>
              <a:rPr lang="en-GB" altLang="en-US" sz="2800" dirty="0"/>
              <a:t>Performance and Reliability (24/7)</a:t>
            </a:r>
            <a:r>
              <a:rPr lang="ar-SA" altLang="en-US" dirty="0"/>
              <a:t>‏</a:t>
            </a:r>
            <a:endParaRPr lang="en-GB" altLang="en-US" dirty="0"/>
          </a:p>
        </p:txBody>
      </p:sp>
      <p:sp>
        <p:nvSpPr>
          <p:cNvPr id="2" name="Slide Number Placeholder 1">
            <a:extLst>
              <a:ext uri="{FF2B5EF4-FFF2-40B4-BE49-F238E27FC236}">
                <a16:creationId xmlns:a16="http://schemas.microsoft.com/office/drawing/2014/main" id="{153E6207-D924-435F-A9A0-011D55DCFFF4}"/>
              </a:ext>
            </a:extLst>
          </p:cNvPr>
          <p:cNvSpPr>
            <a:spLocks noGrp="1"/>
          </p:cNvSpPr>
          <p:nvPr>
            <p:ph type="sldNum" sz="quarter" idx="12"/>
          </p:nvPr>
        </p:nvSpPr>
        <p:spPr/>
        <p:txBody>
          <a:bodyPr/>
          <a:lstStyle/>
          <a:p>
            <a:pPr>
              <a:defRPr/>
            </a:pPr>
            <a:fld id="{1722EE55-49BD-4E8C-ADA1-C17B1ADD1627}" type="slidenum">
              <a:rPr lang="en-US" altLang="en-US"/>
              <a:pPr>
                <a:defRPr/>
              </a:pPr>
              <a:t>51</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20C00CE-5530-4C96-8A42-D695BCB140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4800" y="3200400"/>
            <a:ext cx="2428875" cy="2857500"/>
          </a:xfrm>
        </p:spPr>
      </p:pic>
      <p:sp>
        <p:nvSpPr>
          <p:cNvPr id="5" name="Title 4">
            <a:extLst>
              <a:ext uri="{FF2B5EF4-FFF2-40B4-BE49-F238E27FC236}">
                <a16:creationId xmlns:a16="http://schemas.microsoft.com/office/drawing/2014/main" id="{E99589BD-ACDF-4E53-919E-CE95D0B698B5}"/>
              </a:ext>
            </a:extLst>
          </p:cNvPr>
          <p:cNvSpPr>
            <a:spLocks noGrp="1"/>
          </p:cNvSpPr>
          <p:nvPr>
            <p:ph type="title"/>
          </p:nvPr>
        </p:nvSpPr>
        <p:spPr>
          <a:xfrm>
            <a:off x="3200400" y="1775694"/>
            <a:ext cx="10058400" cy="1609344"/>
          </a:xfrm>
        </p:spPr>
        <p:txBody>
          <a:bodyPr/>
          <a:lstStyle/>
          <a:p>
            <a:r>
              <a:rPr lang="en-US" dirty="0"/>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9616</TotalTime>
  <Words>4608</Words>
  <Application>Microsoft Office PowerPoint</Application>
  <PresentationFormat>Widescreen</PresentationFormat>
  <Paragraphs>517</Paragraphs>
  <Slides>52</Slides>
  <Notes>49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52</vt:i4>
      </vt:variant>
    </vt:vector>
  </HeadingPairs>
  <TitlesOfParts>
    <vt:vector size="65" baseType="lpstr">
      <vt:lpstr>AmazonEmberLight</vt:lpstr>
      <vt:lpstr>Arial</vt:lpstr>
      <vt:lpstr>Calibri</vt:lpstr>
      <vt:lpstr>Cambria</vt:lpstr>
      <vt:lpstr>Cambria (Body)</vt:lpstr>
      <vt:lpstr>Courier New</vt:lpstr>
      <vt:lpstr>Google Sans</vt:lpstr>
      <vt:lpstr>Helvetica</vt:lpstr>
      <vt:lpstr>Roboto</vt:lpstr>
      <vt:lpstr>Söhne</vt:lpstr>
      <vt:lpstr>Times New Roman</vt:lpstr>
      <vt:lpstr>Wingdings</vt:lpstr>
      <vt:lpstr>Wood Type</vt:lpstr>
      <vt:lpstr> World Wid Web </vt:lpstr>
      <vt:lpstr>Objectives </vt:lpstr>
      <vt:lpstr>Internet and Its Uses </vt:lpstr>
      <vt:lpstr>Protocol</vt:lpstr>
      <vt:lpstr>Delivering Internet services to end-users </vt:lpstr>
      <vt:lpstr>Delivering Internet services to end-users </vt:lpstr>
      <vt:lpstr>Delivering Internet services to end-users </vt:lpstr>
      <vt:lpstr>Internet Hierarchy </vt:lpstr>
      <vt:lpstr>Internet Hierarchy </vt:lpstr>
      <vt:lpstr>Internet Hierarchy </vt:lpstr>
      <vt:lpstr>History of Internet</vt:lpstr>
      <vt:lpstr>Terms</vt:lpstr>
      <vt:lpstr> Terms </vt:lpstr>
      <vt:lpstr>Overview of Internet</vt:lpstr>
      <vt:lpstr>Overview of Internet</vt:lpstr>
      <vt:lpstr>Overview of Internet</vt:lpstr>
      <vt:lpstr>Overview of Internet</vt:lpstr>
      <vt:lpstr>Overview of Internet</vt:lpstr>
      <vt:lpstr>Overview of Internet</vt:lpstr>
      <vt:lpstr>Overview of Internet</vt:lpstr>
      <vt:lpstr>Overview of Internet</vt:lpstr>
      <vt:lpstr>Overview of Internet</vt:lpstr>
      <vt:lpstr>World Wide Web</vt:lpstr>
      <vt:lpstr>World Wide Web</vt:lpstr>
      <vt:lpstr>World Wide Web</vt:lpstr>
      <vt:lpstr>World Wide Web</vt:lpstr>
      <vt:lpstr>World Wide Web</vt:lpstr>
      <vt:lpstr>World Wide Web</vt:lpstr>
      <vt:lpstr>World Wide Web</vt:lpstr>
      <vt:lpstr>World Wide Web</vt:lpstr>
      <vt:lpstr> World Wide Web</vt:lpstr>
      <vt:lpstr>Client-Server Architecture</vt:lpstr>
      <vt:lpstr>HTTP</vt:lpstr>
      <vt:lpstr>HTTP</vt:lpstr>
      <vt:lpstr>HTTP</vt:lpstr>
      <vt:lpstr>Example of an HTTP Request from a Web browser</vt:lpstr>
      <vt:lpstr>PowerPoint Presentation</vt:lpstr>
      <vt:lpstr>HTTP response from a Web server </vt:lpstr>
      <vt:lpstr>HTTP Response header fields</vt:lpstr>
      <vt:lpstr>HTTP Response header fields</vt:lpstr>
      <vt:lpstr>https (Hyper Text Transfer Protocol Secure) </vt:lpstr>
      <vt:lpstr>Static vs. dynamic pages</vt:lpstr>
      <vt:lpstr> Client-Side Scripting versus Server-Side Scripting </vt:lpstr>
      <vt:lpstr>Designing Web Applications</vt:lpstr>
      <vt:lpstr>Web design-it is to make web sites pleasing and good look by designing and adding features like colors, Combination of lines, shapes, texture and others.  (A) To design web sites: - we need to gather information, in such a way that:-      1. Purpose of the web site/application.      2. Goals of web site. Is it to entertain or what?      3. from where the information comes from? </vt:lpstr>
      <vt:lpstr>Designing Web Applications</vt:lpstr>
      <vt:lpstr>Designing Web Applications</vt:lpstr>
      <vt:lpstr>Designing Web Applications</vt:lpstr>
      <vt:lpstr>PowerPoint Presentation</vt:lpstr>
      <vt:lpstr>PowerPoint Presentation</vt:lpstr>
      <vt:lpstr>Designing Web Applications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internet and its uses</dc:title>
  <dc:creator>aa</dc:creator>
  <cp:lastModifiedBy>CSDA</cp:lastModifiedBy>
  <cp:revision>477</cp:revision>
  <cp:lastPrinted>2016-10-10T07:03:51Z</cp:lastPrinted>
  <dcterms:created xsi:type="dcterms:W3CDTF">2012-02-19T13:01:24Z</dcterms:created>
  <dcterms:modified xsi:type="dcterms:W3CDTF">2024-04-17T10:26:34Z</dcterms:modified>
</cp:coreProperties>
</file>