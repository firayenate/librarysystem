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84" r:id="rId2"/>
    <p:sldId id="329" r:id="rId3"/>
    <p:sldId id="286" r:id="rId4"/>
    <p:sldId id="287" r:id="rId5"/>
    <p:sldId id="289" r:id="rId6"/>
    <p:sldId id="290" r:id="rId7"/>
    <p:sldId id="291" r:id="rId8"/>
    <p:sldId id="292" r:id="rId9"/>
    <p:sldId id="294" r:id="rId10"/>
    <p:sldId id="296" r:id="rId11"/>
    <p:sldId id="298" r:id="rId12"/>
    <p:sldId id="299" r:id="rId13"/>
    <p:sldId id="300" r:id="rId14"/>
    <p:sldId id="301" r:id="rId15"/>
    <p:sldId id="303" r:id="rId16"/>
    <p:sldId id="330" r:id="rId17"/>
    <p:sldId id="331" r:id="rId18"/>
    <p:sldId id="332" r:id="rId19"/>
    <p:sldId id="333" r:id="rId20"/>
    <p:sldId id="335" r:id="rId21"/>
    <p:sldId id="334" r:id="rId22"/>
    <p:sldId id="351" r:id="rId23"/>
    <p:sldId id="352" r:id="rId24"/>
    <p:sldId id="336" r:id="rId25"/>
    <p:sldId id="304" r:id="rId26"/>
    <p:sldId id="305" r:id="rId27"/>
    <p:sldId id="306" r:id="rId28"/>
    <p:sldId id="307" r:id="rId29"/>
    <p:sldId id="308" r:id="rId30"/>
    <p:sldId id="311" r:id="rId31"/>
    <p:sldId id="353" r:id="rId32"/>
    <p:sldId id="313" r:id="rId33"/>
    <p:sldId id="314" r:id="rId34"/>
    <p:sldId id="315" r:id="rId35"/>
    <p:sldId id="317" r:id="rId36"/>
    <p:sldId id="319" r:id="rId37"/>
    <p:sldId id="320" r:id="rId38"/>
    <p:sldId id="321" r:id="rId39"/>
    <p:sldId id="322" r:id="rId40"/>
    <p:sldId id="323" r:id="rId41"/>
    <p:sldId id="325" r:id="rId42"/>
    <p:sldId id="326" r:id="rId43"/>
    <p:sldId id="344" r:id="rId44"/>
    <p:sldId id="342" r:id="rId45"/>
    <p:sldId id="337" r:id="rId46"/>
    <p:sldId id="338" r:id="rId47"/>
    <p:sldId id="339" r:id="rId48"/>
    <p:sldId id="340" r:id="rId49"/>
    <p:sldId id="349" r:id="rId50"/>
    <p:sldId id="346" r:id="rId51"/>
    <p:sldId id="327" r:id="rId52"/>
    <p:sldId id="350" r:id="rId53"/>
    <p:sldId id="28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9982" autoAdjust="0"/>
  </p:normalViewPr>
  <p:slideViewPr>
    <p:cSldViewPr snapToGrid="0">
      <p:cViewPr varScale="1">
        <p:scale>
          <a:sx n="51" d="100"/>
          <a:sy n="51" d="100"/>
        </p:scale>
        <p:origin x="15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2-17T17:22:59.812"/>
    </inkml:context>
    <inkml:brush xml:id="br0">
      <inkml:brushProperty name="width" value="0.05" units="cm"/>
      <inkml:brushProperty name="height" value="0.05" units="cm"/>
    </inkml:brush>
  </inkml:definitions>
  <inkml:trace contextRef="#ctx0" brushRef="#br0">1 0 24575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02662E-A391-41E9-8A4F-CBD7D3FD3F60}" type="datetimeFigureOut">
              <a:rPr lang="en-US" smtClean="0"/>
              <a:t>4/26/2024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8344B-CAD5-4464-A92A-72A664F52E84}" type="slidenum">
              <a:rPr lang="en-US" smtClean="0"/>
              <a:t>‹#›</a:t>
            </a:fld>
            <a:endParaRPr lang="en-US"/>
          </a:p>
        </p:txBody>
      </p:sp>
    </p:spTree>
    <p:extLst>
      <p:ext uri="{BB962C8B-B14F-4D97-AF65-F5344CB8AC3E}">
        <p14:creationId xmlns:p14="http://schemas.microsoft.com/office/powerpoint/2010/main" val="2175197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developer.mozilla.org/en-US/docs/Web/CSS/Specificity"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www.w3schools.com/cssref/pr_class_display.php"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4020C858-029D-4FE0-BE16-64ADD85E66B2}"/>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a:extLst>
              <a:ext uri="{FF2B5EF4-FFF2-40B4-BE49-F238E27FC236}">
                <a16:creationId xmlns:a16="http://schemas.microsoft.com/office/drawing/2014/main" id="{769814A7-BBD5-4100-80C9-0BB631EF444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22BFD8BE-230F-4FCB-BB25-0E54B9CC7934}"/>
              </a:ext>
            </a:extLst>
          </p:cNvPr>
          <p:cNvSpPr>
            <a:spLocks noGrp="1"/>
          </p:cNvSpPr>
          <p:nvPr>
            <p:ph type="sldNum" sz="quarter" idx="5"/>
          </p:nvPr>
        </p:nvSpPr>
        <p:spPr/>
        <p:txBody>
          <a:bodyPr/>
          <a:lstStyle/>
          <a:p>
            <a:pPr>
              <a:defRPr/>
            </a:pPr>
            <a:fld id="{30217EB7-DA7A-47F9-8A38-DA7B22146062}"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32BE7B4E-C612-4145-8E16-4622146E7E68}"/>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a:extLst>
              <a:ext uri="{FF2B5EF4-FFF2-40B4-BE49-F238E27FC236}">
                <a16:creationId xmlns:a16="http://schemas.microsoft.com/office/drawing/2014/main" id="{84395C90-C477-4034-B5E1-F09E132135D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buFont typeface="+mj-lt"/>
              <a:buAutoNum type="arabicPeriod"/>
            </a:pPr>
            <a:r>
              <a:rPr lang="en-US" b="1" i="0" dirty="0">
                <a:solidFill>
                  <a:srgbClr val="ECECEC"/>
                </a:solidFill>
                <a:effectLst/>
                <a:highlight>
                  <a:srgbClr val="212121"/>
                </a:highlight>
                <a:latin typeface="Söhne"/>
              </a:rPr>
              <a:t>Visual Presentation</a:t>
            </a:r>
            <a:r>
              <a:rPr lang="en-US" b="0" i="0" dirty="0">
                <a:solidFill>
                  <a:srgbClr val="ECECEC"/>
                </a:solidFill>
                <a:effectLst/>
                <a:highlight>
                  <a:srgbClr val="212121"/>
                </a:highlight>
                <a:latin typeface="Söhne"/>
              </a:rPr>
              <a:t>: CSS allows you to control the visual presentation of HTML content. By using CSS properties such as color, font size, spacing, and layout, you can enhance readability and make content more visually appealing. This is especially important for users with visual impairments or reading difficulties.</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1" i="0" dirty="0">
                <a:solidFill>
                  <a:srgbClr val="ECECEC"/>
                </a:solidFill>
                <a:effectLst/>
                <a:highlight>
                  <a:srgbClr val="212121"/>
                </a:highlight>
                <a:latin typeface="Söhne"/>
              </a:rPr>
              <a:t>Improve flexibility means: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ECECEC"/>
                </a:solidFill>
                <a:effectLst/>
                <a:highlight>
                  <a:srgbClr val="212121"/>
                </a:highlight>
                <a:latin typeface="Söhne"/>
              </a:rPr>
              <a:t>	</a:t>
            </a:r>
            <a:r>
              <a:rPr lang="en-US" b="1" i="0" dirty="0">
                <a:solidFill>
                  <a:srgbClr val="ECECEC"/>
                </a:solidFill>
                <a:effectLst/>
                <a:highlight>
                  <a:srgbClr val="212121"/>
                </a:highlight>
                <a:latin typeface="Söhne"/>
              </a:rPr>
              <a:t>Separation of Concerns</a:t>
            </a:r>
            <a:r>
              <a:rPr lang="en-US" b="0" i="0" dirty="0">
                <a:solidFill>
                  <a:srgbClr val="ECECEC"/>
                </a:solidFill>
                <a:effectLst/>
                <a:highlight>
                  <a:srgbClr val="212121"/>
                </a:highlight>
                <a:latin typeface="Söhne"/>
              </a:rPr>
              <a:t>: CSS allows separation of style from structure and behavior. This separation makes code more modular and easier to maintain, as 	changes to the visual presentation can be made in the CSS file without modifying the HTML structure or JavaScript functionality.</a:t>
            </a:r>
          </a:p>
          <a:p>
            <a:pPr algn="l">
              <a:buFont typeface="+mj-lt"/>
              <a:buNone/>
            </a:pPr>
            <a:endParaRPr lang="en-US" b="0" i="0" dirty="0">
              <a:solidFill>
                <a:srgbClr val="ECECEC"/>
              </a:solidFill>
              <a:effectLst/>
              <a:highlight>
                <a:srgbClr val="212121"/>
              </a:highlight>
              <a:latin typeface="Söhne"/>
            </a:endParaRPr>
          </a:p>
        </p:txBody>
      </p:sp>
      <p:sp>
        <p:nvSpPr>
          <p:cNvPr id="4" name="Slide Number Placeholder 3">
            <a:extLst>
              <a:ext uri="{FF2B5EF4-FFF2-40B4-BE49-F238E27FC236}">
                <a16:creationId xmlns:a16="http://schemas.microsoft.com/office/drawing/2014/main" id="{785DCBFC-B8CC-4D8D-A4EE-B5ABCDE76107}"/>
              </a:ext>
            </a:extLst>
          </p:cNvPr>
          <p:cNvSpPr>
            <a:spLocks noGrp="1"/>
          </p:cNvSpPr>
          <p:nvPr>
            <p:ph type="sldNum" sz="quarter" idx="5"/>
          </p:nvPr>
        </p:nvSpPr>
        <p:spPr/>
        <p:txBody>
          <a:bodyPr/>
          <a:lstStyle/>
          <a:p>
            <a:pPr>
              <a:defRPr/>
            </a:pPr>
            <a:fld id="{2C75C1A8-0DA8-4D86-91D6-B36D828D86C7}" type="slidenum">
              <a:rPr lang="en-US" smtClean="0"/>
              <a:pPr>
                <a:defRPr/>
              </a:pPr>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AEC1FBAD-A30B-44D2-AE1C-189AFBA466E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06BEA2B6-FC5B-4847-BE18-9212A070A8D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b="0" i="0" dirty="0">
                <a:solidFill>
                  <a:srgbClr val="ECECEC"/>
                </a:solidFill>
                <a:effectLst/>
                <a:highlight>
                  <a:srgbClr val="212121"/>
                </a:highlight>
                <a:latin typeface="Söhne"/>
              </a:rPr>
              <a:t>Examples of non-inherited properties include </a:t>
            </a:r>
            <a:r>
              <a:rPr lang="en-US" dirty="0"/>
              <a:t>background-color</a:t>
            </a:r>
            <a:r>
              <a:rPr lang="en-US" b="0" i="0" dirty="0">
                <a:solidFill>
                  <a:srgbClr val="ECECEC"/>
                </a:solidFill>
                <a:effectLst/>
                <a:highlight>
                  <a:srgbClr val="212121"/>
                </a:highlight>
                <a:latin typeface="Söhne"/>
              </a:rPr>
              <a:t>, </a:t>
            </a:r>
            <a:r>
              <a:rPr lang="en-US" dirty="0"/>
              <a:t>border</a:t>
            </a:r>
            <a:r>
              <a:rPr lang="en-US" b="0" i="0" dirty="0">
                <a:solidFill>
                  <a:srgbClr val="ECECEC"/>
                </a:solidFill>
                <a:effectLst/>
                <a:highlight>
                  <a:srgbClr val="212121"/>
                </a:highlight>
                <a:latin typeface="Söhne"/>
              </a:rPr>
              <a:t>, </a:t>
            </a:r>
            <a:r>
              <a:rPr lang="en-US" dirty="0"/>
              <a:t>margin</a:t>
            </a:r>
            <a:r>
              <a:rPr lang="en-US" b="0" i="0" dirty="0">
                <a:solidFill>
                  <a:srgbClr val="ECECEC"/>
                </a:solidFill>
                <a:effectLst/>
                <a:highlight>
                  <a:srgbClr val="212121"/>
                </a:highlight>
                <a:latin typeface="Söhne"/>
              </a:rPr>
              <a:t>, </a:t>
            </a:r>
            <a:r>
              <a:rPr lang="en-US" dirty="0"/>
              <a:t>padding</a:t>
            </a:r>
            <a:r>
              <a:rPr lang="en-US" b="0" i="0" dirty="0">
                <a:solidFill>
                  <a:srgbClr val="ECECEC"/>
                </a:solidFill>
                <a:effectLst/>
                <a:highlight>
                  <a:srgbClr val="212121"/>
                </a:highlight>
                <a:latin typeface="Söhne"/>
              </a:rPr>
              <a:t>, </a:t>
            </a:r>
            <a:r>
              <a:rPr lang="en-US" dirty="0"/>
              <a:t>width</a:t>
            </a:r>
            <a:r>
              <a:rPr lang="en-US" b="0" i="0" dirty="0">
                <a:solidFill>
                  <a:srgbClr val="ECECEC"/>
                </a:solidFill>
                <a:effectLst/>
                <a:highlight>
                  <a:srgbClr val="212121"/>
                </a:highlight>
                <a:latin typeface="Söhne"/>
              </a:rPr>
              <a:t>, </a:t>
            </a:r>
            <a:r>
              <a:rPr lang="en-US" dirty="0"/>
              <a:t>height</a:t>
            </a:r>
            <a:r>
              <a:rPr lang="en-US" b="0" i="0" dirty="0">
                <a:solidFill>
                  <a:srgbClr val="ECECEC"/>
                </a:solidFill>
                <a:effectLst/>
                <a:highlight>
                  <a:srgbClr val="212121"/>
                </a:highlight>
                <a:latin typeface="Söhne"/>
              </a:rPr>
              <a:t>, and many others. </a:t>
            </a:r>
          </a:p>
          <a:p>
            <a:r>
              <a:rPr lang="en-US" b="0" i="0" dirty="0">
                <a:solidFill>
                  <a:srgbClr val="ECECEC"/>
                </a:solidFill>
                <a:effectLst/>
                <a:highlight>
                  <a:srgbClr val="212121"/>
                </a:highlight>
                <a:latin typeface="Söhne"/>
              </a:rPr>
              <a:t>These properties must be explicitly applied to each element you want them to affect.</a:t>
            </a:r>
            <a:endParaRPr lang="en-US" altLang="en-US" dirty="0"/>
          </a:p>
        </p:txBody>
      </p:sp>
      <p:sp>
        <p:nvSpPr>
          <p:cNvPr id="4" name="Slide Number Placeholder 3">
            <a:extLst>
              <a:ext uri="{FF2B5EF4-FFF2-40B4-BE49-F238E27FC236}">
                <a16:creationId xmlns:a16="http://schemas.microsoft.com/office/drawing/2014/main" id="{313BEF86-04BE-42A3-9E01-48A80D9F2D61}"/>
              </a:ext>
            </a:extLst>
          </p:cNvPr>
          <p:cNvSpPr>
            <a:spLocks noGrp="1"/>
          </p:cNvSpPr>
          <p:nvPr>
            <p:ph type="sldNum" sz="quarter" idx="5"/>
          </p:nvPr>
        </p:nvSpPr>
        <p:spPr/>
        <p:txBody>
          <a:bodyPr/>
          <a:lstStyle/>
          <a:p>
            <a:pPr>
              <a:defRPr/>
            </a:pPr>
            <a:fld id="{19AC277E-C46D-4558-BE2E-B0AE4FB26068}" type="slidenum">
              <a:rPr lang="en-US" smtClean="0"/>
              <a:pPr>
                <a:defRPr/>
              </a:pPr>
              <a:t>5</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a:extLst>
              <a:ext uri="{FF2B5EF4-FFF2-40B4-BE49-F238E27FC236}">
                <a16:creationId xmlns:a16="http://schemas.microsoft.com/office/drawing/2014/main" id="{C16778A2-6C7C-4B6D-AD09-DB8D4842C7E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Notes Placeholder 2">
            <a:extLst>
              <a:ext uri="{FF2B5EF4-FFF2-40B4-BE49-F238E27FC236}">
                <a16:creationId xmlns:a16="http://schemas.microsoft.com/office/drawing/2014/main" id="{D744651C-4FA6-4439-813D-13C93CB32BC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 name="Slide Number Placeholder 3">
            <a:extLst>
              <a:ext uri="{FF2B5EF4-FFF2-40B4-BE49-F238E27FC236}">
                <a16:creationId xmlns:a16="http://schemas.microsoft.com/office/drawing/2014/main" id="{ABD370BF-A79E-44B8-B6FF-CB7D66828C9C}"/>
              </a:ext>
            </a:extLst>
          </p:cNvPr>
          <p:cNvSpPr>
            <a:spLocks noGrp="1"/>
          </p:cNvSpPr>
          <p:nvPr>
            <p:ph type="sldNum" sz="quarter" idx="5"/>
          </p:nvPr>
        </p:nvSpPr>
        <p:spPr/>
        <p:txBody>
          <a:bodyPr/>
          <a:lstStyle/>
          <a:p>
            <a:pPr>
              <a:defRPr/>
            </a:pPr>
            <a:fld id="{918630A0-37D6-4776-A983-2A79DA0347F0}" type="slidenum">
              <a:rPr lang="en-US" smtClean="0"/>
              <a:pPr>
                <a:defRPr/>
              </a:pPr>
              <a:t>6</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a:extLst>
              <a:ext uri="{FF2B5EF4-FFF2-40B4-BE49-F238E27FC236}">
                <a16:creationId xmlns:a16="http://schemas.microsoft.com/office/drawing/2014/main" id="{8341E92E-1FA3-4BA7-BC66-2B7598DC756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a:extLst>
              <a:ext uri="{FF2B5EF4-FFF2-40B4-BE49-F238E27FC236}">
                <a16:creationId xmlns:a16="http://schemas.microsoft.com/office/drawing/2014/main" id="{6099D7F6-7997-43E5-93AF-4D99FAD5501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F0E842D0-F52D-4150-A6A9-D53F8E90C064}"/>
              </a:ext>
            </a:extLst>
          </p:cNvPr>
          <p:cNvSpPr>
            <a:spLocks noGrp="1"/>
          </p:cNvSpPr>
          <p:nvPr>
            <p:ph type="sldNum" sz="quarter" idx="5"/>
          </p:nvPr>
        </p:nvSpPr>
        <p:spPr/>
        <p:txBody>
          <a:bodyPr/>
          <a:lstStyle/>
          <a:p>
            <a:pPr>
              <a:defRPr/>
            </a:pPr>
            <a:fld id="{C88D8065-D954-43BC-9EEC-44D3FA5D7B42}" type="slidenum">
              <a:rPr lang="en-US" smtClean="0"/>
              <a:pPr>
                <a:defRPr/>
              </a:pPr>
              <a:t>7</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656084BD-C083-4463-AD83-78A7C3EE0A8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2D6B9B47-EF51-4DD2-8B9C-ED39BA713A0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49518445-B239-4012-813C-474051CC369E}"/>
              </a:ext>
            </a:extLst>
          </p:cNvPr>
          <p:cNvSpPr>
            <a:spLocks noGrp="1"/>
          </p:cNvSpPr>
          <p:nvPr>
            <p:ph type="sldNum" sz="quarter" idx="5"/>
          </p:nvPr>
        </p:nvSpPr>
        <p:spPr/>
        <p:txBody>
          <a:bodyPr/>
          <a:lstStyle/>
          <a:p>
            <a:pPr>
              <a:defRPr/>
            </a:pPr>
            <a:fld id="{68F631F1-A800-42A6-A3CB-70FC0B726CE6}" type="slidenum">
              <a:rPr lang="en-US" smtClean="0"/>
              <a:pPr>
                <a:defRPr/>
              </a:pPr>
              <a:t>8</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a:extLst>
              <a:ext uri="{FF2B5EF4-FFF2-40B4-BE49-F238E27FC236}">
                <a16:creationId xmlns:a16="http://schemas.microsoft.com/office/drawing/2014/main" id="{FE35634E-0BB5-4646-8577-C141D29CC721}"/>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a:extLst>
              <a:ext uri="{FF2B5EF4-FFF2-40B4-BE49-F238E27FC236}">
                <a16:creationId xmlns:a16="http://schemas.microsoft.com/office/drawing/2014/main" id="{CDE21EF4-43D5-4783-B1E6-B224C820FC5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FF433285-E028-480E-9346-19CE87F46ABF}"/>
              </a:ext>
            </a:extLst>
          </p:cNvPr>
          <p:cNvSpPr>
            <a:spLocks noGrp="1"/>
          </p:cNvSpPr>
          <p:nvPr>
            <p:ph type="sldNum" sz="quarter" idx="5"/>
          </p:nvPr>
        </p:nvSpPr>
        <p:spPr/>
        <p:txBody>
          <a:bodyPr/>
          <a:lstStyle/>
          <a:p>
            <a:pPr>
              <a:defRPr/>
            </a:pPr>
            <a:fld id="{9C9554BF-9337-4EA5-BB0E-FC8C50BF56C7}" type="slidenum">
              <a:rPr lang="en-US" smtClean="0"/>
              <a:pPr>
                <a:defRPr/>
              </a:pPr>
              <a:t>9</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a:extLst>
              <a:ext uri="{FF2B5EF4-FFF2-40B4-BE49-F238E27FC236}">
                <a16:creationId xmlns:a16="http://schemas.microsoft.com/office/drawing/2014/main" id="{1C537029-EB70-426F-A7AC-4D87404812A6}"/>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a:extLst>
              <a:ext uri="{FF2B5EF4-FFF2-40B4-BE49-F238E27FC236}">
                <a16:creationId xmlns:a16="http://schemas.microsoft.com/office/drawing/2014/main" id="{E63B4A91-4FAB-4343-A43E-6466A63DA5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546EB4C1-B610-4C78-B9EF-56083A7F326B}"/>
              </a:ext>
            </a:extLst>
          </p:cNvPr>
          <p:cNvSpPr>
            <a:spLocks noGrp="1"/>
          </p:cNvSpPr>
          <p:nvPr>
            <p:ph type="sldNum" sz="quarter" idx="5"/>
          </p:nvPr>
        </p:nvSpPr>
        <p:spPr/>
        <p:txBody>
          <a:bodyPr/>
          <a:lstStyle/>
          <a:p>
            <a:pPr>
              <a:defRPr/>
            </a:pPr>
            <a:fld id="{827B89B6-4A00-44B1-961E-9B3D88AEB3C3}" type="slidenum">
              <a:rPr lang="en-US" smtClean="0"/>
              <a:pPr>
                <a:defRPr/>
              </a:pPr>
              <a:t>10</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Slide Image Placeholder 1">
            <a:extLst>
              <a:ext uri="{FF2B5EF4-FFF2-40B4-BE49-F238E27FC236}">
                <a16:creationId xmlns:a16="http://schemas.microsoft.com/office/drawing/2014/main" id="{9ACA9705-54AD-455E-AFCC-73EB149716E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7" name="Notes Placeholder 2">
            <a:extLst>
              <a:ext uri="{FF2B5EF4-FFF2-40B4-BE49-F238E27FC236}">
                <a16:creationId xmlns:a16="http://schemas.microsoft.com/office/drawing/2014/main" id="{90C14C7F-8963-4680-9E24-4157EAEB7C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E39E8D1-C431-4790-9910-A833E48F5107}"/>
              </a:ext>
            </a:extLst>
          </p:cNvPr>
          <p:cNvSpPr>
            <a:spLocks noGrp="1"/>
          </p:cNvSpPr>
          <p:nvPr>
            <p:ph type="sldNum" sz="quarter" idx="5"/>
          </p:nvPr>
        </p:nvSpPr>
        <p:spPr/>
        <p:txBody>
          <a:bodyPr/>
          <a:lstStyle/>
          <a:p>
            <a:pPr>
              <a:defRPr/>
            </a:pPr>
            <a:fld id="{9E45EE51-C4A6-41BB-AB8A-06B2165760B2}" type="slidenum">
              <a:rPr lang="en-US" smtClean="0"/>
              <a:pPr>
                <a:defRPr/>
              </a:pPr>
              <a:t>11</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a:extLst>
              <a:ext uri="{FF2B5EF4-FFF2-40B4-BE49-F238E27FC236}">
                <a16:creationId xmlns:a16="http://schemas.microsoft.com/office/drawing/2014/main" id="{3CC58D9E-3C97-47B7-90D3-3C93AD767AB2}"/>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5" name="Notes Placeholder 2">
            <a:extLst>
              <a:ext uri="{FF2B5EF4-FFF2-40B4-BE49-F238E27FC236}">
                <a16:creationId xmlns:a16="http://schemas.microsoft.com/office/drawing/2014/main" id="{A06575B4-93A0-431B-BC16-67F53AF6057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39A80381-D9D9-409B-86B1-0A3363D1A22C}"/>
              </a:ext>
            </a:extLst>
          </p:cNvPr>
          <p:cNvSpPr>
            <a:spLocks noGrp="1"/>
          </p:cNvSpPr>
          <p:nvPr>
            <p:ph type="sldNum" sz="quarter" idx="5"/>
          </p:nvPr>
        </p:nvSpPr>
        <p:spPr/>
        <p:txBody>
          <a:bodyPr/>
          <a:lstStyle/>
          <a:p>
            <a:pPr>
              <a:defRPr/>
            </a:pPr>
            <a:fld id="{CAB063E8-86FB-463A-B1D7-77114CB9CE12}" type="slidenum">
              <a:rPr lang="en-US" smtClean="0"/>
              <a:pPr>
                <a:defRPr/>
              </a:pPr>
              <a:t>12</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D2F10402-FF91-4761-8192-FB560712EBEF}"/>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45204742-509B-4A80-9A7E-6564E81F44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CD8211B-E093-4B87-ACB5-EBBE2FC2C9F8}"/>
              </a:ext>
            </a:extLst>
          </p:cNvPr>
          <p:cNvSpPr>
            <a:spLocks noGrp="1"/>
          </p:cNvSpPr>
          <p:nvPr>
            <p:ph type="sldNum" sz="quarter" idx="5"/>
          </p:nvPr>
        </p:nvSpPr>
        <p:spPr/>
        <p:txBody>
          <a:bodyPr/>
          <a:lstStyle/>
          <a:p>
            <a:pPr>
              <a:defRPr/>
            </a:pPr>
            <a:fld id="{6466AA0B-C09E-4846-BD59-7D623ADD5F6C}" type="slidenum">
              <a:rPr lang="en-US" smtClean="0"/>
              <a:pPr>
                <a:defRPr/>
              </a:pPr>
              <a:t>13</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a:extLst>
              <a:ext uri="{FF2B5EF4-FFF2-40B4-BE49-F238E27FC236}">
                <a16:creationId xmlns:a16="http://schemas.microsoft.com/office/drawing/2014/main" id="{51ED1596-D351-4F20-9DD0-018CE13C962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1" name="Notes Placeholder 2">
            <a:extLst>
              <a:ext uri="{FF2B5EF4-FFF2-40B4-BE49-F238E27FC236}">
                <a16:creationId xmlns:a16="http://schemas.microsoft.com/office/drawing/2014/main" id="{7CB66CCF-E0B3-49A3-B7D6-ED0FD6B06D7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85C030EE-2E25-4AE0-8616-280F13BE80C9}"/>
              </a:ext>
            </a:extLst>
          </p:cNvPr>
          <p:cNvSpPr>
            <a:spLocks noGrp="1"/>
          </p:cNvSpPr>
          <p:nvPr>
            <p:ph type="sldNum" sz="quarter" idx="5"/>
          </p:nvPr>
        </p:nvSpPr>
        <p:spPr/>
        <p:txBody>
          <a:bodyPr/>
          <a:lstStyle/>
          <a:p>
            <a:pPr>
              <a:defRPr/>
            </a:pPr>
            <a:fld id="{A6C55C14-CAC2-440A-B3A7-72FFFA6CBE37}" type="slidenum">
              <a:rPr lang="en-US" smtClean="0"/>
              <a:pPr>
                <a:defRPr/>
              </a:pPr>
              <a:t>14</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a:extLst>
              <a:ext uri="{FF2B5EF4-FFF2-40B4-BE49-F238E27FC236}">
                <a16:creationId xmlns:a16="http://schemas.microsoft.com/office/drawing/2014/main" id="{DB3787E6-FCE9-4B52-8AED-3259E4BE2121}"/>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19" name="Notes Placeholder 2">
            <a:extLst>
              <a:ext uri="{FF2B5EF4-FFF2-40B4-BE49-F238E27FC236}">
                <a16:creationId xmlns:a16="http://schemas.microsoft.com/office/drawing/2014/main" id="{68CFE56D-46F0-46CE-ABEF-25E1620763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AE89ED5A-C020-43AC-8E81-84AA42716F4E}"/>
              </a:ext>
            </a:extLst>
          </p:cNvPr>
          <p:cNvSpPr>
            <a:spLocks noGrp="1"/>
          </p:cNvSpPr>
          <p:nvPr>
            <p:ph type="sldNum" sz="quarter" idx="5"/>
          </p:nvPr>
        </p:nvSpPr>
        <p:spPr/>
        <p:txBody>
          <a:bodyPr/>
          <a:lstStyle/>
          <a:p>
            <a:pPr>
              <a:defRPr/>
            </a:pPr>
            <a:fld id="{1D009FBA-6C98-4CA4-8B1E-9606F0300FED}" type="slidenum">
              <a:rPr lang="en-US" smtClean="0"/>
              <a:pPr>
                <a:defRPr/>
              </a:pPr>
              <a:t>15</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CECEC"/>
                </a:solidFill>
                <a:effectLst/>
                <a:highlight>
                  <a:srgbClr val="212121"/>
                </a:highlight>
                <a:latin typeface="Söhne"/>
              </a:rPr>
              <a:t>By using inheritance, developers can write cleaner and more modular code, as they only need to define styles once at the appropriate level in the document hierarchy. </a:t>
            </a:r>
          </a:p>
          <a:p>
            <a:r>
              <a:rPr lang="en-US" b="0" i="0" dirty="0">
                <a:solidFill>
                  <a:srgbClr val="ECECEC"/>
                </a:solidFill>
                <a:effectLst/>
                <a:highlight>
                  <a:srgbClr val="212121"/>
                </a:highlight>
                <a:latin typeface="Söhne"/>
              </a:rPr>
              <a:t>This not only saves time but also makes it easier to update styles globally by simply modifying the parent elements.</a:t>
            </a:r>
            <a:endParaRPr lang="en-US" dirty="0"/>
          </a:p>
        </p:txBody>
      </p:sp>
      <p:sp>
        <p:nvSpPr>
          <p:cNvPr id="4" name="Slide Number Placeholder 3"/>
          <p:cNvSpPr>
            <a:spLocks noGrp="1"/>
          </p:cNvSpPr>
          <p:nvPr>
            <p:ph type="sldNum" sz="quarter" idx="5"/>
          </p:nvPr>
        </p:nvSpPr>
        <p:spPr/>
        <p:txBody>
          <a:bodyPr/>
          <a:lstStyle/>
          <a:p>
            <a:fld id="{9698344B-CAD5-4464-A92A-72A664F52E84}" type="slidenum">
              <a:rPr lang="en-US" smtClean="0"/>
              <a:t>16</a:t>
            </a:fld>
            <a:endParaRPr lang="en-US"/>
          </a:p>
        </p:txBody>
      </p:sp>
    </p:spTree>
    <p:extLst>
      <p:ext uri="{BB962C8B-B14F-4D97-AF65-F5344CB8AC3E}">
        <p14:creationId xmlns:p14="http://schemas.microsoft.com/office/powerpoint/2010/main" val="2424647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endParaRPr lang="en-US" dirty="0">
              <a:effectLst/>
            </a:endParaRPr>
          </a:p>
          <a:p>
            <a:pPr marL="1143000" lvl="2" indent="-228600">
              <a:buFont typeface="+mj-lt"/>
              <a:buAutoNum type="arabicPeriod"/>
            </a:pPr>
            <a:r>
              <a:rPr lang="en-US" b="1" dirty="0">
                <a:effectLst/>
              </a:rPr>
              <a:t>Pseudo-classes</a:t>
            </a:r>
            <a:r>
              <a:rPr lang="en-US" dirty="0">
                <a:effectLst/>
              </a:rPr>
              <a:t>: Pseudo-classes are keywords that specify a special state of an element. They are preceded by a colon (:) in CSS. Common pseudo-classes include :hover, :active, :focus, which target elements based on user interaction, and :nth-child(), which selects elements based on their position within a parent.</a:t>
            </a:r>
          </a:p>
          <a:p>
            <a:pPr marL="1143000" lvl="2" indent="-228600">
              <a:buFont typeface="+mj-lt"/>
              <a:buAutoNum type="arabicPeriod"/>
            </a:pPr>
            <a:r>
              <a:rPr lang="en-US" b="1" dirty="0">
                <a:effectLst/>
              </a:rPr>
              <a:t>Attribute Selectors</a:t>
            </a:r>
            <a:r>
              <a:rPr lang="en-US" dirty="0">
                <a:effectLst/>
              </a:rPr>
              <a:t>: Attribute selectors target elements based on the presence or value of their attributes. They are enclosed in square brackets ([]). For example, [</a:t>
            </a:r>
            <a:r>
              <a:rPr lang="en-US" dirty="0" err="1">
                <a:effectLst/>
              </a:rPr>
              <a:t>href</a:t>
            </a:r>
            <a:r>
              <a:rPr lang="en-US" dirty="0">
                <a:effectLst/>
              </a:rPr>
              <a:t>] targets all elements with an </a:t>
            </a:r>
            <a:r>
              <a:rPr lang="en-US" dirty="0" err="1">
                <a:effectLst/>
              </a:rPr>
              <a:t>href</a:t>
            </a:r>
            <a:r>
              <a:rPr lang="en-US" dirty="0">
                <a:effectLst/>
              </a:rPr>
              <a:t> attribute, and [type="checkbox"] targets all checkbox input elements. Attribute selectors provide a flexible way to style or script elements based on their attributes.</a:t>
            </a:r>
          </a:p>
          <a:p>
            <a:pPr>
              <a:buFont typeface="+mj-lt"/>
              <a:buAutoNum type="arabicPeriod"/>
            </a:pPr>
            <a:r>
              <a:rPr lang="en-US" b="1" dirty="0">
                <a:effectLst/>
              </a:rPr>
              <a:t>Elements and Pseudo-elements</a:t>
            </a:r>
            <a:r>
              <a:rPr lang="en-US" dirty="0">
                <a:effectLst/>
              </a:rPr>
              <a:t>:</a:t>
            </a:r>
          </a:p>
          <a:p>
            <a:pPr marL="457200" lvl="1" indent="0">
              <a:buFont typeface="+mj-lt"/>
              <a:buNone/>
            </a:pPr>
            <a:r>
              <a:rPr lang="en-US" b="1" dirty="0">
                <a:effectLst/>
              </a:rPr>
              <a:t>Example</a:t>
            </a:r>
            <a:r>
              <a:rPr lang="en-US" dirty="0">
                <a:effectLst/>
              </a:rPr>
              <a:t>: h1, ::before</a:t>
            </a:r>
          </a:p>
          <a:p>
            <a:pPr marL="1143000" lvl="2" indent="-228600">
              <a:buFont typeface="+mj-lt"/>
              <a:buAutoNum type="arabicPeriod"/>
            </a:pPr>
            <a:r>
              <a:rPr lang="en-US" b="1" dirty="0">
                <a:effectLst/>
              </a:rPr>
              <a:t>Pseudo-elements</a:t>
            </a:r>
            <a:r>
              <a:rPr lang="en-US" dirty="0">
                <a:effectLst/>
              </a:rPr>
              <a:t>: Pseudo-elements allow you to style specific parts of an element. They are preceded by double colons (::) in CSS. Common pseudo-elements include ::before and ::after, which allow you to insert content before or after the content of an element, respectively. Pseudo-elements are often used for decorative purposes or to add additional content dynamically.</a:t>
            </a:r>
          </a:p>
          <a:p>
            <a:r>
              <a:rPr lang="en-US" dirty="0">
                <a:effectLst/>
              </a:rPr>
              <a:t>Understanding these CSS concepts allows you to efficiently target and style different elements within HTML documents.</a:t>
            </a:r>
            <a:endParaRPr lang="en-US" b="0" i="0" dirty="0">
              <a:solidFill>
                <a:srgbClr val="ECECEC"/>
              </a:solidFill>
              <a:effectLst/>
              <a:highlight>
                <a:srgbClr val="212121"/>
              </a:highlight>
              <a:latin typeface="Söhne"/>
            </a:endParaRPr>
          </a:p>
          <a:p>
            <a:endParaRPr lang="en-US" dirty="0"/>
          </a:p>
        </p:txBody>
      </p:sp>
      <p:sp>
        <p:nvSpPr>
          <p:cNvPr id="4" name="Slide Number Placeholder 3"/>
          <p:cNvSpPr>
            <a:spLocks noGrp="1"/>
          </p:cNvSpPr>
          <p:nvPr>
            <p:ph type="sldNum" sz="quarter" idx="5"/>
          </p:nvPr>
        </p:nvSpPr>
        <p:spPr/>
        <p:txBody>
          <a:bodyPr/>
          <a:lstStyle/>
          <a:p>
            <a:fld id="{9698344B-CAD5-4464-A92A-72A664F52E84}" type="slidenum">
              <a:rPr lang="en-US" smtClean="0"/>
              <a:t>18</a:t>
            </a:fld>
            <a:endParaRPr lang="en-US"/>
          </a:p>
        </p:txBody>
      </p:sp>
    </p:spTree>
    <p:extLst>
      <p:ext uri="{BB962C8B-B14F-4D97-AF65-F5344CB8AC3E}">
        <p14:creationId xmlns:p14="http://schemas.microsoft.com/office/powerpoint/2010/main" val="1202794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sng" dirty="0">
                <a:effectLst/>
                <a:highlight>
                  <a:srgbClr val="FFFFFF"/>
                </a:highlight>
                <a:latin typeface="Inter"/>
                <a:hlinkClick r:id="rId3"/>
              </a:rPr>
              <a:t>Specificity</a:t>
            </a:r>
            <a:r>
              <a:rPr lang="en-US" b="0" i="0" dirty="0">
                <a:solidFill>
                  <a:srgbClr val="1B1B1B"/>
                </a:solidFill>
                <a:effectLst/>
                <a:highlight>
                  <a:srgbClr val="FFFFFF"/>
                </a:highlight>
                <a:latin typeface="Inter"/>
              </a:rPr>
              <a:t> is the algorithm that the browser uses to decide which property value is applied to an element. If multiple style blocks have different selectors that configure the same property with different values and target the same element, specificity decides the property value that gets applied to the element. Specificity is basically a measure of how specific a selector's selection will be:</a:t>
            </a:r>
            <a:endParaRPr lang="en-US" dirty="0"/>
          </a:p>
        </p:txBody>
      </p:sp>
      <p:sp>
        <p:nvSpPr>
          <p:cNvPr id="4" name="Slide Number Placeholder 3"/>
          <p:cNvSpPr>
            <a:spLocks noGrp="1"/>
          </p:cNvSpPr>
          <p:nvPr>
            <p:ph type="sldNum" sz="quarter" idx="5"/>
          </p:nvPr>
        </p:nvSpPr>
        <p:spPr/>
        <p:txBody>
          <a:bodyPr/>
          <a:lstStyle/>
          <a:p>
            <a:fld id="{9698344B-CAD5-4464-A92A-72A664F52E84}" type="slidenum">
              <a:rPr lang="en-US" smtClean="0"/>
              <a:t>19</a:t>
            </a:fld>
            <a:endParaRPr lang="en-US"/>
          </a:p>
        </p:txBody>
      </p:sp>
    </p:spTree>
    <p:extLst>
      <p:ext uri="{BB962C8B-B14F-4D97-AF65-F5344CB8AC3E}">
        <p14:creationId xmlns:p14="http://schemas.microsoft.com/office/powerpoint/2010/main" val="1776488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000000"/>
                </a:solidFill>
                <a:effectLst/>
                <a:highlight>
                  <a:srgbClr val="FFFFFF"/>
                </a:highlight>
                <a:latin typeface="Verdana" panose="020B0604030504040204" pitchFamily="34" charset="0"/>
              </a:rPr>
              <a:t>Equal specificity: the latest rule wins </a:t>
            </a:r>
            <a:r>
              <a:rPr lang="en-US" b="0" i="0" dirty="0">
                <a:solidFill>
                  <a:srgbClr val="000000"/>
                </a:solidFill>
                <a:effectLst/>
                <a:highlight>
                  <a:srgbClr val="FFFFFF"/>
                </a:highlight>
                <a:latin typeface="Verdana" panose="020B0604030504040204" pitchFamily="34" charset="0"/>
              </a:rPr>
              <a:t>- If the same rule is written twice into the external style sheet, then the latest rule wins:  ex4</a:t>
            </a:r>
            <a:endParaRPr lang="en-US" dirty="0"/>
          </a:p>
        </p:txBody>
      </p:sp>
      <p:sp>
        <p:nvSpPr>
          <p:cNvPr id="4" name="Slide Number Placeholder 3"/>
          <p:cNvSpPr>
            <a:spLocks noGrp="1"/>
          </p:cNvSpPr>
          <p:nvPr>
            <p:ph type="sldNum" sz="quarter" idx="5"/>
          </p:nvPr>
        </p:nvSpPr>
        <p:spPr/>
        <p:txBody>
          <a:bodyPr/>
          <a:lstStyle/>
          <a:p>
            <a:fld id="{9698344B-CAD5-4464-A92A-72A664F52E84}" type="slidenum">
              <a:rPr lang="en-US" smtClean="0"/>
              <a:t>23</a:t>
            </a:fld>
            <a:endParaRPr lang="en-US"/>
          </a:p>
        </p:txBody>
      </p:sp>
    </p:spTree>
    <p:extLst>
      <p:ext uri="{BB962C8B-B14F-4D97-AF65-F5344CB8AC3E}">
        <p14:creationId xmlns:p14="http://schemas.microsoft.com/office/powerpoint/2010/main" val="3488032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id="{00D02696-63B3-44F9-8626-33E29CB79369}"/>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a:extLst>
              <a:ext uri="{FF2B5EF4-FFF2-40B4-BE49-F238E27FC236}">
                <a16:creationId xmlns:a16="http://schemas.microsoft.com/office/drawing/2014/main" id="{565E2991-FEE4-4455-9470-705835F3B7F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A18743C5-ED87-4544-8D84-CB3694C0F5EE}"/>
              </a:ext>
            </a:extLst>
          </p:cNvPr>
          <p:cNvSpPr>
            <a:spLocks noGrp="1"/>
          </p:cNvSpPr>
          <p:nvPr>
            <p:ph type="sldNum" sz="quarter" idx="5"/>
          </p:nvPr>
        </p:nvSpPr>
        <p:spPr/>
        <p:txBody>
          <a:bodyPr/>
          <a:lstStyle/>
          <a:p>
            <a:pPr>
              <a:defRPr/>
            </a:pPr>
            <a:fld id="{42DD9136-CC18-4A41-9B25-BF4C99D33D37}" type="slidenum">
              <a:rPr lang="en-US" smtClean="0"/>
              <a:pPr>
                <a:defRPr/>
              </a:pPr>
              <a:t>25</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E10730CC-D431-46BF-AD3E-881554954917}"/>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id="{E6875B80-870A-43BE-BA38-AE2B18D2146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8533A141-D23E-434B-8FC9-8A2B112B1112}"/>
              </a:ext>
            </a:extLst>
          </p:cNvPr>
          <p:cNvSpPr>
            <a:spLocks noGrp="1"/>
          </p:cNvSpPr>
          <p:nvPr>
            <p:ph type="sldNum" sz="quarter" idx="5"/>
          </p:nvPr>
        </p:nvSpPr>
        <p:spPr/>
        <p:txBody>
          <a:bodyPr/>
          <a:lstStyle/>
          <a:p>
            <a:pPr>
              <a:defRPr/>
            </a:pPr>
            <a:fld id="{9B0074D8-3569-482D-9FFE-EBA8F3031AC8}" type="slidenum">
              <a:rPr lang="en-US" smtClean="0"/>
              <a:pPr>
                <a:defRPr/>
              </a:pPr>
              <a:t>26</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a:extLst>
              <a:ext uri="{FF2B5EF4-FFF2-40B4-BE49-F238E27FC236}">
                <a16:creationId xmlns:a16="http://schemas.microsoft.com/office/drawing/2014/main" id="{A48078FC-1687-41D3-BC92-B9356F6B419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a:extLst>
              <a:ext uri="{FF2B5EF4-FFF2-40B4-BE49-F238E27FC236}">
                <a16:creationId xmlns:a16="http://schemas.microsoft.com/office/drawing/2014/main" id="{45B788D0-5D9E-4375-BED1-9CA2C77D399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74A8BF0D-1C1F-441F-ADCE-D5BF3143FAC4}"/>
              </a:ext>
            </a:extLst>
          </p:cNvPr>
          <p:cNvSpPr>
            <a:spLocks noGrp="1"/>
          </p:cNvSpPr>
          <p:nvPr>
            <p:ph type="sldNum" sz="quarter" idx="5"/>
          </p:nvPr>
        </p:nvSpPr>
        <p:spPr/>
        <p:txBody>
          <a:bodyPr/>
          <a:lstStyle/>
          <a:p>
            <a:pPr>
              <a:defRPr/>
            </a:pPr>
            <a:fld id="{BE6668C7-8299-47B9-A5DC-E7E6A7F1C357}" type="slidenum">
              <a:rPr lang="en-US" smtClean="0"/>
              <a:pPr>
                <a:defRPr/>
              </a:pPr>
              <a:t>27</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a:extLst>
              <a:ext uri="{FF2B5EF4-FFF2-40B4-BE49-F238E27FC236}">
                <a16:creationId xmlns:a16="http://schemas.microsoft.com/office/drawing/2014/main" id="{6267F17D-7974-45E5-907A-AD150CE63F84}"/>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1011" name="Notes Placeholder 2">
            <a:extLst>
              <a:ext uri="{FF2B5EF4-FFF2-40B4-BE49-F238E27FC236}">
                <a16:creationId xmlns:a16="http://schemas.microsoft.com/office/drawing/2014/main" id="{C92A8075-FBF1-4209-80E0-937A3974CC8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B2CC6E6-89CF-4986-A3D0-FCEE65261A58}"/>
              </a:ext>
            </a:extLst>
          </p:cNvPr>
          <p:cNvSpPr>
            <a:spLocks noGrp="1"/>
          </p:cNvSpPr>
          <p:nvPr>
            <p:ph type="sldNum" sz="quarter" idx="5"/>
          </p:nvPr>
        </p:nvSpPr>
        <p:spPr/>
        <p:txBody>
          <a:bodyPr/>
          <a:lstStyle/>
          <a:p>
            <a:pPr>
              <a:defRPr/>
            </a:pPr>
            <a:fld id="{DF863A58-F12A-4A90-9979-DB0B6BBD9E10}" type="slidenum">
              <a:rPr lang="en-US" smtClean="0"/>
              <a:pPr>
                <a:defRPr/>
              </a:pPr>
              <a:t>28</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3F8C3523-F19A-40A2-B355-FAB546EFDFEB}"/>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a:extLst>
              <a:ext uri="{FF2B5EF4-FFF2-40B4-BE49-F238E27FC236}">
                <a16:creationId xmlns:a16="http://schemas.microsoft.com/office/drawing/2014/main" id="{C00AE7A3-F230-4FDB-9395-8CD558CA262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2223FAE0-AB85-4C1B-BE60-17816B404EAF}"/>
              </a:ext>
            </a:extLst>
          </p:cNvPr>
          <p:cNvSpPr>
            <a:spLocks noGrp="1"/>
          </p:cNvSpPr>
          <p:nvPr>
            <p:ph type="sldNum" sz="quarter" idx="5"/>
          </p:nvPr>
        </p:nvSpPr>
        <p:spPr/>
        <p:txBody>
          <a:bodyPr/>
          <a:lstStyle/>
          <a:p>
            <a:pPr>
              <a:defRPr/>
            </a:pPr>
            <a:fld id="{E6037036-B353-46A3-84BC-38E0953807DF}" type="slidenum">
              <a:rPr lang="en-US" smtClean="0"/>
              <a:pPr>
                <a:defRPr/>
              </a:pPr>
              <a:t>29</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B932330A-5C3E-4D08-AE0F-81CB7248287A}"/>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AD307F16-6C89-4183-8B6F-A3C04EE164D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80175D2-5BC9-4890-A48D-E46A7433F3A6}"/>
              </a:ext>
            </a:extLst>
          </p:cNvPr>
          <p:cNvSpPr>
            <a:spLocks noGrp="1"/>
          </p:cNvSpPr>
          <p:nvPr>
            <p:ph type="sldNum" sz="quarter" idx="5"/>
          </p:nvPr>
        </p:nvSpPr>
        <p:spPr/>
        <p:txBody>
          <a:bodyPr/>
          <a:lstStyle/>
          <a:p>
            <a:pPr>
              <a:defRPr/>
            </a:pPr>
            <a:fld id="{806F15BC-80C4-46DD-AEE8-5A4EDFCF4015}" type="slidenum">
              <a:rPr lang="en-US" smtClean="0"/>
              <a:pPr>
                <a:defRPr/>
              </a:pPr>
              <a:t>30</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B932330A-5C3E-4D08-AE0F-81CB7248287A}"/>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AD307F16-6C89-4183-8B6F-A3C04EE164D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80175D2-5BC9-4890-A48D-E46A7433F3A6}"/>
              </a:ext>
            </a:extLst>
          </p:cNvPr>
          <p:cNvSpPr>
            <a:spLocks noGrp="1"/>
          </p:cNvSpPr>
          <p:nvPr>
            <p:ph type="sldNum" sz="quarter" idx="5"/>
          </p:nvPr>
        </p:nvSpPr>
        <p:spPr/>
        <p:txBody>
          <a:bodyPr/>
          <a:lstStyle/>
          <a:p>
            <a:pPr>
              <a:defRPr/>
            </a:pPr>
            <a:fld id="{806F15BC-80C4-46DD-AEE8-5A4EDFCF4015}" type="slidenum">
              <a:rPr lang="en-US" smtClean="0"/>
              <a:pPr>
                <a:defRPr/>
              </a:pPr>
              <a:t>31</a:t>
            </a:fld>
            <a:endParaRPr lang="en-US" dirty="0"/>
          </a:p>
        </p:txBody>
      </p:sp>
    </p:spTree>
    <p:extLst>
      <p:ext uri="{BB962C8B-B14F-4D97-AF65-F5344CB8AC3E}">
        <p14:creationId xmlns:p14="http://schemas.microsoft.com/office/powerpoint/2010/main" val="10649019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a:extLst>
              <a:ext uri="{FF2B5EF4-FFF2-40B4-BE49-F238E27FC236}">
                <a16:creationId xmlns:a16="http://schemas.microsoft.com/office/drawing/2014/main" id="{C2A12ACE-B78D-44E1-BB77-17AE7DEB51F4}"/>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a:extLst>
              <a:ext uri="{FF2B5EF4-FFF2-40B4-BE49-F238E27FC236}">
                <a16:creationId xmlns:a16="http://schemas.microsoft.com/office/drawing/2014/main" id="{58736BAE-15D5-4775-B336-92CFF2FC5E9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2BD72FC6-B6D3-47FD-A4F1-31A125005F7A}"/>
              </a:ext>
            </a:extLst>
          </p:cNvPr>
          <p:cNvSpPr>
            <a:spLocks noGrp="1"/>
          </p:cNvSpPr>
          <p:nvPr>
            <p:ph type="sldNum" sz="quarter" idx="5"/>
          </p:nvPr>
        </p:nvSpPr>
        <p:spPr/>
        <p:txBody>
          <a:bodyPr/>
          <a:lstStyle/>
          <a:p>
            <a:pPr>
              <a:defRPr/>
            </a:pPr>
            <a:fld id="{E895F5B0-24F5-485F-9B85-4F1BB4164255}" type="slidenum">
              <a:rPr lang="en-US" smtClean="0"/>
              <a:pPr>
                <a:defRPr/>
              </a:pPr>
              <a:t>32</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a:extLst>
              <a:ext uri="{FF2B5EF4-FFF2-40B4-BE49-F238E27FC236}">
                <a16:creationId xmlns:a16="http://schemas.microsoft.com/office/drawing/2014/main" id="{E99DCC2D-51D1-46E3-A161-521AE3A90052}"/>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a:extLst>
              <a:ext uri="{FF2B5EF4-FFF2-40B4-BE49-F238E27FC236}">
                <a16:creationId xmlns:a16="http://schemas.microsoft.com/office/drawing/2014/main" id="{E09CFF0B-5A78-4AB9-96E0-186053D3172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3C7C3372-9A0E-4F57-AF0C-C1751E5E6DA1}"/>
              </a:ext>
            </a:extLst>
          </p:cNvPr>
          <p:cNvSpPr>
            <a:spLocks noGrp="1"/>
          </p:cNvSpPr>
          <p:nvPr>
            <p:ph type="sldNum" sz="quarter" idx="5"/>
          </p:nvPr>
        </p:nvSpPr>
        <p:spPr/>
        <p:txBody>
          <a:bodyPr/>
          <a:lstStyle/>
          <a:p>
            <a:pPr>
              <a:defRPr/>
            </a:pPr>
            <a:fld id="{8743B5AD-BC96-4850-8789-A8AF262E7F07}" type="slidenum">
              <a:rPr lang="en-US" smtClean="0"/>
              <a:pPr>
                <a:defRPr/>
              </a:pPr>
              <a:t>33</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a:extLst>
              <a:ext uri="{FF2B5EF4-FFF2-40B4-BE49-F238E27FC236}">
                <a16:creationId xmlns:a16="http://schemas.microsoft.com/office/drawing/2014/main" id="{3A1F1B2E-7F18-4988-ACBF-36D0E30CFCC8}"/>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a:extLst>
              <a:ext uri="{FF2B5EF4-FFF2-40B4-BE49-F238E27FC236}">
                <a16:creationId xmlns:a16="http://schemas.microsoft.com/office/drawing/2014/main" id="{C3379F7F-5866-4F4E-A29A-9858C5BA107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3F0F47D-6CD6-4747-9A17-FCA91FD10723}"/>
              </a:ext>
            </a:extLst>
          </p:cNvPr>
          <p:cNvSpPr>
            <a:spLocks noGrp="1"/>
          </p:cNvSpPr>
          <p:nvPr>
            <p:ph type="sldNum" sz="quarter" idx="5"/>
          </p:nvPr>
        </p:nvSpPr>
        <p:spPr/>
        <p:txBody>
          <a:bodyPr/>
          <a:lstStyle/>
          <a:p>
            <a:pPr>
              <a:defRPr/>
            </a:pPr>
            <a:fld id="{35B894C5-1E95-4C31-985D-EA3967DC4449}" type="slidenum">
              <a:rPr lang="en-US" smtClean="0"/>
              <a:pPr>
                <a:defRPr/>
              </a:pPr>
              <a:t>34</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id="{2A6EB267-CA2B-4753-BD7F-CBB520E60919}"/>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id="{120D672E-DA83-4E21-A62F-970183E86F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b="0" i="0" dirty="0">
                <a:solidFill>
                  <a:srgbClr val="000000"/>
                </a:solidFill>
                <a:effectLst/>
                <a:highlight>
                  <a:srgbClr val="FFFFFF"/>
                </a:highlight>
                <a:latin typeface="Verdana" panose="020B0604030504040204" pitchFamily="34" charset="0"/>
              </a:rPr>
              <a:t>HTML elements are positioned static by default.</a:t>
            </a:r>
          </a:p>
          <a:p>
            <a:pPr algn="l"/>
            <a:r>
              <a:rPr lang="en-US" b="0" i="0" dirty="0">
                <a:solidFill>
                  <a:srgbClr val="000000"/>
                </a:solidFill>
                <a:effectLst/>
                <a:highlight>
                  <a:srgbClr val="FFFFFF"/>
                </a:highlight>
                <a:latin typeface="Verdana" panose="020B0604030504040204" pitchFamily="34" charset="0"/>
              </a:rPr>
              <a:t>Static positioned elements are not affected by the top, bottom, left, and right properties.</a:t>
            </a:r>
          </a:p>
          <a:p>
            <a:pPr algn="l"/>
            <a:r>
              <a:rPr lang="en-US" b="0" i="0" dirty="0">
                <a:solidFill>
                  <a:srgbClr val="000000"/>
                </a:solidFill>
                <a:effectLst/>
                <a:highlight>
                  <a:srgbClr val="FFFFFF"/>
                </a:highlight>
                <a:latin typeface="Verdana" panose="020B0604030504040204" pitchFamily="34" charset="0"/>
              </a:rPr>
              <a:t>An element with position: static; is not positioned in any special way; it is always positioned according to the normal flow of the page:</a:t>
            </a:r>
          </a:p>
          <a:p>
            <a:endParaRPr lang="en-US" altLang="en-US" dirty="0"/>
          </a:p>
          <a:p>
            <a:r>
              <a:rPr lang="en-US" b="0" i="0" dirty="0">
                <a:solidFill>
                  <a:srgbClr val="000000"/>
                </a:solidFill>
                <a:effectLst/>
                <a:highlight>
                  <a:srgbClr val="FFFFFF"/>
                </a:highlight>
                <a:latin typeface="Verdana" panose="020B0604030504040204" pitchFamily="34" charset="0"/>
              </a:rPr>
              <a:t>An element with </a:t>
            </a:r>
            <a:r>
              <a:rPr lang="en-US" dirty="0"/>
              <a:t>position: fixed;</a:t>
            </a:r>
            <a:r>
              <a:rPr lang="en-US" b="0" i="0" dirty="0">
                <a:solidFill>
                  <a:srgbClr val="000000"/>
                </a:solidFill>
                <a:effectLst/>
                <a:highlight>
                  <a:srgbClr val="FFFFFF"/>
                </a:highlight>
                <a:latin typeface="Verdana" panose="020B0604030504040204" pitchFamily="34" charset="0"/>
              </a:rPr>
              <a:t> is positioned relative to the viewport, which means it always stays in the same place even if the page is scrolled. The top, right, bottom, and left properties are used to position the element.</a:t>
            </a:r>
          </a:p>
          <a:p>
            <a:endParaRPr lang="en-US" altLang="en-US" b="0" i="0" dirty="0">
              <a:solidFill>
                <a:srgbClr val="000000"/>
              </a:solidFill>
              <a:effectLst/>
              <a:highlight>
                <a:srgbClr val="FFFFFF"/>
              </a:highlight>
              <a:latin typeface="Verdana" panose="020B0604030504040204" pitchFamily="34" charset="0"/>
            </a:endParaRPr>
          </a:p>
          <a:p>
            <a:pPr algn="l"/>
            <a:r>
              <a:rPr lang="en-US" b="0" i="0" dirty="0">
                <a:solidFill>
                  <a:srgbClr val="000000"/>
                </a:solidFill>
                <a:effectLst/>
                <a:highlight>
                  <a:srgbClr val="FFFFFF"/>
                </a:highlight>
                <a:latin typeface="Verdana" panose="020B0604030504040204" pitchFamily="34" charset="0"/>
              </a:rPr>
              <a:t>An element with position: absolute; is positioned relative to the nearest positioned ancestor (instead of positioned relative to the viewport, like fixed).</a:t>
            </a:r>
          </a:p>
          <a:p>
            <a:pPr algn="l"/>
            <a:r>
              <a:rPr lang="en-US" b="0" i="0" dirty="0">
                <a:solidFill>
                  <a:srgbClr val="000000"/>
                </a:solidFill>
                <a:effectLst/>
                <a:highlight>
                  <a:srgbClr val="FFFFFF"/>
                </a:highlight>
                <a:latin typeface="Verdana" panose="020B0604030504040204" pitchFamily="34" charset="0"/>
              </a:rPr>
              <a:t>However; if an absolute positioned element has no positioned ancestors, it uses the document body, and moves along with page scrolling.</a:t>
            </a:r>
          </a:p>
          <a:p>
            <a:endParaRPr lang="en-US" altLang="en-US" dirty="0"/>
          </a:p>
        </p:txBody>
      </p:sp>
      <p:sp>
        <p:nvSpPr>
          <p:cNvPr id="4" name="Slide Number Placeholder 3">
            <a:extLst>
              <a:ext uri="{FF2B5EF4-FFF2-40B4-BE49-F238E27FC236}">
                <a16:creationId xmlns:a16="http://schemas.microsoft.com/office/drawing/2014/main" id="{45A95FC4-4C1A-4824-8E32-D78A5C490FBF}"/>
              </a:ext>
            </a:extLst>
          </p:cNvPr>
          <p:cNvSpPr>
            <a:spLocks noGrp="1"/>
          </p:cNvSpPr>
          <p:nvPr>
            <p:ph type="sldNum" sz="quarter" idx="5"/>
          </p:nvPr>
        </p:nvSpPr>
        <p:spPr/>
        <p:txBody>
          <a:bodyPr/>
          <a:lstStyle/>
          <a:p>
            <a:pPr>
              <a:defRPr/>
            </a:pPr>
            <a:fld id="{C39E68E1-6113-4FA5-996E-5734F23F4AE2}" type="slidenum">
              <a:rPr lang="en-US" smtClean="0"/>
              <a:pPr>
                <a:defRPr/>
              </a:pPr>
              <a:t>35</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id="{153A07CA-21BF-4D2F-B46C-AB318A04E314}"/>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id="{A721FD76-2E9C-4077-A919-B861E525617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750C5A43-7FF5-4ED9-8001-BDA16DFC03C6}"/>
              </a:ext>
            </a:extLst>
          </p:cNvPr>
          <p:cNvSpPr>
            <a:spLocks noGrp="1"/>
          </p:cNvSpPr>
          <p:nvPr>
            <p:ph type="sldNum" sz="quarter" idx="5"/>
          </p:nvPr>
        </p:nvSpPr>
        <p:spPr/>
        <p:txBody>
          <a:bodyPr/>
          <a:lstStyle/>
          <a:p>
            <a:pPr>
              <a:defRPr/>
            </a:pPr>
            <a:fld id="{B5D5823B-97FC-4B8C-A82C-8C7C61A96CD5}" type="slidenum">
              <a:rPr lang="en-US" smtClean="0"/>
              <a:pPr>
                <a:defRPr/>
              </a:pPr>
              <a:t>36</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a:extLst>
              <a:ext uri="{FF2B5EF4-FFF2-40B4-BE49-F238E27FC236}">
                <a16:creationId xmlns:a16="http://schemas.microsoft.com/office/drawing/2014/main" id="{F6A5F16F-C9DF-428C-8CCE-8503B7884AAA}"/>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a:extLst>
              <a:ext uri="{FF2B5EF4-FFF2-40B4-BE49-F238E27FC236}">
                <a16:creationId xmlns:a16="http://schemas.microsoft.com/office/drawing/2014/main" id="{A8238871-2F65-4405-9FD6-D14A0435690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8AB0DF1E-7152-44E1-8A58-6A6C002B8573}"/>
              </a:ext>
            </a:extLst>
          </p:cNvPr>
          <p:cNvSpPr>
            <a:spLocks noGrp="1"/>
          </p:cNvSpPr>
          <p:nvPr>
            <p:ph type="sldNum" sz="quarter" idx="5"/>
          </p:nvPr>
        </p:nvSpPr>
        <p:spPr/>
        <p:txBody>
          <a:bodyPr/>
          <a:lstStyle/>
          <a:p>
            <a:pPr>
              <a:defRPr/>
            </a:pPr>
            <a:fld id="{C449ED33-27D2-426A-88A4-B520C51B99A6}" type="slidenum">
              <a:rPr lang="en-US" smtClean="0"/>
              <a:pPr>
                <a:defRPr/>
              </a:pPr>
              <a:t>37</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a:extLst>
              <a:ext uri="{FF2B5EF4-FFF2-40B4-BE49-F238E27FC236}">
                <a16:creationId xmlns:a16="http://schemas.microsoft.com/office/drawing/2014/main" id="{9CA1EA81-D754-4AA3-9BCC-30A2F10FB63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1" name="Notes Placeholder 2">
            <a:extLst>
              <a:ext uri="{FF2B5EF4-FFF2-40B4-BE49-F238E27FC236}">
                <a16:creationId xmlns:a16="http://schemas.microsoft.com/office/drawing/2014/main" id="{8D21B56B-3D6E-4569-BA0A-B9B2B14D0F7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CE1D61AA-FADB-4E01-86A9-EF8824A0F4F1}"/>
              </a:ext>
            </a:extLst>
          </p:cNvPr>
          <p:cNvSpPr>
            <a:spLocks noGrp="1"/>
          </p:cNvSpPr>
          <p:nvPr>
            <p:ph type="sldNum" sz="quarter" idx="5"/>
          </p:nvPr>
        </p:nvSpPr>
        <p:spPr/>
        <p:txBody>
          <a:bodyPr/>
          <a:lstStyle/>
          <a:p>
            <a:pPr>
              <a:defRPr/>
            </a:pPr>
            <a:fld id="{48264800-D963-4AF5-8743-A9802F7F80E3}" type="slidenum">
              <a:rPr lang="en-US" smtClean="0"/>
              <a:pPr>
                <a:defRPr/>
              </a:pPr>
              <a:t>38</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a:extLst>
              <a:ext uri="{FF2B5EF4-FFF2-40B4-BE49-F238E27FC236}">
                <a16:creationId xmlns:a16="http://schemas.microsoft.com/office/drawing/2014/main" id="{7E97E6E9-DECB-4493-AF1D-A305E23A9988}"/>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3539" name="Notes Placeholder 2">
            <a:extLst>
              <a:ext uri="{FF2B5EF4-FFF2-40B4-BE49-F238E27FC236}">
                <a16:creationId xmlns:a16="http://schemas.microsoft.com/office/drawing/2014/main" id="{989356C2-09D7-417F-B26C-807524FA355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l"/>
            <a:r>
              <a:rPr lang="en-US" b="0" i="0" dirty="0">
                <a:solidFill>
                  <a:srgbClr val="000000"/>
                </a:solidFill>
                <a:effectLst/>
                <a:highlight>
                  <a:srgbClr val="FFFFFF"/>
                </a:highlight>
                <a:latin typeface="Verdana" panose="020B0604030504040204" pitchFamily="34" charset="0"/>
              </a:rPr>
              <a:t>The visibility property specifies whether or not an element is visible.</a:t>
            </a:r>
          </a:p>
          <a:p>
            <a:pPr algn="l"/>
            <a:r>
              <a:rPr lang="en-US" b="1" i="0" dirty="0">
                <a:solidFill>
                  <a:srgbClr val="000000"/>
                </a:solidFill>
                <a:effectLst/>
                <a:highlight>
                  <a:srgbClr val="FFFFFF"/>
                </a:highlight>
                <a:latin typeface="Verdana" panose="020B0604030504040204" pitchFamily="34" charset="0"/>
              </a:rPr>
              <a:t>Tip:</a:t>
            </a:r>
            <a:r>
              <a:rPr lang="en-US" b="0" i="0" dirty="0">
                <a:solidFill>
                  <a:srgbClr val="000000"/>
                </a:solidFill>
                <a:effectLst/>
                <a:highlight>
                  <a:srgbClr val="FFFFFF"/>
                </a:highlight>
                <a:latin typeface="Verdana" panose="020B0604030504040204" pitchFamily="34" charset="0"/>
              </a:rPr>
              <a:t> Hidden elements take up space on the page. Use the </a:t>
            </a:r>
            <a:r>
              <a:rPr lang="en-US" b="0" i="0" dirty="0">
                <a:solidFill>
                  <a:srgbClr val="000000"/>
                </a:solidFill>
                <a:effectLst/>
                <a:highlight>
                  <a:srgbClr val="FFFFFF"/>
                </a:highlight>
                <a:latin typeface="Verdana" panose="020B0604030504040204" pitchFamily="34" charset="0"/>
                <a:hlinkClick r:id="rId3"/>
              </a:rPr>
              <a:t>display</a:t>
            </a:r>
            <a:r>
              <a:rPr lang="en-US" b="0" i="0" dirty="0">
                <a:solidFill>
                  <a:srgbClr val="000000"/>
                </a:solidFill>
                <a:effectLst/>
                <a:highlight>
                  <a:srgbClr val="FFFFFF"/>
                </a:highlight>
                <a:latin typeface="Verdana" panose="020B0604030504040204" pitchFamily="34" charset="0"/>
              </a:rPr>
              <a:t> property to both hide and remove an element from the document layout!</a:t>
            </a:r>
          </a:p>
          <a:p>
            <a:endParaRPr lang="en-US" altLang="en-US" dirty="0"/>
          </a:p>
        </p:txBody>
      </p:sp>
      <p:sp>
        <p:nvSpPr>
          <p:cNvPr id="4" name="Slide Number Placeholder 3">
            <a:extLst>
              <a:ext uri="{FF2B5EF4-FFF2-40B4-BE49-F238E27FC236}">
                <a16:creationId xmlns:a16="http://schemas.microsoft.com/office/drawing/2014/main" id="{8ED5B3E3-FA1B-41D4-84E1-BAF0A96609EE}"/>
              </a:ext>
            </a:extLst>
          </p:cNvPr>
          <p:cNvSpPr>
            <a:spLocks noGrp="1"/>
          </p:cNvSpPr>
          <p:nvPr>
            <p:ph type="sldNum" sz="quarter" idx="5"/>
          </p:nvPr>
        </p:nvSpPr>
        <p:spPr/>
        <p:txBody>
          <a:bodyPr/>
          <a:lstStyle/>
          <a:p>
            <a:pPr>
              <a:defRPr/>
            </a:pPr>
            <a:fld id="{C3997B6B-C2F8-44D9-83C6-C02637E67859}" type="slidenum">
              <a:rPr lang="en-US" smtClean="0"/>
              <a:pPr>
                <a:defRPr/>
              </a:pPr>
              <a:t>39</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Slide Image Placeholder 1">
            <a:extLst>
              <a:ext uri="{FF2B5EF4-FFF2-40B4-BE49-F238E27FC236}">
                <a16:creationId xmlns:a16="http://schemas.microsoft.com/office/drawing/2014/main" id="{18475AA2-049D-45B0-8619-5AF1FB6554D9}"/>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a:extLst>
              <a:ext uri="{FF2B5EF4-FFF2-40B4-BE49-F238E27FC236}">
                <a16:creationId xmlns:a16="http://schemas.microsoft.com/office/drawing/2014/main" id="{1B553F83-0EC7-43F2-A781-C7A0AC37257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99CC6D34-CA77-41F6-B02E-0785ACD7F31C}"/>
              </a:ext>
            </a:extLst>
          </p:cNvPr>
          <p:cNvSpPr>
            <a:spLocks noGrp="1"/>
          </p:cNvSpPr>
          <p:nvPr>
            <p:ph type="sldNum" sz="quarter" idx="5"/>
          </p:nvPr>
        </p:nvSpPr>
        <p:spPr/>
        <p:txBody>
          <a:bodyPr/>
          <a:lstStyle/>
          <a:p>
            <a:pPr>
              <a:defRPr/>
            </a:pPr>
            <a:fld id="{1939C884-BE92-43F8-83B4-D31CA316E1BD}" type="slidenum">
              <a:rPr lang="en-US" smtClean="0"/>
              <a:pPr>
                <a:defRPr/>
              </a:pPr>
              <a:t>40</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Slide Image Placeholder 1">
            <a:extLst>
              <a:ext uri="{FF2B5EF4-FFF2-40B4-BE49-F238E27FC236}">
                <a16:creationId xmlns:a16="http://schemas.microsoft.com/office/drawing/2014/main" id="{153FB2B6-A66D-41E4-A9C5-C7A84D562185}"/>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7635" name="Notes Placeholder 2">
            <a:extLst>
              <a:ext uri="{FF2B5EF4-FFF2-40B4-BE49-F238E27FC236}">
                <a16:creationId xmlns:a16="http://schemas.microsoft.com/office/drawing/2014/main" id="{235560C9-6B8F-42D4-A242-E29F4EA725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4A59B62E-F701-45C0-BE16-32CB55F17650}"/>
              </a:ext>
            </a:extLst>
          </p:cNvPr>
          <p:cNvSpPr>
            <a:spLocks noGrp="1"/>
          </p:cNvSpPr>
          <p:nvPr>
            <p:ph type="sldNum" sz="quarter" idx="5"/>
          </p:nvPr>
        </p:nvSpPr>
        <p:spPr/>
        <p:txBody>
          <a:bodyPr/>
          <a:lstStyle/>
          <a:p>
            <a:pPr>
              <a:defRPr/>
            </a:pPr>
            <a:fld id="{33ABFD5E-4711-486B-9ADC-D9B429EB8D45}" type="slidenum">
              <a:rPr lang="en-US" smtClean="0"/>
              <a:pPr>
                <a:defRPr/>
              </a:pPr>
              <a:t>41</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Slide Image Placeholder 1">
            <a:extLst>
              <a:ext uri="{FF2B5EF4-FFF2-40B4-BE49-F238E27FC236}">
                <a16:creationId xmlns:a16="http://schemas.microsoft.com/office/drawing/2014/main" id="{5F13A8B7-516F-4025-9427-64C5F332A1C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a:extLst>
              <a:ext uri="{FF2B5EF4-FFF2-40B4-BE49-F238E27FC236}">
                <a16:creationId xmlns:a16="http://schemas.microsoft.com/office/drawing/2014/main" id="{4B515B2A-6FB7-45CD-BBFD-F70CAD2CF0A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C13111EC-CA34-49BA-A224-483D9A5F5C46}"/>
              </a:ext>
            </a:extLst>
          </p:cNvPr>
          <p:cNvSpPr>
            <a:spLocks noGrp="1"/>
          </p:cNvSpPr>
          <p:nvPr>
            <p:ph type="sldNum" sz="quarter" idx="5"/>
          </p:nvPr>
        </p:nvSpPr>
        <p:spPr/>
        <p:txBody>
          <a:bodyPr/>
          <a:lstStyle/>
          <a:p>
            <a:pPr>
              <a:defRPr/>
            </a:pPr>
            <a:fld id="{5AA6CADA-324D-472B-AC4B-92D8DDD3B69C}" type="slidenum">
              <a:rPr lang="en-US" smtClean="0"/>
              <a:pPr>
                <a:defRPr/>
              </a:pPr>
              <a:t>42</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8344B-CAD5-4464-A92A-72A664F52E84}" type="slidenum">
              <a:rPr lang="en-US" smtClean="0"/>
              <a:t>44</a:t>
            </a:fld>
            <a:endParaRPr lang="en-US"/>
          </a:p>
        </p:txBody>
      </p:sp>
    </p:spTree>
    <p:extLst>
      <p:ext uri="{BB962C8B-B14F-4D97-AF65-F5344CB8AC3E}">
        <p14:creationId xmlns:p14="http://schemas.microsoft.com/office/powerpoint/2010/main" val="11904125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a:extLst>
              <a:ext uri="{FF2B5EF4-FFF2-40B4-BE49-F238E27FC236}">
                <a16:creationId xmlns:a16="http://schemas.microsoft.com/office/drawing/2014/main" id="{E14103AF-D06C-4E3C-B841-AAD9E41FDFA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a:extLst>
              <a:ext uri="{FF2B5EF4-FFF2-40B4-BE49-F238E27FC236}">
                <a16:creationId xmlns:a16="http://schemas.microsoft.com/office/drawing/2014/main" id="{13C433FD-5B28-4427-B85E-44B68A5F49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07CA3DAF-F6F3-43A3-935E-6BDE93FEEE47}"/>
              </a:ext>
            </a:extLst>
          </p:cNvPr>
          <p:cNvSpPr>
            <a:spLocks noGrp="1"/>
          </p:cNvSpPr>
          <p:nvPr>
            <p:ph type="sldNum" sz="quarter" idx="5"/>
          </p:nvPr>
        </p:nvSpPr>
        <p:spPr/>
        <p:txBody>
          <a:bodyPr/>
          <a:lstStyle/>
          <a:p>
            <a:pPr>
              <a:defRPr/>
            </a:pPr>
            <a:fld id="{9D44CADA-A48C-413A-9A65-C298D30105B5}" type="slidenum">
              <a:rPr lang="en-US" smtClean="0"/>
              <a:pPr>
                <a:defRPr/>
              </a:pPr>
              <a:t>51</a:t>
            </a:fld>
            <a:endParaRPr lang="en-US" dirty="0"/>
          </a:p>
        </p:txBody>
      </p:sp>
    </p:spTree>
    <p:extLst>
      <p:ext uri="{BB962C8B-B14F-4D97-AF65-F5344CB8AC3E}">
        <p14:creationId xmlns:p14="http://schemas.microsoft.com/office/powerpoint/2010/main" val="24222546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a:extLst>
              <a:ext uri="{FF2B5EF4-FFF2-40B4-BE49-F238E27FC236}">
                <a16:creationId xmlns:a16="http://schemas.microsoft.com/office/drawing/2014/main" id="{E14103AF-D06C-4E3C-B841-AAD9E41FDFA3}"/>
              </a:ext>
            </a:extLst>
          </p:cNvPr>
          <p:cNvSpPr>
            <a:spLocks noGrp="1" noRot="1" noChangeAspect="1" noChangeArrowheads="1" noTextEdit="1"/>
          </p:cNvSpPr>
          <p:nvPr>
            <p:ph type="sldImg"/>
          </p:nvPr>
        </p:nvSpPr>
        <p:spPr bwMode="auto">
          <a:xfrm>
            <a:off x="382588" y="685800"/>
            <a:ext cx="6094412"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a:extLst>
              <a:ext uri="{FF2B5EF4-FFF2-40B4-BE49-F238E27FC236}">
                <a16:creationId xmlns:a16="http://schemas.microsoft.com/office/drawing/2014/main" id="{13C433FD-5B28-4427-B85E-44B68A5F49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a:extLst>
              <a:ext uri="{FF2B5EF4-FFF2-40B4-BE49-F238E27FC236}">
                <a16:creationId xmlns:a16="http://schemas.microsoft.com/office/drawing/2014/main" id="{07CA3DAF-F6F3-43A3-935E-6BDE93FEEE47}"/>
              </a:ext>
            </a:extLst>
          </p:cNvPr>
          <p:cNvSpPr>
            <a:spLocks noGrp="1"/>
          </p:cNvSpPr>
          <p:nvPr>
            <p:ph type="sldNum" sz="quarter" idx="5"/>
          </p:nvPr>
        </p:nvSpPr>
        <p:spPr/>
        <p:txBody>
          <a:bodyPr/>
          <a:lstStyle/>
          <a:p>
            <a:pPr>
              <a:defRPr/>
            </a:pPr>
            <a:fld id="{9D44CADA-A48C-413A-9A65-C298D30105B5}" type="slidenum">
              <a:rPr lang="en-US" smtClean="0"/>
              <a:pPr>
                <a:defRPr/>
              </a:pPr>
              <a:t>52</a:t>
            </a:fld>
            <a:endParaRPr lang="en-US" dirty="0"/>
          </a:p>
        </p:txBody>
      </p:sp>
    </p:spTree>
    <p:extLst>
      <p:ext uri="{BB962C8B-B14F-4D97-AF65-F5344CB8AC3E}">
        <p14:creationId xmlns:p14="http://schemas.microsoft.com/office/powerpoint/2010/main" val="404939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telerik.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36054-FEE3-41AC-A5EB-1416929B87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C2B9D0-D412-49AA-B793-3520283351E4}"/>
              </a:ext>
            </a:extLst>
          </p:cNvPr>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FDFF42-8C11-4AE3-B500-6F8AF8DF594D}"/>
              </a:ext>
            </a:extLst>
          </p:cNvPr>
          <p:cNvSpPr>
            <a:spLocks noGrp="1"/>
          </p:cNvSpPr>
          <p:nvPr>
            <p:ph type="dt" sz="half" idx="10"/>
          </p:nvPr>
        </p:nvSpPr>
        <p:spPr/>
        <p:txBody>
          <a:bodyPr/>
          <a:lstStyle/>
          <a:p>
            <a:fld id="{AC6CE38F-D123-462E-A920-85D54637AF36}" type="datetime1">
              <a:rPr lang="en-US" smtClean="0"/>
              <a:t>4/26/2024</a:t>
            </a:fld>
            <a:endParaRPr lang="en-US"/>
          </a:p>
        </p:txBody>
      </p:sp>
      <p:sp>
        <p:nvSpPr>
          <p:cNvPr id="5" name="Footer Placeholder 4">
            <a:extLst>
              <a:ext uri="{FF2B5EF4-FFF2-40B4-BE49-F238E27FC236}">
                <a16:creationId xmlns:a16="http://schemas.microsoft.com/office/drawing/2014/main" id="{077B3F4E-F030-48E9-A20E-30D445D62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0612E4-3584-4461-B654-90422A45A315}"/>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3267697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BA26A-603C-426C-A179-433AA5261E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B412A-F73B-437A-B95E-AFF445B465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A50C16-9116-40D2-B021-052E5CBE1C45}"/>
              </a:ext>
            </a:extLst>
          </p:cNvPr>
          <p:cNvSpPr>
            <a:spLocks noGrp="1"/>
          </p:cNvSpPr>
          <p:nvPr>
            <p:ph type="dt" sz="half" idx="10"/>
          </p:nvPr>
        </p:nvSpPr>
        <p:spPr/>
        <p:txBody>
          <a:bodyPr/>
          <a:lstStyle/>
          <a:p>
            <a:fld id="{0A08C21A-9B44-40C7-A251-6D4F50BD90B6}" type="datetime1">
              <a:rPr lang="en-US" smtClean="0"/>
              <a:t>4/26/2024</a:t>
            </a:fld>
            <a:endParaRPr lang="en-US"/>
          </a:p>
        </p:txBody>
      </p:sp>
      <p:sp>
        <p:nvSpPr>
          <p:cNvPr id="5" name="Footer Placeholder 4">
            <a:extLst>
              <a:ext uri="{FF2B5EF4-FFF2-40B4-BE49-F238E27FC236}">
                <a16:creationId xmlns:a16="http://schemas.microsoft.com/office/drawing/2014/main" id="{EA1039CA-EC19-465B-B91C-2556805366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55239-3A25-4565-8E1F-18CCD3966E26}"/>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1122132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24558-B9B4-4494-9044-1B0853BCCF54}"/>
              </a:ext>
            </a:extLst>
          </p:cNvPr>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F444BE-2704-486A-AA56-F55163D431F7}"/>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903233-A671-4501-BD93-61371EDD55D2}"/>
              </a:ext>
            </a:extLst>
          </p:cNvPr>
          <p:cNvSpPr>
            <a:spLocks noGrp="1"/>
          </p:cNvSpPr>
          <p:nvPr>
            <p:ph type="dt" sz="half" idx="10"/>
          </p:nvPr>
        </p:nvSpPr>
        <p:spPr/>
        <p:txBody>
          <a:bodyPr/>
          <a:lstStyle/>
          <a:p>
            <a:fld id="{BDFAC934-EFA3-4DA2-9111-03A03DCB9312}" type="datetime1">
              <a:rPr lang="en-US" smtClean="0"/>
              <a:t>4/26/2024</a:t>
            </a:fld>
            <a:endParaRPr lang="en-US"/>
          </a:p>
        </p:txBody>
      </p:sp>
      <p:sp>
        <p:nvSpPr>
          <p:cNvPr id="5" name="Footer Placeholder 4">
            <a:extLst>
              <a:ext uri="{FF2B5EF4-FFF2-40B4-BE49-F238E27FC236}">
                <a16:creationId xmlns:a16="http://schemas.microsoft.com/office/drawing/2014/main" id="{34B54AF1-17FB-44C7-98EF-6302EE1CC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666306-F3F4-4FD2-8769-FA5902C2C779}"/>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392545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9557A-8D84-4955-AC3D-A34CBB484D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6311F6-722D-4CE3-9EEB-FA199DE4D1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31AF97-5EEF-4FCD-8571-A902881533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62C3D04-E114-43FA-9A07-612C35B2818A}"/>
              </a:ext>
            </a:extLst>
          </p:cNvPr>
          <p:cNvSpPr>
            <a:spLocks noGrp="1"/>
          </p:cNvSpPr>
          <p:nvPr>
            <p:ph type="dt" sz="half" idx="10"/>
          </p:nvPr>
        </p:nvSpPr>
        <p:spPr/>
        <p:txBody>
          <a:bodyPr/>
          <a:lstStyle/>
          <a:p>
            <a:fld id="{ABE43C5A-1981-4814-BFFE-3B592EAE3E8C}" type="datetime1">
              <a:rPr lang="en-US" smtClean="0"/>
              <a:t>4/26/2024</a:t>
            </a:fld>
            <a:endParaRPr lang="en-US"/>
          </a:p>
        </p:txBody>
      </p:sp>
      <p:sp>
        <p:nvSpPr>
          <p:cNvPr id="6" name="Footer Placeholder 5">
            <a:extLst>
              <a:ext uri="{FF2B5EF4-FFF2-40B4-BE49-F238E27FC236}">
                <a16:creationId xmlns:a16="http://schemas.microsoft.com/office/drawing/2014/main" id="{31F49FFE-E23F-4FEB-93E2-20F0D67AF8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970515-4BE4-4F5A-9DBA-52F46D23CDE2}"/>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637953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70C67-67F3-45F4-A001-F861405BFAE4}"/>
              </a:ext>
            </a:extLst>
          </p:cNvPr>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A99300-9FC5-4F83-BCAE-9FC2AA3CEFD3}"/>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8ECE42-5D67-4FD8-A654-D95BE51B6558}"/>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D8260B6-3F3A-4DE5-A40A-6F2A2459D96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E562B0-C142-4ABD-B466-9A0D4E5F48C7}"/>
              </a:ext>
            </a:extLst>
          </p:cNvPr>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8D75CC-E8CB-4C7D-B76C-6EB9109ADF7E}"/>
              </a:ext>
            </a:extLst>
          </p:cNvPr>
          <p:cNvSpPr>
            <a:spLocks noGrp="1"/>
          </p:cNvSpPr>
          <p:nvPr>
            <p:ph type="dt" sz="half" idx="10"/>
          </p:nvPr>
        </p:nvSpPr>
        <p:spPr/>
        <p:txBody>
          <a:bodyPr/>
          <a:lstStyle/>
          <a:p>
            <a:fld id="{80BB39A8-3F7C-4C25-B627-14FC25937F63}" type="datetime1">
              <a:rPr lang="en-US" smtClean="0"/>
              <a:t>4/26/2024</a:t>
            </a:fld>
            <a:endParaRPr lang="en-US"/>
          </a:p>
        </p:txBody>
      </p:sp>
      <p:sp>
        <p:nvSpPr>
          <p:cNvPr id="8" name="Footer Placeholder 7">
            <a:extLst>
              <a:ext uri="{FF2B5EF4-FFF2-40B4-BE49-F238E27FC236}">
                <a16:creationId xmlns:a16="http://schemas.microsoft.com/office/drawing/2014/main" id="{8BAE2B57-02A9-466B-84B9-4CB2E073E3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11E886-5DA2-473A-B138-67E6CC88F623}"/>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382412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F71EC-1453-42AE-910B-01F86DFECB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EB6D4-E9EA-4065-96BD-8062716FADD2}"/>
              </a:ext>
            </a:extLst>
          </p:cNvPr>
          <p:cNvSpPr>
            <a:spLocks noGrp="1"/>
          </p:cNvSpPr>
          <p:nvPr>
            <p:ph type="dt" sz="half" idx="10"/>
          </p:nvPr>
        </p:nvSpPr>
        <p:spPr/>
        <p:txBody>
          <a:bodyPr/>
          <a:lstStyle/>
          <a:p>
            <a:fld id="{F5E04100-E5BF-4276-A8D1-281B0EF2B4B4}" type="datetime1">
              <a:rPr lang="en-US" smtClean="0"/>
              <a:t>4/26/2024</a:t>
            </a:fld>
            <a:endParaRPr lang="en-US"/>
          </a:p>
        </p:txBody>
      </p:sp>
      <p:sp>
        <p:nvSpPr>
          <p:cNvPr id="4" name="Footer Placeholder 3">
            <a:extLst>
              <a:ext uri="{FF2B5EF4-FFF2-40B4-BE49-F238E27FC236}">
                <a16:creationId xmlns:a16="http://schemas.microsoft.com/office/drawing/2014/main" id="{00F7A2EF-7E3E-486F-9A4D-7DD53887A0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755E33-8CE1-4F94-B2D2-384C22531529}"/>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4092256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152B48-EA4A-413D-AAB7-3CAAA98DDC49}"/>
              </a:ext>
            </a:extLst>
          </p:cNvPr>
          <p:cNvSpPr>
            <a:spLocks noGrp="1"/>
          </p:cNvSpPr>
          <p:nvPr>
            <p:ph type="dt" sz="half" idx="10"/>
          </p:nvPr>
        </p:nvSpPr>
        <p:spPr/>
        <p:txBody>
          <a:bodyPr/>
          <a:lstStyle/>
          <a:p>
            <a:fld id="{70B0EA98-1A52-49C1-BE48-0AAD27003D81}" type="datetime1">
              <a:rPr lang="en-US" smtClean="0"/>
              <a:t>4/26/2024</a:t>
            </a:fld>
            <a:endParaRPr lang="en-US"/>
          </a:p>
        </p:txBody>
      </p:sp>
      <p:sp>
        <p:nvSpPr>
          <p:cNvPr id="3" name="Footer Placeholder 2">
            <a:extLst>
              <a:ext uri="{FF2B5EF4-FFF2-40B4-BE49-F238E27FC236}">
                <a16:creationId xmlns:a16="http://schemas.microsoft.com/office/drawing/2014/main" id="{7EE6920F-FA0A-43AD-8C00-19D4560D1B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6B4F83-FC09-4AD8-A9F0-88F8661EBB05}"/>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295622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2CD37-4900-4407-8DE3-AA8AD78EEC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F7B6B2-D679-42BB-A7BA-B3D81D0422A9}"/>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BEC58E-DA29-43F4-AE79-D2EA518E49DD}"/>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33097-338E-41A6-886C-7D05402FD037}"/>
              </a:ext>
            </a:extLst>
          </p:cNvPr>
          <p:cNvSpPr>
            <a:spLocks noGrp="1"/>
          </p:cNvSpPr>
          <p:nvPr>
            <p:ph type="dt" sz="half" idx="10"/>
          </p:nvPr>
        </p:nvSpPr>
        <p:spPr/>
        <p:txBody>
          <a:bodyPr/>
          <a:lstStyle/>
          <a:p>
            <a:fld id="{5130A0B1-4019-470D-A951-9D2265DA020B}" type="datetime1">
              <a:rPr lang="en-US" smtClean="0"/>
              <a:t>4/26/2024</a:t>
            </a:fld>
            <a:endParaRPr lang="en-US"/>
          </a:p>
        </p:txBody>
      </p:sp>
      <p:sp>
        <p:nvSpPr>
          <p:cNvPr id="6" name="Footer Placeholder 5">
            <a:extLst>
              <a:ext uri="{FF2B5EF4-FFF2-40B4-BE49-F238E27FC236}">
                <a16:creationId xmlns:a16="http://schemas.microsoft.com/office/drawing/2014/main" id="{C4B7C046-6048-49FD-8288-D4861F6A93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327C14-2102-4B2F-85E9-93DDF0495CD7}"/>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1766981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FF986-EF41-44A9-B7AF-8798DD2A20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63E1EF-3EAA-49DE-9D7F-1217244614AD}"/>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C187D613-9C5C-438F-9577-01FFC1FA00BC}"/>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46BDF-9292-45B3-82A8-343299EE1533}"/>
              </a:ext>
            </a:extLst>
          </p:cNvPr>
          <p:cNvSpPr>
            <a:spLocks noGrp="1"/>
          </p:cNvSpPr>
          <p:nvPr>
            <p:ph type="dt" sz="half" idx="10"/>
          </p:nvPr>
        </p:nvSpPr>
        <p:spPr/>
        <p:txBody>
          <a:bodyPr/>
          <a:lstStyle/>
          <a:p>
            <a:fld id="{F9D574C4-C256-40B8-A343-4AED7D6C81C6}" type="datetime1">
              <a:rPr lang="en-US" smtClean="0"/>
              <a:t>4/26/2024</a:t>
            </a:fld>
            <a:endParaRPr lang="en-US"/>
          </a:p>
        </p:txBody>
      </p:sp>
      <p:sp>
        <p:nvSpPr>
          <p:cNvPr id="6" name="Footer Placeholder 5">
            <a:extLst>
              <a:ext uri="{FF2B5EF4-FFF2-40B4-BE49-F238E27FC236}">
                <a16:creationId xmlns:a16="http://schemas.microsoft.com/office/drawing/2014/main" id="{64522BAE-6489-421B-83E5-A1F5A03770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C82FCE-CF2B-437F-A515-BDC25E51F7FD}"/>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3574447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B7B6-9792-4DC1-A7E1-425EE266D1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39707C-3763-4DDC-9310-C85E88B97B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8B89A-CE30-4076-9770-667522DEDD1E}"/>
              </a:ext>
            </a:extLst>
          </p:cNvPr>
          <p:cNvSpPr>
            <a:spLocks noGrp="1"/>
          </p:cNvSpPr>
          <p:nvPr>
            <p:ph type="dt" sz="half" idx="10"/>
          </p:nvPr>
        </p:nvSpPr>
        <p:spPr/>
        <p:txBody>
          <a:bodyPr/>
          <a:lstStyle/>
          <a:p>
            <a:fld id="{92DA5641-5B58-45FB-AD50-70C2E9409C16}" type="datetime1">
              <a:rPr lang="en-US" smtClean="0"/>
              <a:t>4/26/2024</a:t>
            </a:fld>
            <a:endParaRPr lang="en-US"/>
          </a:p>
        </p:txBody>
      </p:sp>
      <p:sp>
        <p:nvSpPr>
          <p:cNvPr id="5" name="Footer Placeholder 4">
            <a:extLst>
              <a:ext uri="{FF2B5EF4-FFF2-40B4-BE49-F238E27FC236}">
                <a16:creationId xmlns:a16="http://schemas.microsoft.com/office/drawing/2014/main" id="{7FC3F2A3-452C-4BE8-9B3D-CF8855A8C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39043-7964-41D0-9BAB-33B0ECF71F04}"/>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859169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3A20CC-EF36-4647-AE58-03ADB9E25D85}"/>
              </a:ext>
            </a:extLst>
          </p:cNvPr>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09CC66-3013-47F6-A153-475AAF83EDDB}"/>
              </a:ext>
            </a:extLst>
          </p:cNvPr>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8F63B7-DECC-43E3-A136-38A18C083F6F}"/>
              </a:ext>
            </a:extLst>
          </p:cNvPr>
          <p:cNvSpPr>
            <a:spLocks noGrp="1"/>
          </p:cNvSpPr>
          <p:nvPr>
            <p:ph type="dt" sz="half" idx="10"/>
          </p:nvPr>
        </p:nvSpPr>
        <p:spPr/>
        <p:txBody>
          <a:bodyPr/>
          <a:lstStyle/>
          <a:p>
            <a:fld id="{0E35115E-486B-4453-B841-CD8C92E2FB8B}" type="datetime1">
              <a:rPr lang="en-US" smtClean="0"/>
              <a:t>4/26/2024</a:t>
            </a:fld>
            <a:endParaRPr lang="en-US"/>
          </a:p>
        </p:txBody>
      </p:sp>
      <p:sp>
        <p:nvSpPr>
          <p:cNvPr id="5" name="Footer Placeholder 4">
            <a:extLst>
              <a:ext uri="{FF2B5EF4-FFF2-40B4-BE49-F238E27FC236}">
                <a16:creationId xmlns:a16="http://schemas.microsoft.com/office/drawing/2014/main" id="{B298FAE5-8B98-4BEB-8670-849713030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98519F-F7D4-4D58-AF2E-5F273E3D9ECE}"/>
              </a:ext>
            </a:extLst>
          </p:cNvPr>
          <p:cNvSpPr>
            <a:spLocks noGrp="1"/>
          </p:cNvSpPr>
          <p:nvPr>
            <p:ph type="sldNum" sz="quarter" idx="12"/>
          </p:nvPr>
        </p:nvSpPr>
        <p:spPr/>
        <p:txBody>
          <a:bodyPr/>
          <a:lstStyle/>
          <a:p>
            <a:fld id="{C12FDFCB-08DC-4BFC-932D-D8A3ABE37605}" type="slidenum">
              <a:rPr lang="en-US" smtClean="0"/>
              <a:t>‹#›</a:t>
            </a:fld>
            <a:endParaRPr lang="en-US"/>
          </a:p>
        </p:txBody>
      </p:sp>
    </p:spTree>
    <p:extLst>
      <p:ext uri="{BB962C8B-B14F-4D97-AF65-F5344CB8AC3E}">
        <p14:creationId xmlns:p14="http://schemas.microsoft.com/office/powerpoint/2010/main" val="125392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resentation Title Slide">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82324DE-B50F-445C-94D3-C92DF9EA277B}"/>
              </a:ext>
            </a:extLst>
          </p:cNvPr>
          <p:cNvCxnSpPr/>
          <p:nvPr userDrawn="1"/>
        </p:nvCxnSpPr>
        <p:spPr>
          <a:xfrm>
            <a:off x="3556169" y="4114800"/>
            <a:ext cx="8330335" cy="0"/>
          </a:xfrm>
          <a:prstGeom prst="line">
            <a:avLst/>
          </a:prstGeom>
          <a:ln w="38100" cap="rnd">
            <a:solidFill>
              <a:schemeClr val="accent5">
                <a:lumMod val="20000"/>
                <a:lumOff val="80000"/>
                <a:alpha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Title 8"/>
          <p:cNvSpPr>
            <a:spLocks noGrp="1"/>
          </p:cNvSpPr>
          <p:nvPr>
            <p:ph type="ctrTitle"/>
          </p:nvPr>
        </p:nvSpPr>
        <p:spPr>
          <a:xfrm>
            <a:off x="609601" y="1524000"/>
            <a:ext cx="10972801" cy="1524000"/>
          </a:xfrm>
          <a:prstGeom prst="rect">
            <a:avLst/>
          </a:prstGeom>
        </p:spPr>
        <p:txBody>
          <a:bodyPr tIns="0" bIns="0" anchor="b"/>
          <a:lstStyle>
            <a:lvl1pPr algn="r">
              <a:lnSpc>
                <a:spcPts val="5400"/>
              </a:lnSpc>
              <a:defRPr sz="5400" cap="none" baseline="0">
                <a:solidFill>
                  <a:srgbClr val="D4FF5B"/>
                </a:solidFill>
                <a:effectLst>
                  <a:outerShdw blurRad="30000" dist="30000" dir="2700000" algn="tl" rotWithShape="0">
                    <a:schemeClr val="bg2">
                      <a:shade val="45000"/>
                      <a:satMod val="150000"/>
                      <a:alpha val="90000"/>
                    </a:schemeClr>
                  </a:outerShdw>
                  <a:reflection blurRad="12000" stA="20000" endPos="50000" dist="12700" dir="5400000" sy="-100000" algn="bl" rotWithShape="0"/>
                </a:effectLst>
              </a:defRPr>
            </a:lvl1pPr>
          </a:lstStyle>
          <a:p>
            <a:r>
              <a:rPr lang="en-US"/>
              <a:t>Click to edit Master title style</a:t>
            </a:r>
            <a:endParaRPr lang="en-US" dirty="0"/>
          </a:p>
        </p:txBody>
      </p:sp>
      <p:sp>
        <p:nvSpPr>
          <p:cNvPr id="7" name="Subtitle 16"/>
          <p:cNvSpPr>
            <a:spLocks noGrp="1"/>
          </p:cNvSpPr>
          <p:nvPr>
            <p:ph type="subTitle" idx="1"/>
          </p:nvPr>
        </p:nvSpPr>
        <p:spPr>
          <a:xfrm>
            <a:off x="609601" y="3240880"/>
            <a:ext cx="10972801" cy="569120"/>
          </a:xfrm>
          <a:prstGeom prst="rect">
            <a:avLst/>
          </a:prstGeom>
        </p:spPr>
        <p:txBody>
          <a:bodyPr lIns="90000" tIns="0" rIns="90000" bIns="0" anchor="ctr"/>
          <a:lstStyle>
            <a:lvl1pPr marL="0" indent="0" algn="r">
              <a:buNone/>
              <a:defRPr sz="2800">
                <a:solidFill>
                  <a:srgbClr val="FAF8C8"/>
                </a:solidFill>
              </a:defRPr>
            </a:lvl1pPr>
            <a:lvl2pPr marL="457189" indent="0" algn="ctr">
              <a:buNone/>
            </a:lvl2pPr>
            <a:lvl3pPr marL="914377" indent="0" algn="ctr">
              <a:buNone/>
            </a:lvl3pPr>
            <a:lvl4pPr marL="1371566" indent="0" algn="ctr">
              <a:buNone/>
            </a:lvl4pPr>
            <a:lvl5pPr marL="1828754" indent="0" algn="ctr">
              <a:buNone/>
            </a:lvl5pPr>
            <a:lvl6pPr marL="2285943" indent="0" algn="ctr">
              <a:buNone/>
            </a:lvl6pPr>
            <a:lvl7pPr marL="2743131" indent="0" algn="ctr">
              <a:buNone/>
            </a:lvl7pPr>
            <a:lvl8pPr marL="3200320" indent="0" algn="ctr">
              <a:buNone/>
            </a:lvl8pPr>
            <a:lvl9pPr marL="3657509" indent="0" algn="ctr">
              <a:buNone/>
            </a:lvl9pPr>
          </a:lstStyle>
          <a:p>
            <a:r>
              <a:rPr lang="en-US"/>
              <a:t>Click to edit Master subtitle style</a:t>
            </a:r>
            <a:endParaRPr lang="en-US" dirty="0"/>
          </a:p>
        </p:txBody>
      </p:sp>
      <p:sp>
        <p:nvSpPr>
          <p:cNvPr id="14" name="Text Placeholder 13"/>
          <p:cNvSpPr>
            <a:spLocks noGrp="1"/>
          </p:cNvSpPr>
          <p:nvPr>
            <p:ph type="body" sz="quarter" idx="10"/>
          </p:nvPr>
        </p:nvSpPr>
        <p:spPr>
          <a:xfrm>
            <a:off x="609601" y="5224049"/>
            <a:ext cx="4470400" cy="867930"/>
          </a:xfrm>
          <a:prstGeom prst="rect">
            <a:avLst/>
          </a:prstGeom>
          <a:noFill/>
        </p:spPr>
        <p:txBody>
          <a:bodyPr rtlCol="0">
            <a:spAutoFit/>
          </a:bodyPr>
          <a:lstStyle>
            <a:lvl1pPr algn="l" rtl="0" fontAlgn="base">
              <a:spcBef>
                <a:spcPct val="0"/>
              </a:spcBef>
              <a:spcAft>
                <a:spcPct val="0"/>
              </a:spcAft>
              <a:buNone/>
              <a:defRPr lang="en-US" sz="2800" b="1" kern="1200" dirty="0" smtClean="0">
                <a:solidFill>
                  <a:srgbClr val="DEFF9B"/>
                </a:solidFill>
                <a:effectLst>
                  <a:outerShdw blurRad="38100" dist="38100" dir="2700000" algn="tl">
                    <a:srgbClr val="000000">
                      <a:alpha val="43137"/>
                    </a:srgbClr>
                  </a:outerShdw>
                </a:effectLst>
                <a:latin typeface="Corbel" pitchFamily="34" charset="0"/>
                <a:ea typeface="+mn-ea"/>
                <a:cs typeface="+mn-cs"/>
              </a:defRPr>
            </a:lvl1pPr>
          </a:lstStyle>
          <a:p>
            <a:pPr lvl="0"/>
            <a:r>
              <a:rPr lang="en-US"/>
              <a:t>Click to edit Master text styles</a:t>
            </a:r>
          </a:p>
        </p:txBody>
      </p:sp>
      <p:sp>
        <p:nvSpPr>
          <p:cNvPr id="15" name="Text Placeholder 13"/>
          <p:cNvSpPr>
            <a:spLocks noGrp="1"/>
          </p:cNvSpPr>
          <p:nvPr>
            <p:ph type="body" sz="quarter" idx="11"/>
          </p:nvPr>
        </p:nvSpPr>
        <p:spPr>
          <a:xfrm>
            <a:off x="609603" y="5757447"/>
            <a:ext cx="3191899" cy="341632"/>
          </a:xfrm>
          <a:prstGeom prst="rect">
            <a:avLst/>
          </a:prstGeom>
          <a:noFill/>
        </p:spPr>
        <p:txBody>
          <a:bodyPr wrap="none" rtlCol="0">
            <a:spAutoFit/>
          </a:bodyPr>
          <a:lstStyle>
            <a:lvl1pPr algn="l" rtl="0" fontAlgn="base">
              <a:spcBef>
                <a:spcPct val="0"/>
              </a:spcBef>
              <a:spcAft>
                <a:spcPct val="0"/>
              </a:spcAft>
              <a:buNone/>
              <a:defRPr lang="en-US" sz="18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lvl="0"/>
            <a:r>
              <a:rPr lang="en-US"/>
              <a:t>Click to edit Master text styles</a:t>
            </a:r>
          </a:p>
        </p:txBody>
      </p:sp>
      <p:sp>
        <p:nvSpPr>
          <p:cNvPr id="16" name="Text Placeholder 13"/>
          <p:cNvSpPr>
            <a:spLocks noGrp="1"/>
          </p:cNvSpPr>
          <p:nvPr>
            <p:ph type="body" sz="quarter" idx="12"/>
          </p:nvPr>
        </p:nvSpPr>
        <p:spPr>
          <a:xfrm>
            <a:off x="609603" y="6062247"/>
            <a:ext cx="2277204" cy="535531"/>
          </a:xfrm>
          <a:prstGeom prst="rect">
            <a:avLst/>
          </a:prstGeom>
          <a:noFill/>
        </p:spPr>
        <p:txBody>
          <a:bodyPr rtlCol="0">
            <a:spAutoFit/>
          </a:bodyPr>
          <a:lstStyle>
            <a:lvl1pPr algn="l" rtl="0" fontAlgn="base">
              <a:spcBef>
                <a:spcPct val="0"/>
              </a:spcBef>
              <a:spcAft>
                <a:spcPct val="0"/>
              </a:spcAft>
              <a:buNone/>
              <a:defRPr lang="en-US" sz="1600" b="1" kern="1200" dirty="0" smtClean="0">
                <a:solidFill>
                  <a:srgbClr val="0EFE58"/>
                </a:solidFill>
                <a:effectLst>
                  <a:outerShdw blurRad="38100" dist="38100" dir="2700000" algn="tl">
                    <a:srgbClr val="000000">
                      <a:alpha val="43137"/>
                    </a:srgbClr>
                  </a:outerShdw>
                </a:effectLst>
                <a:latin typeface="Corbel" pitchFamily="34" charset="0"/>
                <a:ea typeface="+mn-ea"/>
                <a:cs typeface="+mn-cs"/>
              </a:defRPr>
            </a:lvl1pPr>
          </a:lstStyle>
          <a:p>
            <a:pPr lvl="0"/>
            <a:r>
              <a:rPr lang="en-US">
                <a:hlinkClick r:id="rId2"/>
              </a:rPr>
              <a:t>Click to edit Master text styles</a:t>
            </a:r>
          </a:p>
        </p:txBody>
      </p:sp>
    </p:spTree>
    <p:extLst>
      <p:ext uri="{BB962C8B-B14F-4D97-AF65-F5344CB8AC3E}">
        <p14:creationId xmlns:p14="http://schemas.microsoft.com/office/powerpoint/2010/main" val="3895803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790FF6-78C9-4F5C-AAB9-8300B4C17D85}"/>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E20A39-49A9-49E1-9145-CB24C86EC3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547B9D-75E0-45D7-A6DD-40A3C581D358}"/>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96C37F-96E9-4370-BD19-EC76D3006164}" type="datetime1">
              <a:rPr lang="en-US" smtClean="0"/>
              <a:t>4/26/2024</a:t>
            </a:fld>
            <a:endParaRPr lang="en-US"/>
          </a:p>
        </p:txBody>
      </p:sp>
      <p:sp>
        <p:nvSpPr>
          <p:cNvPr id="5" name="Footer Placeholder 4">
            <a:extLst>
              <a:ext uri="{FF2B5EF4-FFF2-40B4-BE49-F238E27FC236}">
                <a16:creationId xmlns:a16="http://schemas.microsoft.com/office/drawing/2014/main" id="{597AFD62-BDDF-47DB-AAE8-CB2FF2DF0C1A}"/>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F5D94BF-9EC2-48FF-B903-C2BF95EDDAD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2FDFCB-08DC-4BFC-932D-D8A3ABE37605}" type="slidenum">
              <a:rPr lang="en-US" smtClean="0"/>
              <a:t>‹#›</a:t>
            </a:fld>
            <a:endParaRPr lang="en-US"/>
          </a:p>
        </p:txBody>
      </p:sp>
    </p:spTree>
    <p:extLst>
      <p:ext uri="{BB962C8B-B14F-4D97-AF65-F5344CB8AC3E}">
        <p14:creationId xmlns:p14="http://schemas.microsoft.com/office/powerpoint/2010/main" val="3395892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csszengarden.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17FD2-18DE-44AC-8096-AA3448B79BFC}"/>
              </a:ext>
            </a:extLst>
          </p:cNvPr>
          <p:cNvSpPr>
            <a:spLocks noGrp="1"/>
          </p:cNvSpPr>
          <p:nvPr>
            <p:ph type="ctrTitle"/>
          </p:nvPr>
        </p:nvSpPr>
        <p:spPr>
          <a:xfrm>
            <a:off x="1722553" y="2133166"/>
            <a:ext cx="8353425" cy="1524000"/>
          </a:xfrm>
          <a:solidFill>
            <a:schemeClr val="tx2">
              <a:lumMod val="20000"/>
              <a:lumOff val="80000"/>
            </a:schemeClr>
          </a:solidFill>
          <a:ln>
            <a:solidFill>
              <a:schemeClr val="bg1"/>
            </a:solidFill>
          </a:ln>
        </p:spPr>
        <p:txBody>
          <a:bodyPr/>
          <a:lstStyle/>
          <a:p>
            <a:pPr algn="ctr">
              <a:defRPr/>
            </a:pPr>
            <a:r>
              <a:rPr lang="en-US" sz="4400" dirty="0">
                <a:solidFill>
                  <a:schemeClr val="accent2"/>
                </a:solidFill>
                <a:latin typeface="Comic Sans MS" panose="030F0702030302020204" pitchFamily="66" charset="0"/>
              </a:rPr>
              <a:t>CHAPTER THREE </a:t>
            </a:r>
            <a:br>
              <a:rPr lang="en-US" sz="4400" dirty="0">
                <a:solidFill>
                  <a:schemeClr val="accent2"/>
                </a:solidFill>
                <a:latin typeface="Comic Sans MS" panose="030F0702030302020204" pitchFamily="66" charset="0"/>
              </a:rPr>
            </a:br>
            <a:r>
              <a:rPr lang="en-US" sz="4400" dirty="0">
                <a:solidFill>
                  <a:schemeClr val="accent2"/>
                </a:solidFill>
                <a:latin typeface="Comic Sans MS" panose="030F0702030302020204" pitchFamily="66" charset="0"/>
              </a:rPr>
              <a:t>Cascading Style Sheets (CSS)</a:t>
            </a:r>
          </a:p>
        </p:txBody>
      </p:sp>
      <p:pic>
        <p:nvPicPr>
          <p:cNvPr id="130052" name="Picture 4" descr="http://www.iconspedia.com/uploads/12381172671847263498.png">
            <a:extLst>
              <a:ext uri="{FF2B5EF4-FFF2-40B4-BE49-F238E27FC236}">
                <a16:creationId xmlns:a16="http://schemas.microsoft.com/office/drawing/2014/main" id="{6F5385AF-10AB-49DE-9491-178B251E1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748391">
            <a:off x="6708946" y="4292541"/>
            <a:ext cx="1769558" cy="2358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3" name="Picture 3">
            <a:extLst>
              <a:ext uri="{FF2B5EF4-FFF2-40B4-BE49-F238E27FC236}">
                <a16:creationId xmlns:a16="http://schemas.microsoft.com/office/drawing/2014/main" id="{68CB9010-329D-4554-B572-D1ED2780BC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45714" y="3947891"/>
            <a:ext cx="3854723" cy="2910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D42349A6-A556-4AAE-8D5E-AFC44C59DED9}"/>
              </a:ext>
            </a:extLst>
          </p:cNvPr>
          <p:cNvCxnSpPr>
            <a:cxnSpLocks/>
          </p:cNvCxnSpPr>
          <p:nvPr/>
        </p:nvCxnSpPr>
        <p:spPr>
          <a:xfrm>
            <a:off x="933170" y="2152216"/>
            <a:ext cx="9685340"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7" name="Picture 6">
            <a:extLst>
              <a:ext uri="{FF2B5EF4-FFF2-40B4-BE49-F238E27FC236}">
                <a16:creationId xmlns:a16="http://schemas.microsoft.com/office/drawing/2014/main" id="{CEBF4342-C45B-47A7-8A4B-A61DB3541BDD}"/>
              </a:ext>
            </a:extLst>
          </p:cNvPr>
          <p:cNvPicPr>
            <a:picLocks noChangeAspect="1"/>
          </p:cNvPicPr>
          <p:nvPr/>
        </p:nvPicPr>
        <p:blipFill>
          <a:blip r:embed="rId5"/>
          <a:stretch>
            <a:fillRect/>
          </a:stretch>
        </p:blipFill>
        <p:spPr>
          <a:xfrm>
            <a:off x="4653578" y="117164"/>
            <a:ext cx="1793205" cy="181472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88B846A-026B-4AB5-91AA-CFF2A562927E}"/>
              </a:ext>
            </a:extLst>
          </p:cNvPr>
          <p:cNvSpPr>
            <a:spLocks noGrp="1"/>
          </p:cNvSpPr>
          <p:nvPr>
            <p:ph type="title"/>
          </p:nvPr>
        </p:nvSpPr>
        <p:spPr/>
        <p:txBody>
          <a:bodyPr/>
          <a:lstStyle/>
          <a:p>
            <a:r>
              <a:rPr lang="en-US" dirty="0">
                <a:latin typeface="Comic Sans MS" panose="030F0702030302020204" pitchFamily="66" charset="0"/>
              </a:rPr>
              <a:t>Outline </a:t>
            </a:r>
          </a:p>
        </p:txBody>
      </p:sp>
      <p:sp>
        <p:nvSpPr>
          <p:cNvPr id="8" name="Content Placeholder 7">
            <a:extLst>
              <a:ext uri="{FF2B5EF4-FFF2-40B4-BE49-F238E27FC236}">
                <a16:creationId xmlns:a16="http://schemas.microsoft.com/office/drawing/2014/main" id="{993B8417-1553-4BC3-AB79-02122A10C2DC}"/>
              </a:ext>
            </a:extLst>
          </p:cNvPr>
          <p:cNvSpPr>
            <a:spLocks noGrp="1"/>
          </p:cNvSpPr>
          <p:nvPr>
            <p:ph sz="half" idx="1"/>
          </p:nvPr>
        </p:nvSpPr>
        <p:spPr>
          <a:xfrm>
            <a:off x="493486" y="1262513"/>
            <a:ext cx="5602514" cy="5230360"/>
          </a:xfrm>
        </p:spPr>
        <p:txBody>
          <a:bodyPr>
            <a:noAutofit/>
          </a:bodyPr>
          <a:lstStyle/>
          <a:p>
            <a:pPr marL="0" indent="0">
              <a:lnSpc>
                <a:spcPct val="160000"/>
              </a:lnSpc>
              <a:spcBef>
                <a:spcPts val="0"/>
              </a:spcBef>
              <a:spcAft>
                <a:spcPts val="800"/>
              </a:spcAft>
              <a:buNone/>
            </a:pPr>
            <a:r>
              <a:rPr lang="en-US" sz="2000" b="1" dirty="0">
                <a:latin typeface="Comic Sans MS" panose="030F0702030302020204" pitchFamily="66" charset="0"/>
                <a:ea typeface="Calibri" panose="020F0502020204030204" pitchFamily="34" charset="0"/>
                <a:cs typeface="Times New Roman" panose="02020603050405020304" pitchFamily="18" charset="0"/>
              </a:rPr>
              <a:t>CSS Basics</a:t>
            </a: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571495" indent="-342900">
              <a:lnSpc>
                <a:spcPct val="160000"/>
              </a:lnSpc>
              <a:spcBef>
                <a:spcPts val="0"/>
              </a:spcBef>
              <a:spcAft>
                <a:spcPts val="800"/>
              </a:spcAft>
            </a:pPr>
            <a:r>
              <a:rPr lang="en-US" sz="2000" dirty="0">
                <a:ea typeface="Calibri" panose="020F0502020204030204" pitchFamily="34" charset="0"/>
                <a:cs typeface="Times New Roman" panose="02020603050405020304" pitchFamily="18" charset="0"/>
              </a:rPr>
              <a:t>Introduction to CSS</a:t>
            </a:r>
          </a:p>
          <a:p>
            <a:pPr marL="571495" indent="-342900">
              <a:lnSpc>
                <a:spcPct val="160000"/>
              </a:lnSpc>
              <a:spcBef>
                <a:spcPts val="0"/>
              </a:spcBef>
              <a:spcAft>
                <a:spcPts val="800"/>
              </a:spcAft>
            </a:pPr>
            <a:r>
              <a:rPr lang="en-US" sz="2000" dirty="0">
                <a:ea typeface="Calibri" panose="020F0502020204030204" pitchFamily="34" charset="0"/>
                <a:cs typeface="Times New Roman" panose="02020603050405020304" pitchFamily="18" charset="0"/>
              </a:rPr>
              <a:t>CSS Syntax (CSS Selectors and Declarations)</a:t>
            </a:r>
          </a:p>
          <a:p>
            <a:pPr marL="571495" indent="-342900">
              <a:lnSpc>
                <a:spcPct val="160000"/>
              </a:lnSpc>
              <a:spcBef>
                <a:spcPts val="0"/>
              </a:spcBef>
              <a:spcAft>
                <a:spcPts val="800"/>
              </a:spcAft>
            </a:pPr>
            <a:r>
              <a:rPr lang="en-US" sz="2000" dirty="0">
                <a:ea typeface="Calibri" panose="020F0502020204030204" pitchFamily="34" charset="0"/>
                <a:cs typeface="Times New Roman" panose="02020603050405020304" pitchFamily="18" charset="0"/>
              </a:rPr>
              <a:t>Attaching CSS with HTML (External , Embedded and Inline)</a:t>
            </a:r>
          </a:p>
          <a:p>
            <a:pPr marL="0" indent="0">
              <a:lnSpc>
                <a:spcPct val="160000"/>
              </a:lnSpc>
              <a:spcBef>
                <a:spcPts val="0"/>
              </a:spcBef>
              <a:spcAft>
                <a:spcPts val="800"/>
              </a:spcAft>
              <a:buNone/>
            </a:pPr>
            <a:r>
              <a:rPr lang="en-US" sz="2000" b="1" dirty="0">
                <a:latin typeface="Comic Sans MS" panose="030F0702030302020204" pitchFamily="66" charset="0"/>
                <a:ea typeface="Calibri" panose="020F0502020204030204" pitchFamily="34" charset="0"/>
                <a:cs typeface="Times New Roman" panose="02020603050405020304" pitchFamily="18" charset="0"/>
              </a:rPr>
              <a:t>Style Sheet Rules</a:t>
            </a:r>
            <a:endParaRPr lang="en-US" sz="2000" b="1" dirty="0">
              <a:latin typeface="Calibri" panose="020F0502020204030204" pitchFamily="34" charset="0"/>
              <a:ea typeface="Calibri" panose="020F0502020204030204" pitchFamily="34" charset="0"/>
              <a:cs typeface="Times New Roman" panose="02020603050405020304" pitchFamily="18" charset="0"/>
            </a:endParaRPr>
          </a:p>
          <a:p>
            <a:pPr marL="571495" indent="-342900">
              <a:lnSpc>
                <a:spcPct val="160000"/>
              </a:lnSpc>
              <a:spcBef>
                <a:spcPts val="0"/>
              </a:spcBef>
              <a:spcAft>
                <a:spcPts val="800"/>
              </a:spcAft>
            </a:pPr>
            <a:r>
              <a:rPr lang="en-US" sz="2000" dirty="0">
                <a:latin typeface="Comic Sans MS" panose="030F0702030302020204" pitchFamily="66" charset="0"/>
                <a:ea typeface="Calibri" panose="020F0502020204030204" pitchFamily="34" charset="0"/>
                <a:cs typeface="Times New Roman" panose="02020603050405020304" pitchFamily="18" charset="0"/>
              </a:rPr>
              <a:t>Style Inheritance</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571495" indent="-342900">
              <a:lnSpc>
                <a:spcPct val="160000"/>
              </a:lnSpc>
              <a:spcBef>
                <a:spcPts val="0"/>
              </a:spcBef>
              <a:spcAft>
                <a:spcPts val="800"/>
              </a:spcAft>
            </a:pPr>
            <a:r>
              <a:rPr lang="en-US" sz="2000" dirty="0">
                <a:latin typeface="Comic Sans MS" panose="030F0702030302020204" pitchFamily="66" charset="0"/>
                <a:ea typeface="Calibri" panose="020F0502020204030204" pitchFamily="34" charset="0"/>
                <a:cs typeface="Times New Roman" panose="02020603050405020304" pitchFamily="18" charset="0"/>
              </a:rPr>
              <a:t>Style Rules Precedence</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09A04E64-A908-4890-A170-5E10FB375A27}"/>
              </a:ext>
            </a:extLst>
          </p:cNvPr>
          <p:cNvSpPr>
            <a:spLocks noGrp="1"/>
          </p:cNvSpPr>
          <p:nvPr>
            <p:ph sz="half" idx="2"/>
          </p:nvPr>
        </p:nvSpPr>
        <p:spPr>
          <a:xfrm>
            <a:off x="5863771" y="1335314"/>
            <a:ext cx="5950858" cy="4841649"/>
          </a:xfrm>
        </p:spPr>
        <p:txBody>
          <a:bodyPr>
            <a:normAutofit fontScale="70000" lnSpcReduction="20000"/>
          </a:bodyPr>
          <a:lstStyle/>
          <a:p>
            <a:pPr marL="0" indent="0">
              <a:lnSpc>
                <a:spcPct val="170000"/>
              </a:lnSpc>
              <a:spcBef>
                <a:spcPts val="0"/>
              </a:spcBef>
              <a:spcAft>
                <a:spcPts val="800"/>
              </a:spcAft>
              <a:buNone/>
            </a:pPr>
            <a:r>
              <a:rPr lang="en-US" sz="3200" b="1" dirty="0">
                <a:latin typeface="Comic Sans MS" panose="030F0702030302020204" pitchFamily="66" charset="0"/>
                <a:ea typeface="Calibri" panose="020F0502020204030204" pitchFamily="34" charset="0"/>
                <a:cs typeface="Times New Roman" panose="02020603050405020304" pitchFamily="18" charset="0"/>
              </a:rPr>
              <a:t>Style Properties</a:t>
            </a:r>
            <a:endParaRPr lang="en-US" sz="3200" b="1"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Foreground and Background Properties</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Font and Text Properties</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CSS Box Model</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Table Styling Properties</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More On Styling List (Creating Navigation bars)</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685795" indent="-457200">
              <a:lnSpc>
                <a:spcPct val="170000"/>
              </a:lnSpc>
              <a:spcBef>
                <a:spcPts val="0"/>
              </a:spcBef>
              <a:spcAft>
                <a:spcPts val="800"/>
              </a:spcAft>
            </a:pPr>
            <a:r>
              <a:rPr lang="en-US" sz="3200" dirty="0">
                <a:latin typeface="Comic Sans MS" panose="030F0702030302020204" pitchFamily="66" charset="0"/>
                <a:ea typeface="Calibri" panose="020F0502020204030204" pitchFamily="34" charset="0"/>
                <a:cs typeface="Times New Roman" panose="02020603050405020304" pitchFamily="18" charset="0"/>
              </a:rPr>
              <a:t>Layout and Positioning Properties</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cxnSp>
        <p:nvCxnSpPr>
          <p:cNvPr id="5" name="Straight Connector 4">
            <a:extLst>
              <a:ext uri="{FF2B5EF4-FFF2-40B4-BE49-F238E27FC236}">
                <a16:creationId xmlns:a16="http://schemas.microsoft.com/office/drawing/2014/main" id="{A914BE3E-199D-486F-BABD-F1FD4C635F57}"/>
              </a:ext>
            </a:extLst>
          </p:cNvPr>
          <p:cNvCxnSpPr>
            <a:cxnSpLocks/>
          </p:cNvCxnSpPr>
          <p:nvPr/>
        </p:nvCxnSpPr>
        <p:spPr>
          <a:xfrm>
            <a:off x="838200" y="1325563"/>
            <a:ext cx="9685340"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3" name="Slide Number Placeholder 2">
            <a:extLst>
              <a:ext uri="{FF2B5EF4-FFF2-40B4-BE49-F238E27FC236}">
                <a16:creationId xmlns:a16="http://schemas.microsoft.com/office/drawing/2014/main" id="{467D2EB1-005C-63C8-D01C-B50C5672B87A}"/>
              </a:ext>
            </a:extLst>
          </p:cNvPr>
          <p:cNvSpPr>
            <a:spLocks noGrp="1"/>
          </p:cNvSpPr>
          <p:nvPr>
            <p:ph type="sldNum" sz="quarter" idx="12"/>
          </p:nvPr>
        </p:nvSpPr>
        <p:spPr/>
        <p:txBody>
          <a:bodyPr/>
          <a:lstStyle/>
          <a:p>
            <a:fld id="{C12FDFCB-08DC-4BFC-932D-D8A3ABE37605}" type="slidenum">
              <a:rPr lang="en-US" smtClean="0"/>
              <a:t>2</a:t>
            </a:fld>
            <a:endParaRPr lang="en-US"/>
          </a:p>
        </p:txBody>
      </p:sp>
    </p:spTree>
    <p:extLst>
      <p:ext uri="{BB962C8B-B14F-4D97-AF65-F5344CB8AC3E}">
        <p14:creationId xmlns:p14="http://schemas.microsoft.com/office/powerpoint/2010/main" val="1356065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6EEF561B-B784-4AD0-9327-58FD8FEF35CB}"/>
              </a:ext>
            </a:extLst>
          </p:cNvPr>
          <p:cNvSpPr>
            <a:spLocks noGrp="1" noChangeArrowheads="1"/>
          </p:cNvSpPr>
          <p:nvPr>
            <p:ph type="title"/>
          </p:nvPr>
        </p:nvSpPr>
        <p:spPr/>
        <p:txBody>
          <a:bodyPr/>
          <a:lstStyle/>
          <a:p>
            <a:r>
              <a:rPr lang="en-US" altLang="en-US" dirty="0">
                <a:latin typeface="Comic Sans MS" panose="030F0702030302020204" pitchFamily="66" charset="0"/>
              </a:rPr>
              <a:t>What is CSS?  </a:t>
            </a:r>
          </a:p>
        </p:txBody>
      </p:sp>
      <p:sp>
        <p:nvSpPr>
          <p:cNvPr id="3" name="Content Placeholder 2">
            <a:extLst>
              <a:ext uri="{FF2B5EF4-FFF2-40B4-BE49-F238E27FC236}">
                <a16:creationId xmlns:a16="http://schemas.microsoft.com/office/drawing/2014/main" id="{FB679BF6-E288-409D-B14C-351AD15B7EA3}"/>
              </a:ext>
            </a:extLst>
          </p:cNvPr>
          <p:cNvSpPr>
            <a:spLocks noGrp="1"/>
          </p:cNvSpPr>
          <p:nvPr>
            <p:ph idx="1"/>
          </p:nvPr>
        </p:nvSpPr>
        <p:spPr>
          <a:xfrm>
            <a:off x="481220" y="1381059"/>
            <a:ext cx="10929730" cy="4935537"/>
          </a:xfrm>
        </p:spPr>
        <p:txBody>
          <a:bodyPr>
            <a:normAutofit fontScale="85000" lnSpcReduction="20000"/>
          </a:bodyPr>
          <a:lstStyle/>
          <a:p>
            <a:pPr>
              <a:lnSpc>
                <a:spcPct val="170000"/>
              </a:lnSpc>
              <a:spcBef>
                <a:spcPts val="600"/>
              </a:spcBef>
              <a:defRPr/>
            </a:pPr>
            <a:r>
              <a:rPr lang="en-US" b="1" dirty="0">
                <a:latin typeface="Comic Sans MS" panose="030F0702030302020204" pitchFamily="66" charset="0"/>
              </a:rPr>
              <a:t>It </a:t>
            </a:r>
            <a:r>
              <a:rPr lang="en-US" dirty="0">
                <a:latin typeface="Comic Sans MS" panose="030F0702030302020204" pitchFamily="66" charset="0"/>
              </a:rPr>
              <a:t>is a simple design language intended to simplify the process of making webpages presentable.</a:t>
            </a:r>
          </a:p>
          <a:p>
            <a:pPr>
              <a:lnSpc>
                <a:spcPct val="170000"/>
              </a:lnSpc>
              <a:spcBef>
                <a:spcPts val="600"/>
              </a:spcBef>
              <a:defRPr/>
            </a:pPr>
            <a:r>
              <a:rPr lang="en-US" dirty="0">
                <a:latin typeface="Comic Sans MS" panose="030F0702030302020204" pitchFamily="66" charset="0"/>
              </a:rPr>
              <a:t>It is a styling language</a:t>
            </a:r>
          </a:p>
          <a:p>
            <a:pPr>
              <a:lnSpc>
                <a:spcPct val="170000"/>
              </a:lnSpc>
              <a:spcBef>
                <a:spcPts val="600"/>
              </a:spcBef>
              <a:defRPr/>
            </a:pPr>
            <a:r>
              <a:rPr lang="en-US" dirty="0">
                <a:latin typeface="Comic Sans MS" panose="030F0702030302020204" pitchFamily="66" charset="0"/>
              </a:rPr>
              <a:t>CSS handles the look and feel part of a webpage </a:t>
            </a:r>
          </a:p>
          <a:p>
            <a:pPr>
              <a:lnSpc>
                <a:spcPct val="170000"/>
              </a:lnSpc>
              <a:spcBef>
                <a:spcPts val="600"/>
              </a:spcBef>
              <a:defRPr/>
            </a:pPr>
            <a:r>
              <a:rPr lang="en-US" dirty="0">
                <a:latin typeface="Comic Sans MS" panose="030F0702030302020204" pitchFamily="66" charset="0"/>
              </a:rPr>
              <a:t>CSS is easy to learn and understand but it provides powerful control over the presentation of an HTML document </a:t>
            </a:r>
          </a:p>
          <a:p>
            <a:pPr>
              <a:lnSpc>
                <a:spcPct val="170000"/>
              </a:lnSpc>
              <a:spcBef>
                <a:spcPts val="600"/>
              </a:spcBef>
              <a:defRPr/>
            </a:pPr>
            <a:r>
              <a:rPr lang="en-US" dirty="0">
                <a:latin typeface="Comic Sans MS" panose="030F0702030302020204" pitchFamily="66" charset="0"/>
              </a:rPr>
              <a:t>Most commonly, CSS is combined with the markup languages HTML or XHTML</a:t>
            </a:r>
          </a:p>
        </p:txBody>
      </p:sp>
      <p:sp>
        <p:nvSpPr>
          <p:cNvPr id="4" name="Slide Number Placeholder 3">
            <a:extLst>
              <a:ext uri="{FF2B5EF4-FFF2-40B4-BE49-F238E27FC236}">
                <a16:creationId xmlns:a16="http://schemas.microsoft.com/office/drawing/2014/main" id="{5AC971FD-B667-4232-8C54-DC84178EEF66}"/>
              </a:ext>
            </a:extLst>
          </p:cNvPr>
          <p:cNvSpPr>
            <a:spLocks noGrp="1"/>
          </p:cNvSpPr>
          <p:nvPr>
            <p:ph type="sldNum" sz="quarter" idx="12"/>
          </p:nvPr>
        </p:nvSpPr>
        <p:spPr/>
        <p:txBody>
          <a:bodyPr/>
          <a:lstStyle/>
          <a:p>
            <a:pPr>
              <a:defRPr/>
            </a:pPr>
            <a:fld id="{1CC26258-BF01-49D7-A248-846F9EBF8C1D}" type="slidenum">
              <a:rPr lang="en-US" smtClean="0"/>
              <a:pPr>
                <a:defRPr/>
              </a:pPr>
              <a:t>3</a:t>
            </a:fld>
            <a:endParaRPr lang="en-US" dirty="0"/>
          </a:p>
        </p:txBody>
      </p:sp>
      <p:cxnSp>
        <p:nvCxnSpPr>
          <p:cNvPr id="7" name="Straight Connector 6">
            <a:extLst>
              <a:ext uri="{FF2B5EF4-FFF2-40B4-BE49-F238E27FC236}">
                <a16:creationId xmlns:a16="http://schemas.microsoft.com/office/drawing/2014/main" id="{47CADACF-F30F-44E2-8B56-5021BACD4504}"/>
              </a:ext>
            </a:extLst>
          </p:cNvPr>
          <p:cNvCxnSpPr>
            <a:cxnSpLocks/>
          </p:cNvCxnSpPr>
          <p:nvPr/>
        </p:nvCxnSpPr>
        <p:spPr>
          <a:xfrm>
            <a:off x="838200" y="1325563"/>
            <a:ext cx="9685340"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C0FB3B81-F262-495D-9AD6-CF4D01DD7A92}"/>
              </a:ext>
            </a:extLst>
          </p:cNvPr>
          <p:cNvSpPr>
            <a:spLocks noGrp="1" noChangeArrowheads="1"/>
          </p:cNvSpPr>
          <p:nvPr>
            <p:ph type="title"/>
          </p:nvPr>
        </p:nvSpPr>
        <p:spPr/>
        <p:txBody>
          <a:bodyPr/>
          <a:lstStyle/>
          <a:p>
            <a:r>
              <a:rPr lang="en-US" altLang="en-US" dirty="0">
                <a:latin typeface="Comic Sans MS" panose="030F0702030302020204" pitchFamily="66" charset="0"/>
              </a:rPr>
              <a:t>What is CSS?</a:t>
            </a:r>
            <a:endParaRPr lang="bg-BG" altLang="en-US" dirty="0">
              <a:latin typeface="Comic Sans MS" panose="030F0702030302020204" pitchFamily="66" charset="0"/>
            </a:endParaRPr>
          </a:p>
        </p:txBody>
      </p:sp>
      <p:sp>
        <p:nvSpPr>
          <p:cNvPr id="984067" name="Rectangle 3">
            <a:extLst>
              <a:ext uri="{FF2B5EF4-FFF2-40B4-BE49-F238E27FC236}">
                <a16:creationId xmlns:a16="http://schemas.microsoft.com/office/drawing/2014/main" id="{5B85195F-A31B-435D-82FA-0E97F8CAA558}"/>
              </a:ext>
            </a:extLst>
          </p:cNvPr>
          <p:cNvSpPr>
            <a:spLocks noGrp="1" noChangeArrowheads="1"/>
          </p:cNvSpPr>
          <p:nvPr>
            <p:ph idx="1"/>
          </p:nvPr>
        </p:nvSpPr>
        <p:spPr>
          <a:xfrm>
            <a:off x="838200" y="1363663"/>
            <a:ext cx="10412896" cy="4800600"/>
          </a:xfrm>
        </p:spPr>
        <p:txBody>
          <a:bodyPr>
            <a:normAutofit lnSpcReduction="10000"/>
          </a:bodyPr>
          <a:lstStyle/>
          <a:p>
            <a:pPr>
              <a:lnSpc>
                <a:spcPct val="150000"/>
              </a:lnSpc>
              <a:defRPr/>
            </a:pPr>
            <a:r>
              <a:rPr lang="en-US" sz="3000" dirty="0">
                <a:latin typeface="Comic Sans MS" panose="030F0702030302020204" pitchFamily="66" charset="0"/>
              </a:rPr>
              <a:t>Importance of Cascading Style Sheets (CSS)</a:t>
            </a:r>
          </a:p>
          <a:p>
            <a:pPr lvl="1" indent="-274320">
              <a:lnSpc>
                <a:spcPct val="150000"/>
              </a:lnSpc>
              <a:spcBef>
                <a:spcPts val="600"/>
              </a:spcBef>
              <a:defRPr/>
            </a:pPr>
            <a:r>
              <a:rPr lang="en-US" sz="2800" dirty="0">
                <a:latin typeface="Comic Sans MS" panose="030F0702030302020204" pitchFamily="66" charset="0"/>
              </a:rPr>
              <a:t>Used to describe the arrangement of documents</a:t>
            </a:r>
          </a:p>
          <a:p>
            <a:pPr lvl="1" indent="-274320">
              <a:lnSpc>
                <a:spcPct val="150000"/>
              </a:lnSpc>
              <a:spcBef>
                <a:spcPts val="600"/>
              </a:spcBef>
              <a:defRPr/>
            </a:pPr>
            <a:r>
              <a:rPr lang="en-US" sz="2800" dirty="0">
                <a:latin typeface="Comic Sans MS" panose="030F0702030302020204" pitchFamily="66" charset="0"/>
              </a:rPr>
              <a:t>Define sizes, spacing, fonts, colors, layout, etc.</a:t>
            </a:r>
          </a:p>
          <a:p>
            <a:pPr lvl="1" indent="-274320">
              <a:lnSpc>
                <a:spcPct val="150000"/>
              </a:lnSpc>
              <a:spcBef>
                <a:spcPts val="600"/>
              </a:spcBef>
              <a:defRPr/>
            </a:pPr>
            <a:r>
              <a:rPr lang="en-US" sz="2800" dirty="0">
                <a:latin typeface="Comic Sans MS" panose="030F0702030302020204" pitchFamily="66" charset="0"/>
              </a:rPr>
              <a:t>Improve content accessibility</a:t>
            </a:r>
          </a:p>
          <a:p>
            <a:pPr lvl="1" indent="-274320">
              <a:lnSpc>
                <a:spcPct val="150000"/>
              </a:lnSpc>
              <a:spcBef>
                <a:spcPts val="600"/>
              </a:spcBef>
              <a:defRPr/>
            </a:pPr>
            <a:r>
              <a:rPr lang="en-US" sz="2800" dirty="0">
                <a:latin typeface="Comic Sans MS" panose="030F0702030302020204" pitchFamily="66" charset="0"/>
              </a:rPr>
              <a:t>Improve flexibility</a:t>
            </a:r>
          </a:p>
          <a:p>
            <a:pPr lvl="1" indent="-274320">
              <a:lnSpc>
                <a:spcPct val="150000"/>
              </a:lnSpc>
              <a:spcBef>
                <a:spcPts val="600"/>
              </a:spcBef>
              <a:defRPr/>
            </a:pPr>
            <a:r>
              <a:rPr lang="en-US" sz="2800" dirty="0">
                <a:latin typeface="Comic Sans MS" panose="030F0702030302020204" pitchFamily="66" charset="0"/>
              </a:rPr>
              <a:t>CSS Properties affect how elements are displayed</a:t>
            </a:r>
          </a:p>
          <a:p>
            <a:pPr lvl="1" indent="-274320">
              <a:lnSpc>
                <a:spcPct val="150000"/>
              </a:lnSpc>
              <a:spcBef>
                <a:spcPts val="600"/>
              </a:spcBef>
              <a:defRPr/>
            </a:pPr>
            <a:r>
              <a:rPr lang="en-US" sz="2800" dirty="0">
                <a:latin typeface="Comic Sans MS" panose="030F0702030302020204" pitchFamily="66" charset="0"/>
              </a:rPr>
              <a:t>Times Save</a:t>
            </a:r>
          </a:p>
          <a:p>
            <a:pPr marL="0" indent="0">
              <a:lnSpc>
                <a:spcPct val="150000"/>
              </a:lnSpc>
              <a:buNone/>
              <a:defRPr/>
            </a:pPr>
            <a:endParaRPr lang="en-US" sz="3000" dirty="0">
              <a:latin typeface="Comic Sans MS" panose="030F0702030302020204" pitchFamily="66" charset="0"/>
            </a:endParaRPr>
          </a:p>
        </p:txBody>
      </p:sp>
      <p:sp>
        <p:nvSpPr>
          <p:cNvPr id="4" name="Slide Number Placeholder 3">
            <a:extLst>
              <a:ext uri="{FF2B5EF4-FFF2-40B4-BE49-F238E27FC236}">
                <a16:creationId xmlns:a16="http://schemas.microsoft.com/office/drawing/2014/main" id="{60098D83-43D2-4FD0-9E32-0553C88A10CA}"/>
              </a:ext>
            </a:extLst>
          </p:cNvPr>
          <p:cNvSpPr>
            <a:spLocks noGrp="1"/>
          </p:cNvSpPr>
          <p:nvPr>
            <p:ph type="sldNum" sz="quarter" idx="12"/>
          </p:nvPr>
        </p:nvSpPr>
        <p:spPr/>
        <p:txBody>
          <a:bodyPr/>
          <a:lstStyle/>
          <a:p>
            <a:pPr>
              <a:defRPr/>
            </a:pPr>
            <a:fld id="{BC8421A3-D6AB-4894-90D9-98D668AEFA85}" type="slidenum">
              <a:rPr lang="en-US" smtClean="0"/>
              <a:pPr>
                <a:defRPr/>
              </a:pPr>
              <a:t>4</a:t>
            </a:fld>
            <a:endParaRPr lang="en-US" dirty="0"/>
          </a:p>
        </p:txBody>
      </p:sp>
      <p:cxnSp>
        <p:nvCxnSpPr>
          <p:cNvPr id="5" name="Straight Connector 4">
            <a:extLst>
              <a:ext uri="{FF2B5EF4-FFF2-40B4-BE49-F238E27FC236}">
                <a16:creationId xmlns:a16="http://schemas.microsoft.com/office/drawing/2014/main" id="{B46018AC-DB45-4EFE-8328-3D48C44E2008}"/>
              </a:ext>
            </a:extLst>
          </p:cNvPr>
          <p:cNvCxnSpPr>
            <a:cxnSpLocks/>
          </p:cNvCxnSpPr>
          <p:nvPr/>
        </p:nvCxnSpPr>
        <p:spPr>
          <a:xfrm flipV="1">
            <a:off x="838200" y="1325563"/>
            <a:ext cx="9685340" cy="3810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a:extLst>
              <a:ext uri="{FF2B5EF4-FFF2-40B4-BE49-F238E27FC236}">
                <a16:creationId xmlns:a16="http://schemas.microsoft.com/office/drawing/2014/main" id="{2D59500D-D36A-4179-83AE-99C4355B6D3D}"/>
              </a:ext>
            </a:extLst>
          </p:cNvPr>
          <p:cNvSpPr>
            <a:spLocks noGrp="1" noChangeArrowheads="1"/>
          </p:cNvSpPr>
          <p:nvPr>
            <p:ph type="title"/>
          </p:nvPr>
        </p:nvSpPr>
        <p:spPr>
          <a:xfrm>
            <a:off x="838200" y="365128"/>
            <a:ext cx="10515600" cy="894176"/>
          </a:xfrm>
        </p:spPr>
        <p:txBody>
          <a:bodyPr/>
          <a:lstStyle/>
          <a:p>
            <a:r>
              <a:rPr lang="en-US" altLang="en-US" b="1" dirty="0">
                <a:solidFill>
                  <a:schemeClr val="accent1"/>
                </a:solidFill>
                <a:latin typeface="+mn-lt"/>
              </a:rPr>
              <a:t>CSS Syntax</a:t>
            </a:r>
          </a:p>
        </p:txBody>
      </p:sp>
      <p:sp>
        <p:nvSpPr>
          <p:cNvPr id="137219" name="Content Placeholder 4">
            <a:extLst>
              <a:ext uri="{FF2B5EF4-FFF2-40B4-BE49-F238E27FC236}">
                <a16:creationId xmlns:a16="http://schemas.microsoft.com/office/drawing/2014/main" id="{9AE590FC-212F-4C80-84D7-11CC5633B502}"/>
              </a:ext>
            </a:extLst>
          </p:cNvPr>
          <p:cNvSpPr>
            <a:spLocks noGrp="1" noChangeArrowheads="1"/>
          </p:cNvSpPr>
          <p:nvPr>
            <p:ph idx="1"/>
          </p:nvPr>
        </p:nvSpPr>
        <p:spPr>
          <a:xfrm>
            <a:off x="384312" y="1259304"/>
            <a:ext cx="11320007" cy="5519207"/>
          </a:xfrm>
        </p:spPr>
        <p:txBody>
          <a:bodyPr>
            <a:normAutofit/>
          </a:bodyPr>
          <a:lstStyle/>
          <a:p>
            <a:pPr>
              <a:lnSpc>
                <a:spcPct val="150000"/>
              </a:lnSpc>
            </a:pPr>
            <a:r>
              <a:rPr lang="en-US" altLang="en-US" sz="2200" dirty="0"/>
              <a:t>Some CSS styles are </a:t>
            </a:r>
            <a:r>
              <a:rPr lang="en-US" altLang="en-US" sz="2200" dirty="0">
                <a:solidFill>
                  <a:srgbClr val="FF0000"/>
                </a:solidFill>
              </a:rPr>
              <a:t>inherited</a:t>
            </a:r>
            <a:r>
              <a:rPr lang="en-US" altLang="en-US" sz="2200" dirty="0"/>
              <a:t> and some not</a:t>
            </a:r>
          </a:p>
          <a:p>
            <a:pPr lvl="1">
              <a:lnSpc>
                <a:spcPct val="150000"/>
              </a:lnSpc>
            </a:pPr>
            <a:r>
              <a:rPr lang="en-US" altLang="en-US" sz="2200" dirty="0"/>
              <a:t>Text-related properties are inherited </a:t>
            </a:r>
            <a:r>
              <a:rPr lang="en-US" altLang="en-US" sz="2200" dirty="0">
                <a:latin typeface="Consolas" panose="020B0609020204030204" pitchFamily="49" charset="0"/>
              </a:rPr>
              <a:t>font-size</a:t>
            </a:r>
            <a:r>
              <a:rPr lang="en-US" altLang="en-US" sz="2200" dirty="0"/>
              <a:t>, </a:t>
            </a:r>
            <a:r>
              <a:rPr lang="en-US" altLang="en-US" sz="2200" dirty="0">
                <a:latin typeface="Consolas" panose="020B0609020204030204" pitchFamily="49" charset="0"/>
              </a:rPr>
              <a:t>font-family</a:t>
            </a:r>
            <a:r>
              <a:rPr lang="en-US" altLang="en-US" sz="2200" dirty="0"/>
              <a:t>, </a:t>
            </a:r>
            <a:r>
              <a:rPr lang="en-US" altLang="en-US" sz="2200" dirty="0">
                <a:latin typeface="Consolas" panose="020B0609020204030204" pitchFamily="49" charset="0"/>
              </a:rPr>
              <a:t>line-height</a:t>
            </a:r>
            <a:r>
              <a:rPr lang="en-US" altLang="en-US" sz="2200" dirty="0"/>
              <a:t>, </a:t>
            </a:r>
            <a:r>
              <a:rPr lang="en-US" altLang="en-US" sz="2200" dirty="0">
                <a:latin typeface="Consolas" panose="020B0609020204030204" pitchFamily="49" charset="0"/>
              </a:rPr>
              <a:t>text-align</a:t>
            </a:r>
            <a:r>
              <a:rPr lang="en-US" altLang="en-US" sz="2200" dirty="0"/>
              <a:t>, </a:t>
            </a:r>
            <a:r>
              <a:rPr lang="en-US" altLang="en-US" sz="2200" dirty="0">
                <a:latin typeface="Consolas" panose="020B0609020204030204" pitchFamily="49" charset="0"/>
              </a:rPr>
              <a:t>list-style</a:t>
            </a:r>
            <a:r>
              <a:rPr lang="en-US" altLang="en-US" sz="2200" dirty="0"/>
              <a:t>, etc.</a:t>
            </a:r>
          </a:p>
          <a:p>
            <a:pPr algn="l"/>
            <a:r>
              <a:rPr lang="en-US" altLang="en-US" sz="2200" dirty="0"/>
              <a:t>Box-related and positioning styles are not inherited - </a:t>
            </a:r>
            <a:r>
              <a:rPr lang="en-US" altLang="en-US" sz="2200" dirty="0">
                <a:latin typeface="Consolas" panose="020B0609020204030204" pitchFamily="49" charset="0"/>
              </a:rPr>
              <a:t>width</a:t>
            </a:r>
            <a:r>
              <a:rPr lang="en-US" altLang="en-US" sz="2200" dirty="0"/>
              <a:t>, </a:t>
            </a:r>
            <a:r>
              <a:rPr lang="en-US" altLang="en-US" sz="2200" dirty="0">
                <a:latin typeface="Consolas" panose="020B0609020204030204" pitchFamily="49" charset="0"/>
              </a:rPr>
              <a:t>height</a:t>
            </a:r>
            <a:r>
              <a:rPr lang="en-US" altLang="en-US" sz="2200" dirty="0"/>
              <a:t>, </a:t>
            </a:r>
            <a:r>
              <a:rPr lang="en-US" altLang="en-US" sz="2200" dirty="0">
                <a:latin typeface="Consolas" panose="020B0609020204030204" pitchFamily="49" charset="0"/>
              </a:rPr>
              <a:t>border</a:t>
            </a:r>
            <a:r>
              <a:rPr lang="en-US" altLang="en-US" sz="2200" dirty="0"/>
              <a:t>, </a:t>
            </a:r>
            <a:r>
              <a:rPr lang="en-US" altLang="en-US" sz="2200" dirty="0">
                <a:latin typeface="Consolas" panose="020B0609020204030204" pitchFamily="49" charset="0"/>
              </a:rPr>
              <a:t>margin</a:t>
            </a:r>
            <a:r>
              <a:rPr lang="en-US" altLang="en-US" sz="2200" dirty="0"/>
              <a:t>, </a:t>
            </a:r>
            <a:r>
              <a:rPr lang="en-US" altLang="en-US" sz="2200" dirty="0">
                <a:latin typeface="Consolas" panose="020B0609020204030204" pitchFamily="49" charset="0"/>
              </a:rPr>
              <a:t>padding</a:t>
            </a:r>
            <a:r>
              <a:rPr lang="en-US" altLang="en-US" sz="2200" dirty="0"/>
              <a:t>, </a:t>
            </a:r>
            <a:r>
              <a:rPr lang="en-US" altLang="en-US" sz="2200" dirty="0">
                <a:latin typeface="Consolas" panose="020B0609020204030204" pitchFamily="49" charset="0"/>
              </a:rPr>
              <a:t>position</a:t>
            </a:r>
            <a:r>
              <a:rPr lang="en-US" altLang="en-US" sz="2200" dirty="0"/>
              <a:t>, </a:t>
            </a:r>
            <a:r>
              <a:rPr lang="en-US" altLang="en-US" sz="2200" dirty="0">
                <a:latin typeface="Consolas" panose="020B0609020204030204" pitchFamily="49" charset="0"/>
              </a:rPr>
              <a:t>float</a:t>
            </a:r>
            <a:r>
              <a:rPr lang="en-US" altLang="en-US" sz="2200" dirty="0"/>
              <a:t>, etc.</a:t>
            </a:r>
          </a:p>
          <a:p>
            <a:pPr algn="l"/>
            <a:r>
              <a:rPr lang="en-US" sz="2000" kern="0" dirty="0">
                <a:effectLst/>
                <a:ea typeface="Calibri" panose="020F0502020204030204" pitchFamily="34" charset="0"/>
                <a:cs typeface="WhitneyHTF-Medium"/>
              </a:rPr>
              <a:t>CSS declarations sit inside curly brackets and each is made up of two</a:t>
            </a:r>
            <a:r>
              <a:rPr lang="en-US" sz="2000" kern="100" dirty="0">
                <a:ea typeface="Calibri" panose="020F0502020204030204" pitchFamily="34" charset="0"/>
                <a:cs typeface="Times New Roman" panose="02020603050405020304" pitchFamily="18" charset="0"/>
              </a:rPr>
              <a:t> </a:t>
            </a:r>
            <a:r>
              <a:rPr lang="en-US" sz="2000" kern="0" dirty="0">
                <a:effectLst/>
                <a:ea typeface="Calibri" panose="020F0502020204030204" pitchFamily="34" charset="0"/>
                <a:cs typeface="WhitneyHTF-Medium"/>
              </a:rPr>
              <a:t>parts: </a:t>
            </a:r>
            <a:r>
              <a:rPr lang="en-US" sz="2000" kern="0" dirty="0">
                <a:solidFill>
                  <a:srgbClr val="FF1ACD"/>
                </a:solidFill>
                <a:effectLst/>
                <a:ea typeface="Calibri" panose="020F0502020204030204" pitchFamily="34" charset="0"/>
                <a:cs typeface="WhitneyHTF-Medium"/>
              </a:rPr>
              <a:t>property </a:t>
            </a:r>
            <a:r>
              <a:rPr lang="en-US" sz="2000" kern="0" dirty="0">
                <a:effectLst/>
                <a:ea typeface="Calibri" panose="020F0502020204030204" pitchFamily="34" charset="0"/>
                <a:cs typeface="WhitneyHTF-Medium"/>
              </a:rPr>
              <a:t>and a </a:t>
            </a:r>
            <a:r>
              <a:rPr lang="en-US" sz="2000" kern="0" dirty="0">
                <a:solidFill>
                  <a:srgbClr val="FFC040"/>
                </a:solidFill>
                <a:effectLst/>
                <a:ea typeface="Calibri" panose="020F0502020204030204" pitchFamily="34" charset="0"/>
                <a:cs typeface="WhitneyHTF-Medium"/>
              </a:rPr>
              <a:t>value</a:t>
            </a:r>
            <a:r>
              <a:rPr lang="en-US" sz="2000" kern="0" dirty="0">
                <a:solidFill>
                  <a:srgbClr val="FFFFFF"/>
                </a:solidFill>
                <a:effectLst/>
                <a:ea typeface="Calibri" panose="020F0502020204030204" pitchFamily="34" charset="0"/>
                <a:cs typeface="WhitneyHTF-Medium"/>
              </a:rPr>
              <a:t>, </a:t>
            </a:r>
            <a:r>
              <a:rPr lang="en-US" sz="2000" kern="0" dirty="0">
                <a:effectLst/>
                <a:ea typeface="Calibri" panose="020F0502020204030204" pitchFamily="34" charset="0"/>
                <a:cs typeface="WhitneyHTF-Medium"/>
              </a:rPr>
              <a:t>separated by a colon. </a:t>
            </a:r>
          </a:p>
          <a:p>
            <a:pPr algn="l"/>
            <a:r>
              <a:rPr lang="en-US" sz="2000" kern="0" dirty="0">
                <a:effectLst/>
                <a:ea typeface="Calibri" panose="020F0502020204030204" pitchFamily="34" charset="0"/>
                <a:cs typeface="WhitneyHTF-Medium"/>
              </a:rPr>
              <a:t>You can specify</a:t>
            </a:r>
            <a:r>
              <a:rPr lang="en-US" sz="2000" kern="100" dirty="0">
                <a:ea typeface="Calibri" panose="020F0502020204030204" pitchFamily="34" charset="0"/>
                <a:cs typeface="Times New Roman" panose="02020603050405020304" pitchFamily="18" charset="0"/>
              </a:rPr>
              <a:t> </a:t>
            </a:r>
            <a:r>
              <a:rPr lang="en-US" sz="2000" kern="0" dirty="0">
                <a:effectLst/>
                <a:ea typeface="Calibri" panose="020F0502020204030204" pitchFamily="34" charset="0"/>
                <a:cs typeface="WhitneyHTF-Medium"/>
              </a:rPr>
              <a:t>several properties in one declaration, each separated by a semi-colon</a:t>
            </a:r>
            <a:r>
              <a:rPr lang="en-US" sz="2000" kern="0" dirty="0">
                <a:solidFill>
                  <a:srgbClr val="FFFFFF"/>
                </a:solidFill>
                <a:effectLst/>
                <a:ea typeface="Calibri" panose="020F0502020204030204" pitchFamily="34" charset="0"/>
                <a:cs typeface="WhitneyHTF-Medium"/>
              </a:rPr>
              <a:t>.</a:t>
            </a:r>
            <a:endParaRPr lang="en-US" sz="2000" kern="100" dirty="0">
              <a:effectLst/>
              <a:ea typeface="Calibri" panose="020F0502020204030204" pitchFamily="34" charset="0"/>
              <a:cs typeface="Times New Roman" panose="02020603050405020304" pitchFamily="18" charset="0"/>
            </a:endParaRPr>
          </a:p>
          <a:p>
            <a:pPr algn="l"/>
            <a:endParaRPr lang="en-US" sz="1800" b="0" i="0" u="none" strike="noStrike" baseline="0" dirty="0">
              <a:solidFill>
                <a:srgbClr val="FFFFFF"/>
              </a:solidFill>
              <a:latin typeface="WhitneyHTF-Medium"/>
            </a:endParaRPr>
          </a:p>
        </p:txBody>
      </p:sp>
      <p:sp>
        <p:nvSpPr>
          <p:cNvPr id="4" name="Slide Number Placeholder 3">
            <a:extLst>
              <a:ext uri="{FF2B5EF4-FFF2-40B4-BE49-F238E27FC236}">
                <a16:creationId xmlns:a16="http://schemas.microsoft.com/office/drawing/2014/main" id="{E8C25756-88E6-4EC6-AAD8-5EEC37D8D46D}"/>
              </a:ext>
            </a:extLst>
          </p:cNvPr>
          <p:cNvSpPr>
            <a:spLocks noGrp="1"/>
          </p:cNvSpPr>
          <p:nvPr>
            <p:ph type="sldNum" sz="quarter" idx="12"/>
          </p:nvPr>
        </p:nvSpPr>
        <p:spPr/>
        <p:txBody>
          <a:bodyPr/>
          <a:lstStyle/>
          <a:p>
            <a:pPr>
              <a:defRPr/>
            </a:pPr>
            <a:fld id="{5069B0F9-7C4C-4105-9719-593F307662E1}" type="slidenum">
              <a:rPr lang="en-US" smtClean="0"/>
              <a:pPr>
                <a:defRPr/>
              </a:pPr>
              <a:t>5</a:t>
            </a:fld>
            <a:endParaRPr lang="en-US" dirty="0"/>
          </a:p>
        </p:txBody>
      </p:sp>
      <p:cxnSp>
        <p:nvCxnSpPr>
          <p:cNvPr id="6" name="Straight Connector 5">
            <a:extLst>
              <a:ext uri="{FF2B5EF4-FFF2-40B4-BE49-F238E27FC236}">
                <a16:creationId xmlns:a16="http://schemas.microsoft.com/office/drawing/2014/main" id="{94D0BAEE-8C90-4FA9-9E0E-18291E30536F}"/>
              </a:ext>
            </a:extLst>
          </p:cNvPr>
          <p:cNvCxnSpPr>
            <a:cxnSpLocks/>
          </p:cNvCxnSpPr>
          <p:nvPr/>
        </p:nvCxnSpPr>
        <p:spPr>
          <a:xfrm>
            <a:off x="838200" y="1202153"/>
            <a:ext cx="9685340"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FAAB1C06-DD19-446D-D591-E9FA15BFACB0}"/>
              </a:ext>
            </a:extLst>
          </p:cNvPr>
          <p:cNvPicPr>
            <a:picLocks noChangeAspect="1"/>
          </p:cNvPicPr>
          <p:nvPr/>
        </p:nvPicPr>
        <p:blipFill>
          <a:blip r:embed="rId3"/>
          <a:stretch>
            <a:fillRect/>
          </a:stretch>
        </p:blipFill>
        <p:spPr>
          <a:xfrm>
            <a:off x="4028903" y="4829588"/>
            <a:ext cx="6069254" cy="19506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6F692FAF-4982-4135-A049-606F62AE4799}"/>
              </a:ext>
            </a:extLst>
          </p:cNvPr>
          <p:cNvSpPr>
            <a:spLocks noGrp="1" noChangeArrowheads="1"/>
          </p:cNvSpPr>
          <p:nvPr>
            <p:ph type="title"/>
          </p:nvPr>
        </p:nvSpPr>
        <p:spPr>
          <a:xfrm>
            <a:off x="838200" y="365128"/>
            <a:ext cx="10515600" cy="906196"/>
          </a:xfrm>
        </p:spPr>
        <p:txBody>
          <a:bodyPr>
            <a:normAutofit fontScale="90000"/>
          </a:bodyPr>
          <a:lstStyle/>
          <a:p>
            <a:br>
              <a:rPr lang="en-US" altLang="en-US" b="1" dirty="0">
                <a:solidFill>
                  <a:schemeClr val="accent1"/>
                </a:solidFill>
                <a:latin typeface="+mn-lt"/>
              </a:rPr>
            </a:br>
            <a:r>
              <a:rPr lang="en-US" altLang="en-US" b="1" dirty="0">
                <a:solidFill>
                  <a:schemeClr val="accent1"/>
                </a:solidFill>
                <a:latin typeface="+mn-lt"/>
              </a:rPr>
              <a:t>Style Sheets Syntax</a:t>
            </a:r>
            <a:endParaRPr lang="bg-BG" altLang="en-US" b="1" dirty="0">
              <a:solidFill>
                <a:schemeClr val="accent1"/>
              </a:solidFill>
              <a:latin typeface="+mn-lt"/>
            </a:endParaRPr>
          </a:p>
        </p:txBody>
      </p:sp>
      <p:sp>
        <p:nvSpPr>
          <p:cNvPr id="139267" name="Rectangle 3">
            <a:extLst>
              <a:ext uri="{FF2B5EF4-FFF2-40B4-BE49-F238E27FC236}">
                <a16:creationId xmlns:a16="http://schemas.microsoft.com/office/drawing/2014/main" id="{B48A73FB-AF83-4D4A-ADD3-7FB4B24258D4}"/>
              </a:ext>
            </a:extLst>
          </p:cNvPr>
          <p:cNvSpPr>
            <a:spLocks noGrp="1" noChangeArrowheads="1"/>
          </p:cNvSpPr>
          <p:nvPr>
            <p:ph idx="1"/>
          </p:nvPr>
        </p:nvSpPr>
        <p:spPr>
          <a:xfrm>
            <a:off x="426555" y="1497046"/>
            <a:ext cx="11232045" cy="4995826"/>
          </a:xfrm>
        </p:spPr>
        <p:txBody>
          <a:bodyPr/>
          <a:lstStyle/>
          <a:p>
            <a:r>
              <a:rPr lang="en-US" altLang="en-US" sz="2400" dirty="0">
                <a:latin typeface="Comic Sans MS" panose="030F0702030302020204" pitchFamily="66" charset="0"/>
              </a:rPr>
              <a:t>Stylesheets consist of rules, </a:t>
            </a:r>
            <a:r>
              <a:rPr lang="en-US" altLang="en-US" sz="2400" dirty="0">
                <a:solidFill>
                  <a:schemeClr val="accent2"/>
                </a:solidFill>
                <a:latin typeface="Comic Sans MS" panose="030F0702030302020204" pitchFamily="66" charset="0"/>
              </a:rPr>
              <a:t>selectors</a:t>
            </a:r>
            <a:r>
              <a:rPr lang="en-US" altLang="en-US" sz="2400" dirty="0">
                <a:latin typeface="Comic Sans MS" panose="030F0702030302020204" pitchFamily="66" charset="0"/>
              </a:rPr>
              <a:t>, </a:t>
            </a:r>
            <a:r>
              <a:rPr lang="en-US" altLang="en-US" sz="2400" dirty="0">
                <a:solidFill>
                  <a:schemeClr val="accent2"/>
                </a:solidFill>
                <a:latin typeface="Comic Sans MS" panose="030F0702030302020204" pitchFamily="66" charset="0"/>
              </a:rPr>
              <a:t>declarations</a:t>
            </a:r>
            <a:r>
              <a:rPr lang="en-US" altLang="en-US" sz="2400" dirty="0">
                <a:latin typeface="Comic Sans MS" panose="030F0702030302020204" pitchFamily="66" charset="0"/>
              </a:rPr>
              <a:t>, </a:t>
            </a:r>
            <a:r>
              <a:rPr lang="en-US" altLang="en-US" sz="2400" dirty="0">
                <a:solidFill>
                  <a:schemeClr val="accent2"/>
                </a:solidFill>
                <a:latin typeface="Comic Sans MS" panose="030F0702030302020204" pitchFamily="66" charset="0"/>
              </a:rPr>
              <a:t>properties and values</a:t>
            </a:r>
          </a:p>
          <a:p>
            <a:pPr>
              <a:buFont typeface="Wingdings" panose="05000000000000000000" pitchFamily="2" charset="2"/>
              <a:buChar char="v"/>
            </a:pPr>
            <a:endParaRPr lang="en-US" altLang="en-US" sz="2400" dirty="0">
              <a:latin typeface="Comic Sans MS" panose="030F0702030302020204" pitchFamily="66" charset="0"/>
            </a:endParaRPr>
          </a:p>
          <a:p>
            <a:pPr>
              <a:buFont typeface="Wingdings" panose="05000000000000000000" pitchFamily="2" charset="2"/>
              <a:buChar char="v"/>
            </a:pPr>
            <a:endParaRPr lang="en-US" altLang="en-US" sz="2400" dirty="0">
              <a:latin typeface="Comic Sans MS" panose="030F0702030302020204" pitchFamily="66" charset="0"/>
            </a:endParaRPr>
          </a:p>
          <a:p>
            <a:pPr>
              <a:buFont typeface="Wingdings" panose="05000000000000000000" pitchFamily="2" charset="2"/>
              <a:buChar char="v"/>
            </a:pPr>
            <a:endParaRPr lang="en-US" altLang="en-US" sz="2400" dirty="0">
              <a:latin typeface="Comic Sans MS" panose="030F0702030302020204" pitchFamily="66" charset="0"/>
            </a:endParaRPr>
          </a:p>
          <a:p>
            <a:pPr>
              <a:buFont typeface="Wingdings" panose="05000000000000000000" pitchFamily="2" charset="2"/>
              <a:buChar char="v"/>
            </a:pPr>
            <a:endParaRPr lang="en-US" altLang="en-US" sz="2400" dirty="0">
              <a:latin typeface="Comic Sans MS" panose="030F0702030302020204" pitchFamily="66" charset="0"/>
            </a:endParaRPr>
          </a:p>
          <a:p>
            <a:r>
              <a:rPr lang="en-US" altLang="en-US" sz="2400" dirty="0">
                <a:solidFill>
                  <a:srgbClr val="FF0000"/>
                </a:solidFill>
                <a:latin typeface="Comic Sans MS" panose="030F0702030302020204" pitchFamily="66" charset="0"/>
              </a:rPr>
              <a:t>Selectors</a:t>
            </a:r>
            <a:r>
              <a:rPr lang="en-US" altLang="en-US" sz="2400" dirty="0">
                <a:latin typeface="Comic Sans MS" panose="030F0702030302020204" pitchFamily="66" charset="0"/>
              </a:rPr>
              <a:t> are separated by comma</a:t>
            </a:r>
          </a:p>
          <a:p>
            <a:r>
              <a:rPr lang="en-US" altLang="en-US" sz="2400" dirty="0">
                <a:solidFill>
                  <a:srgbClr val="FF0000"/>
                </a:solidFill>
                <a:latin typeface="Comic Sans MS" panose="030F0702030302020204" pitchFamily="66" charset="0"/>
              </a:rPr>
              <a:t>Declarations</a:t>
            </a:r>
            <a:r>
              <a:rPr lang="en-US" altLang="en-US" sz="2400" dirty="0">
                <a:latin typeface="Comic Sans MS" panose="030F0702030302020204" pitchFamily="66" charset="0"/>
              </a:rPr>
              <a:t> are separated by semicolons</a:t>
            </a:r>
          </a:p>
          <a:p>
            <a:r>
              <a:rPr lang="en-US" altLang="en-US" sz="2400" dirty="0">
                <a:solidFill>
                  <a:srgbClr val="FF0000"/>
                </a:solidFill>
                <a:latin typeface="Comic Sans MS" panose="030F0702030302020204" pitchFamily="66" charset="0"/>
              </a:rPr>
              <a:t>Properties and values </a:t>
            </a:r>
            <a:r>
              <a:rPr lang="en-US" altLang="en-US" sz="2400" dirty="0">
                <a:latin typeface="Comic Sans MS" panose="030F0702030302020204" pitchFamily="66" charset="0"/>
              </a:rPr>
              <a:t>are separated by colons</a:t>
            </a:r>
            <a:endParaRPr lang="bg-BG" altLang="en-US" sz="2400" dirty="0">
              <a:latin typeface="Comic Sans MS" panose="030F0702030302020204" pitchFamily="66" charset="0"/>
            </a:endParaRPr>
          </a:p>
        </p:txBody>
      </p:sp>
      <p:sp>
        <p:nvSpPr>
          <p:cNvPr id="5" name="Slide Number Placeholder 3">
            <a:extLst>
              <a:ext uri="{FF2B5EF4-FFF2-40B4-BE49-F238E27FC236}">
                <a16:creationId xmlns:a16="http://schemas.microsoft.com/office/drawing/2014/main" id="{C72BC453-AC90-4256-849A-D3A2163C7986}"/>
              </a:ext>
            </a:extLst>
          </p:cNvPr>
          <p:cNvSpPr>
            <a:spLocks noGrp="1"/>
          </p:cNvSpPr>
          <p:nvPr>
            <p:ph type="sldNum" sz="quarter" idx="12"/>
          </p:nvPr>
        </p:nvSpPr>
        <p:spPr/>
        <p:txBody>
          <a:bodyPr/>
          <a:lstStyle/>
          <a:p>
            <a:pPr>
              <a:defRPr/>
            </a:pPr>
            <a:fld id="{55B72978-7241-4E59-B9DA-ED8ABAE137EE}" type="slidenum">
              <a:rPr lang="en-US" smtClean="0"/>
              <a:pPr>
                <a:defRPr/>
              </a:pPr>
              <a:t>6</a:t>
            </a:fld>
            <a:endParaRPr lang="en-US" dirty="0"/>
          </a:p>
        </p:txBody>
      </p:sp>
      <p:sp>
        <p:nvSpPr>
          <p:cNvPr id="11268" name="Rectangle 4">
            <a:extLst>
              <a:ext uri="{FF2B5EF4-FFF2-40B4-BE49-F238E27FC236}">
                <a16:creationId xmlns:a16="http://schemas.microsoft.com/office/drawing/2014/main" id="{9762A672-2F99-4EBD-BCA7-D7D76000DBC7}"/>
              </a:ext>
            </a:extLst>
          </p:cNvPr>
          <p:cNvSpPr>
            <a:spLocks noChangeArrowheads="1"/>
          </p:cNvSpPr>
          <p:nvPr/>
        </p:nvSpPr>
        <p:spPr bwMode="auto">
          <a:xfrm>
            <a:off x="2333629" y="5459414"/>
            <a:ext cx="7942263" cy="1200329"/>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h1,h2,h3 { color: green; </a:t>
            </a:r>
          </a:p>
          <a:p>
            <a:pPr>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font-weight: bold; </a:t>
            </a:r>
          </a:p>
          <a:p>
            <a:pPr>
              <a:buClr>
                <a:schemeClr val="accent5">
                  <a:lumMod val="40000"/>
                  <a:lumOff val="60000"/>
                </a:schemeClr>
              </a:buClr>
              <a:buSzPct val="70000"/>
              <a:defRPr/>
            </a:pPr>
            <a:r>
              <a:rPr lang="en-US" sz="24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a:t>
            </a:r>
          </a:p>
        </p:txBody>
      </p:sp>
      <p:pic>
        <p:nvPicPr>
          <p:cNvPr id="1027" name="Picture 3">
            <a:extLst>
              <a:ext uri="{FF2B5EF4-FFF2-40B4-BE49-F238E27FC236}">
                <a16:creationId xmlns:a16="http://schemas.microsoft.com/office/drawing/2014/main" id="{1B21CC55-5057-4D18-9C24-FFC0662CDD61}"/>
              </a:ext>
            </a:extLst>
          </p:cNvPr>
          <p:cNvPicPr>
            <a:picLocks noChangeAspect="1" noChangeArrowheads="1"/>
          </p:cNvPicPr>
          <p:nvPr/>
        </p:nvPicPr>
        <p:blipFill>
          <a:blip r:embed="rId3" cstate="print"/>
          <a:srcRect/>
          <a:stretch>
            <a:fillRect/>
          </a:stretch>
        </p:blipFill>
        <p:spPr bwMode="auto">
          <a:xfrm>
            <a:off x="2815418" y="2059073"/>
            <a:ext cx="7460474" cy="1763486"/>
          </a:xfrm>
          <a:prstGeom prst="roundRect">
            <a:avLst>
              <a:gd name="adj" fmla="val 8862"/>
            </a:avLst>
          </a:prstGeom>
          <a:noFill/>
          <a:ln w="9525">
            <a:solidFill>
              <a:schemeClr val="tx2">
                <a:lumMod val="75000"/>
              </a:schemeClr>
            </a:solidFill>
            <a:miter lim="800000"/>
            <a:headEnd/>
            <a:tailEnd/>
          </a:ln>
        </p:spPr>
      </p:pic>
      <p:cxnSp>
        <p:nvCxnSpPr>
          <p:cNvPr id="7" name="Straight Connector 6">
            <a:extLst>
              <a:ext uri="{FF2B5EF4-FFF2-40B4-BE49-F238E27FC236}">
                <a16:creationId xmlns:a16="http://schemas.microsoft.com/office/drawing/2014/main" id="{9D38269D-D180-4E00-97BA-CFEC6BCA1C0C}"/>
              </a:ext>
            </a:extLst>
          </p:cNvPr>
          <p:cNvCxnSpPr>
            <a:cxnSpLocks/>
          </p:cNvCxnSpPr>
          <p:nvPr/>
        </p:nvCxnSpPr>
        <p:spPr>
          <a:xfrm>
            <a:off x="1668465" y="130651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986902E5-5BC0-47A0-99C8-8913CA8A9128}"/>
              </a:ext>
            </a:extLst>
          </p:cNvPr>
          <p:cNvSpPr>
            <a:spLocks noGrp="1" noChangeArrowheads="1"/>
          </p:cNvSpPr>
          <p:nvPr>
            <p:ph type="title"/>
          </p:nvPr>
        </p:nvSpPr>
        <p:spPr>
          <a:xfrm>
            <a:off x="665921" y="3660"/>
            <a:ext cx="10515600" cy="1325563"/>
          </a:xfrm>
        </p:spPr>
        <p:txBody>
          <a:bodyPr/>
          <a:lstStyle/>
          <a:p>
            <a:r>
              <a:rPr lang="en-US" altLang="en-US" b="1" dirty="0">
                <a:solidFill>
                  <a:schemeClr val="accent1"/>
                </a:solidFill>
                <a:latin typeface="+mn-lt"/>
              </a:rPr>
              <a:t>Selectors</a:t>
            </a:r>
            <a:endParaRPr lang="bg-BG" altLang="en-US" b="1" dirty="0">
              <a:solidFill>
                <a:schemeClr val="accent1"/>
              </a:solidFill>
              <a:latin typeface="+mn-lt"/>
            </a:endParaRPr>
          </a:p>
        </p:txBody>
      </p:sp>
      <p:sp>
        <p:nvSpPr>
          <p:cNvPr id="141315" name="Rectangle 3">
            <a:extLst>
              <a:ext uri="{FF2B5EF4-FFF2-40B4-BE49-F238E27FC236}">
                <a16:creationId xmlns:a16="http://schemas.microsoft.com/office/drawing/2014/main" id="{924E0ED3-6C90-4AE6-BAAE-AECF57A02B59}"/>
              </a:ext>
            </a:extLst>
          </p:cNvPr>
          <p:cNvSpPr>
            <a:spLocks noGrp="1" noChangeArrowheads="1"/>
          </p:cNvSpPr>
          <p:nvPr>
            <p:ph idx="1"/>
          </p:nvPr>
        </p:nvSpPr>
        <p:spPr>
          <a:xfrm>
            <a:off x="463827" y="1113530"/>
            <a:ext cx="11171582" cy="5607945"/>
          </a:xfrm>
        </p:spPr>
        <p:txBody>
          <a:bodyPr/>
          <a:lstStyle/>
          <a:p>
            <a:pPr>
              <a:lnSpc>
                <a:spcPct val="150000"/>
              </a:lnSpc>
            </a:pPr>
            <a:r>
              <a:rPr lang="en-US" altLang="en-US" sz="2400" dirty="0">
                <a:latin typeface="Comic Sans MS" panose="030F0702030302020204" pitchFamily="66" charset="0"/>
              </a:rPr>
              <a:t>Selectors used to determine </a:t>
            </a:r>
            <a:r>
              <a:rPr lang="en-US" altLang="en-US" sz="2400" b="1" i="1" dirty="0">
                <a:latin typeface="Comic Sans MS" panose="030F0702030302020204" pitchFamily="66" charset="0"/>
              </a:rPr>
              <a:t>on which element the rule will be applied: </a:t>
            </a:r>
          </a:p>
          <a:p>
            <a:pPr lvl="1">
              <a:lnSpc>
                <a:spcPct val="100000"/>
              </a:lnSpc>
            </a:pPr>
            <a:r>
              <a:rPr lang="en-US" altLang="en-US" dirty="0">
                <a:latin typeface="Comic Sans MS" panose="030F0702030302020204" pitchFamily="66" charset="0"/>
              </a:rPr>
              <a:t>All elements of specific type (tag)</a:t>
            </a:r>
          </a:p>
          <a:p>
            <a:pPr lvl="1">
              <a:lnSpc>
                <a:spcPct val="100000"/>
              </a:lnSpc>
            </a:pPr>
            <a:r>
              <a:rPr lang="en-US" altLang="en-US" dirty="0">
                <a:latin typeface="Comic Sans MS" panose="030F0702030302020204" pitchFamily="66" charset="0"/>
              </a:rPr>
              <a:t>Those that match a specific attribute (id, class)</a:t>
            </a:r>
          </a:p>
          <a:p>
            <a:pPr lvl="1">
              <a:lnSpc>
                <a:spcPct val="100000"/>
              </a:lnSpc>
              <a:spcBef>
                <a:spcPts val="0"/>
              </a:spcBef>
            </a:pPr>
            <a:r>
              <a:rPr lang="en-US" altLang="en-US" dirty="0">
                <a:latin typeface="Comic Sans MS" panose="030F0702030302020204" pitchFamily="66" charset="0"/>
              </a:rPr>
              <a:t>Elements may be matched depending on </a:t>
            </a:r>
            <a:r>
              <a:rPr lang="en-US" altLang="en-US" dirty="0">
                <a:solidFill>
                  <a:schemeClr val="accent2"/>
                </a:solidFill>
                <a:latin typeface="Comic Sans MS" panose="030F0702030302020204" pitchFamily="66" charset="0"/>
              </a:rPr>
              <a:t>how they are nested </a:t>
            </a:r>
            <a:r>
              <a:rPr lang="en-US" altLang="en-US" dirty="0">
                <a:latin typeface="Comic Sans MS" panose="030F0702030302020204" pitchFamily="66" charset="0"/>
              </a:rPr>
              <a:t>in the document tree (HTML)</a:t>
            </a:r>
          </a:p>
          <a:p>
            <a:pPr>
              <a:lnSpc>
                <a:spcPct val="100000"/>
              </a:lnSpc>
              <a:spcBef>
                <a:spcPts val="0"/>
              </a:spcBef>
            </a:pPr>
            <a:r>
              <a:rPr lang="en-US" altLang="en-US" sz="2400" dirty="0">
                <a:latin typeface="Comic Sans MS" panose="030F0702030302020204" pitchFamily="66" charset="0"/>
              </a:rPr>
              <a:t>Examples</a:t>
            </a:r>
            <a:r>
              <a:rPr lang="en-US" altLang="en-US" dirty="0">
                <a:latin typeface="Comic Sans MS" panose="030F0702030302020204" pitchFamily="66" charset="0"/>
              </a:rPr>
              <a:t>:</a:t>
            </a:r>
          </a:p>
        </p:txBody>
      </p:sp>
      <p:sp>
        <p:nvSpPr>
          <p:cNvPr id="4" name="Slide Number Placeholder 3">
            <a:extLst>
              <a:ext uri="{FF2B5EF4-FFF2-40B4-BE49-F238E27FC236}">
                <a16:creationId xmlns:a16="http://schemas.microsoft.com/office/drawing/2014/main" id="{F827F7A0-2867-4C32-A846-96C512891658}"/>
              </a:ext>
            </a:extLst>
          </p:cNvPr>
          <p:cNvSpPr>
            <a:spLocks noGrp="1"/>
          </p:cNvSpPr>
          <p:nvPr>
            <p:ph type="sldNum" sz="quarter" idx="12"/>
          </p:nvPr>
        </p:nvSpPr>
        <p:spPr/>
        <p:txBody>
          <a:bodyPr/>
          <a:lstStyle/>
          <a:p>
            <a:pPr>
              <a:defRPr/>
            </a:pPr>
            <a:fld id="{7E935CB7-C1E2-4F34-9EB6-D5CB570DF1FA}" type="slidenum">
              <a:rPr lang="en-US" smtClean="0"/>
              <a:pPr>
                <a:defRPr/>
              </a:pPr>
              <a:t>7</a:t>
            </a:fld>
            <a:endParaRPr lang="en-US" dirty="0"/>
          </a:p>
        </p:txBody>
      </p:sp>
      <p:sp>
        <p:nvSpPr>
          <p:cNvPr id="5" name="Rectangle 4">
            <a:extLst>
              <a:ext uri="{FF2B5EF4-FFF2-40B4-BE49-F238E27FC236}">
                <a16:creationId xmlns:a16="http://schemas.microsoft.com/office/drawing/2014/main" id="{F153311C-9AFE-4272-92C7-209361EA2274}"/>
              </a:ext>
            </a:extLst>
          </p:cNvPr>
          <p:cNvSpPr>
            <a:spLocks noChangeArrowheads="1"/>
          </p:cNvSpPr>
          <p:nvPr/>
        </p:nvSpPr>
        <p:spPr bwMode="auto">
          <a:xfrm>
            <a:off x="463827" y="3739362"/>
            <a:ext cx="5458672" cy="1200329"/>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b="0" i="0" dirty="0">
                <a:solidFill>
                  <a:srgbClr val="A52A2A"/>
                </a:solidFill>
                <a:effectLst/>
                <a:latin typeface="Consolas" panose="020B0609020204030204" pitchFamily="49" charset="0"/>
              </a:rPr>
              <a:t>p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text-align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center</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red</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b="1" noProof="1">
              <a:solidFill>
                <a:srgbClr val="002060"/>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6" name="Rectangle 5">
            <a:extLst>
              <a:ext uri="{FF2B5EF4-FFF2-40B4-BE49-F238E27FC236}">
                <a16:creationId xmlns:a16="http://schemas.microsoft.com/office/drawing/2014/main" id="{CCDF1D35-6941-4566-9688-5EB939A92F10}"/>
              </a:ext>
            </a:extLst>
          </p:cNvPr>
          <p:cNvSpPr>
            <a:spLocks noChangeArrowheads="1"/>
          </p:cNvSpPr>
          <p:nvPr/>
        </p:nvSpPr>
        <p:spPr bwMode="auto">
          <a:xfrm>
            <a:off x="477587" y="5251184"/>
            <a:ext cx="5724525" cy="1200329"/>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s-ES" b="0" i="0" dirty="0">
                <a:solidFill>
                  <a:srgbClr val="A52A2A"/>
                </a:solidFill>
                <a:effectLst/>
                <a:latin typeface="Consolas" panose="020B0609020204030204" pitchFamily="49" charset="0"/>
              </a:rPr>
              <a:t>#para1 </a:t>
            </a:r>
            <a:r>
              <a:rPr lang="es-ES" b="0" i="0" dirty="0">
                <a:solidFill>
                  <a:srgbClr val="000000"/>
                </a:solidFill>
                <a:effectLst/>
                <a:latin typeface="Consolas" panose="020B0609020204030204" pitchFamily="49" charset="0"/>
              </a:rPr>
              <a:t>{</a:t>
            </a:r>
            <a:br>
              <a:rPr lang="es-ES" b="0" i="0" dirty="0">
                <a:solidFill>
                  <a:srgbClr val="FF0000"/>
                </a:solidFill>
                <a:effectLst/>
                <a:latin typeface="Consolas" panose="020B0609020204030204" pitchFamily="49" charset="0"/>
              </a:rPr>
            </a:br>
            <a:r>
              <a:rPr lang="es-ES" b="0" i="0" dirty="0">
                <a:solidFill>
                  <a:srgbClr val="FF0000"/>
                </a:solidFill>
                <a:effectLst/>
                <a:latin typeface="Consolas" panose="020B0609020204030204" pitchFamily="49" charset="0"/>
              </a:rPr>
              <a:t>  </a:t>
            </a:r>
            <a:r>
              <a:rPr lang="es-ES" b="0" i="0" dirty="0" err="1">
                <a:solidFill>
                  <a:srgbClr val="FF0000"/>
                </a:solidFill>
                <a:effectLst/>
                <a:latin typeface="Consolas" panose="020B0609020204030204" pitchFamily="49" charset="0"/>
              </a:rPr>
              <a:t>text-align</a:t>
            </a:r>
            <a:r>
              <a:rPr lang="es-ES" b="0" i="0" dirty="0">
                <a:solidFill>
                  <a:srgbClr val="000000"/>
                </a:solidFill>
                <a:effectLst/>
                <a:latin typeface="Consolas" panose="020B0609020204030204" pitchFamily="49" charset="0"/>
              </a:rPr>
              <a:t>:</a:t>
            </a:r>
            <a:r>
              <a:rPr lang="es-ES" b="0" i="0" dirty="0">
                <a:solidFill>
                  <a:srgbClr val="0000CD"/>
                </a:solidFill>
                <a:effectLst/>
                <a:latin typeface="Consolas" panose="020B0609020204030204" pitchFamily="49" charset="0"/>
              </a:rPr>
              <a:t> center</a:t>
            </a:r>
            <a:r>
              <a:rPr lang="es-ES" b="0" i="0" dirty="0">
                <a:solidFill>
                  <a:srgbClr val="000000"/>
                </a:solidFill>
                <a:effectLst/>
                <a:latin typeface="Consolas" panose="020B0609020204030204" pitchFamily="49" charset="0"/>
              </a:rPr>
              <a:t>;</a:t>
            </a:r>
            <a:br>
              <a:rPr lang="es-ES" b="0" i="0" dirty="0">
                <a:solidFill>
                  <a:srgbClr val="FF0000"/>
                </a:solidFill>
                <a:effectLst/>
                <a:latin typeface="Consolas" panose="020B0609020204030204" pitchFamily="49" charset="0"/>
              </a:rPr>
            </a:br>
            <a:r>
              <a:rPr lang="es-ES" b="0" i="0" dirty="0">
                <a:solidFill>
                  <a:srgbClr val="FF0000"/>
                </a:solidFill>
                <a:effectLst/>
                <a:latin typeface="Consolas" panose="020B0609020204030204" pitchFamily="49" charset="0"/>
              </a:rPr>
              <a:t>  color</a:t>
            </a:r>
            <a:r>
              <a:rPr lang="es-ES" b="0" i="0" dirty="0">
                <a:solidFill>
                  <a:srgbClr val="000000"/>
                </a:solidFill>
                <a:effectLst/>
                <a:latin typeface="Consolas" panose="020B0609020204030204" pitchFamily="49" charset="0"/>
              </a:rPr>
              <a:t>:</a:t>
            </a:r>
            <a:r>
              <a:rPr lang="es-ES" b="0" i="0" dirty="0">
                <a:solidFill>
                  <a:srgbClr val="0000CD"/>
                </a:solidFill>
                <a:effectLst/>
                <a:latin typeface="Consolas" panose="020B0609020204030204" pitchFamily="49" charset="0"/>
              </a:rPr>
              <a:t> red</a:t>
            </a:r>
            <a:r>
              <a:rPr lang="es-ES" b="0" i="0" dirty="0">
                <a:solidFill>
                  <a:srgbClr val="000000"/>
                </a:solidFill>
                <a:effectLst/>
                <a:latin typeface="Consolas" panose="020B0609020204030204" pitchFamily="49" charset="0"/>
              </a:rPr>
              <a:t>;</a:t>
            </a:r>
            <a:br>
              <a:rPr lang="es-ES" b="0" i="0" dirty="0">
                <a:solidFill>
                  <a:srgbClr val="FF0000"/>
                </a:solidFill>
                <a:effectLst/>
                <a:latin typeface="Consolas" panose="020B0609020204030204" pitchFamily="49" charset="0"/>
              </a:rPr>
            </a:br>
            <a:r>
              <a:rPr lang="es-ES" b="0" i="0" dirty="0">
                <a:solidFill>
                  <a:srgbClr val="000000"/>
                </a:solidFill>
                <a:effectLst/>
                <a:latin typeface="Consolas" panose="020B0609020204030204" pitchFamily="49" charset="0"/>
              </a:rPr>
              <a:t>}</a:t>
            </a:r>
            <a:endParaRPr lang="en-US" b="1" noProof="1">
              <a:solidFill>
                <a:srgbClr val="002060"/>
              </a:solidFill>
              <a:effectLst>
                <a:outerShdw blurRad="38100" dist="38100" dir="2700000" algn="tl">
                  <a:srgbClr val="000000">
                    <a:alpha val="43137"/>
                  </a:srgbClr>
                </a:outerShdw>
              </a:effectLst>
              <a:latin typeface="Consolas" pitchFamily="49" charset="0"/>
              <a:cs typeface="Consolas" pitchFamily="49" charset="0"/>
            </a:endParaRPr>
          </a:p>
        </p:txBody>
      </p:sp>
      <p:cxnSp>
        <p:nvCxnSpPr>
          <p:cNvPr id="7" name="Straight Connector 6">
            <a:extLst>
              <a:ext uri="{FF2B5EF4-FFF2-40B4-BE49-F238E27FC236}">
                <a16:creationId xmlns:a16="http://schemas.microsoft.com/office/drawing/2014/main" id="{52524A58-79A7-4B5A-89A7-EBF963AD6730}"/>
              </a:ext>
            </a:extLst>
          </p:cNvPr>
          <p:cNvCxnSpPr>
            <a:cxnSpLocks/>
          </p:cNvCxnSpPr>
          <p:nvPr/>
        </p:nvCxnSpPr>
        <p:spPr>
          <a:xfrm>
            <a:off x="745436" y="1113530"/>
            <a:ext cx="10515600"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EE59FAD3-0445-34FE-EDBC-121013F88A2E}"/>
              </a:ext>
            </a:extLst>
          </p:cNvPr>
          <p:cNvPicPr>
            <a:picLocks noChangeAspect="1"/>
          </p:cNvPicPr>
          <p:nvPr/>
        </p:nvPicPr>
        <p:blipFill>
          <a:blip r:embed="rId3"/>
          <a:stretch>
            <a:fillRect/>
          </a:stretch>
        </p:blipFill>
        <p:spPr>
          <a:xfrm>
            <a:off x="6907621" y="4024769"/>
            <a:ext cx="4457700" cy="2381250"/>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DB10AA0F-D884-4692-A338-B5DDCBC4CCC9}"/>
              </a:ext>
            </a:extLst>
          </p:cNvPr>
          <p:cNvSpPr>
            <a:spLocks noGrp="1" noChangeArrowheads="1"/>
          </p:cNvSpPr>
          <p:nvPr>
            <p:ph type="title"/>
          </p:nvPr>
        </p:nvSpPr>
        <p:spPr>
          <a:xfrm>
            <a:off x="838200" y="365128"/>
            <a:ext cx="10515600" cy="954769"/>
          </a:xfrm>
        </p:spPr>
        <p:txBody>
          <a:bodyPr>
            <a:normAutofit fontScale="90000"/>
          </a:bodyPr>
          <a:lstStyle/>
          <a:p>
            <a:br>
              <a:rPr lang="en-US" altLang="en-US" b="1" dirty="0">
                <a:solidFill>
                  <a:schemeClr val="accent1"/>
                </a:solidFill>
                <a:latin typeface="+mn-lt"/>
              </a:rPr>
            </a:br>
            <a:r>
              <a:rPr lang="en-US" altLang="en-US" b="1" dirty="0">
                <a:solidFill>
                  <a:schemeClr val="accent1"/>
                </a:solidFill>
                <a:latin typeface="+mn-lt"/>
              </a:rPr>
              <a:t>Selectors (2)</a:t>
            </a:r>
            <a:endParaRPr lang="bg-BG" altLang="en-US" b="1" dirty="0">
              <a:solidFill>
                <a:schemeClr val="accent1"/>
              </a:solidFill>
              <a:latin typeface="+mn-lt"/>
            </a:endParaRPr>
          </a:p>
        </p:txBody>
      </p:sp>
      <p:sp>
        <p:nvSpPr>
          <p:cNvPr id="143363" name="Rectangle 3">
            <a:extLst>
              <a:ext uri="{FF2B5EF4-FFF2-40B4-BE49-F238E27FC236}">
                <a16:creationId xmlns:a16="http://schemas.microsoft.com/office/drawing/2014/main" id="{6EDF0C18-010E-49BB-9DDF-6783433FC0B9}"/>
              </a:ext>
            </a:extLst>
          </p:cNvPr>
          <p:cNvSpPr>
            <a:spLocks noGrp="1" noChangeArrowheads="1"/>
          </p:cNvSpPr>
          <p:nvPr>
            <p:ph idx="1"/>
          </p:nvPr>
        </p:nvSpPr>
        <p:spPr>
          <a:xfrm>
            <a:off x="357809" y="1325563"/>
            <a:ext cx="11613527" cy="5395914"/>
          </a:xfrm>
        </p:spPr>
        <p:txBody>
          <a:bodyPr>
            <a:normAutofit/>
          </a:bodyPr>
          <a:lstStyle/>
          <a:p>
            <a:pPr>
              <a:lnSpc>
                <a:spcPts val="3700"/>
              </a:lnSpc>
              <a:spcBef>
                <a:spcPts val="300"/>
              </a:spcBef>
            </a:pPr>
            <a:r>
              <a:rPr lang="en-US" altLang="en-US" sz="2400" dirty="0">
                <a:latin typeface="Comic Sans MS" panose="030F0702030302020204" pitchFamily="66" charset="0"/>
              </a:rPr>
              <a:t>Three primary kinds of selectors:</a:t>
            </a:r>
          </a:p>
          <a:p>
            <a:pPr marL="914389" lvl="1" indent="-457200">
              <a:lnSpc>
                <a:spcPts val="3700"/>
              </a:lnSpc>
              <a:spcBef>
                <a:spcPct val="0"/>
              </a:spcBef>
              <a:buFont typeface="+mj-lt"/>
              <a:buAutoNum type="arabicPeriod"/>
            </a:pPr>
            <a:r>
              <a:rPr lang="en-US" altLang="en-US" dirty="0">
                <a:latin typeface="Comic Sans MS" panose="030F0702030302020204" pitchFamily="66" charset="0"/>
              </a:rPr>
              <a:t>By tag (type selector):</a:t>
            </a:r>
            <a:br>
              <a:rPr lang="en-US" altLang="en-US" dirty="0">
                <a:latin typeface="Comic Sans MS" panose="030F0702030302020204" pitchFamily="66" charset="0"/>
              </a:rPr>
            </a:br>
            <a:endParaRPr lang="en-US" altLang="en-US" dirty="0">
              <a:latin typeface="Comic Sans MS" panose="030F0702030302020204" pitchFamily="66" charset="0"/>
            </a:endParaRPr>
          </a:p>
          <a:p>
            <a:pPr marL="914389" lvl="1" indent="-457200">
              <a:lnSpc>
                <a:spcPts val="3700"/>
              </a:lnSpc>
              <a:spcBef>
                <a:spcPts val="300"/>
              </a:spcBef>
              <a:buFont typeface="+mj-lt"/>
              <a:buAutoNum type="arabicPeriod"/>
            </a:pPr>
            <a:r>
              <a:rPr lang="en-US" altLang="en-US" dirty="0">
                <a:latin typeface="Comic Sans MS" panose="030F0702030302020204" pitchFamily="66" charset="0"/>
              </a:rPr>
              <a:t>By element id:</a:t>
            </a:r>
            <a:br>
              <a:rPr lang="en-US" altLang="en-US" dirty="0">
                <a:latin typeface="Comic Sans MS" panose="030F0702030302020204" pitchFamily="66" charset="0"/>
              </a:rPr>
            </a:br>
            <a:endParaRPr lang="en-US" altLang="en-US" noProof="1">
              <a:latin typeface="Comic Sans MS" panose="030F0702030302020204" pitchFamily="66" charset="0"/>
            </a:endParaRPr>
          </a:p>
          <a:p>
            <a:pPr marL="914389" lvl="1" indent="-457200">
              <a:lnSpc>
                <a:spcPts val="3700"/>
              </a:lnSpc>
              <a:spcBef>
                <a:spcPts val="300"/>
              </a:spcBef>
              <a:buFont typeface="+mj-lt"/>
              <a:buAutoNum type="arabicPeriod"/>
            </a:pPr>
            <a:r>
              <a:rPr lang="en-US" altLang="en-US" dirty="0">
                <a:latin typeface="Comic Sans MS" panose="030F0702030302020204" pitchFamily="66" charset="0"/>
              </a:rPr>
              <a:t>By element class name (only for HTML): </a:t>
            </a:r>
            <a:br>
              <a:rPr lang="en-US" altLang="en-US" dirty="0">
                <a:latin typeface="Comic Sans MS" panose="030F0702030302020204" pitchFamily="66" charset="0"/>
              </a:rPr>
            </a:br>
            <a:endParaRPr lang="en-US" altLang="en-US" dirty="0">
              <a:latin typeface="Comic Sans MS" panose="030F0702030302020204" pitchFamily="66" charset="0"/>
            </a:endParaRPr>
          </a:p>
          <a:p>
            <a:pPr>
              <a:lnSpc>
                <a:spcPts val="3700"/>
              </a:lnSpc>
              <a:spcBef>
                <a:spcPts val="300"/>
              </a:spcBef>
            </a:pPr>
            <a:r>
              <a:rPr lang="en-US" altLang="en-US" sz="2400" dirty="0">
                <a:latin typeface="Comic Sans MS" panose="030F0702030302020204" pitchFamily="66" charset="0"/>
              </a:rPr>
              <a:t>Selectors can be combined with commas:</a:t>
            </a:r>
          </a:p>
          <a:p>
            <a:pPr marL="0" indent="0">
              <a:lnSpc>
                <a:spcPts val="3700"/>
              </a:lnSpc>
              <a:spcBef>
                <a:spcPts val="300"/>
              </a:spcBef>
              <a:buNone/>
            </a:pPr>
            <a:r>
              <a:rPr lang="en-US" altLang="en-US" sz="2400" dirty="0">
                <a:latin typeface="Comic Sans MS" panose="030F0702030302020204" pitchFamily="66" charset="0"/>
              </a:rPr>
              <a:t>	</a:t>
            </a:r>
          </a:p>
          <a:p>
            <a:pPr lvl="1">
              <a:lnSpc>
                <a:spcPts val="3700"/>
              </a:lnSpc>
              <a:spcBef>
                <a:spcPts val="300"/>
              </a:spcBef>
            </a:pPr>
            <a:r>
              <a:rPr lang="en-US" altLang="en-US" sz="2000" dirty="0">
                <a:latin typeface="Comic Sans MS" panose="030F0702030302020204" pitchFamily="66" charset="0"/>
              </a:rPr>
              <a:t>This will match </a:t>
            </a:r>
            <a:r>
              <a:rPr lang="en-US" altLang="en-US" sz="2000" dirty="0">
                <a:latin typeface="Comic Sans MS" panose="030F0702030302020204" pitchFamily="66" charset="0"/>
                <a:ea typeface="Consolas" panose="020B0609020204030204" pitchFamily="49" charset="0"/>
                <a:cs typeface="Consolas" panose="020B0609020204030204" pitchFamily="49" charset="0"/>
              </a:rPr>
              <a:t>&lt;h1&gt;</a:t>
            </a:r>
            <a:r>
              <a:rPr lang="en-US" altLang="en-US" sz="2000" dirty="0">
                <a:latin typeface="Comic Sans MS" panose="030F0702030302020204" pitchFamily="66" charset="0"/>
              </a:rPr>
              <a:t> tags, elements with class </a:t>
            </a:r>
            <a:r>
              <a:rPr lang="en-US" altLang="en-US" sz="2000" dirty="0">
                <a:latin typeface="Comic Sans MS" panose="030F0702030302020204" pitchFamily="66" charset="0"/>
                <a:ea typeface="Consolas" panose="020B0609020204030204" pitchFamily="49" charset="0"/>
                <a:cs typeface="Consolas" panose="020B0609020204030204" pitchFamily="49" charset="0"/>
              </a:rPr>
              <a:t>link</a:t>
            </a:r>
            <a:r>
              <a:rPr lang="en-US" altLang="en-US" sz="2000" dirty="0">
                <a:latin typeface="Comic Sans MS" panose="030F0702030302020204" pitchFamily="66" charset="0"/>
              </a:rPr>
              <a:t>, and element with id </a:t>
            </a:r>
            <a:r>
              <a:rPr lang="en-US" altLang="en-US" sz="2000" dirty="0">
                <a:latin typeface="Comic Sans MS" panose="030F0702030302020204" pitchFamily="66" charset="0"/>
                <a:ea typeface="Consolas" panose="020B0609020204030204" pitchFamily="49" charset="0"/>
                <a:cs typeface="Consolas" panose="020B0609020204030204" pitchFamily="49" charset="0"/>
              </a:rPr>
              <a:t>top-link</a:t>
            </a:r>
            <a:endParaRPr lang="bg-BG" altLang="en-US" sz="2000" dirty="0">
              <a:latin typeface="Comic Sans MS" panose="030F0702030302020204" pitchFamily="66" charset="0"/>
              <a:ea typeface="Consolas" panose="020B0609020204030204" pitchFamily="49" charset="0"/>
              <a:cs typeface="Consolas" panose="020B0609020204030204" pitchFamily="49" charset="0"/>
            </a:endParaRPr>
          </a:p>
        </p:txBody>
      </p:sp>
      <p:sp>
        <p:nvSpPr>
          <p:cNvPr id="8" name="Slide Number Placeholder 3">
            <a:extLst>
              <a:ext uri="{FF2B5EF4-FFF2-40B4-BE49-F238E27FC236}">
                <a16:creationId xmlns:a16="http://schemas.microsoft.com/office/drawing/2014/main" id="{823A26E5-EC19-4FA6-87AC-BC7CFD9C6E7F}"/>
              </a:ext>
            </a:extLst>
          </p:cNvPr>
          <p:cNvSpPr>
            <a:spLocks noGrp="1"/>
          </p:cNvSpPr>
          <p:nvPr>
            <p:ph type="sldNum" sz="quarter" idx="12"/>
          </p:nvPr>
        </p:nvSpPr>
        <p:spPr/>
        <p:txBody>
          <a:bodyPr/>
          <a:lstStyle/>
          <a:p>
            <a:pPr>
              <a:defRPr/>
            </a:pPr>
            <a:fld id="{DF38D863-82FD-47E6-ABC9-3D0535D951BB}" type="slidenum">
              <a:rPr lang="en-US" smtClean="0"/>
              <a:pPr>
                <a:defRPr/>
              </a:pPr>
              <a:t>8</a:t>
            </a:fld>
            <a:endParaRPr lang="en-US" dirty="0"/>
          </a:p>
        </p:txBody>
      </p:sp>
      <p:sp>
        <p:nvSpPr>
          <p:cNvPr id="13316" name="Rectangle 4">
            <a:extLst>
              <a:ext uri="{FF2B5EF4-FFF2-40B4-BE49-F238E27FC236}">
                <a16:creationId xmlns:a16="http://schemas.microsoft.com/office/drawing/2014/main" id="{F210FC0E-CECA-46C9-BD22-0E3A1C4C3EC5}"/>
              </a:ext>
            </a:extLst>
          </p:cNvPr>
          <p:cNvSpPr>
            <a:spLocks noChangeArrowheads="1"/>
          </p:cNvSpPr>
          <p:nvPr/>
        </p:nvSpPr>
        <p:spPr bwMode="auto">
          <a:xfrm>
            <a:off x="3254376" y="2389192"/>
            <a:ext cx="6335712" cy="430887"/>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2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h1 { font-family: verdana,sans-serif; }</a:t>
            </a:r>
          </a:p>
        </p:txBody>
      </p:sp>
      <p:sp>
        <p:nvSpPr>
          <p:cNvPr id="1002501" name="Rectangle 5">
            <a:extLst>
              <a:ext uri="{FF2B5EF4-FFF2-40B4-BE49-F238E27FC236}">
                <a16:creationId xmlns:a16="http://schemas.microsoft.com/office/drawing/2014/main" id="{D3C5D7F6-39FC-4568-B203-30EDA071953C}"/>
              </a:ext>
            </a:extLst>
          </p:cNvPr>
          <p:cNvSpPr>
            <a:spLocks noChangeArrowheads="1"/>
          </p:cNvSpPr>
          <p:nvPr/>
        </p:nvSpPr>
        <p:spPr bwMode="auto">
          <a:xfrm>
            <a:off x="3341688" y="3214692"/>
            <a:ext cx="5562600" cy="430887"/>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buClr>
                <a:schemeClr val="accent5">
                  <a:lumMod val="40000"/>
                  <a:lumOff val="60000"/>
                </a:schemeClr>
              </a:buClr>
              <a:buSzPct val="70000"/>
              <a:defRPr/>
            </a:pPr>
            <a:r>
              <a:rPr lang="en-US" sz="22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#element_id { color: #ff0000; }</a:t>
            </a:r>
          </a:p>
        </p:txBody>
      </p:sp>
      <p:sp>
        <p:nvSpPr>
          <p:cNvPr id="1002502" name="Rectangle 6">
            <a:extLst>
              <a:ext uri="{FF2B5EF4-FFF2-40B4-BE49-F238E27FC236}">
                <a16:creationId xmlns:a16="http://schemas.microsoft.com/office/drawing/2014/main" id="{F02B9060-C881-4B5B-86D5-01CAB3940BB6}"/>
              </a:ext>
            </a:extLst>
          </p:cNvPr>
          <p:cNvSpPr>
            <a:spLocks noChangeArrowheads="1"/>
          </p:cNvSpPr>
          <p:nvPr/>
        </p:nvSpPr>
        <p:spPr bwMode="auto">
          <a:xfrm>
            <a:off x="3341688" y="4228203"/>
            <a:ext cx="6248400" cy="43088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sz="22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.myClass {border: 1px solid red}</a:t>
            </a:r>
          </a:p>
        </p:txBody>
      </p:sp>
      <p:sp>
        <p:nvSpPr>
          <p:cNvPr id="1002503" name="Rectangle 7">
            <a:extLst>
              <a:ext uri="{FF2B5EF4-FFF2-40B4-BE49-F238E27FC236}">
                <a16:creationId xmlns:a16="http://schemas.microsoft.com/office/drawing/2014/main" id="{534A17E9-67A8-43AB-9718-0BCE6F7EE0DE}"/>
              </a:ext>
            </a:extLst>
          </p:cNvPr>
          <p:cNvSpPr>
            <a:spLocks noChangeArrowheads="1"/>
          </p:cNvSpPr>
          <p:nvPr/>
        </p:nvSpPr>
        <p:spPr bwMode="auto">
          <a:xfrm>
            <a:off x="3341688" y="5221295"/>
            <a:ext cx="6629621" cy="430887"/>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sz="22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h1, .link, #top-link {font-weight: bold}</a:t>
            </a:r>
          </a:p>
        </p:txBody>
      </p:sp>
      <p:cxnSp>
        <p:nvCxnSpPr>
          <p:cNvPr id="9" name="Straight Connector 8">
            <a:extLst>
              <a:ext uri="{FF2B5EF4-FFF2-40B4-BE49-F238E27FC236}">
                <a16:creationId xmlns:a16="http://schemas.microsoft.com/office/drawing/2014/main" id="{62080165-1CBD-43A5-983A-7C0066B70A61}"/>
              </a:ext>
            </a:extLst>
          </p:cNvPr>
          <p:cNvCxnSpPr>
            <a:cxnSpLocks/>
          </p:cNvCxnSpPr>
          <p:nvPr/>
        </p:nvCxnSpPr>
        <p:spPr>
          <a:xfrm>
            <a:off x="83358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C39552EE-3733-44D0-BF3D-9BD95BF1D4D0}"/>
              </a:ext>
            </a:extLst>
          </p:cNvPr>
          <p:cNvSpPr>
            <a:spLocks noGrp="1" noChangeArrowheads="1"/>
          </p:cNvSpPr>
          <p:nvPr>
            <p:ph type="title"/>
          </p:nvPr>
        </p:nvSpPr>
        <p:spPr/>
        <p:txBody>
          <a:bodyPr/>
          <a:lstStyle/>
          <a:p>
            <a:pPr algn="ctr"/>
            <a:r>
              <a:rPr lang="en-US" altLang="en-US" b="1" dirty="0">
                <a:solidFill>
                  <a:schemeClr val="accent1"/>
                </a:solidFill>
                <a:latin typeface="+mn-lt"/>
              </a:rPr>
              <a:t>Values in the CSS Rules</a:t>
            </a:r>
            <a:endParaRPr lang="bg-BG" altLang="en-US" b="1" dirty="0">
              <a:solidFill>
                <a:schemeClr val="accent1"/>
              </a:solidFill>
              <a:latin typeface="+mn-lt"/>
            </a:endParaRPr>
          </a:p>
        </p:txBody>
      </p:sp>
      <p:sp>
        <p:nvSpPr>
          <p:cNvPr id="145411" name="Rectangle 3">
            <a:extLst>
              <a:ext uri="{FF2B5EF4-FFF2-40B4-BE49-F238E27FC236}">
                <a16:creationId xmlns:a16="http://schemas.microsoft.com/office/drawing/2014/main" id="{5A42D861-7D47-41E5-B130-B67662EBD242}"/>
              </a:ext>
            </a:extLst>
          </p:cNvPr>
          <p:cNvSpPr>
            <a:spLocks noGrp="1" noChangeArrowheads="1"/>
          </p:cNvSpPr>
          <p:nvPr>
            <p:ph idx="1"/>
          </p:nvPr>
        </p:nvSpPr>
        <p:spPr>
          <a:xfrm>
            <a:off x="556591" y="1446216"/>
            <a:ext cx="11025809" cy="5046657"/>
          </a:xfrm>
        </p:spPr>
        <p:txBody>
          <a:bodyPr>
            <a:normAutofit fontScale="85000" lnSpcReduction="20000"/>
          </a:bodyPr>
          <a:lstStyle/>
          <a:p>
            <a:pPr>
              <a:lnSpc>
                <a:spcPct val="150000"/>
              </a:lnSpc>
            </a:pPr>
            <a:r>
              <a:rPr lang="en-US" altLang="en-US" dirty="0">
                <a:latin typeface="Comic Sans MS" panose="030F0702030302020204" pitchFamily="66" charset="0"/>
              </a:rPr>
              <a:t>Colors are set in RGB format (decimal or hex): </a:t>
            </a:r>
          </a:p>
          <a:p>
            <a:pPr lvl="1">
              <a:lnSpc>
                <a:spcPct val="150000"/>
              </a:lnSpc>
            </a:pPr>
            <a:r>
              <a:rPr lang="en-US" altLang="en-US" sz="2800" dirty="0">
                <a:latin typeface="Comic Sans MS" panose="030F0702030302020204" pitchFamily="66" charset="0"/>
              </a:rPr>
              <a:t>Example: #a0a6aa = </a:t>
            </a:r>
            <a:r>
              <a:rPr lang="en-US" altLang="en-US" sz="2800" dirty="0" err="1">
                <a:latin typeface="Comic Sans MS" panose="030F0702030302020204" pitchFamily="66" charset="0"/>
              </a:rPr>
              <a:t>rgb</a:t>
            </a:r>
            <a:r>
              <a:rPr lang="en-US" altLang="en-US" sz="2800" dirty="0">
                <a:latin typeface="Comic Sans MS" panose="030F0702030302020204" pitchFamily="66" charset="0"/>
              </a:rPr>
              <a:t>(160, 166, 170)</a:t>
            </a:r>
          </a:p>
          <a:p>
            <a:pPr lvl="1">
              <a:lnSpc>
                <a:spcPct val="150000"/>
              </a:lnSpc>
            </a:pPr>
            <a:r>
              <a:rPr lang="en-US" altLang="en-US" sz="2800" dirty="0">
                <a:latin typeface="Comic Sans MS" panose="030F0702030302020204" pitchFamily="66" charset="0"/>
              </a:rPr>
              <a:t>Predefined color : black, blue, etc.</a:t>
            </a:r>
          </a:p>
          <a:p>
            <a:pPr>
              <a:lnSpc>
                <a:spcPct val="150000"/>
              </a:lnSpc>
            </a:pPr>
            <a:r>
              <a:rPr lang="en-US" altLang="en-US" dirty="0">
                <a:latin typeface="Comic Sans MS" panose="030F0702030302020204" pitchFamily="66" charset="0"/>
              </a:rPr>
              <a:t>Numeric values are specified in:</a:t>
            </a:r>
          </a:p>
          <a:p>
            <a:pPr lvl="1">
              <a:lnSpc>
                <a:spcPct val="150000"/>
              </a:lnSpc>
            </a:pPr>
            <a:r>
              <a:rPr lang="en-US" altLang="en-US" sz="2800" dirty="0">
                <a:latin typeface="Comic Sans MS" panose="030F0702030302020204" pitchFamily="66" charset="0"/>
              </a:rPr>
              <a:t>Pixels, e.g. 12px,  </a:t>
            </a:r>
          </a:p>
          <a:p>
            <a:pPr lvl="1">
              <a:lnSpc>
                <a:spcPct val="150000"/>
              </a:lnSpc>
            </a:pPr>
            <a:r>
              <a:rPr lang="en-US" altLang="en-US" sz="2800" dirty="0">
                <a:latin typeface="Comic Sans MS" panose="030F0702030302020204" pitchFamily="66" charset="0"/>
              </a:rPr>
              <a:t>Points, inches, centimeters, millimeters</a:t>
            </a:r>
          </a:p>
          <a:p>
            <a:pPr lvl="2">
              <a:lnSpc>
                <a:spcPct val="150000"/>
              </a:lnSpc>
            </a:pPr>
            <a:r>
              <a:rPr lang="en-US" altLang="en-US" sz="2800" dirty="0">
                <a:latin typeface="Comic Sans MS" panose="030F0702030302020204" pitchFamily="66" charset="0"/>
              </a:rPr>
              <a:t>E.g. 10pt, 1in, 1cm, 1mm</a:t>
            </a:r>
          </a:p>
          <a:p>
            <a:pPr lvl="1">
              <a:lnSpc>
                <a:spcPct val="150000"/>
              </a:lnSpc>
            </a:pPr>
            <a:r>
              <a:rPr lang="en-US" altLang="en-US" sz="2800" dirty="0">
                <a:latin typeface="Comic Sans MS" panose="030F0702030302020204" pitchFamily="66" charset="0"/>
              </a:rPr>
              <a:t>Percentages, e.g. 50%</a:t>
            </a:r>
          </a:p>
          <a:p>
            <a:pPr lvl="1">
              <a:lnSpc>
                <a:spcPct val="150000"/>
              </a:lnSpc>
            </a:pPr>
            <a:r>
              <a:rPr lang="en-US" altLang="en-US" sz="2800" dirty="0">
                <a:latin typeface="Comic Sans MS" panose="030F0702030302020204" pitchFamily="66" charset="0"/>
              </a:rPr>
              <a:t>Zero can be used with no unit: border: 0;</a:t>
            </a:r>
          </a:p>
        </p:txBody>
      </p:sp>
      <p:sp>
        <p:nvSpPr>
          <p:cNvPr id="4" name="Slide Number Placeholder 3">
            <a:extLst>
              <a:ext uri="{FF2B5EF4-FFF2-40B4-BE49-F238E27FC236}">
                <a16:creationId xmlns:a16="http://schemas.microsoft.com/office/drawing/2014/main" id="{B51596A9-7F08-4802-873D-AEDB9C6385D2}"/>
              </a:ext>
            </a:extLst>
          </p:cNvPr>
          <p:cNvSpPr>
            <a:spLocks noGrp="1"/>
          </p:cNvSpPr>
          <p:nvPr>
            <p:ph type="sldNum" sz="quarter" idx="12"/>
          </p:nvPr>
        </p:nvSpPr>
        <p:spPr/>
        <p:txBody>
          <a:bodyPr/>
          <a:lstStyle/>
          <a:p>
            <a:pPr>
              <a:defRPr/>
            </a:pPr>
            <a:fld id="{386FFFB1-FD76-41D8-8206-BE12DB426579}" type="slidenum">
              <a:rPr lang="en-US" smtClean="0"/>
              <a:pPr>
                <a:defRPr/>
              </a:pPr>
              <a:t>9</a:t>
            </a:fld>
            <a:endParaRPr lang="en-US" dirty="0"/>
          </a:p>
        </p:txBody>
      </p:sp>
      <p:cxnSp>
        <p:nvCxnSpPr>
          <p:cNvPr id="5" name="Straight Connector 4">
            <a:extLst>
              <a:ext uri="{FF2B5EF4-FFF2-40B4-BE49-F238E27FC236}">
                <a16:creationId xmlns:a16="http://schemas.microsoft.com/office/drawing/2014/main" id="{9F885E73-446B-494E-B55E-31F2D3204244}"/>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F6E4F418-7F3E-4C3C-B875-6AEA44978D90}"/>
              </a:ext>
            </a:extLst>
          </p:cNvPr>
          <p:cNvSpPr>
            <a:spLocks noGrp="1" noChangeArrowheads="1"/>
          </p:cNvSpPr>
          <p:nvPr>
            <p:ph type="title"/>
          </p:nvPr>
        </p:nvSpPr>
        <p:spPr>
          <a:xfrm>
            <a:off x="2685143" y="487363"/>
            <a:ext cx="6500135" cy="914400"/>
          </a:xfrm>
        </p:spPr>
        <p:txBody>
          <a:bodyPr>
            <a:normAutofit/>
          </a:bodyPr>
          <a:lstStyle/>
          <a:p>
            <a:r>
              <a:rPr lang="en-US" altLang="en-US" b="1" dirty="0">
                <a:solidFill>
                  <a:schemeClr val="accent1"/>
                </a:solidFill>
                <a:latin typeface="Comic Sans MS" panose="030F0702030302020204" pitchFamily="66" charset="0"/>
              </a:rPr>
              <a:t>Linking HTML and CSS</a:t>
            </a:r>
            <a:endParaRPr lang="bg-BG" altLang="en-US" b="1" dirty="0">
              <a:solidFill>
                <a:schemeClr val="accent1"/>
              </a:solidFill>
              <a:latin typeface="Comic Sans MS" panose="030F0702030302020204" pitchFamily="66" charset="0"/>
            </a:endParaRPr>
          </a:p>
        </p:txBody>
      </p:sp>
      <p:sp>
        <p:nvSpPr>
          <p:cNvPr id="1046531" name="Rectangle 3">
            <a:extLst>
              <a:ext uri="{FF2B5EF4-FFF2-40B4-BE49-F238E27FC236}">
                <a16:creationId xmlns:a16="http://schemas.microsoft.com/office/drawing/2014/main" id="{00CE54EE-86DC-481A-90A3-CDD72FB73FB5}"/>
              </a:ext>
            </a:extLst>
          </p:cNvPr>
          <p:cNvSpPr>
            <a:spLocks noGrp="1" noChangeArrowheads="1"/>
          </p:cNvSpPr>
          <p:nvPr>
            <p:ph idx="1"/>
          </p:nvPr>
        </p:nvSpPr>
        <p:spPr>
          <a:xfrm>
            <a:off x="482287" y="1257301"/>
            <a:ext cx="11353800" cy="5319712"/>
          </a:xfrm>
        </p:spPr>
        <p:txBody>
          <a:bodyPr>
            <a:normAutofit fontScale="92500"/>
          </a:bodyPr>
          <a:lstStyle/>
          <a:p>
            <a:pPr>
              <a:lnSpc>
                <a:spcPct val="150000"/>
              </a:lnSpc>
              <a:defRPr/>
            </a:pPr>
            <a:r>
              <a:rPr lang="en-US" dirty="0">
                <a:latin typeface="Comic Sans MS" panose="030F0702030302020204" pitchFamily="66" charset="0"/>
              </a:rPr>
              <a:t>HTML (content) and CSS (presentation) can be linked in three ways:</a:t>
            </a:r>
          </a:p>
          <a:p>
            <a:pPr lvl="1">
              <a:lnSpc>
                <a:spcPct val="150000"/>
              </a:lnSpc>
              <a:defRPr/>
            </a:pPr>
            <a:r>
              <a:rPr lang="en-US" sz="2800" b="1" dirty="0">
                <a:solidFill>
                  <a:schemeClr val="accent1"/>
                </a:solidFill>
                <a:latin typeface="Comic Sans MS" panose="030F0702030302020204" pitchFamily="66" charset="0"/>
              </a:rPr>
              <a:t>Inline: </a:t>
            </a:r>
            <a:r>
              <a:rPr lang="en-US" sz="2800" dirty="0">
                <a:latin typeface="Comic Sans MS" panose="030F0702030302020204" pitchFamily="66" charset="0"/>
              </a:rPr>
              <a:t>the CSS rules in the style attribute</a:t>
            </a:r>
          </a:p>
          <a:p>
            <a:pPr lvl="2">
              <a:lnSpc>
                <a:spcPct val="150000"/>
              </a:lnSpc>
              <a:defRPr/>
            </a:pPr>
            <a:r>
              <a:rPr lang="en-US" sz="2800" dirty="0">
                <a:latin typeface="Comic Sans MS" panose="030F0702030302020204" pitchFamily="66" charset="0"/>
              </a:rPr>
              <a:t>No selectors are needed</a:t>
            </a:r>
          </a:p>
          <a:p>
            <a:pPr lvl="1">
              <a:lnSpc>
                <a:spcPct val="150000"/>
              </a:lnSpc>
              <a:defRPr/>
            </a:pPr>
            <a:r>
              <a:rPr lang="en-US" sz="2800" b="1" dirty="0">
                <a:solidFill>
                  <a:schemeClr val="accent1"/>
                </a:solidFill>
                <a:latin typeface="Comic Sans MS" panose="030F0702030302020204" pitchFamily="66" charset="0"/>
              </a:rPr>
              <a:t>Embedded: </a:t>
            </a:r>
            <a:r>
              <a:rPr lang="en-US" sz="2800" dirty="0">
                <a:latin typeface="Comic Sans MS" panose="030F0702030302020204" pitchFamily="66" charset="0"/>
              </a:rPr>
              <a:t>in the &lt;head&gt; in a &lt;</a:t>
            </a:r>
            <a:r>
              <a:rPr lang="en-US" sz="2800" dirty="0">
                <a:solidFill>
                  <a:srgbClr val="FF0000"/>
                </a:solidFill>
                <a:latin typeface="Comic Sans MS" panose="030F0702030302020204" pitchFamily="66" charset="0"/>
              </a:rPr>
              <a:t>style</a:t>
            </a:r>
            <a:r>
              <a:rPr lang="en-US" sz="2800" dirty="0">
                <a:latin typeface="Comic Sans MS" panose="030F0702030302020204" pitchFamily="66" charset="0"/>
              </a:rPr>
              <a:t>&gt; tag</a:t>
            </a:r>
          </a:p>
          <a:p>
            <a:pPr lvl="1">
              <a:lnSpc>
                <a:spcPct val="150000"/>
              </a:lnSpc>
              <a:defRPr/>
            </a:pPr>
            <a:r>
              <a:rPr lang="en-US" sz="2800" b="1" dirty="0">
                <a:solidFill>
                  <a:schemeClr val="accent1"/>
                </a:solidFill>
                <a:latin typeface="Comic Sans MS" panose="030F0702030302020204" pitchFamily="66" charset="0"/>
              </a:rPr>
              <a:t>External: </a:t>
            </a:r>
            <a:r>
              <a:rPr lang="en-US" sz="2800" dirty="0">
                <a:latin typeface="Comic Sans MS" panose="030F0702030302020204" pitchFamily="66" charset="0"/>
              </a:rPr>
              <a:t>CSS rules in separate file (best)</a:t>
            </a:r>
          </a:p>
          <a:p>
            <a:pPr lvl="2">
              <a:lnSpc>
                <a:spcPct val="150000"/>
              </a:lnSpc>
              <a:defRPr/>
            </a:pPr>
            <a:r>
              <a:rPr lang="en-US" sz="2200" dirty="0">
                <a:latin typeface="Comic Sans MS" panose="030F0702030302020204" pitchFamily="66" charset="0"/>
              </a:rPr>
              <a:t>Usually a file with </a:t>
            </a:r>
            <a:r>
              <a:rPr lang="en-US" sz="2200" noProof="1">
                <a:latin typeface="Comic Sans MS" panose="030F0702030302020204" pitchFamily="66" charset="0"/>
              </a:rPr>
              <a:t>.css</a:t>
            </a:r>
            <a:r>
              <a:rPr lang="en-US" sz="2200" dirty="0">
                <a:latin typeface="Comic Sans MS" panose="030F0702030302020204" pitchFamily="66" charset="0"/>
              </a:rPr>
              <a:t> extension</a:t>
            </a:r>
          </a:p>
          <a:p>
            <a:pPr lvl="2">
              <a:lnSpc>
                <a:spcPct val="150000"/>
              </a:lnSpc>
              <a:defRPr/>
            </a:pPr>
            <a:r>
              <a:rPr lang="en-US" sz="2200" dirty="0">
                <a:latin typeface="Comic Sans MS" panose="030F0702030302020204" pitchFamily="66" charset="0"/>
              </a:rPr>
              <a:t>Linked via </a:t>
            </a:r>
            <a:r>
              <a:rPr lang="en-US" sz="2200" noProof="1">
                <a:latin typeface="Comic Sans MS" panose="030F0702030302020204" pitchFamily="66" charset="0"/>
              </a:rPr>
              <a:t>&lt;</a:t>
            </a:r>
            <a:r>
              <a:rPr lang="en-US" sz="2200" noProof="1">
                <a:solidFill>
                  <a:srgbClr val="FF0000"/>
                </a:solidFill>
                <a:latin typeface="Comic Sans MS" panose="030F0702030302020204" pitchFamily="66" charset="0"/>
              </a:rPr>
              <a:t>link</a:t>
            </a:r>
            <a:r>
              <a:rPr lang="en-US" sz="2200" noProof="1">
                <a:latin typeface="Comic Sans MS" panose="030F0702030302020204" pitchFamily="66" charset="0"/>
              </a:rPr>
              <a:t> rel="stylesheet" href=…&gt;</a:t>
            </a:r>
            <a:r>
              <a:rPr lang="en-US" sz="2200" dirty="0">
                <a:latin typeface="Comic Sans MS" panose="030F0702030302020204" pitchFamily="66" charset="0"/>
              </a:rPr>
              <a:t> tag or @import directive in embedded CSS block</a:t>
            </a:r>
          </a:p>
        </p:txBody>
      </p:sp>
      <p:sp>
        <p:nvSpPr>
          <p:cNvPr id="4" name="Slide Number Placeholder 3">
            <a:extLst>
              <a:ext uri="{FF2B5EF4-FFF2-40B4-BE49-F238E27FC236}">
                <a16:creationId xmlns:a16="http://schemas.microsoft.com/office/drawing/2014/main" id="{7E99CF49-F2C2-476D-8AA2-4C399B7B6C9A}"/>
              </a:ext>
            </a:extLst>
          </p:cNvPr>
          <p:cNvSpPr>
            <a:spLocks noGrp="1"/>
          </p:cNvSpPr>
          <p:nvPr>
            <p:ph type="sldNum" sz="quarter" idx="12"/>
          </p:nvPr>
        </p:nvSpPr>
        <p:spPr/>
        <p:txBody>
          <a:bodyPr/>
          <a:lstStyle/>
          <a:p>
            <a:pPr>
              <a:defRPr/>
            </a:pPr>
            <a:fld id="{FD67FE3C-D924-443A-85C0-A02E2203ACB7}" type="slidenum">
              <a:rPr lang="en-US" smtClean="0"/>
              <a:pPr>
                <a:defRPr/>
              </a:pPr>
              <a:t>10</a:t>
            </a:fld>
            <a:endParaRPr lang="en-US" dirty="0"/>
          </a:p>
        </p:txBody>
      </p:sp>
      <p:cxnSp>
        <p:nvCxnSpPr>
          <p:cNvPr id="5" name="Straight Connector 4">
            <a:extLst>
              <a:ext uri="{FF2B5EF4-FFF2-40B4-BE49-F238E27FC236}">
                <a16:creationId xmlns:a16="http://schemas.microsoft.com/office/drawing/2014/main" id="{C6697AAC-F060-4F88-86CE-1C808345E9C9}"/>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a:extLst>
              <a:ext uri="{FF2B5EF4-FFF2-40B4-BE49-F238E27FC236}">
                <a16:creationId xmlns:a16="http://schemas.microsoft.com/office/drawing/2014/main" id="{BC73E33E-DA34-4C81-A946-9F94378EC6AC}"/>
              </a:ext>
            </a:extLst>
          </p:cNvPr>
          <p:cNvSpPr>
            <a:spLocks noGrp="1" noChangeArrowheads="1"/>
          </p:cNvSpPr>
          <p:nvPr>
            <p:ph type="title"/>
          </p:nvPr>
        </p:nvSpPr>
        <p:spPr>
          <a:xfrm>
            <a:off x="2424115" y="384175"/>
            <a:ext cx="5857875" cy="1049339"/>
          </a:xfrm>
        </p:spPr>
        <p:txBody>
          <a:bodyPr>
            <a:normAutofit fontScale="90000"/>
          </a:bodyPr>
          <a:lstStyle/>
          <a:p>
            <a:pPr>
              <a:defRPr/>
            </a:pPr>
            <a:r>
              <a:rPr lang="en-US" b="1" dirty="0">
                <a:solidFill>
                  <a:schemeClr val="accent1"/>
                </a:solidFill>
                <a:latin typeface="+mn-lt"/>
              </a:rPr>
              <a:t>Inline Styles: Example</a:t>
            </a:r>
            <a:endParaRPr lang="bg-BG" b="1" dirty="0">
              <a:solidFill>
                <a:schemeClr val="accent1"/>
              </a:solidFill>
              <a:latin typeface="+mn-lt"/>
            </a:endParaRPr>
          </a:p>
        </p:txBody>
      </p:sp>
      <p:sp>
        <p:nvSpPr>
          <p:cNvPr id="5" name="Slide Number Placeholder 3">
            <a:extLst>
              <a:ext uri="{FF2B5EF4-FFF2-40B4-BE49-F238E27FC236}">
                <a16:creationId xmlns:a16="http://schemas.microsoft.com/office/drawing/2014/main" id="{C2428C9E-91C3-4A1A-A8E3-EEBECF41934C}"/>
              </a:ext>
            </a:extLst>
          </p:cNvPr>
          <p:cNvSpPr>
            <a:spLocks noGrp="1"/>
          </p:cNvSpPr>
          <p:nvPr>
            <p:ph type="sldNum" sz="quarter" idx="12"/>
          </p:nvPr>
        </p:nvSpPr>
        <p:spPr/>
        <p:txBody>
          <a:bodyPr/>
          <a:lstStyle/>
          <a:p>
            <a:pPr>
              <a:defRPr/>
            </a:pPr>
            <a:fld id="{0D4EA214-3750-4F74-80E7-4691E9CD9D99}" type="slidenum">
              <a:rPr lang="en-US" smtClean="0"/>
              <a:pPr>
                <a:defRPr/>
              </a:pPr>
              <a:t>11</a:t>
            </a:fld>
            <a:endParaRPr lang="en-US" dirty="0"/>
          </a:p>
        </p:txBody>
      </p:sp>
      <p:sp>
        <p:nvSpPr>
          <p:cNvPr id="20483" name="Rectangle 5">
            <a:extLst>
              <a:ext uri="{FF2B5EF4-FFF2-40B4-BE49-F238E27FC236}">
                <a16:creationId xmlns:a16="http://schemas.microsoft.com/office/drawing/2014/main" id="{9556D715-64CF-427B-95B5-FF8FCBB22472}"/>
              </a:ext>
            </a:extLst>
          </p:cNvPr>
          <p:cNvSpPr>
            <a:spLocks noChangeArrowheads="1"/>
          </p:cNvSpPr>
          <p:nvPr/>
        </p:nvSpPr>
        <p:spPr bwMode="auto">
          <a:xfrm>
            <a:off x="504376" y="1914529"/>
            <a:ext cx="11462338" cy="4401205"/>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&lt;!DOCTYPE html"&gt;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&lt;html xmlns="http://www.w3.org/1999/xhtml"&gt;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&lt;head&gt;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&lt;title&gt;Inline Styles&lt;/title&gt;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&lt;/head&gt;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&lt;body&gt;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&lt;p&gt;Here is some text&lt;/p&gt;</a:t>
            </a:r>
          </a:p>
          <a:p>
            <a:pPr>
              <a:buClr>
                <a:schemeClr val="accent5">
                  <a:lumMod val="40000"/>
                  <a:lumOff val="60000"/>
                </a:schemeClr>
              </a:buClr>
              <a:buSzPct val="70000"/>
              <a:defRPr/>
            </a:pPr>
            <a:r>
              <a:rPr lang="en-US" sz="2000" b="1"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&lt;!--Separate multiple styles with a semicolon--&gt;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a:t>
            </a: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&lt;p style="font-size: 30pt"&gt;</a:t>
            </a: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Here is some</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more text&lt;/p&gt;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  </a:t>
            </a: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&lt;p style="font-size: 20pt;color:</a:t>
            </a:r>
          </a:p>
          <a:p>
            <a:pPr>
              <a:buClr>
                <a:schemeClr val="accent5">
                  <a:lumMod val="40000"/>
                  <a:lumOff val="60000"/>
                </a:schemeClr>
              </a:buClr>
              <a:buSzPct val="70000"/>
              <a:defRPr/>
            </a:pPr>
            <a:r>
              <a:rPr lang="en-US" sz="20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    #0000FF" </a:t>
            </a: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&gt;Even more text&lt;/p&gt; </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&lt;/body&gt;</a:t>
            </a:r>
          </a:p>
          <a:p>
            <a:pPr>
              <a:buClr>
                <a:schemeClr val="accent5">
                  <a:lumMod val="40000"/>
                  <a:lumOff val="60000"/>
                </a:schemeClr>
              </a:buClr>
              <a:buSzPct val="70000"/>
              <a:defRPr/>
            </a:pPr>
            <a:r>
              <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&lt;/html&gt;</a:t>
            </a:r>
          </a:p>
        </p:txBody>
      </p:sp>
      <p:sp>
        <p:nvSpPr>
          <p:cNvPr id="20484" name="Rectangle 3">
            <a:extLst>
              <a:ext uri="{FF2B5EF4-FFF2-40B4-BE49-F238E27FC236}">
                <a16:creationId xmlns:a16="http://schemas.microsoft.com/office/drawing/2014/main" id="{4C6BB20D-D657-406A-85F2-BD4039C4CD90}"/>
              </a:ext>
            </a:extLst>
          </p:cNvPr>
          <p:cNvSpPr>
            <a:spLocks noChangeArrowheads="1"/>
          </p:cNvSpPr>
          <p:nvPr/>
        </p:nvSpPr>
        <p:spPr bwMode="auto">
          <a:xfrm>
            <a:off x="504376" y="1325563"/>
            <a:ext cx="3204723" cy="523220"/>
          </a:xfrm>
          <a:prstGeom prst="rect">
            <a:avLst/>
          </a:prstGeom>
          <a:noFill/>
          <a:ln w="9525">
            <a:noFill/>
            <a:miter lim="800000"/>
            <a:headEnd/>
            <a:tailEnd/>
          </a:ln>
        </p:spPr>
        <p:txBody>
          <a:bodyPr wrap="none">
            <a:spAutoFit/>
          </a:bodyPr>
          <a:lstStyle/>
          <a:p>
            <a:pPr>
              <a:defRPr/>
            </a:pPr>
            <a:r>
              <a:rPr lang="en-US" sz="2800" b="1" dirty="0">
                <a:effectLst>
                  <a:outerShdw blurRad="38100" dist="38100" dir="2700000" algn="tl">
                    <a:srgbClr val="000000">
                      <a:alpha val="43137"/>
                    </a:srgbClr>
                  </a:outerShdw>
                </a:effectLst>
                <a:latin typeface="Comic Sans MS" panose="030F0702030302020204" pitchFamily="66" charset="0"/>
              </a:rPr>
              <a:t>inline-styles.html</a:t>
            </a:r>
          </a:p>
        </p:txBody>
      </p:sp>
      <p:cxnSp>
        <p:nvCxnSpPr>
          <p:cNvPr id="6" name="Straight Connector 5">
            <a:extLst>
              <a:ext uri="{FF2B5EF4-FFF2-40B4-BE49-F238E27FC236}">
                <a16:creationId xmlns:a16="http://schemas.microsoft.com/office/drawing/2014/main" id="{D6B9B800-BEB9-47BF-AD4B-2F51A46B9D0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7" name="Picture 6">
            <a:extLst>
              <a:ext uri="{FF2B5EF4-FFF2-40B4-BE49-F238E27FC236}">
                <a16:creationId xmlns:a16="http://schemas.microsoft.com/office/drawing/2014/main" id="{FD9F25E9-C32E-4D69-AF7B-C53B32D2CFA4}"/>
              </a:ext>
            </a:extLst>
          </p:cNvPr>
          <p:cNvPicPr>
            <a:picLocks noChangeAspect="1"/>
          </p:cNvPicPr>
          <p:nvPr/>
        </p:nvPicPr>
        <p:blipFill rotWithShape="1">
          <a:blip r:embed="rId3"/>
          <a:srcRect r="4933" b="6584"/>
          <a:stretch/>
        </p:blipFill>
        <p:spPr>
          <a:xfrm>
            <a:off x="8487312" y="4838475"/>
            <a:ext cx="3479402" cy="147726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a:extLst>
              <a:ext uri="{FF2B5EF4-FFF2-40B4-BE49-F238E27FC236}">
                <a16:creationId xmlns:a16="http://schemas.microsoft.com/office/drawing/2014/main" id="{2F06D9BA-9027-42B7-9BF9-C4F8C369FE57}"/>
              </a:ext>
            </a:extLst>
          </p:cNvPr>
          <p:cNvSpPr>
            <a:spLocks noGrp="1" noChangeArrowheads="1"/>
          </p:cNvSpPr>
          <p:nvPr>
            <p:ph type="title"/>
          </p:nvPr>
        </p:nvSpPr>
        <p:spPr>
          <a:xfrm>
            <a:off x="3409953" y="276225"/>
            <a:ext cx="4929187" cy="1049339"/>
          </a:xfrm>
        </p:spPr>
        <p:txBody>
          <a:bodyPr/>
          <a:lstStyle/>
          <a:p>
            <a:pPr>
              <a:defRPr/>
            </a:pPr>
            <a:r>
              <a:rPr lang="en-US" b="1" dirty="0">
                <a:solidFill>
                  <a:schemeClr val="accent1"/>
                </a:solidFill>
                <a:latin typeface="Comic Sans MS" panose="030F0702030302020204" pitchFamily="66" charset="0"/>
              </a:rPr>
              <a:t>Embedded Styles</a:t>
            </a:r>
            <a:endParaRPr lang="bg-BG" b="1" dirty="0">
              <a:solidFill>
                <a:schemeClr val="accent1"/>
              </a:solidFill>
              <a:latin typeface="Comic Sans MS" panose="030F0702030302020204" pitchFamily="66" charset="0"/>
            </a:endParaRPr>
          </a:p>
        </p:txBody>
      </p:sp>
      <p:sp>
        <p:nvSpPr>
          <p:cNvPr id="155651" name="Rectangle 3">
            <a:extLst>
              <a:ext uri="{FF2B5EF4-FFF2-40B4-BE49-F238E27FC236}">
                <a16:creationId xmlns:a16="http://schemas.microsoft.com/office/drawing/2014/main" id="{E42CA234-B70E-4F06-905F-7A1E72E108E7}"/>
              </a:ext>
            </a:extLst>
          </p:cNvPr>
          <p:cNvSpPr>
            <a:spLocks noGrp="1" noChangeArrowheads="1"/>
          </p:cNvSpPr>
          <p:nvPr>
            <p:ph idx="1"/>
          </p:nvPr>
        </p:nvSpPr>
        <p:spPr>
          <a:xfrm>
            <a:off x="838200" y="1218069"/>
            <a:ext cx="11078029" cy="5138283"/>
          </a:xfrm>
        </p:spPr>
        <p:txBody>
          <a:bodyPr/>
          <a:lstStyle/>
          <a:p>
            <a:pPr>
              <a:lnSpc>
                <a:spcPct val="150000"/>
              </a:lnSpc>
            </a:pPr>
            <a:r>
              <a:rPr lang="en-US" altLang="en-US" dirty="0">
                <a:latin typeface="Comic Sans MS" panose="030F0702030302020204" pitchFamily="66" charset="0"/>
              </a:rPr>
              <a:t>Embedded/internal- in the HTML in the &lt;style&gt; tag:</a:t>
            </a:r>
            <a:r>
              <a:rPr lang="en-US" altLang="en-US" noProof="1">
                <a:latin typeface="Comic Sans MS" panose="030F0702030302020204" pitchFamily="66" charset="0"/>
              </a:rPr>
              <a:t>	</a:t>
            </a:r>
          </a:p>
          <a:p>
            <a:pPr lvl="1">
              <a:lnSpc>
                <a:spcPct val="150000"/>
              </a:lnSpc>
            </a:pPr>
            <a:r>
              <a:rPr lang="en-US" altLang="en-US" sz="2800" dirty="0">
                <a:latin typeface="Comic Sans MS" panose="030F0702030302020204" pitchFamily="66" charset="0"/>
              </a:rPr>
              <a:t>The </a:t>
            </a:r>
            <a:r>
              <a:rPr lang="en-US" altLang="en-US" sz="2800" dirty="0">
                <a:latin typeface="Comic Sans MS" panose="030F0702030302020204" pitchFamily="66" charset="0"/>
                <a:ea typeface="Consolas" panose="020B0609020204030204" pitchFamily="49" charset="0"/>
                <a:cs typeface="Consolas" panose="020B0609020204030204" pitchFamily="49" charset="0"/>
              </a:rPr>
              <a:t>&lt;style&gt;</a:t>
            </a:r>
            <a:r>
              <a:rPr lang="en-US" altLang="en-US" sz="2800" dirty="0">
                <a:latin typeface="Comic Sans MS" panose="030F0702030302020204" pitchFamily="66" charset="0"/>
              </a:rPr>
              <a:t> tag is placed in the </a:t>
            </a:r>
            <a:r>
              <a:rPr lang="en-US" altLang="en-US" sz="2800" dirty="0">
                <a:latin typeface="Comic Sans MS" panose="030F0702030302020204" pitchFamily="66" charset="0"/>
                <a:ea typeface="Consolas" panose="020B0609020204030204" pitchFamily="49" charset="0"/>
                <a:cs typeface="Consolas" panose="020B0609020204030204" pitchFamily="49" charset="0"/>
              </a:rPr>
              <a:t>&lt;head&gt;</a:t>
            </a:r>
            <a:r>
              <a:rPr lang="en-US" altLang="en-US" sz="2800" dirty="0">
                <a:latin typeface="Comic Sans MS" panose="030F0702030302020204" pitchFamily="66" charset="0"/>
              </a:rPr>
              <a:t> section of the document</a:t>
            </a:r>
          </a:p>
          <a:p>
            <a:pPr>
              <a:lnSpc>
                <a:spcPct val="150000"/>
              </a:lnSpc>
            </a:pPr>
            <a:r>
              <a:rPr lang="en-US" altLang="en-US" dirty="0">
                <a:latin typeface="Comic Sans MS" panose="030F0702030302020204" pitchFamily="66" charset="0"/>
              </a:rPr>
              <a:t>Used for document-specific styles</a:t>
            </a:r>
          </a:p>
        </p:txBody>
      </p:sp>
      <p:sp>
        <p:nvSpPr>
          <p:cNvPr id="5" name="Slide Number Placeholder 3">
            <a:extLst>
              <a:ext uri="{FF2B5EF4-FFF2-40B4-BE49-F238E27FC236}">
                <a16:creationId xmlns:a16="http://schemas.microsoft.com/office/drawing/2014/main" id="{1E829DA6-FF5C-446E-A7AB-AA92E204992C}"/>
              </a:ext>
            </a:extLst>
          </p:cNvPr>
          <p:cNvSpPr>
            <a:spLocks noGrp="1"/>
          </p:cNvSpPr>
          <p:nvPr>
            <p:ph type="sldNum" sz="quarter" idx="12"/>
          </p:nvPr>
        </p:nvSpPr>
        <p:spPr/>
        <p:txBody>
          <a:bodyPr/>
          <a:lstStyle/>
          <a:p>
            <a:pPr>
              <a:defRPr/>
            </a:pPr>
            <a:fld id="{EEC97C29-6F01-43B3-9BB1-E1C176241EF4}" type="slidenum">
              <a:rPr lang="en-US" smtClean="0"/>
              <a:pPr>
                <a:defRPr/>
              </a:pPr>
              <a:t>12</a:t>
            </a:fld>
            <a:endParaRPr lang="en-US" dirty="0"/>
          </a:p>
        </p:txBody>
      </p:sp>
      <p:sp>
        <p:nvSpPr>
          <p:cNvPr id="988164" name="Rectangle 4">
            <a:extLst>
              <a:ext uri="{FF2B5EF4-FFF2-40B4-BE49-F238E27FC236}">
                <a16:creationId xmlns:a16="http://schemas.microsoft.com/office/drawing/2014/main" id="{C17BFCD2-73A5-40CF-B0D9-B306D79A4FF4}"/>
              </a:ext>
            </a:extLst>
          </p:cNvPr>
          <p:cNvSpPr>
            <a:spLocks noChangeArrowheads="1"/>
          </p:cNvSpPr>
          <p:nvPr/>
        </p:nvSpPr>
        <p:spPr bwMode="auto">
          <a:xfrm>
            <a:off x="2523219" y="4247022"/>
            <a:ext cx="5562600" cy="1006429"/>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&lt;style&gt;</a:t>
            </a:r>
          </a:p>
          <a:p>
            <a:pPr>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a:t>
            </a:r>
          </a:p>
          <a:p>
            <a:pPr>
              <a:lnSpc>
                <a:spcPct val="90000"/>
              </a:lnSpc>
              <a:buClr>
                <a:schemeClr val="accent5">
                  <a:lumMod val="40000"/>
                  <a:lumOff val="60000"/>
                </a:schemeClr>
              </a:buClr>
              <a:buSzPct val="70000"/>
              <a:defRPr/>
            </a:pPr>
            <a:r>
              <a:rPr lang="en-US" sz="2200" b="1" noProof="1">
                <a:solidFill>
                  <a:srgbClr val="002060"/>
                </a:solidFill>
                <a:effectLst>
                  <a:outerShdw blurRad="38100" dist="38100" dir="2700000" algn="tl">
                    <a:srgbClr val="000000">
                      <a:alpha val="43137"/>
                    </a:srgbClr>
                  </a:outerShdw>
                </a:effectLst>
                <a:latin typeface="Consolas" pitchFamily="49" charset="0"/>
                <a:cs typeface="Consolas" pitchFamily="49" charset="0"/>
              </a:rPr>
              <a:t>&lt;.style</a:t>
            </a:r>
          </a:p>
        </p:txBody>
      </p:sp>
      <p:cxnSp>
        <p:nvCxnSpPr>
          <p:cNvPr id="6" name="Straight Connector 5">
            <a:extLst>
              <a:ext uri="{FF2B5EF4-FFF2-40B4-BE49-F238E27FC236}">
                <a16:creationId xmlns:a16="http://schemas.microsoft.com/office/drawing/2014/main" id="{582B620A-52D4-4FCB-93F2-E36186D6F856}"/>
              </a:ext>
            </a:extLst>
          </p:cNvPr>
          <p:cNvCxnSpPr>
            <a:cxnSpLocks/>
          </p:cNvCxnSpPr>
          <p:nvPr/>
        </p:nvCxnSpPr>
        <p:spPr>
          <a:xfrm>
            <a:off x="924833" y="1271817"/>
            <a:ext cx="9899426" cy="107494"/>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1C599BEF-2C55-495F-B03E-C519DBA9F736}"/>
              </a:ext>
            </a:extLst>
          </p:cNvPr>
          <p:cNvSpPr>
            <a:spLocks noGrp="1" noChangeArrowheads="1"/>
          </p:cNvSpPr>
          <p:nvPr>
            <p:ph type="title"/>
          </p:nvPr>
        </p:nvSpPr>
        <p:spPr>
          <a:xfrm>
            <a:off x="869327" y="136523"/>
            <a:ext cx="10515600" cy="1325563"/>
          </a:xfrm>
        </p:spPr>
        <p:txBody>
          <a:bodyPr/>
          <a:lstStyle/>
          <a:p>
            <a:r>
              <a:rPr lang="en-US" altLang="en-US" b="1" dirty="0">
                <a:solidFill>
                  <a:schemeClr val="accent1"/>
                </a:solidFill>
                <a:latin typeface="+mn-lt"/>
              </a:rPr>
              <a:t>Embedded Styles: Example </a:t>
            </a:r>
            <a:endParaRPr lang="bg-BG" altLang="en-US" b="1" dirty="0">
              <a:solidFill>
                <a:schemeClr val="accent1"/>
              </a:solidFill>
              <a:latin typeface="+mn-lt"/>
            </a:endParaRPr>
          </a:p>
        </p:txBody>
      </p:sp>
      <p:sp>
        <p:nvSpPr>
          <p:cNvPr id="4" name="Slide Number Placeholder 3">
            <a:extLst>
              <a:ext uri="{FF2B5EF4-FFF2-40B4-BE49-F238E27FC236}">
                <a16:creationId xmlns:a16="http://schemas.microsoft.com/office/drawing/2014/main" id="{CF7F9014-6461-497B-957E-DC08323E76A3}"/>
              </a:ext>
            </a:extLst>
          </p:cNvPr>
          <p:cNvSpPr>
            <a:spLocks noGrp="1"/>
          </p:cNvSpPr>
          <p:nvPr>
            <p:ph type="sldNum" sz="quarter" idx="12"/>
          </p:nvPr>
        </p:nvSpPr>
        <p:spPr/>
        <p:txBody>
          <a:bodyPr/>
          <a:lstStyle/>
          <a:p>
            <a:pPr>
              <a:defRPr/>
            </a:pPr>
            <a:fld id="{81902616-42E0-4298-8139-50F8D36DFFAC}" type="slidenum">
              <a:rPr lang="en-US" smtClean="0"/>
              <a:pPr>
                <a:defRPr/>
              </a:pPr>
              <a:t>13</a:t>
            </a:fld>
            <a:endParaRPr lang="en-US" dirty="0"/>
          </a:p>
        </p:txBody>
      </p:sp>
      <p:sp>
        <p:nvSpPr>
          <p:cNvPr id="6" name="Rectangle 3">
            <a:extLst>
              <a:ext uri="{FF2B5EF4-FFF2-40B4-BE49-F238E27FC236}">
                <a16:creationId xmlns:a16="http://schemas.microsoft.com/office/drawing/2014/main" id="{FEE54B1B-0834-42DE-99E2-183BF6F0C868}"/>
              </a:ext>
            </a:extLst>
          </p:cNvPr>
          <p:cNvSpPr>
            <a:spLocks noChangeArrowheads="1"/>
          </p:cNvSpPr>
          <p:nvPr/>
        </p:nvSpPr>
        <p:spPr bwMode="auto">
          <a:xfrm>
            <a:off x="397565" y="1206295"/>
            <a:ext cx="11502887" cy="5570756"/>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sz="2400" dirty="0">
                <a:solidFill>
                  <a:srgbClr val="0070C0"/>
                </a:solidFill>
                <a:latin typeface="Comic Sans MS" panose="030F0702030302020204" pitchFamily="66" charset="0"/>
              </a:rPr>
              <a:t>&lt;!DOCTYPE html&gt;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&lt;html&gt;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&lt;head&gt;</a:t>
            </a:r>
            <a:br>
              <a:rPr lang="en-US" sz="2400" dirty="0">
                <a:solidFill>
                  <a:srgbClr val="0070C0"/>
                </a:solidFill>
                <a:latin typeface="Comic Sans MS" panose="030F0702030302020204" pitchFamily="66" charset="0"/>
              </a:rPr>
            </a:br>
            <a:r>
              <a:rPr lang="en-US" sz="2400" dirty="0">
                <a:solidFill>
                  <a:srgbClr val="FF0000"/>
                </a:solidFill>
                <a:latin typeface="Comic Sans MS" panose="030F0702030302020204" pitchFamily="66" charset="0"/>
              </a:rPr>
              <a:t>&lt;style&gt;</a:t>
            </a:r>
            <a:br>
              <a:rPr lang="en-US" sz="2400" dirty="0">
                <a:solidFill>
                  <a:srgbClr val="FF0000"/>
                </a:solidFill>
                <a:latin typeface="Comic Sans MS" panose="030F0702030302020204" pitchFamily="66" charset="0"/>
              </a:rPr>
            </a:br>
            <a:r>
              <a:rPr lang="en-US" sz="2400" dirty="0">
                <a:solidFill>
                  <a:srgbClr val="FF0000"/>
                </a:solidFill>
                <a:latin typeface="Comic Sans MS" panose="030F0702030302020204" pitchFamily="66" charset="0"/>
              </a:rPr>
              <a:t>body {background-color: </a:t>
            </a:r>
            <a:r>
              <a:rPr lang="en-US" sz="2400" dirty="0" err="1">
                <a:solidFill>
                  <a:srgbClr val="FF0000"/>
                </a:solidFill>
                <a:latin typeface="Comic Sans MS" panose="030F0702030302020204" pitchFamily="66" charset="0"/>
              </a:rPr>
              <a:t>powderblue</a:t>
            </a:r>
            <a:r>
              <a:rPr lang="en-US" sz="2400" dirty="0">
                <a:solidFill>
                  <a:srgbClr val="FF0000"/>
                </a:solidFill>
                <a:latin typeface="Comic Sans MS" panose="030F0702030302020204" pitchFamily="66" charset="0"/>
              </a:rPr>
              <a:t>;}</a:t>
            </a:r>
            <a:br>
              <a:rPr lang="en-US" sz="2400" dirty="0">
                <a:solidFill>
                  <a:srgbClr val="FF0000"/>
                </a:solidFill>
                <a:latin typeface="Comic Sans MS" panose="030F0702030302020204" pitchFamily="66" charset="0"/>
              </a:rPr>
            </a:br>
            <a:r>
              <a:rPr lang="en-US" sz="2400" dirty="0">
                <a:solidFill>
                  <a:srgbClr val="FF0000"/>
                </a:solidFill>
                <a:latin typeface="Comic Sans MS" panose="030F0702030302020204" pitchFamily="66" charset="0"/>
              </a:rPr>
              <a:t>h1 {color: blue;}</a:t>
            </a:r>
            <a:br>
              <a:rPr lang="en-US" sz="2400" dirty="0">
                <a:solidFill>
                  <a:srgbClr val="FF0000"/>
                </a:solidFill>
                <a:latin typeface="Comic Sans MS" panose="030F0702030302020204" pitchFamily="66" charset="0"/>
              </a:rPr>
            </a:br>
            <a:r>
              <a:rPr lang="en-US" sz="2400" dirty="0">
                <a:solidFill>
                  <a:srgbClr val="FF0000"/>
                </a:solidFill>
                <a:latin typeface="Comic Sans MS" panose="030F0702030302020204" pitchFamily="66" charset="0"/>
              </a:rPr>
              <a:t>p {color: red;}</a:t>
            </a:r>
            <a:br>
              <a:rPr lang="en-US" sz="2400" dirty="0">
                <a:solidFill>
                  <a:srgbClr val="FF0000"/>
                </a:solidFill>
                <a:latin typeface="Comic Sans MS" panose="030F0702030302020204" pitchFamily="66" charset="0"/>
              </a:rPr>
            </a:br>
            <a:r>
              <a:rPr lang="en-US" sz="2400" dirty="0">
                <a:solidFill>
                  <a:srgbClr val="FF0000"/>
                </a:solidFill>
                <a:latin typeface="Comic Sans MS" panose="030F0702030302020204" pitchFamily="66" charset="0"/>
              </a:rPr>
              <a:t>&lt;/style&gt;</a:t>
            </a:r>
            <a:br>
              <a:rPr lang="en-US" sz="2400" dirty="0">
                <a:solidFill>
                  <a:srgbClr val="FF0000"/>
                </a:solidFill>
                <a:latin typeface="Comic Sans MS" panose="030F0702030302020204" pitchFamily="66" charset="0"/>
              </a:rPr>
            </a:br>
            <a:r>
              <a:rPr lang="en-US" sz="2400" dirty="0">
                <a:solidFill>
                  <a:srgbClr val="0070C0"/>
                </a:solidFill>
                <a:latin typeface="Comic Sans MS" panose="030F0702030302020204" pitchFamily="66" charset="0"/>
              </a:rPr>
              <a:t>&lt;/head&gt;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&lt;body&gt;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&lt;h1&gt;This is a heading&lt;/h1&gt;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&lt;p&gt;This is a paragraph.&lt;/p&gt;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&lt;/body&gt;</a:t>
            </a:r>
            <a:br>
              <a:rPr lang="en-US" sz="2400" dirty="0">
                <a:solidFill>
                  <a:srgbClr val="0070C0"/>
                </a:solidFill>
                <a:latin typeface="Comic Sans MS" panose="030F0702030302020204" pitchFamily="66" charset="0"/>
              </a:rPr>
            </a:br>
            <a:r>
              <a:rPr lang="en-US" sz="2400" dirty="0">
                <a:solidFill>
                  <a:srgbClr val="0070C0"/>
                </a:solidFill>
                <a:latin typeface="Comic Sans MS" panose="030F0702030302020204" pitchFamily="66" charset="0"/>
              </a:rPr>
              <a:t>&lt;/html&gt; </a:t>
            </a:r>
          </a:p>
          <a:p>
            <a:pPr>
              <a:buClr>
                <a:schemeClr val="accent5">
                  <a:lumMod val="40000"/>
                  <a:lumOff val="60000"/>
                </a:schemeClr>
              </a:buClr>
              <a:buSzPct val="70000"/>
              <a:defRPr/>
            </a:pPr>
            <a:endParaRPr lang="en-US" sz="2000" b="1" noProof="1">
              <a:solidFill>
                <a:srgbClr val="002060"/>
              </a:solidFill>
              <a:effectLst>
                <a:outerShdw blurRad="38100" dist="38100" dir="2700000" algn="tl">
                  <a:srgbClr val="000000">
                    <a:alpha val="43137"/>
                  </a:srgbClr>
                </a:outerShdw>
              </a:effectLst>
              <a:latin typeface="Consolas" pitchFamily="49" charset="0"/>
              <a:cs typeface="Consolas" pitchFamily="49" charset="0"/>
            </a:endParaRPr>
          </a:p>
        </p:txBody>
      </p:sp>
      <p:cxnSp>
        <p:nvCxnSpPr>
          <p:cNvPr id="5" name="Straight Connector 4">
            <a:extLst>
              <a:ext uri="{FF2B5EF4-FFF2-40B4-BE49-F238E27FC236}">
                <a16:creationId xmlns:a16="http://schemas.microsoft.com/office/drawing/2014/main" id="{2DF1326C-F4FE-4E9A-ABF4-351EF202A2E6}"/>
              </a:ext>
            </a:extLst>
          </p:cNvPr>
          <p:cNvCxnSpPr>
            <a:cxnSpLocks/>
          </p:cNvCxnSpPr>
          <p:nvPr/>
        </p:nvCxnSpPr>
        <p:spPr>
          <a:xfrm>
            <a:off x="807073" y="1113531"/>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28F6126F-E55A-4315-8FB1-5F52FB50D459}"/>
              </a:ext>
            </a:extLst>
          </p:cNvPr>
          <p:cNvPicPr>
            <a:picLocks noChangeAspect="1"/>
          </p:cNvPicPr>
          <p:nvPr/>
        </p:nvPicPr>
        <p:blipFill>
          <a:blip r:embed="rId3"/>
          <a:stretch>
            <a:fillRect/>
          </a:stretch>
        </p:blipFill>
        <p:spPr>
          <a:xfrm>
            <a:off x="8918612" y="2853466"/>
            <a:ext cx="2715004" cy="125747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EE63679-76E3-4F93-BA08-F600C04DB54C}"/>
              </a:ext>
            </a:extLst>
          </p:cNvPr>
          <p:cNvSpPr>
            <a:spLocks noGrp="1" noChangeArrowheads="1"/>
          </p:cNvSpPr>
          <p:nvPr>
            <p:ph type="title"/>
          </p:nvPr>
        </p:nvSpPr>
        <p:spPr>
          <a:xfrm>
            <a:off x="838200" y="365128"/>
            <a:ext cx="10515600" cy="728654"/>
          </a:xfrm>
        </p:spPr>
        <p:txBody>
          <a:bodyPr/>
          <a:lstStyle/>
          <a:p>
            <a:pPr algn="ctr"/>
            <a:r>
              <a:rPr lang="en-US" altLang="en-US" b="1" dirty="0">
                <a:solidFill>
                  <a:schemeClr val="accent1"/>
                </a:solidFill>
                <a:latin typeface="+mn-lt"/>
              </a:rPr>
              <a:t>External CSS Styles</a:t>
            </a:r>
            <a:endParaRPr lang="bg-BG" altLang="en-US" b="1" dirty="0">
              <a:solidFill>
                <a:schemeClr val="accent1"/>
              </a:solidFill>
              <a:latin typeface="+mn-lt"/>
            </a:endParaRPr>
          </a:p>
        </p:txBody>
      </p:sp>
      <p:sp>
        <p:nvSpPr>
          <p:cNvPr id="993283" name="Rectangle 3">
            <a:extLst>
              <a:ext uri="{FF2B5EF4-FFF2-40B4-BE49-F238E27FC236}">
                <a16:creationId xmlns:a16="http://schemas.microsoft.com/office/drawing/2014/main" id="{7D707B66-748A-4B52-B3FD-6D82209FF923}"/>
              </a:ext>
            </a:extLst>
          </p:cNvPr>
          <p:cNvSpPr>
            <a:spLocks noGrp="1" noChangeArrowheads="1"/>
          </p:cNvSpPr>
          <p:nvPr>
            <p:ph idx="1"/>
          </p:nvPr>
        </p:nvSpPr>
        <p:spPr>
          <a:xfrm>
            <a:off x="838200" y="1107170"/>
            <a:ext cx="10664687" cy="5750829"/>
          </a:xfrm>
        </p:spPr>
        <p:txBody>
          <a:bodyPr>
            <a:normAutofit/>
          </a:bodyPr>
          <a:lstStyle/>
          <a:p>
            <a:pPr>
              <a:defRPr/>
            </a:pPr>
            <a:r>
              <a:rPr lang="en-US" sz="3000" dirty="0">
                <a:solidFill>
                  <a:srgbClr val="FF0000"/>
                </a:solidFill>
                <a:latin typeface="Comic Sans MS" panose="030F0702030302020204" pitchFamily="66" charset="0"/>
              </a:rPr>
              <a:t>External linking</a:t>
            </a:r>
          </a:p>
          <a:p>
            <a:pPr lvl="1">
              <a:defRPr/>
            </a:pPr>
            <a:r>
              <a:rPr lang="en-US" sz="2200" dirty="0">
                <a:latin typeface="Comic Sans MS" panose="030F0702030302020204" pitchFamily="66" charset="0"/>
              </a:rPr>
              <a:t>Separate pages can all use a shared style sheet</a:t>
            </a:r>
          </a:p>
          <a:p>
            <a:pPr lvl="1">
              <a:defRPr/>
            </a:pPr>
            <a:r>
              <a:rPr lang="en-US" sz="2200" dirty="0">
                <a:latin typeface="Comic Sans MS" panose="030F0702030302020204" pitchFamily="66" charset="0"/>
              </a:rPr>
              <a:t>Only modify a single file to change the styles across your entire Web site (see </a:t>
            </a:r>
            <a:r>
              <a:rPr lang="en-US" sz="2200" dirty="0">
                <a:latin typeface="Comic Sans MS" panose="030F0702030302020204" pitchFamily="66" charset="0"/>
                <a:hlinkClick r:id="rId3"/>
              </a:rPr>
              <a:t>http://www.csszengarden.co</a:t>
            </a:r>
            <a:r>
              <a:rPr lang="en-US" sz="2000" dirty="0">
                <a:latin typeface="Comic Sans MS" panose="030F0702030302020204" pitchFamily="66" charset="0"/>
                <a:hlinkClick r:id="rId3"/>
              </a:rPr>
              <a:t>m/</a:t>
            </a:r>
            <a:r>
              <a:rPr lang="en-US" sz="2000" dirty="0">
                <a:latin typeface="Comic Sans MS" panose="030F0702030302020204" pitchFamily="66" charset="0"/>
              </a:rPr>
              <a:t>)</a:t>
            </a:r>
            <a:endParaRPr lang="en-US" sz="2800" dirty="0">
              <a:latin typeface="Comic Sans MS" panose="030F0702030302020204" pitchFamily="66" charset="0"/>
            </a:endParaRPr>
          </a:p>
          <a:p>
            <a:pPr>
              <a:defRPr/>
            </a:pPr>
            <a:r>
              <a:rPr lang="en-US" sz="2400" dirty="0">
                <a:latin typeface="Comic Sans MS" panose="030F0702030302020204" pitchFamily="66" charset="0"/>
                <a:cs typeface="Consolas" pitchFamily="49" charset="0"/>
              </a:rPr>
              <a:t>link</a:t>
            </a:r>
            <a:r>
              <a:rPr lang="en-US" sz="2400" dirty="0">
                <a:latin typeface="Comic Sans MS" panose="030F0702030302020204" pitchFamily="66" charset="0"/>
              </a:rPr>
              <a:t> tag (with a </a:t>
            </a:r>
            <a:r>
              <a:rPr lang="en-US" sz="2400" noProof="1">
                <a:latin typeface="Comic Sans MS" panose="030F0702030302020204" pitchFamily="66" charset="0"/>
                <a:cs typeface="Consolas" pitchFamily="49" charset="0"/>
              </a:rPr>
              <a:t>rel</a:t>
            </a:r>
            <a:r>
              <a:rPr lang="en-US" sz="2400" dirty="0">
                <a:latin typeface="Comic Sans MS" panose="030F0702030302020204" pitchFamily="66" charset="0"/>
              </a:rPr>
              <a:t> attribute)</a:t>
            </a:r>
          </a:p>
          <a:p>
            <a:pPr lvl="1">
              <a:defRPr/>
            </a:pPr>
            <a:r>
              <a:rPr lang="en-US" dirty="0">
                <a:latin typeface="Comic Sans MS" panose="030F0702030302020204" pitchFamily="66" charset="0"/>
              </a:rPr>
              <a:t>Specifies a relationship between current document and another document</a:t>
            </a:r>
          </a:p>
          <a:p>
            <a:pPr marL="457189" lvl="1" indent="0">
              <a:spcBef>
                <a:spcPts val="2400"/>
              </a:spcBef>
              <a:buNone/>
              <a:defRPr/>
            </a:pPr>
            <a:endParaRPr lang="en-US" sz="2800" dirty="0">
              <a:latin typeface="Comic Sans MS" panose="030F0702030302020204" pitchFamily="66" charset="0"/>
              <a:cs typeface="Consolas" pitchFamily="49" charset="0"/>
            </a:endParaRPr>
          </a:p>
          <a:p>
            <a:pPr marL="457189" lvl="1" indent="0">
              <a:spcBef>
                <a:spcPts val="2400"/>
              </a:spcBef>
              <a:buNone/>
              <a:defRPr/>
            </a:pPr>
            <a:endParaRPr lang="en-US" sz="2800" dirty="0">
              <a:latin typeface="Comic Sans MS" panose="030F0702030302020204" pitchFamily="66" charset="0"/>
              <a:cs typeface="Consolas" pitchFamily="49" charset="0"/>
            </a:endParaRPr>
          </a:p>
        </p:txBody>
      </p:sp>
      <p:sp>
        <p:nvSpPr>
          <p:cNvPr id="5" name="Slide Number Placeholder 3">
            <a:extLst>
              <a:ext uri="{FF2B5EF4-FFF2-40B4-BE49-F238E27FC236}">
                <a16:creationId xmlns:a16="http://schemas.microsoft.com/office/drawing/2014/main" id="{6298A433-559C-4B3B-A0E6-E1834732A73F}"/>
              </a:ext>
            </a:extLst>
          </p:cNvPr>
          <p:cNvSpPr>
            <a:spLocks noGrp="1"/>
          </p:cNvSpPr>
          <p:nvPr>
            <p:ph type="sldNum" sz="quarter" idx="12"/>
          </p:nvPr>
        </p:nvSpPr>
        <p:spPr/>
        <p:txBody>
          <a:bodyPr/>
          <a:lstStyle/>
          <a:p>
            <a:pPr>
              <a:defRPr/>
            </a:pPr>
            <a:fld id="{DD420EF2-F623-46F6-BD92-2B9CB914A0ED}" type="slidenum">
              <a:rPr lang="en-US" smtClean="0"/>
              <a:pPr>
                <a:defRPr/>
              </a:pPr>
              <a:t>14</a:t>
            </a:fld>
            <a:endParaRPr lang="en-US" dirty="0"/>
          </a:p>
        </p:txBody>
      </p:sp>
      <p:sp>
        <p:nvSpPr>
          <p:cNvPr id="993284" name="Rectangle 4">
            <a:extLst>
              <a:ext uri="{FF2B5EF4-FFF2-40B4-BE49-F238E27FC236}">
                <a16:creationId xmlns:a16="http://schemas.microsoft.com/office/drawing/2014/main" id="{5BA04AB3-030F-4827-B65E-2158AFF06D51}"/>
              </a:ext>
            </a:extLst>
          </p:cNvPr>
          <p:cNvSpPr>
            <a:spLocks noChangeArrowheads="1"/>
          </p:cNvSpPr>
          <p:nvPr/>
        </p:nvSpPr>
        <p:spPr bwMode="auto">
          <a:xfrm>
            <a:off x="1747250" y="3852609"/>
            <a:ext cx="8315325" cy="36933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90000"/>
              </a:lnSpc>
              <a:buClr>
                <a:schemeClr val="accent5">
                  <a:lumMod val="40000"/>
                  <a:lumOff val="60000"/>
                </a:schemeClr>
              </a:buClr>
              <a:buSzPct val="70000"/>
              <a:defRPr/>
            </a:pPr>
            <a:r>
              <a:rPr lang="en-US" sz="20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&lt;link rel="stylesheet" </a:t>
            </a:r>
            <a:r>
              <a:rPr lang="en-US" sz="2000" b="1" noProof="1">
                <a:effectLst>
                  <a:outerShdw blurRad="38100" dist="38100" dir="2700000" algn="tl">
                    <a:srgbClr val="000000">
                      <a:alpha val="43137"/>
                    </a:srgbClr>
                  </a:outerShdw>
                </a:effectLst>
                <a:latin typeface="Consolas" pitchFamily="49" charset="0"/>
                <a:cs typeface="Consolas" pitchFamily="49" charset="0"/>
              </a:rPr>
              <a:t>type="text/css"  </a:t>
            </a:r>
            <a:r>
              <a:rPr lang="en-US" sz="20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href="styles.css"&gt;</a:t>
            </a:r>
          </a:p>
        </p:txBody>
      </p:sp>
      <p:cxnSp>
        <p:nvCxnSpPr>
          <p:cNvPr id="6" name="Straight Connector 5">
            <a:extLst>
              <a:ext uri="{FF2B5EF4-FFF2-40B4-BE49-F238E27FC236}">
                <a16:creationId xmlns:a16="http://schemas.microsoft.com/office/drawing/2014/main" id="{AFE070BB-8907-404B-B6C9-B4EF9B5C941B}"/>
              </a:ext>
            </a:extLst>
          </p:cNvPr>
          <p:cNvCxnSpPr>
            <a:cxnSpLocks/>
          </p:cNvCxnSpPr>
          <p:nvPr/>
        </p:nvCxnSpPr>
        <p:spPr>
          <a:xfrm>
            <a:off x="1668465" y="1100476"/>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10" name="TextBox 9">
            <a:extLst>
              <a:ext uri="{FF2B5EF4-FFF2-40B4-BE49-F238E27FC236}">
                <a16:creationId xmlns:a16="http://schemas.microsoft.com/office/drawing/2014/main" id="{F354C024-9758-F2D8-8B83-CD0F4CA87B84}"/>
              </a:ext>
            </a:extLst>
          </p:cNvPr>
          <p:cNvSpPr txBox="1"/>
          <p:nvPr/>
        </p:nvSpPr>
        <p:spPr>
          <a:xfrm>
            <a:off x="2672862" y="4784588"/>
            <a:ext cx="7963486" cy="1477328"/>
          </a:xfrm>
          <a:prstGeom prst="rect">
            <a:avLst/>
          </a:prstGeom>
          <a:noFill/>
        </p:spPr>
        <p:txBody>
          <a:bodyPr wrap="square">
            <a:spAutoFit/>
          </a:bodyPr>
          <a:lstStyle/>
          <a:p>
            <a:pPr marL="0" marR="0">
              <a:spcBef>
                <a:spcPts val="0"/>
              </a:spcBef>
              <a:spcAft>
                <a:spcPts val="0"/>
              </a:spcAft>
            </a:pPr>
            <a:r>
              <a:rPr lang="en-US" kern="100" dirty="0">
                <a:latin typeface="Calibri" panose="020F0502020204030204" pitchFamily="34" charset="0"/>
                <a:ea typeface="Calibri" panose="020F0502020204030204" pitchFamily="34" charset="0"/>
                <a:cs typeface="Times New Roman" panose="02020603050405020304" pitchFamily="18" charset="0"/>
              </a:rPr>
              <a:t>The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&lt;link&gt; element should be in the head and tells the browser that we have a stylesheet, using the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rel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attribute, and the location of that stylesheet as the value of the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href</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attribute. You can test that the CSS works by adding a rule to styles.css. </a:t>
            </a:r>
          </a:p>
          <a:p>
            <a:pPr marL="0" marR="0">
              <a:spcBef>
                <a:spcPts val="0"/>
              </a:spcBef>
              <a:spcAft>
                <a:spcPts val="0"/>
              </a:spcAft>
            </a:pPr>
            <a:r>
              <a:rPr lang="en-US" kern="100" dirty="0">
                <a:latin typeface="Calibri" panose="020F0502020204030204" pitchFamily="34" charset="0"/>
                <a:ea typeface="Calibri" panose="020F0502020204030204" pitchFamily="34" charset="0"/>
                <a:cs typeface="Times New Roman" panose="02020603050405020304" pitchFamily="18" charset="0"/>
              </a:rPr>
              <a:t>Check the example on the next slide.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574D0D3D-BA01-4BD7-A98B-B6F51F662A61}"/>
              </a:ext>
            </a:extLst>
          </p:cNvPr>
          <p:cNvSpPr>
            <a:spLocks noGrp="1" noChangeArrowheads="1"/>
          </p:cNvSpPr>
          <p:nvPr>
            <p:ph type="title"/>
          </p:nvPr>
        </p:nvSpPr>
        <p:spPr>
          <a:xfrm>
            <a:off x="2014330" y="381000"/>
            <a:ext cx="7370971" cy="1049339"/>
          </a:xfrm>
        </p:spPr>
        <p:txBody>
          <a:bodyPr>
            <a:normAutofit fontScale="90000"/>
          </a:bodyPr>
          <a:lstStyle/>
          <a:p>
            <a:r>
              <a:rPr lang="en-US" altLang="en-US" b="1" dirty="0">
                <a:solidFill>
                  <a:schemeClr val="accent1"/>
                </a:solidFill>
                <a:latin typeface="+mn-lt"/>
              </a:rPr>
              <a:t>External Styles: Example (2)</a:t>
            </a:r>
            <a:endParaRPr lang="bg-BG" altLang="en-US" b="1" dirty="0">
              <a:solidFill>
                <a:schemeClr val="accent1"/>
              </a:solidFill>
              <a:latin typeface="+mn-lt"/>
            </a:endParaRPr>
          </a:p>
        </p:txBody>
      </p:sp>
      <p:sp>
        <p:nvSpPr>
          <p:cNvPr id="5" name="Slide Number Placeholder 3">
            <a:extLst>
              <a:ext uri="{FF2B5EF4-FFF2-40B4-BE49-F238E27FC236}">
                <a16:creationId xmlns:a16="http://schemas.microsoft.com/office/drawing/2014/main" id="{5ED2650C-5E51-4CDB-9722-D91B723C5FC5}"/>
              </a:ext>
            </a:extLst>
          </p:cNvPr>
          <p:cNvSpPr>
            <a:spLocks noGrp="1"/>
          </p:cNvSpPr>
          <p:nvPr>
            <p:ph type="sldNum" sz="quarter" idx="12"/>
          </p:nvPr>
        </p:nvSpPr>
        <p:spPr/>
        <p:txBody>
          <a:bodyPr/>
          <a:lstStyle/>
          <a:p>
            <a:pPr>
              <a:defRPr/>
            </a:pPr>
            <a:fld id="{67423453-9E95-4F5A-8BB7-C277AE6B30BA}" type="slidenum">
              <a:rPr lang="en-US" smtClean="0"/>
              <a:pPr>
                <a:defRPr/>
              </a:pPr>
              <a:t>15</a:t>
            </a:fld>
            <a:endParaRPr lang="en-US" dirty="0"/>
          </a:p>
        </p:txBody>
      </p:sp>
      <p:sp>
        <p:nvSpPr>
          <p:cNvPr id="995332" name="Rectangle 4">
            <a:extLst>
              <a:ext uri="{FF2B5EF4-FFF2-40B4-BE49-F238E27FC236}">
                <a16:creationId xmlns:a16="http://schemas.microsoft.com/office/drawing/2014/main" id="{6B30E2CC-9B48-4A48-A242-0D0FB7FAA6AE}"/>
              </a:ext>
            </a:extLst>
          </p:cNvPr>
          <p:cNvSpPr>
            <a:spLocks noChangeArrowheads="1"/>
          </p:cNvSpPr>
          <p:nvPr/>
        </p:nvSpPr>
        <p:spPr bwMode="auto">
          <a:xfrm>
            <a:off x="169875" y="2018566"/>
            <a:ext cx="7852661" cy="378565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a:buClr>
                <a:schemeClr val="accent5">
                  <a:lumMod val="40000"/>
                  <a:lumOff val="60000"/>
                </a:schemeClr>
              </a:buClr>
              <a:buSzPct val="70000"/>
              <a:defRPr/>
            </a:pPr>
            <a:r>
              <a:rPr lang="en-US" sz="2400" dirty="0">
                <a:solidFill>
                  <a:srgbClr val="0070C0"/>
                </a:solidFill>
                <a:latin typeface="Consolas" panose="020B0609020204030204" pitchFamily="49" charset="0"/>
              </a:rPr>
              <a:t>&lt;!DOCTYPE html&gt;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&lt;html&gt;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&lt;head&gt;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  &lt;link </a:t>
            </a:r>
            <a:r>
              <a:rPr lang="en-US" sz="2400" dirty="0" err="1">
                <a:solidFill>
                  <a:srgbClr val="0070C0"/>
                </a:solidFill>
                <a:latin typeface="Consolas" panose="020B0609020204030204" pitchFamily="49" charset="0"/>
              </a:rPr>
              <a:t>rel</a:t>
            </a:r>
            <a:r>
              <a:rPr lang="en-US" sz="2400" dirty="0">
                <a:solidFill>
                  <a:srgbClr val="0070C0"/>
                </a:solidFill>
                <a:latin typeface="Consolas" panose="020B0609020204030204" pitchFamily="49" charset="0"/>
              </a:rPr>
              <a:t>="stylesheet" </a:t>
            </a:r>
            <a:r>
              <a:rPr lang="en-US" sz="2400" dirty="0" err="1">
                <a:solidFill>
                  <a:srgbClr val="0070C0"/>
                </a:solidFill>
                <a:latin typeface="Consolas" panose="020B0609020204030204" pitchFamily="49" charset="0"/>
              </a:rPr>
              <a:t>href</a:t>
            </a:r>
            <a:r>
              <a:rPr lang="en-US" sz="2400" dirty="0">
                <a:solidFill>
                  <a:srgbClr val="0070C0"/>
                </a:solidFill>
                <a:latin typeface="Consolas" panose="020B0609020204030204" pitchFamily="49" charset="0"/>
              </a:rPr>
              <a:t>="styles.css"&gt;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&lt;/head&gt;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&lt;body&gt;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&lt;h1&gt;This is a heading&lt;/h1&gt;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&lt;p&gt;This is a paragraph.&lt;/p&gt;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&lt;/body&gt;</a:t>
            </a:r>
            <a:br>
              <a:rPr lang="en-US" sz="2400" dirty="0">
                <a:solidFill>
                  <a:srgbClr val="0070C0"/>
                </a:solidFill>
                <a:latin typeface="Consolas" panose="020B0609020204030204" pitchFamily="49" charset="0"/>
              </a:rPr>
            </a:br>
            <a:r>
              <a:rPr lang="en-US" sz="2400" dirty="0">
                <a:solidFill>
                  <a:srgbClr val="0070C0"/>
                </a:solidFill>
                <a:latin typeface="Consolas" panose="020B0609020204030204" pitchFamily="49" charset="0"/>
              </a:rPr>
              <a:t>&lt;/html&gt; </a:t>
            </a:r>
          </a:p>
        </p:txBody>
      </p:sp>
      <p:sp>
        <p:nvSpPr>
          <p:cNvPr id="30724" name="Rectangle 3">
            <a:extLst>
              <a:ext uri="{FF2B5EF4-FFF2-40B4-BE49-F238E27FC236}">
                <a16:creationId xmlns:a16="http://schemas.microsoft.com/office/drawing/2014/main" id="{F5E6BC67-7122-4FF8-8080-1AE50DD859BB}"/>
              </a:ext>
            </a:extLst>
          </p:cNvPr>
          <p:cNvSpPr>
            <a:spLocks noChangeArrowheads="1"/>
          </p:cNvSpPr>
          <p:nvPr/>
        </p:nvSpPr>
        <p:spPr bwMode="auto">
          <a:xfrm>
            <a:off x="1654178" y="1316039"/>
            <a:ext cx="4441821" cy="523220"/>
          </a:xfrm>
          <a:prstGeom prst="rect">
            <a:avLst/>
          </a:prstGeom>
          <a:noFill/>
          <a:ln w="9525">
            <a:noFill/>
            <a:miter lim="800000"/>
            <a:headEnd/>
            <a:tailEnd/>
          </a:ln>
        </p:spPr>
        <p:txBody>
          <a:bodyPr wrap="square">
            <a:spAutoFit/>
          </a:bodyPr>
          <a:lstStyle/>
          <a:p>
            <a:pPr>
              <a:defRPr/>
            </a:pPr>
            <a:r>
              <a:rPr lang="en-US" sz="2800" b="1" dirty="0">
                <a:effectLst>
                  <a:outerShdw blurRad="38100" dist="38100" dir="2700000" algn="tl">
                    <a:srgbClr val="000000">
                      <a:alpha val="43137"/>
                    </a:srgbClr>
                  </a:outerShdw>
                </a:effectLst>
              </a:rPr>
              <a:t>external-styles.html</a:t>
            </a:r>
          </a:p>
        </p:txBody>
      </p:sp>
      <p:sp>
        <p:nvSpPr>
          <p:cNvPr id="2" name="Rectangle: Rounded Corners 1">
            <a:extLst>
              <a:ext uri="{FF2B5EF4-FFF2-40B4-BE49-F238E27FC236}">
                <a16:creationId xmlns:a16="http://schemas.microsoft.com/office/drawing/2014/main" id="{1FD54A54-76E1-4467-B3F5-3668F53F8520}"/>
              </a:ext>
            </a:extLst>
          </p:cNvPr>
          <p:cNvSpPr/>
          <p:nvPr/>
        </p:nvSpPr>
        <p:spPr>
          <a:xfrm>
            <a:off x="7984436" y="1828800"/>
            <a:ext cx="4075789" cy="4503739"/>
          </a:xfrm>
          <a:prstGeom prst="roundRect">
            <a:avLst/>
          </a:prstGeom>
        </p:spPr>
        <p:style>
          <a:lnRef idx="1">
            <a:schemeClr val="accent3"/>
          </a:lnRef>
          <a:fillRef idx="2">
            <a:schemeClr val="accent3"/>
          </a:fillRef>
          <a:effectRef idx="1">
            <a:schemeClr val="accent3"/>
          </a:effectRef>
          <a:fontRef idx="minor">
            <a:schemeClr val="dk1"/>
          </a:fontRef>
        </p:style>
        <p:txBody>
          <a:bodyPr anchor="ctr"/>
          <a:lstStyle/>
          <a:p>
            <a:pPr>
              <a:defRPr/>
            </a:pPr>
            <a:r>
              <a:rPr lang="en-US" sz="2400" dirty="0">
                <a:solidFill>
                  <a:srgbClr val="0070C0"/>
                </a:solidFill>
              </a:rPr>
              <a:t>body </a:t>
            </a:r>
          </a:p>
          <a:p>
            <a:pPr>
              <a:defRPr/>
            </a:pPr>
            <a:r>
              <a:rPr lang="en-US" sz="2400" dirty="0">
                <a:solidFill>
                  <a:srgbClr val="0070C0"/>
                </a:solidFill>
              </a:rPr>
              <a:t>{</a:t>
            </a:r>
          </a:p>
          <a:p>
            <a:pPr>
              <a:defRPr/>
            </a:pPr>
            <a:r>
              <a:rPr lang="en-US" sz="2400" dirty="0">
                <a:solidFill>
                  <a:srgbClr val="0070C0"/>
                </a:solidFill>
              </a:rPr>
              <a:t>background-color: pink;</a:t>
            </a:r>
          </a:p>
          <a:p>
            <a:pPr>
              <a:defRPr/>
            </a:pPr>
            <a:r>
              <a:rPr lang="en-US" sz="2400" dirty="0">
                <a:solidFill>
                  <a:srgbClr val="0070C0"/>
                </a:solidFill>
              </a:rPr>
              <a:t>}</a:t>
            </a:r>
            <a:br>
              <a:rPr lang="en-US" sz="2400" dirty="0">
                <a:solidFill>
                  <a:srgbClr val="0070C0"/>
                </a:solidFill>
              </a:rPr>
            </a:br>
            <a:r>
              <a:rPr lang="en-US" sz="2400" dirty="0">
                <a:solidFill>
                  <a:srgbClr val="0070C0"/>
                </a:solidFill>
              </a:rPr>
              <a:t>h1   {</a:t>
            </a:r>
          </a:p>
          <a:p>
            <a:pPr>
              <a:defRPr/>
            </a:pPr>
            <a:r>
              <a:rPr lang="en-US" sz="2400" dirty="0">
                <a:solidFill>
                  <a:srgbClr val="0070C0"/>
                </a:solidFill>
              </a:rPr>
              <a:t>color: blue;</a:t>
            </a:r>
          </a:p>
          <a:p>
            <a:pPr>
              <a:defRPr/>
            </a:pPr>
            <a:r>
              <a:rPr lang="en-US" sz="2400" dirty="0">
                <a:solidFill>
                  <a:srgbClr val="0070C0"/>
                </a:solidFill>
              </a:rPr>
              <a:t>}</a:t>
            </a:r>
            <a:br>
              <a:rPr lang="en-US" sz="2400" dirty="0">
                <a:solidFill>
                  <a:srgbClr val="0070C0"/>
                </a:solidFill>
              </a:rPr>
            </a:br>
            <a:r>
              <a:rPr lang="en-US" sz="2400" dirty="0">
                <a:solidFill>
                  <a:srgbClr val="0070C0"/>
                </a:solidFill>
              </a:rPr>
              <a:t>p    {</a:t>
            </a:r>
          </a:p>
          <a:p>
            <a:pPr>
              <a:defRPr/>
            </a:pPr>
            <a:r>
              <a:rPr lang="en-US" sz="2400" dirty="0">
                <a:solidFill>
                  <a:srgbClr val="0070C0"/>
                </a:solidFill>
              </a:rPr>
              <a:t>color: red;</a:t>
            </a:r>
          </a:p>
          <a:p>
            <a:pPr>
              <a:defRPr/>
            </a:pPr>
            <a:r>
              <a:rPr lang="en-US" sz="2400" dirty="0">
                <a:solidFill>
                  <a:srgbClr val="0070C0"/>
                </a:solidFill>
              </a:rPr>
              <a:t>}</a:t>
            </a:r>
          </a:p>
        </p:txBody>
      </p:sp>
      <p:sp>
        <p:nvSpPr>
          <p:cNvPr id="3" name="Rectangle: Rounded Corners 2">
            <a:extLst>
              <a:ext uri="{FF2B5EF4-FFF2-40B4-BE49-F238E27FC236}">
                <a16:creationId xmlns:a16="http://schemas.microsoft.com/office/drawing/2014/main" id="{35859ACA-986C-463E-A978-7D370592E9E0}"/>
              </a:ext>
            </a:extLst>
          </p:cNvPr>
          <p:cNvSpPr/>
          <p:nvPr/>
        </p:nvSpPr>
        <p:spPr>
          <a:xfrm>
            <a:off x="8112125" y="1301751"/>
            <a:ext cx="1543051" cy="52228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dirty="0">
                <a:solidFill>
                  <a:srgbClr val="0070C0"/>
                </a:solidFill>
              </a:rPr>
              <a:t>styles.css</a:t>
            </a:r>
            <a:endParaRPr lang="en-US" dirty="0"/>
          </a:p>
        </p:txBody>
      </p:sp>
      <p:cxnSp>
        <p:nvCxnSpPr>
          <p:cNvPr id="8" name="Straight Connector 7">
            <a:extLst>
              <a:ext uri="{FF2B5EF4-FFF2-40B4-BE49-F238E27FC236}">
                <a16:creationId xmlns:a16="http://schemas.microsoft.com/office/drawing/2014/main" id="{FE9A349D-FDFF-488A-9B94-95419406C07A}"/>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5D327-96F9-49C5-B127-09CD1D7AEB8C}"/>
              </a:ext>
            </a:extLst>
          </p:cNvPr>
          <p:cNvSpPr>
            <a:spLocks noGrp="1"/>
          </p:cNvSpPr>
          <p:nvPr>
            <p:ph type="title"/>
          </p:nvPr>
        </p:nvSpPr>
        <p:spPr/>
        <p:txBody>
          <a:bodyPr/>
          <a:lstStyle/>
          <a:p>
            <a:r>
              <a:rPr lang="en-US" b="1" i="0" dirty="0">
                <a:solidFill>
                  <a:srgbClr val="FF0000"/>
                </a:solidFill>
                <a:effectLst/>
                <a:latin typeface="Nunito Sans" pitchFamily="2" charset="0"/>
              </a:rPr>
              <a:t>Introduction to CSS Inheritance</a:t>
            </a:r>
            <a:br>
              <a:rPr lang="en-US" b="1" i="0" dirty="0">
                <a:solidFill>
                  <a:schemeClr val="accent1"/>
                </a:solidFill>
                <a:effectLst/>
                <a:latin typeface="Nunito Sans" pitchFamily="2" charset="0"/>
              </a:rPr>
            </a:br>
            <a:endParaRPr lang="en-US" dirty="0">
              <a:solidFill>
                <a:schemeClr val="accent1"/>
              </a:solidFill>
            </a:endParaRPr>
          </a:p>
        </p:txBody>
      </p:sp>
      <p:sp>
        <p:nvSpPr>
          <p:cNvPr id="3" name="Content Placeholder 2">
            <a:extLst>
              <a:ext uri="{FF2B5EF4-FFF2-40B4-BE49-F238E27FC236}">
                <a16:creationId xmlns:a16="http://schemas.microsoft.com/office/drawing/2014/main" id="{10792D86-EEB0-4907-B360-269E31AA10DB}"/>
              </a:ext>
            </a:extLst>
          </p:cNvPr>
          <p:cNvSpPr>
            <a:spLocks noGrp="1"/>
          </p:cNvSpPr>
          <p:nvPr>
            <p:ph idx="1"/>
          </p:nvPr>
        </p:nvSpPr>
        <p:spPr>
          <a:xfrm>
            <a:off x="397565" y="1325564"/>
            <a:ext cx="11252357" cy="5292950"/>
          </a:xfrm>
        </p:spPr>
        <p:txBody>
          <a:bodyPr>
            <a:normAutofit/>
          </a:bodyPr>
          <a:lstStyle/>
          <a:p>
            <a:pPr>
              <a:lnSpc>
                <a:spcPct val="150000"/>
              </a:lnSpc>
            </a:pPr>
            <a:r>
              <a:rPr lang="en-US" dirty="0"/>
              <a:t>Inheritance is one feature that leverages the ability to use a styling feature of </a:t>
            </a:r>
            <a:r>
              <a:rPr lang="en-US" dirty="0">
                <a:solidFill>
                  <a:srgbClr val="00B0F0"/>
                </a:solidFill>
              </a:rPr>
              <a:t>the parent entity in a child entity. </a:t>
            </a:r>
          </a:p>
          <a:p>
            <a:pPr>
              <a:lnSpc>
                <a:spcPct val="150000"/>
              </a:lnSpc>
            </a:pPr>
            <a:r>
              <a:rPr lang="en-US" dirty="0"/>
              <a:t>This gives ease to the coding, as a common property </a:t>
            </a:r>
            <a:r>
              <a:rPr lang="en-US" dirty="0">
                <a:solidFill>
                  <a:srgbClr val="00B0F0"/>
                </a:solidFill>
              </a:rPr>
              <a:t>need not be styled twice or multiple times.</a:t>
            </a:r>
          </a:p>
          <a:p>
            <a:pPr>
              <a:lnSpc>
                <a:spcPct val="150000"/>
              </a:lnSpc>
            </a:pPr>
            <a:r>
              <a:rPr lang="en-US" dirty="0"/>
              <a:t>The use of </a:t>
            </a:r>
            <a:r>
              <a:rPr lang="en-US" dirty="0">
                <a:solidFill>
                  <a:srgbClr val="FF0000"/>
                </a:solidFill>
              </a:rPr>
              <a:t>’inherit’</a:t>
            </a:r>
            <a:r>
              <a:rPr lang="en-US" dirty="0"/>
              <a:t> keyword makes sure that the property is adopted from the parent entity to the child entity.</a:t>
            </a:r>
          </a:p>
        </p:txBody>
      </p:sp>
      <p:cxnSp>
        <p:nvCxnSpPr>
          <p:cNvPr id="4" name="Straight Connector 3">
            <a:extLst>
              <a:ext uri="{FF2B5EF4-FFF2-40B4-BE49-F238E27FC236}">
                <a16:creationId xmlns:a16="http://schemas.microsoft.com/office/drawing/2014/main" id="{8494C333-8177-46D8-8DFA-60A257E3F777}"/>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5" name="Slide Number Placeholder 4">
            <a:extLst>
              <a:ext uri="{FF2B5EF4-FFF2-40B4-BE49-F238E27FC236}">
                <a16:creationId xmlns:a16="http://schemas.microsoft.com/office/drawing/2014/main" id="{691F8B44-55BC-A843-E03E-FA30D4B373DD}"/>
              </a:ext>
            </a:extLst>
          </p:cNvPr>
          <p:cNvSpPr>
            <a:spLocks noGrp="1"/>
          </p:cNvSpPr>
          <p:nvPr>
            <p:ph type="sldNum" sz="quarter" idx="12"/>
          </p:nvPr>
        </p:nvSpPr>
        <p:spPr/>
        <p:txBody>
          <a:bodyPr/>
          <a:lstStyle/>
          <a:p>
            <a:fld id="{C12FDFCB-08DC-4BFC-932D-D8A3ABE37605}" type="slidenum">
              <a:rPr lang="en-US" smtClean="0"/>
              <a:t>16</a:t>
            </a:fld>
            <a:endParaRPr lang="en-US"/>
          </a:p>
        </p:txBody>
      </p:sp>
    </p:spTree>
    <p:extLst>
      <p:ext uri="{BB962C8B-B14F-4D97-AF65-F5344CB8AC3E}">
        <p14:creationId xmlns:p14="http://schemas.microsoft.com/office/powerpoint/2010/main" val="131966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AF362-B592-477B-A013-F19F0853101A}"/>
              </a:ext>
            </a:extLst>
          </p:cNvPr>
          <p:cNvSpPr>
            <a:spLocks noGrp="1"/>
          </p:cNvSpPr>
          <p:nvPr>
            <p:ph type="title"/>
          </p:nvPr>
        </p:nvSpPr>
        <p:spPr>
          <a:xfrm>
            <a:off x="1912257" y="250031"/>
            <a:ext cx="10515600" cy="1325563"/>
          </a:xfrm>
        </p:spPr>
        <p:txBody>
          <a:bodyPr/>
          <a:lstStyle/>
          <a:p>
            <a:r>
              <a:rPr lang="en-US" b="1" dirty="0">
                <a:solidFill>
                  <a:schemeClr val="accent1"/>
                </a:solidFill>
                <a:latin typeface="+mn-lt"/>
              </a:rPr>
              <a:t>Example:</a:t>
            </a:r>
          </a:p>
        </p:txBody>
      </p:sp>
      <p:cxnSp>
        <p:nvCxnSpPr>
          <p:cNvPr id="4" name="Straight Connector 3">
            <a:extLst>
              <a:ext uri="{FF2B5EF4-FFF2-40B4-BE49-F238E27FC236}">
                <a16:creationId xmlns:a16="http://schemas.microsoft.com/office/drawing/2014/main" id="{CA195823-693B-4047-A5EE-A49977BC8F2B}"/>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6" name="TextBox 5">
            <a:extLst>
              <a:ext uri="{FF2B5EF4-FFF2-40B4-BE49-F238E27FC236}">
                <a16:creationId xmlns:a16="http://schemas.microsoft.com/office/drawing/2014/main" id="{4F0A29E1-77C6-AAD9-9214-2CDD15161EEF}"/>
              </a:ext>
            </a:extLst>
          </p:cNvPr>
          <p:cNvSpPr txBox="1"/>
          <p:nvPr/>
        </p:nvSpPr>
        <p:spPr>
          <a:xfrm>
            <a:off x="838200" y="1481755"/>
            <a:ext cx="3872573" cy="4893647"/>
          </a:xfrm>
          <a:prstGeom prst="rect">
            <a:avLst/>
          </a:prstGeom>
          <a:noFill/>
        </p:spPr>
        <p:txBody>
          <a:bodyPr wrap="square">
            <a:spAutoFit/>
          </a:bodyPr>
          <a:lstStyle/>
          <a:p>
            <a:r>
              <a:rPr lang="en-US" sz="2400" dirty="0"/>
              <a:t>&lt;!DOCTYPE html&gt;</a:t>
            </a:r>
          </a:p>
          <a:p>
            <a:r>
              <a:rPr lang="en-US" sz="2400" dirty="0"/>
              <a:t>&lt;html&gt;</a:t>
            </a:r>
          </a:p>
          <a:p>
            <a:r>
              <a:rPr lang="en-US" sz="2400" dirty="0"/>
              <a:t>&lt;head&gt;</a:t>
            </a:r>
          </a:p>
          <a:p>
            <a:r>
              <a:rPr lang="en-US" sz="2400" dirty="0"/>
              <a:t>&lt;style&gt;</a:t>
            </a:r>
          </a:p>
          <a:p>
            <a:r>
              <a:rPr lang="en-US" sz="2400" dirty="0"/>
              <a:t>span {</a:t>
            </a:r>
          </a:p>
          <a:p>
            <a:r>
              <a:rPr lang="en-US" sz="2400" dirty="0"/>
              <a:t>  color: blue;</a:t>
            </a:r>
          </a:p>
          <a:p>
            <a:r>
              <a:rPr lang="en-US" sz="2400" dirty="0"/>
              <a:t>  border: 1px solid black;</a:t>
            </a:r>
          </a:p>
          <a:p>
            <a:r>
              <a:rPr lang="en-US" sz="2400" dirty="0"/>
              <a:t>}</a:t>
            </a:r>
          </a:p>
          <a:p>
            <a:r>
              <a:rPr lang="en-US" sz="2400" dirty="0"/>
              <a:t>.extra span {</a:t>
            </a:r>
          </a:p>
          <a:p>
            <a:r>
              <a:rPr lang="en-US" sz="2400" dirty="0"/>
              <a:t>  color: inherit;</a:t>
            </a:r>
          </a:p>
          <a:p>
            <a:r>
              <a:rPr lang="en-US" sz="2400" dirty="0"/>
              <a:t>}</a:t>
            </a:r>
          </a:p>
          <a:p>
            <a:r>
              <a:rPr lang="en-US" sz="2400" dirty="0"/>
              <a:t>&lt;/style&gt;</a:t>
            </a:r>
          </a:p>
          <a:p>
            <a:r>
              <a:rPr lang="en-US" sz="2400" dirty="0"/>
              <a:t>&lt;/head&gt;</a:t>
            </a:r>
          </a:p>
        </p:txBody>
      </p:sp>
      <p:sp>
        <p:nvSpPr>
          <p:cNvPr id="8" name="TextBox 7">
            <a:extLst>
              <a:ext uri="{FF2B5EF4-FFF2-40B4-BE49-F238E27FC236}">
                <a16:creationId xmlns:a16="http://schemas.microsoft.com/office/drawing/2014/main" id="{17F86043-ED1A-DA3E-B6D8-7EB849F0A08F}"/>
              </a:ext>
            </a:extLst>
          </p:cNvPr>
          <p:cNvSpPr txBox="1"/>
          <p:nvPr/>
        </p:nvSpPr>
        <p:spPr>
          <a:xfrm>
            <a:off x="5467350" y="1325563"/>
            <a:ext cx="6577617" cy="4801314"/>
          </a:xfrm>
          <a:prstGeom prst="rect">
            <a:avLst/>
          </a:prstGeom>
          <a:noFill/>
        </p:spPr>
        <p:txBody>
          <a:bodyPr wrap="square">
            <a:spAutoFit/>
          </a:bodyPr>
          <a:lstStyle/>
          <a:p>
            <a:r>
              <a:rPr lang="en-US" sz="1800" dirty="0"/>
              <a:t>&lt;body&gt;</a:t>
            </a:r>
          </a:p>
          <a:p>
            <a:r>
              <a:rPr lang="en-US" sz="1800" dirty="0"/>
              <a:t>&lt;div&gt;</a:t>
            </a:r>
          </a:p>
          <a:p>
            <a:r>
              <a:rPr lang="en-US" sz="1800" dirty="0"/>
              <a:t>  Here is &lt;span&gt;a span element&lt;/span&gt; which is blue, as span elements are set to be.</a:t>
            </a:r>
          </a:p>
          <a:p>
            <a:r>
              <a:rPr lang="en-US" sz="1800" dirty="0"/>
              <a:t>&lt;/div&gt;</a:t>
            </a:r>
          </a:p>
          <a:p>
            <a:endParaRPr lang="en-US" sz="1800" dirty="0"/>
          </a:p>
          <a:p>
            <a:r>
              <a:rPr lang="en-US" sz="1800" dirty="0"/>
              <a:t>&lt;div class="extra" style="</a:t>
            </a:r>
            <a:r>
              <a:rPr lang="en-US" sz="1800" dirty="0" err="1"/>
              <a:t>color:green</a:t>
            </a:r>
            <a:r>
              <a:rPr lang="en-US" sz="1800" dirty="0"/>
              <a:t>"&gt;</a:t>
            </a:r>
          </a:p>
          <a:p>
            <a:r>
              <a:rPr lang="en-US" sz="1800" dirty="0"/>
              <a:t>  Here is &lt;span&gt;a span element&lt;/span&gt; which is green, because it inherits from its parent.</a:t>
            </a:r>
          </a:p>
          <a:p>
            <a:r>
              <a:rPr lang="en-US" sz="1800" dirty="0"/>
              <a:t>&lt;/div&gt;</a:t>
            </a:r>
          </a:p>
          <a:p>
            <a:endParaRPr lang="en-US" sz="1800" dirty="0"/>
          </a:p>
          <a:p>
            <a:r>
              <a:rPr lang="en-US" sz="1800" dirty="0"/>
              <a:t>&lt;div style="</a:t>
            </a:r>
            <a:r>
              <a:rPr lang="en-US" sz="1800" dirty="0" err="1"/>
              <a:t>color:red</a:t>
            </a:r>
            <a:r>
              <a:rPr lang="en-US" sz="1800" dirty="0"/>
              <a:t>"&gt;</a:t>
            </a:r>
          </a:p>
          <a:p>
            <a:r>
              <a:rPr lang="en-US" sz="1800" dirty="0"/>
              <a:t>  Here is &lt;span&gt;a span element&lt;/span&gt; which is blue, as span elements are set to be.</a:t>
            </a:r>
          </a:p>
          <a:p>
            <a:r>
              <a:rPr lang="en-US" sz="1800" dirty="0"/>
              <a:t>&lt;/div&gt;</a:t>
            </a:r>
          </a:p>
          <a:p>
            <a:r>
              <a:rPr lang="en-US" sz="1800" dirty="0"/>
              <a:t>&lt;/body&gt;</a:t>
            </a:r>
          </a:p>
          <a:p>
            <a:r>
              <a:rPr lang="en-US" sz="1800" dirty="0"/>
              <a:t>&lt;/html&gt;</a:t>
            </a:r>
          </a:p>
        </p:txBody>
      </p:sp>
      <p:pic>
        <p:nvPicPr>
          <p:cNvPr id="10" name="Picture 9">
            <a:extLst>
              <a:ext uri="{FF2B5EF4-FFF2-40B4-BE49-F238E27FC236}">
                <a16:creationId xmlns:a16="http://schemas.microsoft.com/office/drawing/2014/main" id="{32D90FC3-8A42-10EA-C503-6E57D3A2F5EF}"/>
              </a:ext>
            </a:extLst>
          </p:cNvPr>
          <p:cNvPicPr>
            <a:picLocks noChangeAspect="1"/>
          </p:cNvPicPr>
          <p:nvPr/>
        </p:nvPicPr>
        <p:blipFill>
          <a:blip r:embed="rId2"/>
          <a:stretch>
            <a:fillRect/>
          </a:stretch>
        </p:blipFill>
        <p:spPr>
          <a:xfrm>
            <a:off x="6980504" y="6072448"/>
            <a:ext cx="4600575" cy="685800"/>
          </a:xfrm>
          <a:prstGeom prst="rect">
            <a:avLst/>
          </a:prstGeom>
        </p:spPr>
      </p:pic>
      <p:sp>
        <p:nvSpPr>
          <p:cNvPr id="11" name="Slide Number Placeholder 10">
            <a:extLst>
              <a:ext uri="{FF2B5EF4-FFF2-40B4-BE49-F238E27FC236}">
                <a16:creationId xmlns:a16="http://schemas.microsoft.com/office/drawing/2014/main" id="{CC495C1D-4D32-9D7C-DB8D-8DDE5A9FB2F4}"/>
              </a:ext>
            </a:extLst>
          </p:cNvPr>
          <p:cNvSpPr>
            <a:spLocks noGrp="1"/>
          </p:cNvSpPr>
          <p:nvPr>
            <p:ph type="sldNum" sz="quarter" idx="12"/>
          </p:nvPr>
        </p:nvSpPr>
        <p:spPr/>
        <p:txBody>
          <a:bodyPr/>
          <a:lstStyle/>
          <a:p>
            <a:fld id="{C12FDFCB-08DC-4BFC-932D-D8A3ABE37605}" type="slidenum">
              <a:rPr lang="en-US" smtClean="0"/>
              <a:t>17</a:t>
            </a:fld>
            <a:endParaRPr lang="en-US"/>
          </a:p>
        </p:txBody>
      </p:sp>
    </p:spTree>
    <p:extLst>
      <p:ext uri="{BB962C8B-B14F-4D97-AF65-F5344CB8AC3E}">
        <p14:creationId xmlns:p14="http://schemas.microsoft.com/office/powerpoint/2010/main" val="173755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E7C8A-C698-45B8-8111-B4B84F805F15}"/>
              </a:ext>
            </a:extLst>
          </p:cNvPr>
          <p:cNvSpPr>
            <a:spLocks noGrp="1"/>
          </p:cNvSpPr>
          <p:nvPr>
            <p:ph type="title"/>
          </p:nvPr>
        </p:nvSpPr>
        <p:spPr>
          <a:xfrm>
            <a:off x="693057" y="374878"/>
            <a:ext cx="10515600" cy="1325563"/>
          </a:xfrm>
        </p:spPr>
        <p:txBody>
          <a:bodyPr>
            <a:normAutofit/>
          </a:bodyPr>
          <a:lstStyle/>
          <a:p>
            <a:pPr algn="ctr"/>
            <a:r>
              <a:rPr lang="en-US" sz="3600" b="1" dirty="0">
                <a:solidFill>
                  <a:schemeClr val="accent1"/>
                </a:solidFill>
                <a:effectLst/>
                <a:latin typeface="Comic Sans MS" panose="030F0702030302020204" pitchFamily="66" charset="0"/>
                <a:ea typeface="Calibri" panose="020F0502020204030204" pitchFamily="34" charset="0"/>
                <a:cs typeface="Times New Roman" panose="02020603050405020304" pitchFamily="18" charset="0"/>
              </a:rPr>
              <a:t>Style Rules Precedence</a:t>
            </a:r>
            <a:endParaRPr lang="en-US" sz="7200" b="1" dirty="0">
              <a:solidFill>
                <a:schemeClr val="accent1"/>
              </a:solidFill>
            </a:endParaRPr>
          </a:p>
        </p:txBody>
      </p:sp>
      <p:sp>
        <p:nvSpPr>
          <p:cNvPr id="3" name="Content Placeholder 2">
            <a:extLst>
              <a:ext uri="{FF2B5EF4-FFF2-40B4-BE49-F238E27FC236}">
                <a16:creationId xmlns:a16="http://schemas.microsoft.com/office/drawing/2014/main" id="{919AFF10-8D08-446E-9A88-EFFCAAE44A56}"/>
              </a:ext>
            </a:extLst>
          </p:cNvPr>
          <p:cNvSpPr>
            <a:spLocks noGrp="1"/>
          </p:cNvSpPr>
          <p:nvPr>
            <p:ph idx="1"/>
          </p:nvPr>
        </p:nvSpPr>
        <p:spPr>
          <a:xfrm>
            <a:off x="172278" y="1429473"/>
            <a:ext cx="11887199" cy="5181594"/>
          </a:xfrm>
        </p:spPr>
        <p:txBody>
          <a:bodyPr>
            <a:normAutofit/>
          </a:bodyPr>
          <a:lstStyle/>
          <a:p>
            <a:pPr marL="274320" indent="-274320" algn="l">
              <a:lnSpc>
                <a:spcPct val="150000"/>
              </a:lnSpc>
              <a:spcBef>
                <a:spcPts val="600"/>
              </a:spcBef>
            </a:pPr>
            <a:r>
              <a:rPr lang="en-US" b="0" i="0" dirty="0">
                <a:solidFill>
                  <a:srgbClr val="000000"/>
                </a:solidFill>
                <a:effectLst/>
              </a:rPr>
              <a:t>Every CSS selector has its place in the specificity hierarchy.</a:t>
            </a:r>
          </a:p>
          <a:p>
            <a:pPr marL="274320" indent="-274320" algn="l">
              <a:lnSpc>
                <a:spcPct val="150000"/>
              </a:lnSpc>
              <a:spcBef>
                <a:spcPts val="600"/>
              </a:spcBef>
            </a:pPr>
            <a:r>
              <a:rPr lang="en-US" b="0" i="0" dirty="0">
                <a:solidFill>
                  <a:srgbClr val="000000"/>
                </a:solidFill>
                <a:effectLst/>
              </a:rPr>
              <a:t>There are four categories which define the specificity level of a selector:</a:t>
            </a:r>
          </a:p>
          <a:p>
            <a:pPr marL="914389" lvl="1" indent="-457200">
              <a:lnSpc>
                <a:spcPct val="150000"/>
              </a:lnSpc>
              <a:buFont typeface="+mj-lt"/>
              <a:buAutoNum type="arabicPeriod"/>
            </a:pPr>
            <a:r>
              <a:rPr lang="en-US" b="1" i="0" dirty="0">
                <a:solidFill>
                  <a:srgbClr val="FF0000"/>
                </a:solidFill>
                <a:effectLst/>
              </a:rPr>
              <a:t>Inline styles </a:t>
            </a:r>
            <a:r>
              <a:rPr lang="en-US" i="0" dirty="0">
                <a:solidFill>
                  <a:srgbClr val="000000"/>
                </a:solidFill>
                <a:effectLst/>
              </a:rPr>
              <a:t>- Example: &lt;h1 style="color: pink;"&gt;</a:t>
            </a:r>
          </a:p>
          <a:p>
            <a:pPr marL="914389" lvl="1" indent="-457200">
              <a:lnSpc>
                <a:spcPct val="150000"/>
              </a:lnSpc>
              <a:buFont typeface="+mj-lt"/>
              <a:buAutoNum type="arabicPeriod"/>
            </a:pPr>
            <a:r>
              <a:rPr lang="en-US" b="1" i="0" dirty="0">
                <a:solidFill>
                  <a:srgbClr val="FF0000"/>
                </a:solidFill>
                <a:effectLst/>
              </a:rPr>
              <a:t>IDs</a:t>
            </a:r>
            <a:r>
              <a:rPr lang="en-US" i="0" dirty="0">
                <a:solidFill>
                  <a:srgbClr val="000000"/>
                </a:solidFill>
                <a:effectLst/>
              </a:rPr>
              <a:t> - Example: #navbar</a:t>
            </a:r>
          </a:p>
          <a:p>
            <a:pPr marL="914389" lvl="1" indent="-457200">
              <a:lnSpc>
                <a:spcPct val="150000"/>
              </a:lnSpc>
              <a:buFont typeface="+mj-lt"/>
              <a:buAutoNum type="arabicPeriod"/>
            </a:pPr>
            <a:r>
              <a:rPr lang="en-US" i="0" dirty="0">
                <a:solidFill>
                  <a:srgbClr val="FF0000"/>
                </a:solidFill>
                <a:effectLst/>
              </a:rPr>
              <a:t>Classes, pseudo-classes, attribute selectors </a:t>
            </a:r>
            <a:r>
              <a:rPr lang="en-US" i="0" dirty="0">
                <a:solidFill>
                  <a:srgbClr val="000000"/>
                </a:solidFill>
                <a:effectLst/>
              </a:rPr>
              <a:t>- Example: .test, :hover, [</a:t>
            </a:r>
            <a:r>
              <a:rPr lang="en-US" i="0" dirty="0" err="1">
                <a:solidFill>
                  <a:srgbClr val="FF0000"/>
                </a:solidFill>
                <a:effectLst/>
              </a:rPr>
              <a:t>href</a:t>
            </a:r>
            <a:r>
              <a:rPr lang="en-US" i="0" dirty="0">
                <a:solidFill>
                  <a:srgbClr val="000000"/>
                </a:solidFill>
                <a:effectLst/>
              </a:rPr>
              <a:t>]</a:t>
            </a:r>
          </a:p>
          <a:p>
            <a:pPr marL="914389" lvl="1" indent="-457200">
              <a:lnSpc>
                <a:spcPct val="150000"/>
              </a:lnSpc>
              <a:buFont typeface="+mj-lt"/>
              <a:buAutoNum type="arabicPeriod"/>
            </a:pPr>
            <a:r>
              <a:rPr lang="en-US" i="0" dirty="0">
                <a:solidFill>
                  <a:srgbClr val="FF0000"/>
                </a:solidFill>
                <a:effectLst/>
              </a:rPr>
              <a:t>Elements and pseudo-elements:</a:t>
            </a:r>
            <a:r>
              <a:rPr lang="en-US" i="0" dirty="0">
                <a:solidFill>
                  <a:srgbClr val="000000"/>
                </a:solidFill>
                <a:effectLst/>
              </a:rPr>
              <a:t> Example: h1, ::before</a:t>
            </a:r>
          </a:p>
        </p:txBody>
      </p:sp>
      <p:cxnSp>
        <p:nvCxnSpPr>
          <p:cNvPr id="4" name="Straight Connector 3">
            <a:extLst>
              <a:ext uri="{FF2B5EF4-FFF2-40B4-BE49-F238E27FC236}">
                <a16:creationId xmlns:a16="http://schemas.microsoft.com/office/drawing/2014/main" id="{867A41DF-2023-4695-B11D-B62D905F3338}"/>
              </a:ext>
            </a:extLst>
          </p:cNvPr>
          <p:cNvCxnSpPr>
            <a:cxnSpLocks/>
          </p:cNvCxnSpPr>
          <p:nvPr/>
        </p:nvCxnSpPr>
        <p:spPr>
          <a:xfrm>
            <a:off x="1436914" y="1325563"/>
            <a:ext cx="9086626"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7" name="Slide Number Placeholder 6">
            <a:extLst>
              <a:ext uri="{FF2B5EF4-FFF2-40B4-BE49-F238E27FC236}">
                <a16:creationId xmlns:a16="http://schemas.microsoft.com/office/drawing/2014/main" id="{037A895B-2211-C3C9-C4EB-452B2CD81C8F}"/>
              </a:ext>
            </a:extLst>
          </p:cNvPr>
          <p:cNvSpPr>
            <a:spLocks noGrp="1"/>
          </p:cNvSpPr>
          <p:nvPr>
            <p:ph type="sldNum" sz="quarter" idx="12"/>
          </p:nvPr>
        </p:nvSpPr>
        <p:spPr/>
        <p:txBody>
          <a:bodyPr/>
          <a:lstStyle/>
          <a:p>
            <a:fld id="{C12FDFCB-08DC-4BFC-932D-D8A3ABE37605}" type="slidenum">
              <a:rPr lang="en-US" smtClean="0"/>
              <a:t>18</a:t>
            </a:fld>
            <a:endParaRPr lang="en-US"/>
          </a:p>
        </p:txBody>
      </p:sp>
    </p:spTree>
    <p:extLst>
      <p:ext uri="{BB962C8B-B14F-4D97-AF65-F5344CB8AC3E}">
        <p14:creationId xmlns:p14="http://schemas.microsoft.com/office/powerpoint/2010/main" val="3832724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57D11-4B25-46F7-A15F-5B91E83668A2}"/>
              </a:ext>
            </a:extLst>
          </p:cNvPr>
          <p:cNvSpPr>
            <a:spLocks noGrp="1"/>
          </p:cNvSpPr>
          <p:nvPr>
            <p:ph type="title"/>
          </p:nvPr>
        </p:nvSpPr>
        <p:spPr>
          <a:xfrm>
            <a:off x="838200" y="365127"/>
            <a:ext cx="10515600" cy="1060523"/>
          </a:xfrm>
        </p:spPr>
        <p:txBody>
          <a:bodyPr>
            <a:normAutofit fontScale="90000"/>
          </a:bodyPr>
          <a:lstStyle/>
          <a:p>
            <a:r>
              <a:rPr lang="en-US" b="1" dirty="0">
                <a:solidFill>
                  <a:schemeClr val="accent1"/>
                </a:solidFill>
                <a:latin typeface="+mn-lt"/>
              </a:rPr>
              <a:t>How to Calculate Specificity?</a:t>
            </a:r>
            <a:br>
              <a:rPr lang="en-US" b="1" dirty="0">
                <a:solidFill>
                  <a:schemeClr val="accent1"/>
                </a:solidFill>
                <a:latin typeface="+mn-lt"/>
              </a:rPr>
            </a:br>
            <a:endParaRPr lang="en-US" b="1" dirty="0">
              <a:solidFill>
                <a:schemeClr val="accent1"/>
              </a:solidFill>
              <a:latin typeface="+mn-lt"/>
            </a:endParaRPr>
          </a:p>
        </p:txBody>
      </p:sp>
      <p:sp>
        <p:nvSpPr>
          <p:cNvPr id="3" name="Content Placeholder 2">
            <a:extLst>
              <a:ext uri="{FF2B5EF4-FFF2-40B4-BE49-F238E27FC236}">
                <a16:creationId xmlns:a16="http://schemas.microsoft.com/office/drawing/2014/main" id="{CD18015A-772E-4B6F-B216-8073D5B51304}"/>
              </a:ext>
            </a:extLst>
          </p:cNvPr>
          <p:cNvSpPr>
            <a:spLocks noGrp="1"/>
          </p:cNvSpPr>
          <p:nvPr>
            <p:ph idx="1"/>
          </p:nvPr>
        </p:nvSpPr>
        <p:spPr>
          <a:xfrm>
            <a:off x="331305" y="1219204"/>
            <a:ext cx="11489634" cy="5207520"/>
          </a:xfrm>
        </p:spPr>
        <p:txBody>
          <a:bodyPr>
            <a:normAutofit fontScale="77500" lnSpcReduction="20000"/>
          </a:bodyPr>
          <a:lstStyle/>
          <a:p>
            <a:pPr algn="l">
              <a:lnSpc>
                <a:spcPct val="120000"/>
              </a:lnSpc>
            </a:pPr>
            <a:r>
              <a:rPr lang="en-US" b="1" i="0" dirty="0">
                <a:solidFill>
                  <a:srgbClr val="FF0000"/>
                </a:solidFill>
                <a:effectLst/>
                <a:latin typeface="Segoe UI" panose="020B0502040204020203" pitchFamily="34" charset="0"/>
              </a:rPr>
              <a:t>What is Specificity?</a:t>
            </a:r>
            <a:endParaRPr lang="en-US" b="1" i="0" dirty="0">
              <a:solidFill>
                <a:srgbClr val="FF0000"/>
              </a:solidFill>
              <a:effectLst/>
            </a:endParaRPr>
          </a:p>
          <a:p>
            <a:pPr algn="l">
              <a:lnSpc>
                <a:spcPct val="120000"/>
              </a:lnSpc>
            </a:pPr>
            <a:r>
              <a:rPr lang="en-US" b="0" i="0" dirty="0">
                <a:solidFill>
                  <a:srgbClr val="000000"/>
                </a:solidFill>
                <a:effectLst/>
              </a:rPr>
              <a:t>If there are two or more CSS rules that point to the same element, the selector with the highest specificity value will "win", and its style declaration will be applied to that HTML element</a:t>
            </a:r>
          </a:p>
          <a:p>
            <a:pPr>
              <a:lnSpc>
                <a:spcPct val="150000"/>
              </a:lnSpc>
            </a:pPr>
            <a:r>
              <a:rPr lang="en-US" dirty="0"/>
              <a:t>Start at 0, add 100 for each</a:t>
            </a:r>
            <a:r>
              <a:rPr lang="en-US" dirty="0">
                <a:solidFill>
                  <a:srgbClr val="FF0000"/>
                </a:solidFill>
              </a:rPr>
              <a:t> ID </a:t>
            </a:r>
            <a:r>
              <a:rPr lang="en-US" dirty="0"/>
              <a:t>value, add 10 for each </a:t>
            </a:r>
            <a:r>
              <a:rPr lang="en-US" dirty="0">
                <a:solidFill>
                  <a:schemeClr val="accent1"/>
                </a:solidFill>
              </a:rPr>
              <a:t>class value (or pseudo-class or attribute selector),</a:t>
            </a:r>
            <a:r>
              <a:rPr lang="en-US" dirty="0"/>
              <a:t> add 1 for each </a:t>
            </a:r>
            <a:r>
              <a:rPr lang="en-US" dirty="0">
                <a:solidFill>
                  <a:schemeClr val="accent1"/>
                </a:solidFill>
              </a:rPr>
              <a:t>element selector or pseudo-element</a:t>
            </a:r>
            <a:r>
              <a:rPr lang="en-US" dirty="0"/>
              <a:t>.</a:t>
            </a:r>
          </a:p>
          <a:p>
            <a:pPr>
              <a:lnSpc>
                <a:spcPct val="150000"/>
              </a:lnSpc>
            </a:pPr>
            <a:r>
              <a:rPr lang="en-US" b="1" dirty="0"/>
              <a:t>Note 1: </a:t>
            </a:r>
            <a:r>
              <a:rPr lang="en-US" dirty="0"/>
              <a:t>Inline style gets a specificity value of 1000, and is always given the highest priority!</a:t>
            </a:r>
          </a:p>
          <a:p>
            <a:pPr>
              <a:lnSpc>
                <a:spcPct val="150000"/>
              </a:lnSpc>
            </a:pPr>
            <a:r>
              <a:rPr lang="en-US" b="1" dirty="0"/>
              <a:t>Note 2: </a:t>
            </a:r>
            <a:r>
              <a:rPr lang="en-US" dirty="0"/>
              <a:t>There is one exception to this rule: if you use the !important rule, it will even override inline styles!</a:t>
            </a:r>
          </a:p>
        </p:txBody>
      </p:sp>
      <p:cxnSp>
        <p:nvCxnSpPr>
          <p:cNvPr id="4" name="Straight Connector 3">
            <a:extLst>
              <a:ext uri="{FF2B5EF4-FFF2-40B4-BE49-F238E27FC236}">
                <a16:creationId xmlns:a16="http://schemas.microsoft.com/office/drawing/2014/main" id="{5A3A0C89-0753-4D27-8189-9BF212CE23EC}"/>
              </a:ext>
            </a:extLst>
          </p:cNvPr>
          <p:cNvCxnSpPr>
            <a:cxnSpLocks/>
          </p:cNvCxnSpPr>
          <p:nvPr/>
        </p:nvCxnSpPr>
        <p:spPr>
          <a:xfrm>
            <a:off x="1001486" y="1020767"/>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5" name="Slide Number Placeholder 4">
            <a:extLst>
              <a:ext uri="{FF2B5EF4-FFF2-40B4-BE49-F238E27FC236}">
                <a16:creationId xmlns:a16="http://schemas.microsoft.com/office/drawing/2014/main" id="{BE6DEC92-B61D-889E-6EA0-100E6C598A60}"/>
              </a:ext>
            </a:extLst>
          </p:cNvPr>
          <p:cNvSpPr>
            <a:spLocks noGrp="1"/>
          </p:cNvSpPr>
          <p:nvPr>
            <p:ph type="sldNum" sz="quarter" idx="12"/>
          </p:nvPr>
        </p:nvSpPr>
        <p:spPr/>
        <p:txBody>
          <a:bodyPr/>
          <a:lstStyle/>
          <a:p>
            <a:fld id="{C12FDFCB-08DC-4BFC-932D-D8A3ABE37605}" type="slidenum">
              <a:rPr lang="en-US" smtClean="0"/>
              <a:t>19</a:t>
            </a:fld>
            <a:endParaRPr lang="en-US"/>
          </a:p>
        </p:txBody>
      </p:sp>
    </p:spTree>
    <p:extLst>
      <p:ext uri="{BB962C8B-B14F-4D97-AF65-F5344CB8AC3E}">
        <p14:creationId xmlns:p14="http://schemas.microsoft.com/office/powerpoint/2010/main" val="1697130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A31A-9A97-43A3-9C8F-449F906755C4}"/>
              </a:ext>
            </a:extLst>
          </p:cNvPr>
          <p:cNvSpPr>
            <a:spLocks noGrp="1"/>
          </p:cNvSpPr>
          <p:nvPr>
            <p:ph type="title"/>
          </p:nvPr>
        </p:nvSpPr>
        <p:spPr/>
        <p:txBody>
          <a:bodyPr>
            <a:noAutofit/>
          </a:bodyPr>
          <a:lstStyle/>
          <a:p>
            <a:r>
              <a:rPr lang="en-US" sz="2000" b="0" i="0" dirty="0">
                <a:solidFill>
                  <a:srgbClr val="000000"/>
                </a:solidFill>
                <a:effectLst/>
                <a:latin typeface="Verdana" panose="020B0604030504040204" pitchFamily="34" charset="0"/>
              </a:rPr>
              <a:t>examples on how to calculate specificity values:</a:t>
            </a:r>
            <a:br>
              <a:rPr lang="en-US" sz="2000" b="0" i="0" dirty="0">
                <a:solidFill>
                  <a:srgbClr val="000000"/>
                </a:solidFill>
                <a:effectLst/>
                <a:latin typeface="Verdana" panose="020B0604030504040204" pitchFamily="34" charset="0"/>
              </a:rPr>
            </a:br>
            <a:br>
              <a:rPr lang="en-US" sz="2000" dirty="0"/>
            </a:br>
            <a:endParaRPr lang="en-US" sz="2000" dirty="0"/>
          </a:p>
        </p:txBody>
      </p:sp>
      <p:pic>
        <p:nvPicPr>
          <p:cNvPr id="5" name="Content Placeholder 4">
            <a:extLst>
              <a:ext uri="{FF2B5EF4-FFF2-40B4-BE49-F238E27FC236}">
                <a16:creationId xmlns:a16="http://schemas.microsoft.com/office/drawing/2014/main" id="{A8A52E81-784A-47D8-9410-BF730C27617B}"/>
              </a:ext>
            </a:extLst>
          </p:cNvPr>
          <p:cNvPicPr>
            <a:picLocks noGrp="1" noChangeAspect="1"/>
          </p:cNvPicPr>
          <p:nvPr>
            <p:ph idx="1"/>
          </p:nvPr>
        </p:nvPicPr>
        <p:blipFill>
          <a:blip r:embed="rId2"/>
          <a:stretch>
            <a:fillRect/>
          </a:stretch>
        </p:blipFill>
        <p:spPr>
          <a:xfrm>
            <a:off x="647114" y="1482280"/>
            <a:ext cx="9876426" cy="4876313"/>
          </a:xfrm>
        </p:spPr>
      </p:pic>
      <p:cxnSp>
        <p:nvCxnSpPr>
          <p:cNvPr id="4" name="Straight Connector 3">
            <a:extLst>
              <a:ext uri="{FF2B5EF4-FFF2-40B4-BE49-F238E27FC236}">
                <a16:creationId xmlns:a16="http://schemas.microsoft.com/office/drawing/2014/main" id="{D1954061-9921-43FD-8F88-268D40EEC50F}"/>
              </a:ext>
            </a:extLst>
          </p:cNvPr>
          <p:cNvCxnSpPr>
            <a:cxnSpLocks/>
          </p:cNvCxnSpPr>
          <p:nvPr/>
        </p:nvCxnSpPr>
        <p:spPr>
          <a:xfrm>
            <a:off x="1001486" y="1325563"/>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3" name="Slide Number Placeholder 2">
            <a:extLst>
              <a:ext uri="{FF2B5EF4-FFF2-40B4-BE49-F238E27FC236}">
                <a16:creationId xmlns:a16="http://schemas.microsoft.com/office/drawing/2014/main" id="{7B961894-D91C-F708-5214-976660AE1652}"/>
              </a:ext>
            </a:extLst>
          </p:cNvPr>
          <p:cNvSpPr>
            <a:spLocks noGrp="1"/>
          </p:cNvSpPr>
          <p:nvPr>
            <p:ph type="sldNum" sz="quarter" idx="12"/>
          </p:nvPr>
        </p:nvSpPr>
        <p:spPr/>
        <p:txBody>
          <a:bodyPr/>
          <a:lstStyle/>
          <a:p>
            <a:fld id="{C12FDFCB-08DC-4BFC-932D-D8A3ABE37605}" type="slidenum">
              <a:rPr lang="en-US" smtClean="0"/>
              <a:t>20</a:t>
            </a:fld>
            <a:endParaRPr lang="en-US"/>
          </a:p>
        </p:txBody>
      </p:sp>
    </p:spTree>
    <p:extLst>
      <p:ext uri="{BB962C8B-B14F-4D97-AF65-F5344CB8AC3E}">
        <p14:creationId xmlns:p14="http://schemas.microsoft.com/office/powerpoint/2010/main" val="3677302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4278-C5D0-41DC-9088-1946A53BEEA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AE36CF8-3672-4D42-8FB8-56B32B28544A}"/>
              </a:ext>
            </a:extLst>
          </p:cNvPr>
          <p:cNvSpPr>
            <a:spLocks noGrp="1"/>
          </p:cNvSpPr>
          <p:nvPr>
            <p:ph idx="1"/>
          </p:nvPr>
        </p:nvSpPr>
        <p:spPr>
          <a:xfrm>
            <a:off x="771939" y="1407177"/>
            <a:ext cx="10836965" cy="5085696"/>
          </a:xfrm>
        </p:spPr>
        <p:txBody>
          <a:bodyPr>
            <a:normAutofit/>
          </a:bodyPr>
          <a:lstStyle/>
          <a:p>
            <a:r>
              <a:rPr lang="en-US" dirty="0"/>
              <a:t>Example</a:t>
            </a:r>
          </a:p>
          <a:p>
            <a:pPr marL="457189" lvl="1" indent="0">
              <a:buNone/>
            </a:pPr>
            <a:r>
              <a:rPr lang="en-US" dirty="0">
                <a:solidFill>
                  <a:srgbClr val="0070C0"/>
                </a:solidFill>
              </a:rPr>
              <a:t>A: h1</a:t>
            </a:r>
          </a:p>
          <a:p>
            <a:pPr marL="457189" lvl="1" indent="0">
              <a:buNone/>
            </a:pPr>
            <a:r>
              <a:rPr lang="en-US" dirty="0">
                <a:solidFill>
                  <a:srgbClr val="0070C0"/>
                </a:solidFill>
              </a:rPr>
              <a:t>B: h1#content</a:t>
            </a:r>
          </a:p>
          <a:p>
            <a:pPr marL="457189" lvl="1" indent="0">
              <a:buNone/>
            </a:pPr>
            <a:r>
              <a:rPr lang="en-US" dirty="0">
                <a:solidFill>
                  <a:srgbClr val="0070C0"/>
                </a:solidFill>
              </a:rPr>
              <a:t>C: &lt;h1 id="content" </a:t>
            </a:r>
            <a:r>
              <a:rPr lang="en-US" dirty="0">
                <a:solidFill>
                  <a:srgbClr val="FF0000"/>
                </a:solidFill>
              </a:rPr>
              <a:t>style="color: pink;</a:t>
            </a:r>
            <a:r>
              <a:rPr lang="en-US" dirty="0">
                <a:solidFill>
                  <a:srgbClr val="0070C0"/>
                </a:solidFill>
              </a:rPr>
              <a:t>"&gt;Heading&lt;/h1&gt;</a:t>
            </a:r>
          </a:p>
          <a:p>
            <a:r>
              <a:rPr lang="en-US" sz="2400" dirty="0"/>
              <a:t>The specificity of A is 1 (one element selector)</a:t>
            </a:r>
          </a:p>
          <a:p>
            <a:r>
              <a:rPr lang="en-US" sz="2400" dirty="0"/>
              <a:t>The specificity of B is 101 (one ID reference + one element selector)</a:t>
            </a:r>
          </a:p>
          <a:p>
            <a:r>
              <a:rPr lang="en-US" sz="2400" dirty="0"/>
              <a:t>The specificity of C is 1000 (inline styling)</a:t>
            </a:r>
          </a:p>
          <a:p>
            <a:r>
              <a:rPr lang="en-US" sz="2400" dirty="0"/>
              <a:t>Since the third rule (C) has the highest </a:t>
            </a:r>
            <a:r>
              <a:rPr lang="en-US" sz="2400" dirty="0">
                <a:solidFill>
                  <a:srgbClr val="FF0000"/>
                </a:solidFill>
              </a:rPr>
              <a:t>specificity value (1000)</a:t>
            </a:r>
            <a:r>
              <a:rPr lang="en-US" sz="2400" dirty="0"/>
              <a:t>, this style declaration will be applied (inline style).</a:t>
            </a:r>
          </a:p>
          <a:p>
            <a:r>
              <a:rPr lang="en-US" sz="2400" b="1" i="0" dirty="0">
                <a:solidFill>
                  <a:srgbClr val="FF0000"/>
                </a:solidFill>
                <a:effectLst/>
              </a:rPr>
              <a:t>What if Equal specificity? (do the latest rule wins?)</a:t>
            </a:r>
          </a:p>
          <a:p>
            <a:pPr marL="1371566" lvl="3" indent="0">
              <a:buNone/>
            </a:pPr>
            <a:r>
              <a:rPr lang="en-US" b="0" i="0" dirty="0">
                <a:solidFill>
                  <a:srgbClr val="A52A2A"/>
                </a:solidFill>
                <a:effectLst/>
                <a:latin typeface="Consolas" panose="020B0609020204030204" pitchFamily="49" charset="0"/>
              </a:rPr>
              <a:t>h1 </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background-color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yellow</a:t>
            </a:r>
            <a:r>
              <a:rPr lang="en-US" b="0" i="0" dirty="0">
                <a:solidFill>
                  <a:srgbClr val="000000"/>
                </a:solidFill>
                <a:effectLst/>
                <a:latin typeface="Consolas" panose="020B0609020204030204" pitchFamily="49" charset="0"/>
              </a:rPr>
              <a:t>;}</a:t>
            </a:r>
            <a:br>
              <a:rPr lang="en-US" dirty="0"/>
            </a:br>
            <a:r>
              <a:rPr lang="en-US" b="0" i="0" dirty="0">
                <a:solidFill>
                  <a:srgbClr val="A52A2A"/>
                </a:solidFill>
                <a:effectLst/>
                <a:latin typeface="Consolas" panose="020B0609020204030204" pitchFamily="49" charset="0"/>
              </a:rPr>
              <a:t>h1 </a:t>
            </a:r>
            <a:r>
              <a:rPr lang="en-US" b="0" i="0" dirty="0">
                <a:solidFill>
                  <a:srgbClr val="000000"/>
                </a:solidFill>
                <a:effectLst/>
                <a:latin typeface="Consolas" panose="020B0609020204030204" pitchFamily="49" charset="0"/>
              </a:rPr>
              <a:t>{</a:t>
            </a:r>
            <a:r>
              <a:rPr lang="en-US" b="0" i="0" dirty="0">
                <a:solidFill>
                  <a:srgbClr val="FF0000"/>
                </a:solidFill>
                <a:effectLst/>
                <a:latin typeface="Consolas" panose="020B0609020204030204" pitchFamily="49" charset="0"/>
              </a:rPr>
              <a:t>background-color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red</a:t>
            </a:r>
            <a:r>
              <a:rPr lang="en-US" b="0" i="0" dirty="0">
                <a:solidFill>
                  <a:srgbClr val="000000"/>
                </a:solidFill>
                <a:effectLst/>
                <a:latin typeface="Consolas" panose="020B0609020204030204" pitchFamily="49" charset="0"/>
              </a:rPr>
              <a:t>;}</a:t>
            </a:r>
            <a:endParaRPr lang="en-US" dirty="0">
              <a:solidFill>
                <a:srgbClr val="FF0000"/>
              </a:solidFill>
            </a:endParaRPr>
          </a:p>
        </p:txBody>
      </p:sp>
      <p:cxnSp>
        <p:nvCxnSpPr>
          <p:cNvPr id="6" name="Straight Connector 5">
            <a:extLst>
              <a:ext uri="{FF2B5EF4-FFF2-40B4-BE49-F238E27FC236}">
                <a16:creationId xmlns:a16="http://schemas.microsoft.com/office/drawing/2014/main" id="{58E4D6E3-0399-4B9A-AA00-BC8453B95A80}"/>
              </a:ext>
            </a:extLst>
          </p:cNvPr>
          <p:cNvCxnSpPr>
            <a:cxnSpLocks/>
          </p:cNvCxnSpPr>
          <p:nvPr/>
        </p:nvCxnSpPr>
        <p:spPr>
          <a:xfrm>
            <a:off x="1001486" y="1325563"/>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9F1BE93C-C1D9-3119-2E57-465E29DFF79D}"/>
              </a:ext>
            </a:extLst>
          </p:cNvPr>
          <p:cNvSpPr>
            <a:spLocks noGrp="1"/>
          </p:cNvSpPr>
          <p:nvPr>
            <p:ph type="sldNum" sz="quarter" idx="12"/>
          </p:nvPr>
        </p:nvSpPr>
        <p:spPr/>
        <p:txBody>
          <a:bodyPr/>
          <a:lstStyle/>
          <a:p>
            <a:fld id="{C12FDFCB-08DC-4BFC-932D-D8A3ABE37605}" type="slidenum">
              <a:rPr lang="en-US" smtClean="0"/>
              <a:t>21</a:t>
            </a:fld>
            <a:endParaRPr lang="en-US"/>
          </a:p>
        </p:txBody>
      </p:sp>
    </p:spTree>
    <p:extLst>
      <p:ext uri="{BB962C8B-B14F-4D97-AF65-F5344CB8AC3E}">
        <p14:creationId xmlns:p14="http://schemas.microsoft.com/office/powerpoint/2010/main" val="1765290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4278-C5D0-41DC-9088-1946A53BEEA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AE36CF8-3672-4D42-8FB8-56B32B28544A}"/>
              </a:ext>
            </a:extLst>
          </p:cNvPr>
          <p:cNvSpPr>
            <a:spLocks noGrp="1"/>
          </p:cNvSpPr>
          <p:nvPr>
            <p:ph idx="1"/>
          </p:nvPr>
        </p:nvSpPr>
        <p:spPr>
          <a:xfrm>
            <a:off x="771939" y="1407177"/>
            <a:ext cx="10836965" cy="5085696"/>
          </a:xfrm>
        </p:spPr>
        <p:txBody>
          <a:bodyPr>
            <a:normAutofit/>
          </a:bodyPr>
          <a:lstStyle/>
          <a:p>
            <a:pPr marL="457189" lvl="1" indent="0">
              <a:buNone/>
            </a:pPr>
            <a:r>
              <a:rPr lang="en-US" dirty="0">
                <a:solidFill>
                  <a:srgbClr val="FF0000"/>
                </a:solidFill>
              </a:rPr>
              <a:t>&lt;!DOCTYPE html&gt;</a:t>
            </a:r>
          </a:p>
          <a:p>
            <a:pPr marL="457189" lvl="1" indent="0">
              <a:buNone/>
            </a:pPr>
            <a:r>
              <a:rPr lang="en-US" dirty="0">
                <a:solidFill>
                  <a:srgbClr val="FF0000"/>
                </a:solidFill>
              </a:rPr>
              <a:t>&lt;html&gt;</a:t>
            </a:r>
          </a:p>
          <a:p>
            <a:pPr marL="457189" lvl="1" indent="0">
              <a:buNone/>
            </a:pPr>
            <a:r>
              <a:rPr lang="en-US" dirty="0">
                <a:solidFill>
                  <a:srgbClr val="FF0000"/>
                </a:solidFill>
              </a:rPr>
              <a:t>&lt;head&gt;</a:t>
            </a:r>
          </a:p>
          <a:p>
            <a:pPr marL="457189" lvl="1" indent="0">
              <a:buNone/>
            </a:pPr>
            <a:r>
              <a:rPr lang="en-US" dirty="0">
                <a:solidFill>
                  <a:srgbClr val="FF0000"/>
                </a:solidFill>
              </a:rPr>
              <a:t>&lt;style&gt;</a:t>
            </a:r>
          </a:p>
          <a:p>
            <a:pPr marL="457189" lvl="1" indent="0">
              <a:buNone/>
            </a:pPr>
            <a:r>
              <a:rPr lang="en-US" dirty="0">
                <a:solidFill>
                  <a:srgbClr val="FF0000"/>
                </a:solidFill>
              </a:rPr>
              <a:t>.test {color: green;} </a:t>
            </a:r>
          </a:p>
          <a:p>
            <a:pPr marL="457189" lvl="1" indent="0">
              <a:buNone/>
            </a:pPr>
            <a:r>
              <a:rPr lang="en-US" dirty="0">
                <a:solidFill>
                  <a:srgbClr val="FF0000"/>
                </a:solidFill>
              </a:rPr>
              <a:t>p {color: red;} </a:t>
            </a:r>
          </a:p>
          <a:p>
            <a:pPr marL="457189" lvl="1" indent="0">
              <a:buNone/>
            </a:pPr>
            <a:r>
              <a:rPr lang="en-US" dirty="0">
                <a:solidFill>
                  <a:srgbClr val="FF0000"/>
                </a:solidFill>
              </a:rPr>
              <a:t>&lt;/style&gt;</a:t>
            </a:r>
          </a:p>
          <a:p>
            <a:pPr marL="457189" lvl="1" indent="0">
              <a:buNone/>
            </a:pPr>
            <a:r>
              <a:rPr lang="en-US" dirty="0">
                <a:solidFill>
                  <a:srgbClr val="FF0000"/>
                </a:solidFill>
              </a:rPr>
              <a:t>&lt;/head&gt;</a:t>
            </a:r>
          </a:p>
          <a:p>
            <a:pPr marL="457189" lvl="1" indent="0">
              <a:buNone/>
            </a:pPr>
            <a:r>
              <a:rPr lang="en-US" dirty="0">
                <a:solidFill>
                  <a:srgbClr val="FF0000"/>
                </a:solidFill>
              </a:rPr>
              <a:t>&lt;body&gt;</a:t>
            </a:r>
          </a:p>
          <a:p>
            <a:pPr marL="457189" lvl="1" indent="0">
              <a:buNone/>
            </a:pPr>
            <a:r>
              <a:rPr lang="en-US" dirty="0">
                <a:solidFill>
                  <a:srgbClr val="FF0000"/>
                </a:solidFill>
              </a:rPr>
              <a:t>&lt;p class="test"&gt;Hello World!&lt;/p&gt;</a:t>
            </a:r>
          </a:p>
          <a:p>
            <a:pPr marL="457189" lvl="1" indent="0">
              <a:buNone/>
            </a:pPr>
            <a:r>
              <a:rPr lang="en-US" dirty="0">
                <a:solidFill>
                  <a:srgbClr val="FF0000"/>
                </a:solidFill>
              </a:rPr>
              <a:t>&lt;/body&gt;</a:t>
            </a:r>
          </a:p>
          <a:p>
            <a:pPr marL="457189" lvl="1" indent="0">
              <a:buNone/>
            </a:pPr>
            <a:r>
              <a:rPr lang="en-US" dirty="0">
                <a:solidFill>
                  <a:srgbClr val="FF0000"/>
                </a:solidFill>
              </a:rPr>
              <a:t>&lt;/html&gt;</a:t>
            </a:r>
          </a:p>
        </p:txBody>
      </p:sp>
      <p:cxnSp>
        <p:nvCxnSpPr>
          <p:cNvPr id="6" name="Straight Connector 5">
            <a:extLst>
              <a:ext uri="{FF2B5EF4-FFF2-40B4-BE49-F238E27FC236}">
                <a16:creationId xmlns:a16="http://schemas.microsoft.com/office/drawing/2014/main" id="{58E4D6E3-0399-4B9A-AA00-BC8453B95A80}"/>
              </a:ext>
            </a:extLst>
          </p:cNvPr>
          <p:cNvCxnSpPr>
            <a:cxnSpLocks/>
          </p:cNvCxnSpPr>
          <p:nvPr/>
        </p:nvCxnSpPr>
        <p:spPr>
          <a:xfrm>
            <a:off x="1001486" y="1325563"/>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9F1BE93C-C1D9-3119-2E57-465E29DFF79D}"/>
              </a:ext>
            </a:extLst>
          </p:cNvPr>
          <p:cNvSpPr>
            <a:spLocks noGrp="1"/>
          </p:cNvSpPr>
          <p:nvPr>
            <p:ph type="sldNum" sz="quarter" idx="12"/>
          </p:nvPr>
        </p:nvSpPr>
        <p:spPr/>
        <p:txBody>
          <a:bodyPr/>
          <a:lstStyle/>
          <a:p>
            <a:fld id="{C12FDFCB-08DC-4BFC-932D-D8A3ABE37605}" type="slidenum">
              <a:rPr lang="en-US" smtClean="0"/>
              <a:t>22</a:t>
            </a:fld>
            <a:endParaRPr lang="en-US"/>
          </a:p>
        </p:txBody>
      </p:sp>
      <p:sp>
        <p:nvSpPr>
          <p:cNvPr id="7" name="TextBox 6">
            <a:extLst>
              <a:ext uri="{FF2B5EF4-FFF2-40B4-BE49-F238E27FC236}">
                <a16:creationId xmlns:a16="http://schemas.microsoft.com/office/drawing/2014/main" id="{350A674F-730E-B670-4A19-D96655050D30}"/>
              </a:ext>
            </a:extLst>
          </p:cNvPr>
          <p:cNvSpPr txBox="1"/>
          <p:nvPr/>
        </p:nvSpPr>
        <p:spPr>
          <a:xfrm>
            <a:off x="4966855" y="1635463"/>
            <a:ext cx="6642049" cy="1754326"/>
          </a:xfrm>
          <a:prstGeom prst="rect">
            <a:avLst/>
          </a:prstGeom>
          <a:noFill/>
        </p:spPr>
        <p:txBody>
          <a:bodyPr wrap="square">
            <a:spAutoFit/>
          </a:bodyPr>
          <a:lstStyle/>
          <a:p>
            <a:pPr algn="l"/>
            <a:r>
              <a:rPr lang="en-US" b="1" i="0" dirty="0">
                <a:solidFill>
                  <a:srgbClr val="FF0000"/>
                </a:solidFill>
                <a:effectLst/>
                <a:latin typeface="Segoe UI" panose="020B0502040204020203" pitchFamily="34" charset="0"/>
              </a:rPr>
              <a:t>Example 2</a:t>
            </a:r>
          </a:p>
          <a:p>
            <a:pPr algn="l"/>
            <a:r>
              <a:rPr lang="en-US" b="0" i="0" dirty="0">
                <a:solidFill>
                  <a:srgbClr val="000000"/>
                </a:solidFill>
                <a:effectLst/>
                <a:latin typeface="Verdana" panose="020B0604030504040204" pitchFamily="34" charset="0"/>
              </a:rPr>
              <a:t>In this example, we have added a class selector (named "test"), and specified a green color for this class. The text will now be green (even though we have specified a red color for the element selector "p"). This is because the class selector is given higher priority:</a:t>
            </a:r>
          </a:p>
        </p:txBody>
      </p:sp>
    </p:spTree>
    <p:extLst>
      <p:ext uri="{BB962C8B-B14F-4D97-AF65-F5344CB8AC3E}">
        <p14:creationId xmlns:p14="http://schemas.microsoft.com/office/powerpoint/2010/main" val="3994819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34278-C5D0-41DC-9088-1946A53BEEAB}"/>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AE36CF8-3672-4D42-8FB8-56B32B28544A}"/>
              </a:ext>
            </a:extLst>
          </p:cNvPr>
          <p:cNvSpPr>
            <a:spLocks noGrp="1"/>
          </p:cNvSpPr>
          <p:nvPr>
            <p:ph idx="1"/>
          </p:nvPr>
        </p:nvSpPr>
        <p:spPr>
          <a:xfrm>
            <a:off x="583097" y="1407177"/>
            <a:ext cx="11025808" cy="5085696"/>
          </a:xfrm>
        </p:spPr>
        <p:txBody>
          <a:bodyPr>
            <a:normAutofit fontScale="92500" lnSpcReduction="10000"/>
          </a:bodyPr>
          <a:lstStyle/>
          <a:p>
            <a:pPr marL="457189" lvl="1" indent="0">
              <a:buNone/>
            </a:pPr>
            <a:r>
              <a:rPr lang="en-US" dirty="0">
                <a:solidFill>
                  <a:srgbClr val="FF0000"/>
                </a:solidFill>
              </a:rPr>
              <a:t>&lt;!DOCTYPE html&gt;</a:t>
            </a:r>
          </a:p>
          <a:p>
            <a:pPr marL="457189" lvl="1" indent="0">
              <a:buNone/>
            </a:pPr>
            <a:r>
              <a:rPr lang="en-US" dirty="0">
                <a:solidFill>
                  <a:srgbClr val="FF0000"/>
                </a:solidFill>
              </a:rPr>
              <a:t>&lt;html&gt;</a:t>
            </a:r>
          </a:p>
          <a:p>
            <a:pPr marL="457189" lvl="1" indent="0">
              <a:buNone/>
            </a:pPr>
            <a:r>
              <a:rPr lang="en-US" dirty="0">
                <a:solidFill>
                  <a:srgbClr val="FF0000"/>
                </a:solidFill>
              </a:rPr>
              <a:t>&lt;head&gt;</a:t>
            </a:r>
          </a:p>
          <a:p>
            <a:pPr marL="457189" lvl="1" indent="0">
              <a:buNone/>
            </a:pPr>
            <a:r>
              <a:rPr lang="en-US" dirty="0">
                <a:solidFill>
                  <a:srgbClr val="FF0000"/>
                </a:solidFill>
              </a:rPr>
              <a:t>&lt;style&gt;</a:t>
            </a:r>
          </a:p>
          <a:p>
            <a:pPr marL="457189" lvl="1" indent="0">
              <a:buNone/>
            </a:pPr>
            <a:r>
              <a:rPr lang="en-US" dirty="0">
                <a:solidFill>
                  <a:srgbClr val="FF0000"/>
                </a:solidFill>
              </a:rPr>
              <a:t>#demo {color: blue;}</a:t>
            </a:r>
          </a:p>
          <a:p>
            <a:pPr marL="457189" lvl="1" indent="0">
              <a:buNone/>
            </a:pPr>
            <a:r>
              <a:rPr lang="en-US" dirty="0">
                <a:solidFill>
                  <a:srgbClr val="FF0000"/>
                </a:solidFill>
              </a:rPr>
              <a:t>.test {color: green;} </a:t>
            </a:r>
          </a:p>
          <a:p>
            <a:pPr marL="457189" lvl="1" indent="0">
              <a:buNone/>
            </a:pPr>
            <a:r>
              <a:rPr lang="en-US" dirty="0">
                <a:solidFill>
                  <a:srgbClr val="FF0000"/>
                </a:solidFill>
              </a:rPr>
              <a:t>p {color: red;} </a:t>
            </a:r>
          </a:p>
          <a:p>
            <a:pPr marL="457189" lvl="1" indent="0">
              <a:buNone/>
            </a:pPr>
            <a:r>
              <a:rPr lang="en-US" dirty="0">
                <a:solidFill>
                  <a:srgbClr val="FF0000"/>
                </a:solidFill>
              </a:rPr>
              <a:t>&lt;/style&gt;</a:t>
            </a:r>
          </a:p>
          <a:p>
            <a:pPr marL="457189" lvl="1" indent="0">
              <a:buNone/>
            </a:pPr>
            <a:r>
              <a:rPr lang="en-US" dirty="0">
                <a:solidFill>
                  <a:srgbClr val="FF0000"/>
                </a:solidFill>
              </a:rPr>
              <a:t>&lt;/head&gt;</a:t>
            </a:r>
          </a:p>
          <a:p>
            <a:pPr marL="457189" lvl="1" indent="0">
              <a:buNone/>
            </a:pPr>
            <a:r>
              <a:rPr lang="en-US" dirty="0">
                <a:solidFill>
                  <a:srgbClr val="FF0000"/>
                </a:solidFill>
              </a:rPr>
              <a:t>&lt;body&gt;</a:t>
            </a:r>
          </a:p>
          <a:p>
            <a:pPr marL="457189" lvl="1" indent="0">
              <a:buNone/>
            </a:pPr>
            <a:endParaRPr lang="en-US" dirty="0">
              <a:solidFill>
                <a:srgbClr val="FF0000"/>
              </a:solidFill>
            </a:endParaRPr>
          </a:p>
          <a:p>
            <a:pPr marL="457189" lvl="1" indent="0">
              <a:buNone/>
            </a:pPr>
            <a:r>
              <a:rPr lang="en-US" dirty="0">
                <a:solidFill>
                  <a:srgbClr val="FF0000"/>
                </a:solidFill>
              </a:rPr>
              <a:t>&lt;p id="demo" class="test"&gt;Hello World!&lt;/p&gt;</a:t>
            </a:r>
          </a:p>
          <a:p>
            <a:pPr marL="457189" lvl="1" indent="0">
              <a:buNone/>
            </a:pPr>
            <a:endParaRPr lang="en-US" dirty="0">
              <a:solidFill>
                <a:srgbClr val="FF0000"/>
              </a:solidFill>
            </a:endParaRPr>
          </a:p>
          <a:p>
            <a:pPr marL="457189" lvl="1" indent="0">
              <a:buNone/>
            </a:pPr>
            <a:r>
              <a:rPr lang="en-US" dirty="0">
                <a:solidFill>
                  <a:srgbClr val="FF0000"/>
                </a:solidFill>
              </a:rPr>
              <a:t>&lt;/body&gt;</a:t>
            </a:r>
          </a:p>
          <a:p>
            <a:pPr marL="457189" lvl="1" indent="0">
              <a:buNone/>
            </a:pPr>
            <a:r>
              <a:rPr lang="en-US" dirty="0">
                <a:solidFill>
                  <a:srgbClr val="FF0000"/>
                </a:solidFill>
              </a:rPr>
              <a:t>&lt;/html&gt;</a:t>
            </a:r>
          </a:p>
        </p:txBody>
      </p:sp>
      <p:cxnSp>
        <p:nvCxnSpPr>
          <p:cNvPr id="6" name="Straight Connector 5">
            <a:extLst>
              <a:ext uri="{FF2B5EF4-FFF2-40B4-BE49-F238E27FC236}">
                <a16:creationId xmlns:a16="http://schemas.microsoft.com/office/drawing/2014/main" id="{58E4D6E3-0399-4B9A-AA00-BC8453B95A80}"/>
              </a:ext>
            </a:extLst>
          </p:cNvPr>
          <p:cNvCxnSpPr>
            <a:cxnSpLocks/>
          </p:cNvCxnSpPr>
          <p:nvPr/>
        </p:nvCxnSpPr>
        <p:spPr>
          <a:xfrm>
            <a:off x="1001486" y="1325563"/>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9F1BE93C-C1D9-3119-2E57-465E29DFF79D}"/>
              </a:ext>
            </a:extLst>
          </p:cNvPr>
          <p:cNvSpPr>
            <a:spLocks noGrp="1"/>
          </p:cNvSpPr>
          <p:nvPr>
            <p:ph type="sldNum" sz="quarter" idx="12"/>
          </p:nvPr>
        </p:nvSpPr>
        <p:spPr/>
        <p:txBody>
          <a:bodyPr/>
          <a:lstStyle/>
          <a:p>
            <a:fld id="{C12FDFCB-08DC-4BFC-932D-D8A3ABE37605}" type="slidenum">
              <a:rPr lang="en-US" smtClean="0"/>
              <a:t>23</a:t>
            </a:fld>
            <a:endParaRPr lang="en-US"/>
          </a:p>
        </p:txBody>
      </p:sp>
      <p:sp>
        <p:nvSpPr>
          <p:cNvPr id="7" name="TextBox 6">
            <a:extLst>
              <a:ext uri="{FF2B5EF4-FFF2-40B4-BE49-F238E27FC236}">
                <a16:creationId xmlns:a16="http://schemas.microsoft.com/office/drawing/2014/main" id="{350A674F-730E-B670-4A19-D96655050D30}"/>
              </a:ext>
            </a:extLst>
          </p:cNvPr>
          <p:cNvSpPr txBox="1"/>
          <p:nvPr/>
        </p:nvSpPr>
        <p:spPr>
          <a:xfrm>
            <a:off x="3865418" y="1501901"/>
            <a:ext cx="6642049" cy="1938992"/>
          </a:xfrm>
          <a:prstGeom prst="rect">
            <a:avLst/>
          </a:prstGeom>
          <a:noFill/>
        </p:spPr>
        <p:txBody>
          <a:bodyPr wrap="square">
            <a:spAutoFit/>
          </a:bodyPr>
          <a:lstStyle/>
          <a:p>
            <a:pPr algn="l"/>
            <a:r>
              <a:rPr lang="en-US" sz="2400" b="1" i="0" dirty="0">
                <a:solidFill>
                  <a:srgbClr val="FF0000"/>
                </a:solidFill>
                <a:effectLst/>
                <a:latin typeface="Segoe UI" panose="020B0502040204020203" pitchFamily="34" charset="0"/>
              </a:rPr>
              <a:t>Example 3</a:t>
            </a:r>
          </a:p>
          <a:p>
            <a:pPr algn="l"/>
            <a:r>
              <a:rPr lang="en-US" sz="2400" b="0" i="0" dirty="0">
                <a:solidFill>
                  <a:srgbClr val="000000"/>
                </a:solidFill>
                <a:effectLst/>
                <a:latin typeface="Verdana" panose="020B0604030504040204" pitchFamily="34" charset="0"/>
              </a:rPr>
              <a:t>In this example, we have added the id selector (named "demo"). The text will now be blue, because the id selector is given higher priority:</a:t>
            </a:r>
          </a:p>
        </p:txBody>
      </p:sp>
      <p:sp>
        <p:nvSpPr>
          <p:cNvPr id="8" name="TextBox 7">
            <a:extLst>
              <a:ext uri="{FF2B5EF4-FFF2-40B4-BE49-F238E27FC236}">
                <a16:creationId xmlns:a16="http://schemas.microsoft.com/office/drawing/2014/main" id="{51A6548E-5365-7E1E-C6EE-ACE0E0A91697}"/>
              </a:ext>
            </a:extLst>
          </p:cNvPr>
          <p:cNvSpPr txBox="1"/>
          <p:nvPr/>
        </p:nvSpPr>
        <p:spPr>
          <a:xfrm>
            <a:off x="7236516" y="3097335"/>
            <a:ext cx="4671466" cy="3693319"/>
          </a:xfrm>
          <a:prstGeom prst="rect">
            <a:avLst/>
          </a:prstGeom>
          <a:noFill/>
        </p:spPr>
        <p:txBody>
          <a:bodyPr wrap="square">
            <a:spAutoFit/>
          </a:bodyPr>
          <a:lstStyle/>
          <a:p>
            <a:r>
              <a:rPr lang="en-US" dirty="0">
                <a:solidFill>
                  <a:srgbClr val="FF0000"/>
                </a:solidFill>
              </a:rPr>
              <a:t>Example 4</a:t>
            </a:r>
          </a:p>
          <a:p>
            <a:r>
              <a:rPr lang="en-US" dirty="0"/>
              <a:t>&lt;!DOCTYPE html&gt;</a:t>
            </a:r>
          </a:p>
          <a:p>
            <a:r>
              <a:rPr lang="en-US" dirty="0"/>
              <a:t>&lt;html&gt;</a:t>
            </a:r>
          </a:p>
          <a:p>
            <a:r>
              <a:rPr lang="en-US" dirty="0"/>
              <a:t>&lt;head&gt;</a:t>
            </a:r>
          </a:p>
          <a:p>
            <a:r>
              <a:rPr lang="en-US" dirty="0"/>
              <a:t>&lt;style&gt;</a:t>
            </a:r>
          </a:p>
          <a:p>
            <a:r>
              <a:rPr lang="en-US" dirty="0"/>
              <a:t>h1 {background-color: yellow;}</a:t>
            </a:r>
          </a:p>
          <a:p>
            <a:r>
              <a:rPr lang="en-US" dirty="0"/>
              <a:t>h1 {background-color: red;}</a:t>
            </a:r>
          </a:p>
          <a:p>
            <a:r>
              <a:rPr lang="en-US" dirty="0"/>
              <a:t>&lt;/style&gt;</a:t>
            </a:r>
          </a:p>
          <a:p>
            <a:r>
              <a:rPr lang="en-US" dirty="0"/>
              <a:t>&lt;/head&gt;</a:t>
            </a:r>
          </a:p>
          <a:p>
            <a:r>
              <a:rPr lang="en-US" dirty="0"/>
              <a:t>&lt;body&gt;</a:t>
            </a:r>
          </a:p>
          <a:p>
            <a:r>
              <a:rPr lang="en-US" dirty="0"/>
              <a:t>&lt;h1&gt;This is heading 1&lt;/h1&gt;</a:t>
            </a:r>
          </a:p>
          <a:p>
            <a:r>
              <a:rPr lang="en-US" dirty="0"/>
              <a:t>&lt;/body&gt;</a:t>
            </a:r>
          </a:p>
          <a:p>
            <a:r>
              <a:rPr lang="en-US" dirty="0"/>
              <a:t>&lt;/html&gt;</a:t>
            </a:r>
          </a:p>
        </p:txBody>
      </p:sp>
    </p:spTree>
    <p:extLst>
      <p:ext uri="{BB962C8B-B14F-4D97-AF65-F5344CB8AC3E}">
        <p14:creationId xmlns:p14="http://schemas.microsoft.com/office/powerpoint/2010/main" val="4252440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83749-1770-41E6-9188-3979A9B25FC7}"/>
              </a:ext>
            </a:extLst>
          </p:cNvPr>
          <p:cNvSpPr>
            <a:spLocks noGrp="1"/>
          </p:cNvSpPr>
          <p:nvPr>
            <p:ph type="title"/>
          </p:nvPr>
        </p:nvSpPr>
        <p:spPr/>
        <p:txBody>
          <a:bodyPr/>
          <a:lstStyle/>
          <a:p>
            <a:pPr marL="0" indent="0">
              <a:buNone/>
            </a:pPr>
            <a:r>
              <a:rPr lang="en-US" sz="4400" dirty="0">
                <a:solidFill>
                  <a:srgbClr val="FF0000"/>
                </a:solidFill>
                <a:latin typeface="Consolas" panose="020B0609020204030204" pitchFamily="49" charset="0"/>
              </a:rPr>
              <a:t>!important?</a:t>
            </a:r>
            <a:endParaRPr lang="en-US" sz="4400" dirty="0">
              <a:solidFill>
                <a:srgbClr val="0070C0"/>
              </a:solidFill>
              <a:latin typeface="Consolas" panose="020B0609020204030204" pitchFamily="49" charset="0"/>
            </a:endParaRPr>
          </a:p>
        </p:txBody>
      </p:sp>
      <p:sp>
        <p:nvSpPr>
          <p:cNvPr id="3" name="Content Placeholder 2">
            <a:extLst>
              <a:ext uri="{FF2B5EF4-FFF2-40B4-BE49-F238E27FC236}">
                <a16:creationId xmlns:a16="http://schemas.microsoft.com/office/drawing/2014/main" id="{092FE3DC-387F-4F55-96F6-FAE93622E1A3}"/>
              </a:ext>
            </a:extLst>
          </p:cNvPr>
          <p:cNvSpPr>
            <a:spLocks noGrp="1"/>
          </p:cNvSpPr>
          <p:nvPr>
            <p:ph idx="1"/>
          </p:nvPr>
        </p:nvSpPr>
        <p:spPr>
          <a:xfrm>
            <a:off x="56565" y="1516136"/>
            <a:ext cx="7334835" cy="4351338"/>
          </a:xfrm>
        </p:spPr>
        <p:txBody>
          <a:bodyPr>
            <a:normAutofit/>
          </a:bodyPr>
          <a:lstStyle/>
          <a:p>
            <a:pPr marL="0" indent="0">
              <a:buNone/>
            </a:pPr>
            <a:r>
              <a:rPr lang="en-US" sz="1800" dirty="0">
                <a:solidFill>
                  <a:srgbClr val="0070C0"/>
                </a:solidFill>
                <a:latin typeface="Consolas" panose="020B0609020204030204" pitchFamily="49" charset="0"/>
              </a:rPr>
              <a:t>&lt;style&gt;</a:t>
            </a:r>
          </a:p>
          <a:p>
            <a:pPr marL="0" indent="0">
              <a:buNone/>
            </a:pPr>
            <a:r>
              <a:rPr lang="en-US" sz="1800" dirty="0">
                <a:solidFill>
                  <a:srgbClr val="0070C0"/>
                </a:solidFill>
                <a:latin typeface="Consolas" panose="020B0609020204030204" pitchFamily="49" charset="0"/>
              </a:rPr>
              <a:t>#myid {background-color: blue;}</a:t>
            </a:r>
          </a:p>
          <a:p>
            <a:pPr marL="0" indent="0">
              <a:buNone/>
            </a:pPr>
            <a:r>
              <a:rPr lang="en-US" sz="1800" dirty="0">
                <a:solidFill>
                  <a:srgbClr val="0070C0"/>
                </a:solidFill>
                <a:latin typeface="Consolas" panose="020B0609020204030204" pitchFamily="49" charset="0"/>
              </a:rPr>
              <a:t>.</a:t>
            </a:r>
            <a:r>
              <a:rPr lang="en-US" sz="1800" dirty="0" err="1">
                <a:solidFill>
                  <a:srgbClr val="0070C0"/>
                </a:solidFill>
                <a:latin typeface="Consolas" panose="020B0609020204030204" pitchFamily="49" charset="0"/>
              </a:rPr>
              <a:t>myclass</a:t>
            </a:r>
            <a:r>
              <a:rPr lang="en-US" sz="1800" dirty="0">
                <a:solidFill>
                  <a:srgbClr val="0070C0"/>
                </a:solidFill>
                <a:latin typeface="Consolas" panose="020B0609020204030204" pitchFamily="49" charset="0"/>
              </a:rPr>
              <a:t> {  background-color: gray;}</a:t>
            </a:r>
          </a:p>
          <a:p>
            <a:pPr marL="0" indent="0">
              <a:buNone/>
            </a:pPr>
            <a:r>
              <a:rPr lang="en-US" sz="1800" dirty="0">
                <a:solidFill>
                  <a:srgbClr val="0070C0"/>
                </a:solidFill>
                <a:latin typeface="Consolas" panose="020B0609020204030204" pitchFamily="49" charset="0"/>
              </a:rPr>
              <a:t> p {background-color: pink </a:t>
            </a:r>
            <a:r>
              <a:rPr lang="en-US" sz="1800" dirty="0">
                <a:solidFill>
                  <a:srgbClr val="FF0000"/>
                </a:solidFill>
                <a:latin typeface="Consolas" panose="020B0609020204030204" pitchFamily="49" charset="0"/>
              </a:rPr>
              <a:t>!important</a:t>
            </a:r>
            <a:r>
              <a:rPr lang="en-US" sz="1800" dirty="0">
                <a:solidFill>
                  <a:srgbClr val="0070C0"/>
                </a:solidFill>
                <a:latin typeface="Consolas" panose="020B0609020204030204" pitchFamily="49" charset="0"/>
              </a:rPr>
              <a:t>;}</a:t>
            </a:r>
          </a:p>
          <a:p>
            <a:pPr marL="0" indent="0">
              <a:buNone/>
            </a:pPr>
            <a:r>
              <a:rPr lang="en-US" sz="1800" dirty="0">
                <a:solidFill>
                  <a:srgbClr val="0070C0"/>
                </a:solidFill>
                <a:latin typeface="Consolas" panose="020B0609020204030204" pitchFamily="49" charset="0"/>
              </a:rPr>
              <a:t>&lt;/style&gt;</a:t>
            </a:r>
          </a:p>
          <a:p>
            <a:pPr marL="0" indent="0">
              <a:buNone/>
            </a:pPr>
            <a:r>
              <a:rPr lang="en-US" sz="1800" dirty="0">
                <a:solidFill>
                  <a:srgbClr val="0070C0"/>
                </a:solidFill>
                <a:latin typeface="Consolas" panose="020B0609020204030204" pitchFamily="49" charset="0"/>
              </a:rPr>
              <a:t>&lt;body&gt;</a:t>
            </a:r>
          </a:p>
          <a:p>
            <a:pPr marL="0" indent="0">
              <a:buNone/>
            </a:pPr>
            <a:r>
              <a:rPr lang="en-US" sz="1800" dirty="0">
                <a:solidFill>
                  <a:srgbClr val="0070C0"/>
                </a:solidFill>
                <a:latin typeface="Consolas" panose="020B0609020204030204" pitchFamily="49" charset="0"/>
              </a:rPr>
              <a:t>&lt;p&gt;This is some text in a paragraph.&lt;/p&gt;</a:t>
            </a:r>
          </a:p>
          <a:p>
            <a:pPr marL="0" indent="0">
              <a:buNone/>
            </a:pPr>
            <a:r>
              <a:rPr lang="en-US" sz="1800" dirty="0">
                <a:solidFill>
                  <a:srgbClr val="0070C0"/>
                </a:solidFill>
                <a:latin typeface="Consolas" panose="020B0609020204030204" pitchFamily="49" charset="0"/>
              </a:rPr>
              <a:t>&lt;p class="</a:t>
            </a:r>
            <a:r>
              <a:rPr lang="en-US" sz="1800" dirty="0" err="1">
                <a:solidFill>
                  <a:srgbClr val="0070C0"/>
                </a:solidFill>
                <a:latin typeface="Consolas" panose="020B0609020204030204" pitchFamily="49" charset="0"/>
              </a:rPr>
              <a:t>myclass</a:t>
            </a:r>
            <a:r>
              <a:rPr lang="en-US" sz="1800" dirty="0">
                <a:solidFill>
                  <a:srgbClr val="0070C0"/>
                </a:solidFill>
                <a:latin typeface="Consolas" panose="020B0609020204030204" pitchFamily="49" charset="0"/>
              </a:rPr>
              <a:t>"&gt;This is some text in a paragraph.&lt;/p&gt;</a:t>
            </a:r>
          </a:p>
          <a:p>
            <a:pPr marL="0" indent="0">
              <a:buNone/>
            </a:pPr>
            <a:r>
              <a:rPr lang="en-US" sz="1800" dirty="0">
                <a:solidFill>
                  <a:srgbClr val="0070C0"/>
                </a:solidFill>
                <a:latin typeface="Consolas" panose="020B0609020204030204" pitchFamily="49" charset="0"/>
              </a:rPr>
              <a:t>&lt;p id="</a:t>
            </a:r>
            <a:r>
              <a:rPr lang="en-US" sz="1800" dirty="0" err="1">
                <a:solidFill>
                  <a:srgbClr val="0070C0"/>
                </a:solidFill>
                <a:latin typeface="Consolas" panose="020B0609020204030204" pitchFamily="49" charset="0"/>
              </a:rPr>
              <a:t>myid</a:t>
            </a:r>
            <a:r>
              <a:rPr lang="en-US" sz="1800" dirty="0">
                <a:solidFill>
                  <a:srgbClr val="0070C0"/>
                </a:solidFill>
                <a:latin typeface="Consolas" panose="020B0609020204030204" pitchFamily="49" charset="0"/>
              </a:rPr>
              <a:t>"&gt;This is some text in a paragraph.&lt;/p&gt;</a:t>
            </a:r>
          </a:p>
          <a:p>
            <a:pPr marL="0" indent="0">
              <a:buNone/>
            </a:pPr>
            <a:r>
              <a:rPr lang="en-US" sz="1800" dirty="0">
                <a:solidFill>
                  <a:srgbClr val="0070C0"/>
                </a:solidFill>
                <a:latin typeface="Consolas" panose="020B0609020204030204" pitchFamily="49" charset="0"/>
              </a:rPr>
              <a:t>&lt;/body&gt;</a:t>
            </a:r>
          </a:p>
        </p:txBody>
      </p:sp>
      <p:pic>
        <p:nvPicPr>
          <p:cNvPr id="5" name="Picture 4">
            <a:extLst>
              <a:ext uri="{FF2B5EF4-FFF2-40B4-BE49-F238E27FC236}">
                <a16:creationId xmlns:a16="http://schemas.microsoft.com/office/drawing/2014/main" id="{4ABF8BD9-896B-42F6-8E82-F432814C80BC}"/>
              </a:ext>
            </a:extLst>
          </p:cNvPr>
          <p:cNvPicPr>
            <a:picLocks noChangeAspect="1"/>
          </p:cNvPicPr>
          <p:nvPr/>
        </p:nvPicPr>
        <p:blipFill>
          <a:blip r:embed="rId2"/>
          <a:stretch>
            <a:fillRect/>
          </a:stretch>
        </p:blipFill>
        <p:spPr>
          <a:xfrm>
            <a:off x="7064387" y="1650468"/>
            <a:ext cx="3669954" cy="1652210"/>
          </a:xfrm>
          <a:prstGeom prst="rect">
            <a:avLst/>
          </a:prstGeom>
        </p:spPr>
      </p:pic>
      <p:cxnSp>
        <p:nvCxnSpPr>
          <p:cNvPr id="6" name="Straight Connector 5">
            <a:extLst>
              <a:ext uri="{FF2B5EF4-FFF2-40B4-BE49-F238E27FC236}">
                <a16:creationId xmlns:a16="http://schemas.microsoft.com/office/drawing/2014/main" id="{9A57584C-B2E4-4144-B6F1-5F8363099B96}"/>
              </a:ext>
            </a:extLst>
          </p:cNvPr>
          <p:cNvCxnSpPr>
            <a:cxnSpLocks/>
          </p:cNvCxnSpPr>
          <p:nvPr/>
        </p:nvCxnSpPr>
        <p:spPr>
          <a:xfrm>
            <a:off x="1001486" y="1325563"/>
            <a:ext cx="9522054"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50D539BF-EA1F-8B07-40FD-B3D5DD5A483F}"/>
              </a:ext>
            </a:extLst>
          </p:cNvPr>
          <p:cNvSpPr>
            <a:spLocks noGrp="1"/>
          </p:cNvSpPr>
          <p:nvPr>
            <p:ph type="sldNum" sz="quarter" idx="12"/>
          </p:nvPr>
        </p:nvSpPr>
        <p:spPr/>
        <p:txBody>
          <a:bodyPr/>
          <a:lstStyle/>
          <a:p>
            <a:fld id="{C12FDFCB-08DC-4BFC-932D-D8A3ABE37605}" type="slidenum">
              <a:rPr lang="en-US" smtClean="0"/>
              <a:t>24</a:t>
            </a:fld>
            <a:endParaRPr lang="en-US"/>
          </a:p>
        </p:txBody>
      </p:sp>
      <p:sp>
        <p:nvSpPr>
          <p:cNvPr id="8" name="TextBox 7">
            <a:extLst>
              <a:ext uri="{FF2B5EF4-FFF2-40B4-BE49-F238E27FC236}">
                <a16:creationId xmlns:a16="http://schemas.microsoft.com/office/drawing/2014/main" id="{FD822E49-1E57-7214-E785-7806579ECA4A}"/>
              </a:ext>
            </a:extLst>
          </p:cNvPr>
          <p:cNvSpPr txBox="1"/>
          <p:nvPr/>
        </p:nvSpPr>
        <p:spPr>
          <a:xfrm>
            <a:off x="7550835" y="3709089"/>
            <a:ext cx="4603650" cy="2585323"/>
          </a:xfrm>
          <a:prstGeom prst="rect">
            <a:avLst/>
          </a:prstGeom>
          <a:noFill/>
        </p:spPr>
        <p:txBody>
          <a:bodyPr wrap="square">
            <a:spAutoFit/>
          </a:bodyPr>
          <a:lstStyle/>
          <a:p>
            <a:r>
              <a:rPr lang="en-US" b="0" i="0" dirty="0">
                <a:solidFill>
                  <a:srgbClr val="A52A2A"/>
                </a:solidFill>
                <a:effectLst/>
                <a:highlight>
                  <a:srgbClr val="FFFFFF"/>
                </a:highlight>
                <a:latin typeface="Consolas" panose="020B0609020204030204" pitchFamily="49" charset="0"/>
              </a:rPr>
              <a:t>#myid </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background-color</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blue</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A52A2A"/>
                </a:solidFill>
                <a:effectLst/>
                <a:highlight>
                  <a:srgbClr val="FFFFFF"/>
                </a:highlight>
                <a:latin typeface="Consolas" panose="020B0609020204030204" pitchFamily="49" charset="0"/>
              </a:rPr>
              <a:t>.</a:t>
            </a:r>
            <a:r>
              <a:rPr lang="en-US" b="0" i="0" dirty="0" err="1">
                <a:solidFill>
                  <a:srgbClr val="A52A2A"/>
                </a:solidFill>
                <a:effectLst/>
                <a:highlight>
                  <a:srgbClr val="FFFFFF"/>
                </a:highlight>
                <a:latin typeface="Consolas" panose="020B0609020204030204" pitchFamily="49" charset="0"/>
              </a:rPr>
              <a:t>myclass</a:t>
            </a:r>
            <a:r>
              <a:rPr lang="en-US" b="0" i="0" dirty="0">
                <a:solidFill>
                  <a:srgbClr val="A52A2A"/>
                </a:solidFill>
                <a:effectLst/>
                <a:highlight>
                  <a:srgbClr val="FFFFFF"/>
                </a:highlight>
                <a:latin typeface="Consolas" panose="020B0609020204030204" pitchFamily="49" charset="0"/>
              </a:rPr>
              <a:t> </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background-color</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gray</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br>
              <a:rPr lang="en-US" dirty="0"/>
            </a:br>
            <a:r>
              <a:rPr lang="en-US" b="0" i="0" dirty="0">
                <a:solidFill>
                  <a:srgbClr val="A52A2A"/>
                </a:solidFill>
                <a:effectLst/>
                <a:highlight>
                  <a:srgbClr val="FFFFFF"/>
                </a:highlight>
                <a:latin typeface="Consolas" panose="020B0609020204030204" pitchFamily="49" charset="0"/>
              </a:rPr>
              <a:t>p </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FF0000"/>
                </a:solidFill>
                <a:effectLst/>
                <a:highlight>
                  <a:srgbClr val="FFFFFF"/>
                </a:highlight>
                <a:latin typeface="Consolas" panose="020B0609020204030204" pitchFamily="49" charset="0"/>
              </a:rPr>
              <a:t>  background-color</a:t>
            </a:r>
            <a:r>
              <a:rPr lang="en-US" b="0" i="0" dirty="0">
                <a:solidFill>
                  <a:srgbClr val="000000"/>
                </a:solidFill>
                <a:effectLst/>
                <a:highlight>
                  <a:srgbClr val="FFFFFF"/>
                </a:highlight>
                <a:latin typeface="Consolas" panose="020B0609020204030204" pitchFamily="49" charset="0"/>
              </a:rPr>
              <a:t>:</a:t>
            </a:r>
            <a:r>
              <a:rPr lang="en-US" b="0" i="0" dirty="0">
                <a:solidFill>
                  <a:srgbClr val="0000CD"/>
                </a:solidFill>
                <a:effectLst/>
                <a:highlight>
                  <a:srgbClr val="FFFFFF"/>
                </a:highlight>
                <a:latin typeface="Consolas" panose="020B0609020204030204" pitchFamily="49" charset="0"/>
              </a:rPr>
              <a:t> red </a:t>
            </a:r>
            <a:r>
              <a:rPr lang="en-US" b="1" i="0" dirty="0">
                <a:solidFill>
                  <a:srgbClr val="FF0000"/>
                </a:solidFill>
                <a:effectLst/>
                <a:highlight>
                  <a:srgbClr val="FFFFFF"/>
                </a:highlight>
                <a:latin typeface="Consolas" panose="020B0609020204030204" pitchFamily="49" charset="0"/>
              </a:rPr>
              <a:t>!important</a:t>
            </a:r>
            <a:r>
              <a:rPr lang="en-US" b="0" i="0" dirty="0">
                <a:solidFill>
                  <a:srgbClr val="000000"/>
                </a:solidFill>
                <a:effectLst/>
                <a:highlight>
                  <a:srgbClr val="FFFFFF"/>
                </a:highlight>
                <a:latin typeface="Consolas" panose="020B0609020204030204" pitchFamily="49" charset="0"/>
              </a:rPr>
              <a:t>;</a:t>
            </a:r>
            <a:br>
              <a:rPr lang="en-US" b="0" i="0" dirty="0">
                <a:solidFill>
                  <a:srgbClr val="FF0000"/>
                </a:solidFill>
                <a:effectLst/>
                <a:highlight>
                  <a:srgbClr val="FFFFFF"/>
                </a:highlight>
                <a:latin typeface="Consolas" panose="020B0609020204030204" pitchFamily="49" charset="0"/>
              </a:rPr>
            </a:br>
            <a:r>
              <a:rPr lang="en-US" b="0" i="0" dirty="0">
                <a:solidFill>
                  <a:srgbClr val="000000"/>
                </a:solidFill>
                <a:effectLst/>
                <a:highlight>
                  <a:srgbClr val="FFFFFF"/>
                </a:highlight>
                <a:latin typeface="Consolas" panose="020B0609020204030204" pitchFamily="49" charset="0"/>
              </a:rPr>
              <a:t>}</a:t>
            </a:r>
            <a:endParaRPr lang="en-US" dirty="0"/>
          </a:p>
        </p:txBody>
      </p:sp>
    </p:spTree>
    <p:extLst>
      <p:ext uri="{BB962C8B-B14F-4D97-AF65-F5344CB8AC3E}">
        <p14:creationId xmlns:p14="http://schemas.microsoft.com/office/powerpoint/2010/main" val="2512886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DA597D9D-4BFA-4BD4-9C8E-F70A6A8D7D20}"/>
              </a:ext>
            </a:extLst>
          </p:cNvPr>
          <p:cNvSpPr>
            <a:spLocks noGrp="1" noChangeArrowheads="1"/>
          </p:cNvSpPr>
          <p:nvPr>
            <p:ph type="title"/>
          </p:nvPr>
        </p:nvSpPr>
        <p:spPr/>
        <p:txBody>
          <a:bodyPr/>
          <a:lstStyle/>
          <a:p>
            <a:pPr algn="ctr"/>
            <a:r>
              <a:rPr lang="en-US" altLang="en-US" b="1" dirty="0">
                <a:solidFill>
                  <a:schemeClr val="accent1"/>
                </a:solidFill>
                <a:latin typeface="+mn-lt"/>
              </a:rPr>
              <a:t>Text-related CSS Properties</a:t>
            </a:r>
            <a:endParaRPr lang="bg-BG" altLang="en-US" b="1" dirty="0">
              <a:solidFill>
                <a:schemeClr val="accent1"/>
              </a:solidFill>
              <a:latin typeface="+mn-lt"/>
            </a:endParaRPr>
          </a:p>
        </p:txBody>
      </p:sp>
      <p:sp>
        <p:nvSpPr>
          <p:cNvPr id="163843" name="Rectangle 3">
            <a:extLst>
              <a:ext uri="{FF2B5EF4-FFF2-40B4-BE49-F238E27FC236}">
                <a16:creationId xmlns:a16="http://schemas.microsoft.com/office/drawing/2014/main" id="{D2298832-7F42-4245-BF3A-8C69CE32ED1B}"/>
              </a:ext>
            </a:extLst>
          </p:cNvPr>
          <p:cNvSpPr>
            <a:spLocks noGrp="1" noChangeArrowheads="1"/>
          </p:cNvSpPr>
          <p:nvPr>
            <p:ph idx="1"/>
          </p:nvPr>
        </p:nvSpPr>
        <p:spPr>
          <a:xfrm>
            <a:off x="850665" y="1484315"/>
            <a:ext cx="10705232" cy="4872037"/>
          </a:xfrm>
        </p:spPr>
        <p:txBody>
          <a:bodyPr>
            <a:normAutofit/>
          </a:bodyPr>
          <a:lstStyle/>
          <a:p>
            <a:pPr>
              <a:lnSpc>
                <a:spcPct val="100000"/>
              </a:lnSpc>
            </a:pPr>
            <a:r>
              <a:rPr lang="en-US" altLang="en-US" sz="2400" dirty="0"/>
              <a:t>color – specifies the color of the text</a:t>
            </a:r>
          </a:p>
          <a:p>
            <a:pPr>
              <a:lnSpc>
                <a:spcPct val="100000"/>
              </a:lnSpc>
            </a:pPr>
            <a:r>
              <a:rPr lang="en-US" altLang="en-US" sz="2400" dirty="0"/>
              <a:t>font-size – size of font: xx-small, x-small, small, medium, large, x-large, xx-large, smaller, larger or numeric value</a:t>
            </a:r>
          </a:p>
          <a:p>
            <a:pPr>
              <a:lnSpc>
                <a:spcPct val="100000"/>
              </a:lnSpc>
            </a:pPr>
            <a:r>
              <a:rPr lang="en-US" altLang="en-US" sz="2400" dirty="0"/>
              <a:t>font-family – comma separated font names</a:t>
            </a:r>
          </a:p>
          <a:p>
            <a:pPr lvl="1">
              <a:lnSpc>
                <a:spcPct val="100000"/>
              </a:lnSpc>
            </a:pPr>
            <a:r>
              <a:rPr lang="en-US" altLang="en-US" dirty="0"/>
              <a:t>Example: </a:t>
            </a:r>
            <a:r>
              <a:rPr lang="en-US" altLang="en-US" dirty="0" err="1"/>
              <a:t>verdana</a:t>
            </a:r>
            <a:r>
              <a:rPr lang="en-US" altLang="en-US" dirty="0"/>
              <a:t>, sans-serif, etc. </a:t>
            </a:r>
          </a:p>
          <a:p>
            <a:pPr lvl="1">
              <a:lnSpc>
                <a:spcPct val="100000"/>
              </a:lnSpc>
            </a:pPr>
            <a:r>
              <a:rPr lang="en-US" altLang="en-US" dirty="0"/>
              <a:t>There should always be at least one generic font</a:t>
            </a:r>
          </a:p>
          <a:p>
            <a:pPr>
              <a:lnSpc>
                <a:spcPct val="100000"/>
              </a:lnSpc>
            </a:pPr>
            <a:r>
              <a:rPr lang="en-US" altLang="en-US" sz="2400" dirty="0"/>
              <a:t>font-weight can be normal, bold, bolder, lighter or a number in range [</a:t>
            </a:r>
            <a:r>
              <a:rPr lang="en-US" altLang="en-US" sz="2400" dirty="0">
                <a:ea typeface="Consolas" panose="020B0609020204030204" pitchFamily="49" charset="0"/>
                <a:cs typeface="Consolas" panose="020B0609020204030204" pitchFamily="49" charset="0"/>
              </a:rPr>
              <a:t>100 … 900</a:t>
            </a:r>
            <a:r>
              <a:rPr lang="en-US" altLang="en-US" sz="2400" dirty="0"/>
              <a:t>]</a:t>
            </a:r>
          </a:p>
        </p:txBody>
      </p:sp>
      <p:sp>
        <p:nvSpPr>
          <p:cNvPr id="4" name="Slide Number Placeholder 3">
            <a:extLst>
              <a:ext uri="{FF2B5EF4-FFF2-40B4-BE49-F238E27FC236}">
                <a16:creationId xmlns:a16="http://schemas.microsoft.com/office/drawing/2014/main" id="{4FD8E2D3-EC27-4789-B166-B31F90E2DB3C}"/>
              </a:ext>
            </a:extLst>
          </p:cNvPr>
          <p:cNvSpPr>
            <a:spLocks noGrp="1"/>
          </p:cNvSpPr>
          <p:nvPr>
            <p:ph type="sldNum" sz="quarter" idx="12"/>
          </p:nvPr>
        </p:nvSpPr>
        <p:spPr/>
        <p:txBody>
          <a:bodyPr/>
          <a:lstStyle/>
          <a:p>
            <a:pPr>
              <a:defRPr/>
            </a:pPr>
            <a:fld id="{67B5061E-BC1A-4A82-A8A4-3F0FC39927CE}" type="slidenum">
              <a:rPr lang="en-US" smtClean="0"/>
              <a:pPr>
                <a:defRPr/>
              </a:pPr>
              <a:t>25</a:t>
            </a:fld>
            <a:endParaRPr lang="en-US" dirty="0"/>
          </a:p>
        </p:txBody>
      </p:sp>
      <p:cxnSp>
        <p:nvCxnSpPr>
          <p:cNvPr id="5" name="Straight Connector 4">
            <a:extLst>
              <a:ext uri="{FF2B5EF4-FFF2-40B4-BE49-F238E27FC236}">
                <a16:creationId xmlns:a16="http://schemas.microsoft.com/office/drawing/2014/main" id="{D16C23B1-280E-45E9-A3F3-B04115F1FA2A}"/>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a:extLst>
              <a:ext uri="{FF2B5EF4-FFF2-40B4-BE49-F238E27FC236}">
                <a16:creationId xmlns:a16="http://schemas.microsoft.com/office/drawing/2014/main" id="{56632103-A05F-46D2-A51F-1C11BF847E90}"/>
              </a:ext>
            </a:extLst>
          </p:cNvPr>
          <p:cNvSpPr>
            <a:spLocks noGrp="1" noChangeArrowheads="1"/>
          </p:cNvSpPr>
          <p:nvPr>
            <p:ph type="title"/>
          </p:nvPr>
        </p:nvSpPr>
        <p:spPr>
          <a:xfrm>
            <a:off x="2063756" y="293693"/>
            <a:ext cx="6296025" cy="1049337"/>
          </a:xfrm>
        </p:spPr>
        <p:txBody>
          <a:bodyPr>
            <a:normAutofit fontScale="90000"/>
          </a:bodyPr>
          <a:lstStyle/>
          <a:p>
            <a:pPr>
              <a:defRPr/>
            </a:pPr>
            <a:r>
              <a:rPr lang="en-US" b="1" dirty="0">
                <a:solidFill>
                  <a:schemeClr val="accent1"/>
                </a:solidFill>
                <a:latin typeface="+mn-lt"/>
              </a:rPr>
              <a:t>CSS Rules for Fonts (2)</a:t>
            </a:r>
            <a:endParaRPr lang="bg-BG" b="1" dirty="0">
              <a:solidFill>
                <a:schemeClr val="accent1"/>
              </a:solidFill>
              <a:latin typeface="+mn-lt"/>
            </a:endParaRPr>
          </a:p>
        </p:txBody>
      </p:sp>
      <p:sp>
        <p:nvSpPr>
          <p:cNvPr id="165891" name="Rectangle 3">
            <a:extLst>
              <a:ext uri="{FF2B5EF4-FFF2-40B4-BE49-F238E27FC236}">
                <a16:creationId xmlns:a16="http://schemas.microsoft.com/office/drawing/2014/main" id="{B57AA4C7-D04E-4207-8591-4C9966491898}"/>
              </a:ext>
            </a:extLst>
          </p:cNvPr>
          <p:cNvSpPr>
            <a:spLocks noGrp="1" noChangeArrowheads="1"/>
          </p:cNvSpPr>
          <p:nvPr>
            <p:ph idx="1"/>
          </p:nvPr>
        </p:nvSpPr>
        <p:spPr>
          <a:xfrm>
            <a:off x="838200" y="1451547"/>
            <a:ext cx="10515599" cy="4908551"/>
          </a:xfrm>
        </p:spPr>
        <p:txBody>
          <a:bodyPr>
            <a:normAutofit/>
          </a:bodyPr>
          <a:lstStyle/>
          <a:p>
            <a:pPr>
              <a:lnSpc>
                <a:spcPct val="150000"/>
              </a:lnSpc>
            </a:pPr>
            <a:r>
              <a:rPr lang="en-US" altLang="en-US" dirty="0">
                <a:latin typeface="Consolas" panose="020B0609020204030204" pitchFamily="49" charset="0"/>
              </a:rPr>
              <a:t>font-style</a:t>
            </a:r>
            <a:r>
              <a:rPr lang="en-US" altLang="en-US" dirty="0"/>
              <a:t>  </a:t>
            </a:r>
          </a:p>
          <a:p>
            <a:pPr lvl="1">
              <a:lnSpc>
                <a:spcPct val="150000"/>
              </a:lnSpc>
            </a:pPr>
            <a:r>
              <a:rPr lang="en-US" altLang="en-US" sz="2800" dirty="0"/>
              <a:t>Values: </a:t>
            </a:r>
            <a:r>
              <a:rPr lang="en-US" altLang="en-US" sz="2800" dirty="0">
                <a:latin typeface="Consolas" panose="020B0609020204030204" pitchFamily="49" charset="0"/>
              </a:rPr>
              <a:t>normal</a:t>
            </a:r>
            <a:r>
              <a:rPr lang="en-US" altLang="en-US" sz="2800" dirty="0"/>
              <a:t>, </a:t>
            </a:r>
            <a:r>
              <a:rPr lang="en-US" altLang="en-US" sz="2800" dirty="0">
                <a:latin typeface="Consolas" panose="020B0609020204030204" pitchFamily="49" charset="0"/>
              </a:rPr>
              <a:t>italic</a:t>
            </a:r>
            <a:r>
              <a:rPr lang="en-US" altLang="en-US" sz="2800" dirty="0"/>
              <a:t>, </a:t>
            </a:r>
            <a:r>
              <a:rPr lang="en-US" altLang="en-US" sz="2800" dirty="0">
                <a:latin typeface="Consolas" panose="020B0609020204030204" pitchFamily="49" charset="0"/>
              </a:rPr>
              <a:t>oblique</a:t>
            </a:r>
          </a:p>
          <a:p>
            <a:pPr>
              <a:lnSpc>
                <a:spcPct val="150000"/>
              </a:lnSpc>
            </a:pPr>
            <a:r>
              <a:rPr lang="en-US" altLang="en-US" dirty="0">
                <a:latin typeface="Consolas" panose="020B0609020204030204" pitchFamily="49" charset="0"/>
              </a:rPr>
              <a:t>text-decoration</a:t>
            </a:r>
            <a:r>
              <a:rPr lang="en-US" altLang="en-US" dirty="0"/>
              <a:t>  </a:t>
            </a:r>
          </a:p>
          <a:p>
            <a:pPr lvl="1">
              <a:lnSpc>
                <a:spcPct val="150000"/>
              </a:lnSpc>
            </a:pPr>
            <a:r>
              <a:rPr lang="en-US" altLang="en-US" sz="2800" dirty="0"/>
              <a:t>Values: </a:t>
            </a:r>
            <a:r>
              <a:rPr lang="en-US" altLang="en-US" sz="2800" dirty="0">
                <a:latin typeface="Consolas" panose="020B0609020204030204" pitchFamily="49" charset="0"/>
              </a:rPr>
              <a:t>none</a:t>
            </a:r>
            <a:r>
              <a:rPr lang="en-US" altLang="en-US" sz="2800" dirty="0"/>
              <a:t>, </a:t>
            </a:r>
            <a:r>
              <a:rPr lang="en-US" altLang="en-US" sz="2800" dirty="0">
                <a:latin typeface="Consolas" panose="020B0609020204030204" pitchFamily="49" charset="0"/>
              </a:rPr>
              <a:t>underline</a:t>
            </a:r>
            <a:r>
              <a:rPr lang="en-US" altLang="en-US" sz="2800" dirty="0"/>
              <a:t>, </a:t>
            </a:r>
            <a:r>
              <a:rPr lang="en-US" altLang="en-US" sz="2800" dirty="0">
                <a:latin typeface="Consolas" panose="020B0609020204030204" pitchFamily="49" charset="0"/>
              </a:rPr>
              <a:t>line-trough</a:t>
            </a:r>
            <a:r>
              <a:rPr lang="en-US" altLang="en-US" sz="2800" dirty="0"/>
              <a:t>, </a:t>
            </a:r>
            <a:r>
              <a:rPr lang="en-US" altLang="en-US" sz="2800" noProof="1">
                <a:latin typeface="Consolas" panose="020B0609020204030204" pitchFamily="49" charset="0"/>
              </a:rPr>
              <a:t>overline</a:t>
            </a:r>
            <a:r>
              <a:rPr lang="en-US" altLang="en-US" sz="2800" dirty="0"/>
              <a:t>, </a:t>
            </a:r>
            <a:r>
              <a:rPr lang="en-US" altLang="en-US" sz="2800" dirty="0">
                <a:latin typeface="Consolas" panose="020B0609020204030204" pitchFamily="49" charset="0"/>
              </a:rPr>
              <a:t>blink</a:t>
            </a:r>
          </a:p>
          <a:p>
            <a:pPr>
              <a:lnSpc>
                <a:spcPct val="150000"/>
              </a:lnSpc>
            </a:pPr>
            <a:r>
              <a:rPr lang="en-US" altLang="en-US" dirty="0">
                <a:latin typeface="Consolas" panose="020B0609020204030204" pitchFamily="49" charset="0"/>
              </a:rPr>
              <a:t>text-align</a:t>
            </a:r>
            <a:r>
              <a:rPr lang="en-US" altLang="en-US" dirty="0"/>
              <a:t>    </a:t>
            </a:r>
          </a:p>
          <a:p>
            <a:pPr lvl="1">
              <a:lnSpc>
                <a:spcPct val="150000"/>
              </a:lnSpc>
            </a:pPr>
            <a:r>
              <a:rPr lang="en-US" altLang="en-US" sz="2800" dirty="0"/>
              <a:t>Values: </a:t>
            </a:r>
            <a:r>
              <a:rPr lang="en-US" altLang="en-US" sz="2800" dirty="0">
                <a:latin typeface="Consolas" panose="020B0609020204030204" pitchFamily="49" charset="0"/>
              </a:rPr>
              <a:t>left</a:t>
            </a:r>
            <a:r>
              <a:rPr lang="en-US" altLang="en-US" sz="2800" dirty="0"/>
              <a:t>, </a:t>
            </a:r>
            <a:r>
              <a:rPr lang="en-US" altLang="en-US" sz="2800" dirty="0">
                <a:latin typeface="Consolas" panose="020B0609020204030204" pitchFamily="49" charset="0"/>
              </a:rPr>
              <a:t>right</a:t>
            </a:r>
            <a:r>
              <a:rPr lang="en-US" altLang="en-US" sz="2800" dirty="0"/>
              <a:t>, </a:t>
            </a:r>
            <a:r>
              <a:rPr lang="en-US" altLang="en-US" sz="2800" dirty="0">
                <a:latin typeface="Consolas" panose="020B0609020204030204" pitchFamily="49" charset="0"/>
              </a:rPr>
              <a:t>center</a:t>
            </a:r>
            <a:r>
              <a:rPr lang="en-US" altLang="en-US" sz="2800" dirty="0"/>
              <a:t>, </a:t>
            </a:r>
            <a:r>
              <a:rPr lang="en-US" altLang="en-US" sz="2800" dirty="0">
                <a:latin typeface="Consolas" panose="020B0609020204030204" pitchFamily="49" charset="0"/>
              </a:rPr>
              <a:t>justify</a:t>
            </a:r>
            <a:endParaRPr lang="bg-BG" altLang="en-US" sz="2800" dirty="0">
              <a:latin typeface="Consolas" panose="020B0609020204030204" pitchFamily="49" charset="0"/>
            </a:endParaRPr>
          </a:p>
        </p:txBody>
      </p:sp>
      <p:sp>
        <p:nvSpPr>
          <p:cNvPr id="4" name="Slide Number Placeholder 3">
            <a:extLst>
              <a:ext uri="{FF2B5EF4-FFF2-40B4-BE49-F238E27FC236}">
                <a16:creationId xmlns:a16="http://schemas.microsoft.com/office/drawing/2014/main" id="{C72CA4DC-8BB2-4663-8AD2-E857B34BD428}"/>
              </a:ext>
            </a:extLst>
          </p:cNvPr>
          <p:cNvSpPr>
            <a:spLocks noGrp="1"/>
          </p:cNvSpPr>
          <p:nvPr>
            <p:ph type="sldNum" sz="quarter" idx="12"/>
          </p:nvPr>
        </p:nvSpPr>
        <p:spPr/>
        <p:txBody>
          <a:bodyPr/>
          <a:lstStyle/>
          <a:p>
            <a:pPr>
              <a:defRPr/>
            </a:pPr>
            <a:fld id="{BD8DF642-348C-44AB-97AE-59D267F54955}" type="slidenum">
              <a:rPr lang="en-US" smtClean="0"/>
              <a:pPr>
                <a:defRPr/>
              </a:pPr>
              <a:t>26</a:t>
            </a:fld>
            <a:endParaRPr lang="en-US" dirty="0"/>
          </a:p>
        </p:txBody>
      </p:sp>
      <p:cxnSp>
        <p:nvCxnSpPr>
          <p:cNvPr id="5" name="Straight Connector 4">
            <a:extLst>
              <a:ext uri="{FF2B5EF4-FFF2-40B4-BE49-F238E27FC236}">
                <a16:creationId xmlns:a16="http://schemas.microsoft.com/office/drawing/2014/main" id="{9E88DD3C-66F5-4566-B689-6F499D460021}"/>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4DCE677C-C6F4-458A-8C9A-2AEBA6687AE5}"/>
              </a:ext>
            </a:extLst>
          </p:cNvPr>
          <p:cNvSpPr>
            <a:spLocks noGrp="1" noChangeArrowheads="1"/>
          </p:cNvSpPr>
          <p:nvPr>
            <p:ph type="title"/>
          </p:nvPr>
        </p:nvSpPr>
        <p:spPr/>
        <p:txBody>
          <a:bodyPr/>
          <a:lstStyle/>
          <a:p>
            <a:pPr algn="ctr"/>
            <a:r>
              <a:rPr lang="en-US" altLang="en-US" b="1" dirty="0">
                <a:solidFill>
                  <a:schemeClr val="accent1"/>
                </a:solidFill>
                <a:latin typeface="+mn-lt"/>
              </a:rPr>
              <a:t>Shorthand Font Property</a:t>
            </a:r>
            <a:endParaRPr lang="bg-BG" altLang="en-US" b="1" dirty="0">
              <a:solidFill>
                <a:schemeClr val="accent1"/>
              </a:solidFill>
              <a:latin typeface="+mn-lt"/>
            </a:endParaRPr>
          </a:p>
        </p:txBody>
      </p:sp>
      <p:sp>
        <p:nvSpPr>
          <p:cNvPr id="167939" name="Rectangle 3">
            <a:extLst>
              <a:ext uri="{FF2B5EF4-FFF2-40B4-BE49-F238E27FC236}">
                <a16:creationId xmlns:a16="http://schemas.microsoft.com/office/drawing/2014/main" id="{F45200E9-EB7D-4BE7-B7FF-A1CC65F92786}"/>
              </a:ext>
            </a:extLst>
          </p:cNvPr>
          <p:cNvSpPr>
            <a:spLocks noGrp="1" noChangeArrowheads="1"/>
          </p:cNvSpPr>
          <p:nvPr>
            <p:ph idx="1"/>
          </p:nvPr>
        </p:nvSpPr>
        <p:spPr>
          <a:xfrm>
            <a:off x="463825" y="1426410"/>
            <a:ext cx="11171583" cy="5066460"/>
          </a:xfrm>
        </p:spPr>
        <p:txBody>
          <a:bodyPr/>
          <a:lstStyle/>
          <a:p>
            <a:r>
              <a:rPr lang="en-US" altLang="en-US" dirty="0"/>
              <a:t>font</a:t>
            </a:r>
          </a:p>
          <a:p>
            <a:pPr lvl="1"/>
            <a:r>
              <a:rPr lang="en-US" altLang="en-US" dirty="0"/>
              <a:t>Shorthand rule for setting multiple font properties at the same time</a:t>
            </a:r>
          </a:p>
          <a:p>
            <a:pPr lvl="1"/>
            <a:endParaRPr lang="en-US" altLang="en-US" sz="2800" dirty="0"/>
          </a:p>
          <a:p>
            <a:pPr marL="457189" lvl="1" indent="0">
              <a:buNone/>
            </a:pPr>
            <a:endParaRPr lang="en-US" altLang="en-US" sz="2800" dirty="0"/>
          </a:p>
          <a:p>
            <a:pPr marL="457189" lvl="1" indent="0">
              <a:buNone/>
            </a:pPr>
            <a:endParaRPr lang="en-US" altLang="en-US" sz="2800" dirty="0"/>
          </a:p>
          <a:p>
            <a:pPr lvl="1"/>
            <a:r>
              <a:rPr lang="en-US" altLang="en-US" sz="2800" dirty="0"/>
              <a:t>is equal to writing this:</a:t>
            </a:r>
            <a:endParaRPr lang="en-US" altLang="en-US" sz="2800" dirty="0">
              <a:latin typeface="Courier New" panose="02070309020205020404" pitchFamily="49" charset="0"/>
            </a:endParaRPr>
          </a:p>
        </p:txBody>
      </p:sp>
      <p:sp>
        <p:nvSpPr>
          <p:cNvPr id="6" name="Slide Number Placeholder 3">
            <a:extLst>
              <a:ext uri="{FF2B5EF4-FFF2-40B4-BE49-F238E27FC236}">
                <a16:creationId xmlns:a16="http://schemas.microsoft.com/office/drawing/2014/main" id="{085F7194-FFC8-471E-9AEC-44ACAEE75886}"/>
              </a:ext>
            </a:extLst>
          </p:cNvPr>
          <p:cNvSpPr>
            <a:spLocks noGrp="1"/>
          </p:cNvSpPr>
          <p:nvPr>
            <p:ph type="sldNum" sz="quarter" idx="12"/>
          </p:nvPr>
        </p:nvSpPr>
        <p:spPr/>
        <p:txBody>
          <a:bodyPr/>
          <a:lstStyle/>
          <a:p>
            <a:pPr>
              <a:defRPr/>
            </a:pPr>
            <a:fld id="{62419B22-95F2-4F4A-A669-AA660EBA6923}" type="slidenum">
              <a:rPr lang="en-US" smtClean="0"/>
              <a:pPr>
                <a:defRPr/>
              </a:pPr>
              <a:t>27</a:t>
            </a:fld>
            <a:endParaRPr lang="en-US" dirty="0"/>
          </a:p>
        </p:txBody>
      </p:sp>
      <p:sp>
        <p:nvSpPr>
          <p:cNvPr id="4" name="Rectangle 4">
            <a:extLst>
              <a:ext uri="{FF2B5EF4-FFF2-40B4-BE49-F238E27FC236}">
                <a16:creationId xmlns:a16="http://schemas.microsoft.com/office/drawing/2014/main" id="{D5FF282C-A9C5-4DA3-831E-0ED772F68E6E}"/>
              </a:ext>
            </a:extLst>
          </p:cNvPr>
          <p:cNvSpPr>
            <a:spLocks noChangeArrowheads="1"/>
          </p:cNvSpPr>
          <p:nvPr/>
        </p:nvSpPr>
        <p:spPr bwMode="auto">
          <a:xfrm>
            <a:off x="3143251" y="2754317"/>
            <a:ext cx="5562600" cy="757130"/>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font:italic normal bold 12px/16px verdana</a:t>
            </a:r>
          </a:p>
        </p:txBody>
      </p:sp>
      <p:sp>
        <p:nvSpPr>
          <p:cNvPr id="5" name="Rectangle 5">
            <a:extLst>
              <a:ext uri="{FF2B5EF4-FFF2-40B4-BE49-F238E27FC236}">
                <a16:creationId xmlns:a16="http://schemas.microsoft.com/office/drawing/2014/main" id="{F4908C52-A749-42FE-A27D-BFF9830724F8}"/>
              </a:ext>
            </a:extLst>
          </p:cNvPr>
          <p:cNvSpPr>
            <a:spLocks noChangeArrowheads="1"/>
          </p:cNvSpPr>
          <p:nvPr/>
        </p:nvSpPr>
        <p:spPr bwMode="auto">
          <a:xfrm>
            <a:off x="2782891" y="4168781"/>
            <a:ext cx="6337300" cy="2086725"/>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font-style: italic;</a:t>
            </a:r>
          </a:p>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font-variant: normal;</a:t>
            </a:r>
          </a:p>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Yetenbi" panose="02000504070300020003" pitchFamily="2" charset="0"/>
                <a:cs typeface="Consolas" pitchFamily="49" charset="0"/>
              </a:rPr>
              <a:t>font-weight</a:t>
            </a: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 bold;</a:t>
            </a:r>
          </a:p>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font-size: 12px;</a:t>
            </a:r>
          </a:p>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line-height: 16px;</a:t>
            </a:r>
          </a:p>
          <a:p>
            <a:pPr>
              <a:lnSpc>
                <a:spcPct val="90000"/>
              </a:lnSpc>
              <a:buClr>
                <a:schemeClr val="accent5">
                  <a:lumMod val="40000"/>
                  <a:lumOff val="60000"/>
                </a:schemeClr>
              </a:buClr>
              <a:buSzPct val="70000"/>
              <a:defRPr/>
            </a:pPr>
            <a:r>
              <a:rPr lang="en-US" sz="2400" b="1" noProof="1">
                <a:solidFill>
                  <a:schemeClr val="accent1"/>
                </a:solidFill>
                <a:effectLst>
                  <a:outerShdw blurRad="38100" dist="38100" dir="2700000" algn="tl">
                    <a:srgbClr val="000000">
                      <a:alpha val="43137"/>
                    </a:srgbClr>
                  </a:outerShdw>
                </a:effectLst>
                <a:latin typeface="Consolas" pitchFamily="49" charset="0"/>
                <a:cs typeface="Consolas" pitchFamily="49" charset="0"/>
              </a:rPr>
              <a:t>font-family: verdana;</a:t>
            </a:r>
          </a:p>
        </p:txBody>
      </p:sp>
      <p:cxnSp>
        <p:nvCxnSpPr>
          <p:cNvPr id="7" name="Straight Connector 6">
            <a:extLst>
              <a:ext uri="{FF2B5EF4-FFF2-40B4-BE49-F238E27FC236}">
                <a16:creationId xmlns:a16="http://schemas.microsoft.com/office/drawing/2014/main" id="{966DD4CA-6147-4F49-B0F1-1D218A309962}"/>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63C4DC59-6C06-4912-A866-534280A22529}"/>
              </a:ext>
            </a:extLst>
          </p:cNvPr>
          <p:cNvSpPr>
            <a:spLocks noGrp="1" noChangeArrowheads="1"/>
          </p:cNvSpPr>
          <p:nvPr>
            <p:ph type="title"/>
          </p:nvPr>
        </p:nvSpPr>
        <p:spPr/>
        <p:txBody>
          <a:bodyPr/>
          <a:lstStyle/>
          <a:p>
            <a:pPr algn="ctr"/>
            <a:r>
              <a:rPr lang="en-US" altLang="en-US" b="1" dirty="0">
                <a:solidFill>
                  <a:schemeClr val="accent1"/>
                </a:solidFill>
                <a:latin typeface="+mn-lt"/>
              </a:rPr>
              <a:t>Backgrounds</a:t>
            </a:r>
            <a:endParaRPr lang="bg-BG" altLang="en-US" b="1" dirty="0">
              <a:solidFill>
                <a:schemeClr val="accent1"/>
              </a:solidFill>
              <a:latin typeface="+mn-lt"/>
            </a:endParaRPr>
          </a:p>
        </p:txBody>
      </p:sp>
      <p:sp>
        <p:nvSpPr>
          <p:cNvPr id="169987" name="Rectangle 3">
            <a:extLst>
              <a:ext uri="{FF2B5EF4-FFF2-40B4-BE49-F238E27FC236}">
                <a16:creationId xmlns:a16="http://schemas.microsoft.com/office/drawing/2014/main" id="{0A147D60-9D12-473D-9B61-46540CDFF97D}"/>
              </a:ext>
            </a:extLst>
          </p:cNvPr>
          <p:cNvSpPr>
            <a:spLocks noGrp="1" noChangeArrowheads="1"/>
          </p:cNvSpPr>
          <p:nvPr>
            <p:ph idx="1"/>
          </p:nvPr>
        </p:nvSpPr>
        <p:spPr>
          <a:xfrm>
            <a:off x="503584" y="1411680"/>
            <a:ext cx="10850216" cy="5081194"/>
          </a:xfrm>
        </p:spPr>
        <p:txBody>
          <a:bodyPr>
            <a:normAutofit fontScale="70000" lnSpcReduction="20000"/>
          </a:bodyPr>
          <a:lstStyle/>
          <a:p>
            <a:pPr>
              <a:lnSpc>
                <a:spcPct val="150000"/>
              </a:lnSpc>
            </a:pPr>
            <a:r>
              <a:rPr lang="en-US" b="0" i="0" dirty="0">
                <a:solidFill>
                  <a:srgbClr val="000000"/>
                </a:solidFill>
                <a:effectLst/>
                <a:latin typeface="Verdana" panose="020B0604030504040204" pitchFamily="34" charset="0"/>
              </a:rPr>
              <a:t>The CSS background properties are used to add background effects for elements.</a:t>
            </a:r>
            <a:endParaRPr lang="en-US" altLang="en-US" dirty="0">
              <a:latin typeface="Consolas" panose="020B0609020204030204" pitchFamily="49" charset="0"/>
            </a:endParaRPr>
          </a:p>
          <a:p>
            <a:pPr>
              <a:lnSpc>
                <a:spcPct val="150000"/>
              </a:lnSpc>
            </a:pPr>
            <a:r>
              <a:rPr lang="en-US" altLang="en-US" dirty="0">
                <a:latin typeface="Consolas" panose="020B0609020204030204" pitchFamily="49" charset="0"/>
              </a:rPr>
              <a:t>background-image</a:t>
            </a:r>
          </a:p>
          <a:p>
            <a:pPr lvl="1">
              <a:lnSpc>
                <a:spcPct val="150000"/>
              </a:lnSpc>
            </a:pPr>
            <a:r>
              <a:rPr lang="en-US" altLang="en-US" sz="2800" dirty="0"/>
              <a:t>URL of image to be used as background, e.g.:</a:t>
            </a:r>
            <a:endParaRPr lang="en-US" altLang="en-US" sz="2800" dirty="0">
              <a:latin typeface="Consolas" panose="020B0609020204030204" pitchFamily="49" charset="0"/>
            </a:endParaRPr>
          </a:p>
          <a:p>
            <a:pPr>
              <a:lnSpc>
                <a:spcPct val="150000"/>
              </a:lnSpc>
            </a:pPr>
            <a:endParaRPr lang="en-US" altLang="en-US" dirty="0">
              <a:latin typeface="Consolas" panose="020B0609020204030204" pitchFamily="49" charset="0"/>
            </a:endParaRPr>
          </a:p>
          <a:p>
            <a:pPr>
              <a:lnSpc>
                <a:spcPct val="150000"/>
              </a:lnSpc>
            </a:pPr>
            <a:r>
              <a:rPr lang="en-US" altLang="en-US" dirty="0">
                <a:latin typeface="Consolas" panose="020B0609020204030204" pitchFamily="49" charset="0"/>
              </a:rPr>
              <a:t>background-color</a:t>
            </a:r>
          </a:p>
          <a:p>
            <a:pPr lvl="1">
              <a:lnSpc>
                <a:spcPct val="150000"/>
              </a:lnSpc>
            </a:pPr>
            <a:r>
              <a:rPr lang="en-US" altLang="en-US" sz="2800" dirty="0"/>
              <a:t>Using color  </a:t>
            </a:r>
          </a:p>
          <a:p>
            <a:pPr>
              <a:lnSpc>
                <a:spcPct val="150000"/>
              </a:lnSpc>
            </a:pPr>
            <a:r>
              <a:rPr lang="en-US" altLang="en-US" dirty="0">
                <a:latin typeface="Consolas" panose="020B0609020204030204" pitchFamily="49" charset="0"/>
              </a:rPr>
              <a:t>background-repeat</a:t>
            </a:r>
          </a:p>
          <a:p>
            <a:pPr lvl="1">
              <a:lnSpc>
                <a:spcPct val="150000"/>
              </a:lnSpc>
            </a:pPr>
            <a:r>
              <a:rPr lang="en-US" altLang="en-US" sz="2800" dirty="0">
                <a:latin typeface="Consolas" panose="020B0609020204030204" pitchFamily="49" charset="0"/>
              </a:rPr>
              <a:t>repeat-x</a:t>
            </a:r>
            <a:r>
              <a:rPr lang="en-US" altLang="en-US" sz="2800" dirty="0"/>
              <a:t>, </a:t>
            </a:r>
            <a:r>
              <a:rPr lang="en-US" altLang="en-US" sz="2800" dirty="0">
                <a:latin typeface="Consolas" panose="020B0609020204030204" pitchFamily="49" charset="0"/>
              </a:rPr>
              <a:t>repeat-y</a:t>
            </a:r>
            <a:r>
              <a:rPr lang="en-US" altLang="en-US" sz="2800" dirty="0"/>
              <a:t>, </a:t>
            </a:r>
            <a:r>
              <a:rPr lang="en-US" altLang="en-US" sz="2800" dirty="0">
                <a:latin typeface="Consolas" panose="020B0609020204030204" pitchFamily="49" charset="0"/>
              </a:rPr>
              <a:t>repeat</a:t>
            </a:r>
            <a:r>
              <a:rPr lang="en-US" altLang="en-US" sz="2800" dirty="0"/>
              <a:t>, </a:t>
            </a:r>
            <a:r>
              <a:rPr lang="en-US" altLang="en-US" sz="2800" dirty="0">
                <a:latin typeface="Consolas" panose="020B0609020204030204" pitchFamily="49" charset="0"/>
              </a:rPr>
              <a:t>no-repeat</a:t>
            </a:r>
          </a:p>
          <a:p>
            <a:pPr>
              <a:lnSpc>
                <a:spcPct val="150000"/>
              </a:lnSpc>
            </a:pPr>
            <a:r>
              <a:rPr lang="en-US" altLang="en-US" dirty="0">
                <a:latin typeface="Consolas" panose="020B0609020204030204" pitchFamily="49" charset="0"/>
              </a:rPr>
              <a:t>background-attachment</a:t>
            </a:r>
          </a:p>
          <a:p>
            <a:pPr lvl="1">
              <a:lnSpc>
                <a:spcPct val="150000"/>
              </a:lnSpc>
            </a:pPr>
            <a:r>
              <a:rPr lang="en-US" altLang="en-US" sz="2800" dirty="0">
                <a:latin typeface="Consolas" panose="020B0609020204030204" pitchFamily="49" charset="0"/>
                <a:cs typeface="Courier New" panose="02070309020205020404" pitchFamily="49" charset="0"/>
              </a:rPr>
              <a:t>fixed</a:t>
            </a:r>
            <a:r>
              <a:rPr lang="en-US" altLang="en-US" sz="2800" dirty="0"/>
              <a:t> / </a:t>
            </a:r>
            <a:r>
              <a:rPr lang="en-US" altLang="en-US" sz="2800" dirty="0">
                <a:latin typeface="Consolas" panose="020B0609020204030204" pitchFamily="49" charset="0"/>
                <a:cs typeface="Courier New" panose="02070309020205020404" pitchFamily="49" charset="0"/>
              </a:rPr>
              <a:t>scroll</a:t>
            </a:r>
          </a:p>
        </p:txBody>
      </p:sp>
      <p:sp>
        <p:nvSpPr>
          <p:cNvPr id="4" name="Slide Number Placeholder 3">
            <a:extLst>
              <a:ext uri="{FF2B5EF4-FFF2-40B4-BE49-F238E27FC236}">
                <a16:creationId xmlns:a16="http://schemas.microsoft.com/office/drawing/2014/main" id="{4E999E6F-BB3B-45C5-8A11-373664DDC544}"/>
              </a:ext>
            </a:extLst>
          </p:cNvPr>
          <p:cNvSpPr>
            <a:spLocks noGrp="1"/>
          </p:cNvSpPr>
          <p:nvPr>
            <p:ph type="sldNum" sz="quarter" idx="12"/>
          </p:nvPr>
        </p:nvSpPr>
        <p:spPr/>
        <p:txBody>
          <a:bodyPr/>
          <a:lstStyle/>
          <a:p>
            <a:pPr>
              <a:defRPr/>
            </a:pPr>
            <a:fld id="{825CFE26-29A6-4983-BEF2-E91496F15682}" type="slidenum">
              <a:rPr lang="en-US" smtClean="0"/>
              <a:pPr>
                <a:defRPr/>
              </a:pPr>
              <a:t>28</a:t>
            </a:fld>
            <a:endParaRPr lang="en-US" dirty="0"/>
          </a:p>
        </p:txBody>
      </p:sp>
      <p:sp>
        <p:nvSpPr>
          <p:cNvPr id="5" name="Rectangle 4">
            <a:extLst>
              <a:ext uri="{FF2B5EF4-FFF2-40B4-BE49-F238E27FC236}">
                <a16:creationId xmlns:a16="http://schemas.microsoft.com/office/drawing/2014/main" id="{E1CD2DE1-6D97-4C6A-BEE0-B33F91638421}"/>
              </a:ext>
            </a:extLst>
          </p:cNvPr>
          <p:cNvSpPr>
            <a:spLocks noChangeArrowheads="1"/>
          </p:cNvSpPr>
          <p:nvPr/>
        </p:nvSpPr>
        <p:spPr bwMode="auto">
          <a:xfrm>
            <a:off x="2943018" y="2978455"/>
            <a:ext cx="5878513" cy="424732"/>
          </a:xfrm>
          <a:prstGeom prst="rect">
            <a:avLst/>
          </a:prstGeom>
          <a:solidFill>
            <a:schemeClr val="accent5">
              <a:lumMod val="40000"/>
              <a:lumOff val="60000"/>
              <a:alpha val="15000"/>
            </a:schemeClr>
          </a:solidFill>
          <a:ln w="12700">
            <a:solidFill>
              <a:schemeClr val="accent5">
                <a:lumMod val="60000"/>
                <a:lumOff val="40000"/>
              </a:schemeClr>
            </a:solidFill>
          </a:ln>
        </p:spPr>
        <p:txBody>
          <a:bodyPr>
            <a:spAutoFit/>
          </a:bodyPr>
          <a:lstStyle/>
          <a:p>
            <a:pPr>
              <a:lnSpc>
                <a:spcPct val="90000"/>
              </a:lnSpc>
              <a:buClr>
                <a:schemeClr val="accent5">
                  <a:lumMod val="40000"/>
                  <a:lumOff val="60000"/>
                </a:schemeClr>
              </a:buClr>
              <a:buSzPct val="70000"/>
              <a:defRPr/>
            </a:pPr>
            <a:r>
              <a:rPr lang="en-US" sz="2400" b="1" noProof="1">
                <a:solidFill>
                  <a:srgbClr val="00B0F0"/>
                </a:solidFill>
                <a:effectLst>
                  <a:outerShdw blurRad="38100" dist="38100" dir="2700000" algn="tl">
                    <a:srgbClr val="000000">
                      <a:alpha val="43137"/>
                    </a:srgbClr>
                  </a:outerShdw>
                </a:effectLst>
                <a:latin typeface="Consolas" pitchFamily="49" charset="0"/>
                <a:cs typeface="Consolas" pitchFamily="49" charset="0"/>
              </a:rPr>
              <a:t>background-image:url("back.gif");</a:t>
            </a:r>
          </a:p>
        </p:txBody>
      </p:sp>
      <p:cxnSp>
        <p:nvCxnSpPr>
          <p:cNvPr id="6" name="Straight Connector 5">
            <a:extLst>
              <a:ext uri="{FF2B5EF4-FFF2-40B4-BE49-F238E27FC236}">
                <a16:creationId xmlns:a16="http://schemas.microsoft.com/office/drawing/2014/main" id="{A17E7A46-A51A-4D1F-847F-C07CE46EEDD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858C31E7-21CD-4E3B-B27C-D291F09B0EFA}"/>
              </a:ext>
            </a:extLst>
          </p:cNvPr>
          <p:cNvSpPr>
            <a:spLocks noGrp="1" noChangeArrowheads="1"/>
          </p:cNvSpPr>
          <p:nvPr>
            <p:ph type="title"/>
          </p:nvPr>
        </p:nvSpPr>
        <p:spPr>
          <a:xfrm>
            <a:off x="838200" y="365127"/>
            <a:ext cx="10515600" cy="1344403"/>
          </a:xfrm>
        </p:spPr>
        <p:txBody>
          <a:bodyPr/>
          <a:lstStyle/>
          <a:p>
            <a:pPr algn="ctr"/>
            <a:r>
              <a:rPr lang="en-US" altLang="en-US" dirty="0">
                <a:latin typeface="+mn-lt"/>
              </a:rPr>
              <a:t>Backgrounds (2)</a:t>
            </a:r>
            <a:endParaRPr lang="bg-BG" altLang="en-US" dirty="0">
              <a:latin typeface="+mn-lt"/>
            </a:endParaRPr>
          </a:p>
        </p:txBody>
      </p:sp>
      <p:sp>
        <p:nvSpPr>
          <p:cNvPr id="172035" name="Rectangle 3">
            <a:extLst>
              <a:ext uri="{FF2B5EF4-FFF2-40B4-BE49-F238E27FC236}">
                <a16:creationId xmlns:a16="http://schemas.microsoft.com/office/drawing/2014/main" id="{676B85AE-1EFA-47B6-8557-519D1234F239}"/>
              </a:ext>
            </a:extLst>
          </p:cNvPr>
          <p:cNvSpPr>
            <a:spLocks noGrp="1" noChangeArrowheads="1"/>
          </p:cNvSpPr>
          <p:nvPr>
            <p:ph idx="1"/>
          </p:nvPr>
        </p:nvSpPr>
        <p:spPr>
          <a:xfrm>
            <a:off x="290945" y="1282705"/>
            <a:ext cx="11129115" cy="5210168"/>
          </a:xfrm>
        </p:spPr>
        <p:txBody>
          <a:bodyPr/>
          <a:lstStyle/>
          <a:p>
            <a:pPr>
              <a:lnSpc>
                <a:spcPct val="150000"/>
              </a:lnSpc>
              <a:spcBef>
                <a:spcPts val="600"/>
              </a:spcBef>
            </a:pPr>
            <a:r>
              <a:rPr lang="en-US" altLang="en-US" sz="2400" dirty="0"/>
              <a:t>Background-position: specifies vertical and horizontal position of the background image</a:t>
            </a:r>
          </a:p>
          <a:p>
            <a:pPr marL="548640" lvl="1">
              <a:lnSpc>
                <a:spcPct val="150000"/>
              </a:lnSpc>
            </a:pPr>
            <a:r>
              <a:rPr lang="en-US" altLang="en-US" b="1" dirty="0"/>
              <a:t>Vertical position: </a:t>
            </a:r>
            <a:r>
              <a:rPr lang="en-US" altLang="en-US" dirty="0"/>
              <a:t>top, center, bottom</a:t>
            </a:r>
          </a:p>
          <a:p>
            <a:pPr marL="548640" lvl="1">
              <a:lnSpc>
                <a:spcPct val="150000"/>
              </a:lnSpc>
            </a:pPr>
            <a:r>
              <a:rPr lang="en-US" altLang="en-US" b="1" dirty="0"/>
              <a:t>Horizontal position: </a:t>
            </a:r>
            <a:r>
              <a:rPr lang="en-US" altLang="en-US" dirty="0"/>
              <a:t>left, center, right</a:t>
            </a:r>
          </a:p>
          <a:p>
            <a:pPr marL="548640" lvl="1">
              <a:lnSpc>
                <a:spcPct val="150000"/>
              </a:lnSpc>
            </a:pPr>
            <a:r>
              <a:rPr lang="en-US" altLang="en-US" dirty="0"/>
              <a:t>Both can be specified in percentage or other numerical values</a:t>
            </a:r>
          </a:p>
          <a:p>
            <a:pPr marL="548640" lvl="1">
              <a:lnSpc>
                <a:spcPct val="150000"/>
              </a:lnSpc>
            </a:pPr>
            <a:r>
              <a:rPr lang="en-US" altLang="en-US" dirty="0"/>
              <a:t>Examples:</a:t>
            </a:r>
          </a:p>
        </p:txBody>
      </p:sp>
      <p:sp>
        <p:nvSpPr>
          <p:cNvPr id="4" name="Slide Number Placeholder 3">
            <a:extLst>
              <a:ext uri="{FF2B5EF4-FFF2-40B4-BE49-F238E27FC236}">
                <a16:creationId xmlns:a16="http://schemas.microsoft.com/office/drawing/2014/main" id="{0F708CA9-799C-4516-996E-5C6EF7D68D2B}"/>
              </a:ext>
            </a:extLst>
          </p:cNvPr>
          <p:cNvSpPr>
            <a:spLocks noGrp="1"/>
          </p:cNvSpPr>
          <p:nvPr>
            <p:ph type="sldNum" sz="quarter" idx="12"/>
          </p:nvPr>
        </p:nvSpPr>
        <p:spPr/>
        <p:txBody>
          <a:bodyPr/>
          <a:lstStyle/>
          <a:p>
            <a:pPr>
              <a:defRPr/>
            </a:pPr>
            <a:fld id="{2BE5AA41-5756-4E8B-9B25-4941D2331241}" type="slidenum">
              <a:rPr lang="en-US" smtClean="0"/>
              <a:pPr>
                <a:defRPr/>
              </a:pPr>
              <a:t>29</a:t>
            </a:fld>
            <a:endParaRPr lang="en-US" dirty="0"/>
          </a:p>
        </p:txBody>
      </p:sp>
      <p:cxnSp>
        <p:nvCxnSpPr>
          <p:cNvPr id="7" name="Straight Connector 6">
            <a:extLst>
              <a:ext uri="{FF2B5EF4-FFF2-40B4-BE49-F238E27FC236}">
                <a16:creationId xmlns:a16="http://schemas.microsoft.com/office/drawing/2014/main" id="{6FCF0316-25F6-4EC6-B914-4AEBC7C71232}"/>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9" name="TextBox 8">
            <a:extLst>
              <a:ext uri="{FF2B5EF4-FFF2-40B4-BE49-F238E27FC236}">
                <a16:creationId xmlns:a16="http://schemas.microsoft.com/office/drawing/2014/main" id="{91FEF68A-7513-8B19-7B91-EBAA8CE23497}"/>
              </a:ext>
            </a:extLst>
          </p:cNvPr>
          <p:cNvSpPr txBox="1"/>
          <p:nvPr/>
        </p:nvSpPr>
        <p:spPr>
          <a:xfrm>
            <a:off x="5257800" y="5020968"/>
            <a:ext cx="6096000" cy="1477328"/>
          </a:xfrm>
          <a:prstGeom prst="rect">
            <a:avLst/>
          </a:prstGeom>
          <a:noFill/>
        </p:spPr>
        <p:txBody>
          <a:bodyPr wrap="square">
            <a:spAutoFit/>
          </a:bodyPr>
          <a:lstStyle/>
          <a:p>
            <a:r>
              <a:rPr lang="en-US" b="0" i="0" dirty="0">
                <a:solidFill>
                  <a:srgbClr val="A52A2A"/>
                </a:solidFill>
                <a:effectLst/>
                <a:latin typeface="Consolas" panose="020B0609020204030204" pitchFamily="49" charset="0"/>
              </a:rPr>
              <a:t>body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background-image</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a:t>
            </a:r>
            <a:r>
              <a:rPr lang="en-US" b="0" i="0" dirty="0" err="1">
                <a:solidFill>
                  <a:srgbClr val="0000CD"/>
                </a:solidFill>
                <a:effectLst/>
                <a:latin typeface="Consolas" panose="020B0609020204030204" pitchFamily="49" charset="0"/>
              </a:rPr>
              <a:t>url</a:t>
            </a:r>
            <a:r>
              <a:rPr lang="en-US" b="0" i="0" dirty="0">
                <a:solidFill>
                  <a:srgbClr val="0000CD"/>
                </a:solidFill>
                <a:effectLst/>
                <a:latin typeface="Consolas" panose="020B0609020204030204" pitchFamily="49" charset="0"/>
              </a:rPr>
              <a:t>("img_tree.png")</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background-repeat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no-repeat</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background-position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right top</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
        <p:nvSpPr>
          <p:cNvPr id="11" name="TextBox 10">
            <a:extLst>
              <a:ext uri="{FF2B5EF4-FFF2-40B4-BE49-F238E27FC236}">
                <a16:creationId xmlns:a16="http://schemas.microsoft.com/office/drawing/2014/main" id="{AAF735ED-025B-1667-8534-8A549F543AF9}"/>
              </a:ext>
            </a:extLst>
          </p:cNvPr>
          <p:cNvSpPr txBox="1"/>
          <p:nvPr/>
        </p:nvSpPr>
        <p:spPr>
          <a:xfrm>
            <a:off x="2452254" y="4552869"/>
            <a:ext cx="9718964" cy="461665"/>
          </a:xfrm>
          <a:prstGeom prst="rect">
            <a:avLst/>
          </a:prstGeom>
          <a:noFill/>
        </p:spPr>
        <p:txBody>
          <a:bodyPr wrap="square">
            <a:spAutoFit/>
          </a:bodyPr>
          <a:lstStyle/>
          <a:p>
            <a:pPr algn="l"/>
            <a:r>
              <a:rPr lang="en-US" sz="2400" b="1" i="0" dirty="0">
                <a:effectLst/>
                <a:latin typeface="Verdana" panose="020B0604030504040204" pitchFamily="34" charset="0"/>
              </a:rPr>
              <a:t>Position the background image in the top-right corner: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3CC906A2-107E-4097-94E8-E6446B4D2FDF}"/>
              </a:ext>
            </a:extLst>
          </p:cNvPr>
          <p:cNvSpPr>
            <a:spLocks noGrp="1" noChangeArrowheads="1"/>
          </p:cNvSpPr>
          <p:nvPr>
            <p:ph type="title"/>
          </p:nvPr>
        </p:nvSpPr>
        <p:spPr>
          <a:xfrm>
            <a:off x="1668460" y="276225"/>
            <a:ext cx="9012792" cy="1049339"/>
          </a:xfrm>
        </p:spPr>
        <p:txBody>
          <a:bodyPr>
            <a:noAutofit/>
          </a:bodyPr>
          <a:lstStyle/>
          <a:p>
            <a:pPr algn="ctr"/>
            <a:br>
              <a:rPr lang="en-US" altLang="en-US" dirty="0">
                <a:solidFill>
                  <a:schemeClr val="accent1"/>
                </a:solidFill>
                <a:latin typeface="+mn-lt"/>
              </a:rPr>
            </a:br>
            <a:r>
              <a:rPr lang="en-US" altLang="en-US" dirty="0">
                <a:solidFill>
                  <a:schemeClr val="accent1"/>
                </a:solidFill>
                <a:latin typeface="+mn-lt"/>
              </a:rPr>
              <a:t>Borders</a:t>
            </a:r>
            <a:endParaRPr lang="bg-BG" altLang="en-US" dirty="0">
              <a:solidFill>
                <a:schemeClr val="accent1"/>
              </a:solidFill>
              <a:latin typeface="+mn-lt"/>
            </a:endParaRPr>
          </a:p>
        </p:txBody>
      </p:sp>
      <p:sp>
        <p:nvSpPr>
          <p:cNvPr id="174083" name="Rectangle 3">
            <a:extLst>
              <a:ext uri="{FF2B5EF4-FFF2-40B4-BE49-F238E27FC236}">
                <a16:creationId xmlns:a16="http://schemas.microsoft.com/office/drawing/2014/main" id="{22C061F1-D5B4-4820-A848-3B212295A3EA}"/>
              </a:ext>
            </a:extLst>
          </p:cNvPr>
          <p:cNvSpPr>
            <a:spLocks noGrp="1" noChangeArrowheads="1"/>
          </p:cNvSpPr>
          <p:nvPr>
            <p:ph idx="1"/>
          </p:nvPr>
        </p:nvSpPr>
        <p:spPr>
          <a:xfrm>
            <a:off x="530087" y="1536702"/>
            <a:ext cx="11131826" cy="4705069"/>
          </a:xfrm>
        </p:spPr>
        <p:txBody>
          <a:bodyPr>
            <a:normAutofit/>
          </a:bodyPr>
          <a:lstStyle/>
          <a:p>
            <a:pPr algn="l"/>
            <a:r>
              <a:rPr lang="en-US" sz="2400" b="0" i="0" dirty="0">
                <a:solidFill>
                  <a:srgbClr val="000000"/>
                </a:solidFill>
                <a:effectLst/>
              </a:rPr>
              <a:t>The CSS border properties allow you to specify the style, width, and color of an element's border.</a:t>
            </a:r>
            <a:endParaRPr lang="en-US" altLang="en-US" sz="2400" dirty="0"/>
          </a:p>
          <a:p>
            <a:pPr>
              <a:lnSpc>
                <a:spcPct val="100000"/>
              </a:lnSpc>
            </a:pPr>
            <a:r>
              <a:rPr lang="en-US" altLang="en-US" sz="2400" dirty="0"/>
              <a:t>Border-width: thin, medium, thick or numerical value (e.g. </a:t>
            </a:r>
            <a:r>
              <a:rPr lang="en-US" altLang="en-US" sz="2400" dirty="0">
                <a:ea typeface="Consolas" panose="020B0609020204030204" pitchFamily="49" charset="0"/>
                <a:cs typeface="Consolas" panose="020B0609020204030204" pitchFamily="49" charset="0"/>
              </a:rPr>
              <a:t>10px</a:t>
            </a:r>
            <a:r>
              <a:rPr lang="en-US" altLang="en-US" sz="2400" dirty="0"/>
              <a:t>)</a:t>
            </a:r>
          </a:p>
          <a:p>
            <a:pPr>
              <a:lnSpc>
                <a:spcPct val="100000"/>
              </a:lnSpc>
            </a:pPr>
            <a:r>
              <a:rPr lang="en-US" altLang="en-US" sz="2400" dirty="0"/>
              <a:t>Border-color: color alias or RGB value</a:t>
            </a:r>
          </a:p>
          <a:p>
            <a:pPr>
              <a:lnSpc>
                <a:spcPct val="100000"/>
              </a:lnSpc>
            </a:pPr>
            <a:r>
              <a:rPr lang="en-US" altLang="en-US" sz="2400" dirty="0"/>
              <a:t>border-style: none, hidden, dotted, dashed, solid, double, groove, ridge, inset, outset</a:t>
            </a:r>
          </a:p>
          <a:p>
            <a:pPr>
              <a:lnSpc>
                <a:spcPct val="100000"/>
              </a:lnSpc>
            </a:pPr>
            <a:r>
              <a:rPr lang="en-US" altLang="en-US" sz="2400" dirty="0"/>
              <a:t>Each property can be defined separately for left, top, bottom and right</a:t>
            </a:r>
          </a:p>
          <a:p>
            <a:pPr>
              <a:lnSpc>
                <a:spcPct val="100000"/>
              </a:lnSpc>
            </a:pPr>
            <a:r>
              <a:rPr lang="en-US" altLang="en-US" sz="2400" dirty="0"/>
              <a:t>Example: border-style:</a:t>
            </a:r>
          </a:p>
        </p:txBody>
      </p:sp>
      <p:sp>
        <p:nvSpPr>
          <p:cNvPr id="4" name="Slide Number Placeholder 3">
            <a:extLst>
              <a:ext uri="{FF2B5EF4-FFF2-40B4-BE49-F238E27FC236}">
                <a16:creationId xmlns:a16="http://schemas.microsoft.com/office/drawing/2014/main" id="{CAFE44D4-2E1D-4EF1-8E4F-7EFB90296113}"/>
              </a:ext>
            </a:extLst>
          </p:cNvPr>
          <p:cNvSpPr>
            <a:spLocks noGrp="1"/>
          </p:cNvSpPr>
          <p:nvPr>
            <p:ph type="sldNum" sz="quarter" idx="12"/>
          </p:nvPr>
        </p:nvSpPr>
        <p:spPr/>
        <p:txBody>
          <a:bodyPr/>
          <a:lstStyle/>
          <a:p>
            <a:pPr>
              <a:defRPr/>
            </a:pPr>
            <a:fld id="{55B17656-B0B9-41F1-A49F-196F904DF721}" type="slidenum">
              <a:rPr lang="en-US" smtClean="0"/>
              <a:pPr>
                <a:defRPr/>
              </a:pPr>
              <a:t>30</a:t>
            </a:fld>
            <a:endParaRPr lang="en-US" dirty="0"/>
          </a:p>
        </p:txBody>
      </p:sp>
      <p:cxnSp>
        <p:nvCxnSpPr>
          <p:cNvPr id="5" name="Straight Connector 4">
            <a:extLst>
              <a:ext uri="{FF2B5EF4-FFF2-40B4-BE49-F238E27FC236}">
                <a16:creationId xmlns:a16="http://schemas.microsoft.com/office/drawing/2014/main" id="{93F30025-FBE8-437A-8E64-64AB26DC4D27}"/>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9C033E1E-3815-587A-D606-8697B13CB8EA}"/>
              </a:ext>
            </a:extLst>
          </p:cNvPr>
          <p:cNvPicPr>
            <a:picLocks noChangeAspect="1"/>
          </p:cNvPicPr>
          <p:nvPr/>
        </p:nvPicPr>
        <p:blipFill>
          <a:blip r:embed="rId3"/>
          <a:stretch>
            <a:fillRect/>
          </a:stretch>
        </p:blipFill>
        <p:spPr>
          <a:xfrm>
            <a:off x="6567055" y="4830760"/>
            <a:ext cx="5094857" cy="1411011"/>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a:extLst>
              <a:ext uri="{FF2B5EF4-FFF2-40B4-BE49-F238E27FC236}">
                <a16:creationId xmlns:a16="http://schemas.microsoft.com/office/drawing/2014/main" id="{3CC906A2-107E-4097-94E8-E6446B4D2FDF}"/>
              </a:ext>
            </a:extLst>
          </p:cNvPr>
          <p:cNvSpPr>
            <a:spLocks noGrp="1" noChangeArrowheads="1"/>
          </p:cNvSpPr>
          <p:nvPr>
            <p:ph type="title"/>
          </p:nvPr>
        </p:nvSpPr>
        <p:spPr>
          <a:xfrm>
            <a:off x="1668460" y="276225"/>
            <a:ext cx="9012792" cy="1049339"/>
          </a:xfrm>
        </p:spPr>
        <p:txBody>
          <a:bodyPr>
            <a:noAutofit/>
          </a:bodyPr>
          <a:lstStyle/>
          <a:p>
            <a:pPr algn="ctr"/>
            <a:br>
              <a:rPr lang="en-US" altLang="en-US" dirty="0">
                <a:solidFill>
                  <a:schemeClr val="accent1"/>
                </a:solidFill>
                <a:latin typeface="+mn-lt"/>
              </a:rPr>
            </a:br>
            <a:r>
              <a:rPr lang="en-US" altLang="en-US" dirty="0">
                <a:solidFill>
                  <a:schemeClr val="accent1"/>
                </a:solidFill>
                <a:latin typeface="+mn-lt"/>
              </a:rPr>
              <a:t>Borders</a:t>
            </a:r>
            <a:endParaRPr lang="bg-BG" altLang="en-US" dirty="0">
              <a:solidFill>
                <a:schemeClr val="accent1"/>
              </a:solidFill>
              <a:latin typeface="+mn-lt"/>
            </a:endParaRPr>
          </a:p>
        </p:txBody>
      </p:sp>
      <p:sp>
        <p:nvSpPr>
          <p:cNvPr id="174083" name="Rectangle 3">
            <a:extLst>
              <a:ext uri="{FF2B5EF4-FFF2-40B4-BE49-F238E27FC236}">
                <a16:creationId xmlns:a16="http://schemas.microsoft.com/office/drawing/2014/main" id="{22C061F1-D5B4-4820-A848-3B212295A3EA}"/>
              </a:ext>
            </a:extLst>
          </p:cNvPr>
          <p:cNvSpPr>
            <a:spLocks noGrp="1" noChangeArrowheads="1"/>
          </p:cNvSpPr>
          <p:nvPr>
            <p:ph idx="1"/>
          </p:nvPr>
        </p:nvSpPr>
        <p:spPr>
          <a:xfrm>
            <a:off x="530087" y="1536702"/>
            <a:ext cx="11131826" cy="4705069"/>
          </a:xfrm>
        </p:spPr>
        <p:txBody>
          <a:bodyPr>
            <a:normAutofit/>
          </a:bodyPr>
          <a:lstStyle/>
          <a:p>
            <a:pPr marL="0" indent="0" algn="l">
              <a:buNone/>
            </a:pPr>
            <a:endParaRPr lang="en-US" altLang="en-US" sz="2400" dirty="0"/>
          </a:p>
        </p:txBody>
      </p:sp>
      <p:sp>
        <p:nvSpPr>
          <p:cNvPr id="4" name="Slide Number Placeholder 3">
            <a:extLst>
              <a:ext uri="{FF2B5EF4-FFF2-40B4-BE49-F238E27FC236}">
                <a16:creationId xmlns:a16="http://schemas.microsoft.com/office/drawing/2014/main" id="{CAFE44D4-2E1D-4EF1-8E4F-7EFB90296113}"/>
              </a:ext>
            </a:extLst>
          </p:cNvPr>
          <p:cNvSpPr>
            <a:spLocks noGrp="1"/>
          </p:cNvSpPr>
          <p:nvPr>
            <p:ph type="sldNum" sz="quarter" idx="12"/>
          </p:nvPr>
        </p:nvSpPr>
        <p:spPr/>
        <p:txBody>
          <a:bodyPr/>
          <a:lstStyle/>
          <a:p>
            <a:pPr>
              <a:defRPr/>
            </a:pPr>
            <a:fld id="{55B17656-B0B9-41F1-A49F-196F904DF721}" type="slidenum">
              <a:rPr lang="en-US" smtClean="0"/>
              <a:pPr>
                <a:defRPr/>
              </a:pPr>
              <a:t>31</a:t>
            </a:fld>
            <a:endParaRPr lang="en-US" dirty="0"/>
          </a:p>
        </p:txBody>
      </p:sp>
      <p:cxnSp>
        <p:nvCxnSpPr>
          <p:cNvPr id="5" name="Straight Connector 4">
            <a:extLst>
              <a:ext uri="{FF2B5EF4-FFF2-40B4-BE49-F238E27FC236}">
                <a16:creationId xmlns:a16="http://schemas.microsoft.com/office/drawing/2014/main" id="{93F30025-FBE8-437A-8E64-64AB26DC4D27}"/>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6" name="Picture 5">
            <a:extLst>
              <a:ext uri="{FF2B5EF4-FFF2-40B4-BE49-F238E27FC236}">
                <a16:creationId xmlns:a16="http://schemas.microsoft.com/office/drawing/2014/main" id="{55497711-B07A-36B7-BE49-64A4284313F3}"/>
              </a:ext>
            </a:extLst>
          </p:cNvPr>
          <p:cNvPicPr>
            <a:picLocks noChangeAspect="1"/>
          </p:cNvPicPr>
          <p:nvPr/>
        </p:nvPicPr>
        <p:blipFill>
          <a:blip r:embed="rId3"/>
          <a:stretch>
            <a:fillRect/>
          </a:stretch>
        </p:blipFill>
        <p:spPr>
          <a:xfrm>
            <a:off x="611185" y="1422121"/>
            <a:ext cx="7953375" cy="3600450"/>
          </a:xfrm>
          <a:prstGeom prst="rect">
            <a:avLst/>
          </a:prstGeom>
        </p:spPr>
      </p:pic>
    </p:spTree>
    <p:extLst>
      <p:ext uri="{BB962C8B-B14F-4D97-AF65-F5344CB8AC3E}">
        <p14:creationId xmlns:p14="http://schemas.microsoft.com/office/powerpoint/2010/main" val="421604383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5EF71194-3467-46C0-A834-DE8F27D709E2}"/>
              </a:ext>
            </a:extLst>
          </p:cNvPr>
          <p:cNvSpPr>
            <a:spLocks noGrp="1" noChangeArrowheads="1"/>
          </p:cNvSpPr>
          <p:nvPr>
            <p:ph type="title"/>
          </p:nvPr>
        </p:nvSpPr>
        <p:spPr/>
        <p:txBody>
          <a:bodyPr/>
          <a:lstStyle/>
          <a:p>
            <a:pPr algn="ctr"/>
            <a:r>
              <a:rPr lang="en-US" altLang="en-US" dirty="0">
                <a:solidFill>
                  <a:schemeClr val="accent1"/>
                </a:solidFill>
                <a:latin typeface="+mn-lt"/>
              </a:rPr>
              <a:t>Width and Height</a:t>
            </a:r>
            <a:endParaRPr lang="bg-BG" altLang="en-US" dirty="0">
              <a:solidFill>
                <a:schemeClr val="accent1"/>
              </a:solidFill>
              <a:latin typeface="+mn-lt"/>
            </a:endParaRPr>
          </a:p>
        </p:txBody>
      </p:sp>
      <p:sp>
        <p:nvSpPr>
          <p:cNvPr id="176131" name="Rectangle 3">
            <a:extLst>
              <a:ext uri="{FF2B5EF4-FFF2-40B4-BE49-F238E27FC236}">
                <a16:creationId xmlns:a16="http://schemas.microsoft.com/office/drawing/2014/main" id="{3BDE5C4B-BB3D-459B-877A-B5D6BA974484}"/>
              </a:ext>
            </a:extLst>
          </p:cNvPr>
          <p:cNvSpPr>
            <a:spLocks noGrp="1" noChangeArrowheads="1"/>
          </p:cNvSpPr>
          <p:nvPr>
            <p:ph idx="1"/>
          </p:nvPr>
        </p:nvSpPr>
        <p:spPr>
          <a:xfrm>
            <a:off x="662609" y="1356347"/>
            <a:ext cx="10999303" cy="5053013"/>
          </a:xfrm>
        </p:spPr>
        <p:txBody>
          <a:bodyPr>
            <a:normAutofit/>
          </a:bodyPr>
          <a:lstStyle/>
          <a:p>
            <a:pPr>
              <a:lnSpc>
                <a:spcPct val="150000"/>
              </a:lnSpc>
            </a:pPr>
            <a:r>
              <a:rPr lang="en-US" altLang="en-US" sz="2400" dirty="0"/>
              <a:t>width – defines numerical value for the width of element, e.g. </a:t>
            </a:r>
            <a:r>
              <a:rPr lang="en-US" altLang="en-US" sz="2400" dirty="0">
                <a:ea typeface="Consolas" panose="020B0609020204030204" pitchFamily="49" charset="0"/>
                <a:cs typeface="Consolas" panose="020B0609020204030204" pitchFamily="49" charset="0"/>
              </a:rPr>
              <a:t>200px</a:t>
            </a:r>
          </a:p>
          <a:p>
            <a:pPr>
              <a:lnSpc>
                <a:spcPct val="150000"/>
              </a:lnSpc>
            </a:pPr>
            <a:r>
              <a:rPr lang="en-US" altLang="en-US" sz="2400" dirty="0"/>
              <a:t>height – defines numerical value for the height of element, e.g. </a:t>
            </a:r>
            <a:r>
              <a:rPr lang="en-US" altLang="en-US" sz="2400" dirty="0">
                <a:ea typeface="Consolas" panose="020B0609020204030204" pitchFamily="49" charset="0"/>
                <a:cs typeface="Consolas" panose="020B0609020204030204" pitchFamily="49" charset="0"/>
              </a:rPr>
              <a:t>100px</a:t>
            </a:r>
            <a:endParaRPr lang="en-US" altLang="en-US" sz="2400" dirty="0"/>
          </a:p>
          <a:p>
            <a:pPr lvl="1">
              <a:lnSpc>
                <a:spcPct val="100000"/>
              </a:lnSpc>
            </a:pPr>
            <a:r>
              <a:rPr lang="en-US" altLang="en-US" dirty="0"/>
              <a:t>By default the height of an element is defined by its content</a:t>
            </a:r>
          </a:p>
          <a:p>
            <a:pPr lvl="1">
              <a:lnSpc>
                <a:spcPct val="100000"/>
              </a:lnSpc>
            </a:pPr>
            <a:r>
              <a:rPr lang="en-US" altLang="en-US" dirty="0"/>
              <a:t>Inline elements do not apply height, unless you change their </a:t>
            </a:r>
            <a:r>
              <a:rPr lang="en-US" altLang="en-US" dirty="0">
                <a:ea typeface="Consolas" panose="020B0609020204030204" pitchFamily="49" charset="0"/>
                <a:cs typeface="Consolas" panose="020B0609020204030204" pitchFamily="49" charset="0"/>
              </a:rPr>
              <a:t>display</a:t>
            </a:r>
            <a:r>
              <a:rPr lang="en-US" altLang="en-US" dirty="0"/>
              <a:t> style</a:t>
            </a:r>
            <a:endParaRPr lang="bg-BG" altLang="en-US" dirty="0"/>
          </a:p>
        </p:txBody>
      </p:sp>
      <p:sp>
        <p:nvSpPr>
          <p:cNvPr id="4" name="Slide Number Placeholder 3">
            <a:extLst>
              <a:ext uri="{FF2B5EF4-FFF2-40B4-BE49-F238E27FC236}">
                <a16:creationId xmlns:a16="http://schemas.microsoft.com/office/drawing/2014/main" id="{54D7CF9B-6049-4297-8FAA-B7060B69EE46}"/>
              </a:ext>
            </a:extLst>
          </p:cNvPr>
          <p:cNvSpPr>
            <a:spLocks noGrp="1"/>
          </p:cNvSpPr>
          <p:nvPr>
            <p:ph type="sldNum" sz="quarter" idx="12"/>
          </p:nvPr>
        </p:nvSpPr>
        <p:spPr/>
        <p:txBody>
          <a:bodyPr/>
          <a:lstStyle/>
          <a:p>
            <a:pPr>
              <a:defRPr/>
            </a:pPr>
            <a:fld id="{E04A1A66-D2D1-48AC-8ED2-9142F837DFB8}" type="slidenum">
              <a:rPr lang="en-US" smtClean="0"/>
              <a:pPr>
                <a:defRPr/>
              </a:pPr>
              <a:t>32</a:t>
            </a:fld>
            <a:endParaRPr lang="en-US" dirty="0"/>
          </a:p>
        </p:txBody>
      </p:sp>
      <p:cxnSp>
        <p:nvCxnSpPr>
          <p:cNvPr id="5" name="Straight Connector 4">
            <a:extLst>
              <a:ext uri="{FF2B5EF4-FFF2-40B4-BE49-F238E27FC236}">
                <a16:creationId xmlns:a16="http://schemas.microsoft.com/office/drawing/2014/main" id="{B25760F8-5967-4822-85A3-3F8CC119A0E3}"/>
              </a:ext>
            </a:extLst>
          </p:cNvPr>
          <p:cNvCxnSpPr>
            <a:cxnSpLocks/>
          </p:cNvCxnSpPr>
          <p:nvPr/>
        </p:nvCxnSpPr>
        <p:spPr>
          <a:xfrm>
            <a:off x="1668462" y="1303339"/>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33C98CE0-B5FA-46DB-8154-DE15F8863701}"/>
              </a:ext>
            </a:extLst>
          </p:cNvPr>
          <p:cNvSpPr>
            <a:spLocks noGrp="1" noChangeArrowheads="1"/>
          </p:cNvSpPr>
          <p:nvPr>
            <p:ph type="title"/>
          </p:nvPr>
        </p:nvSpPr>
        <p:spPr>
          <a:xfrm>
            <a:off x="1436915" y="296866"/>
            <a:ext cx="9086620" cy="1047751"/>
          </a:xfrm>
        </p:spPr>
        <p:txBody>
          <a:bodyPr/>
          <a:lstStyle/>
          <a:p>
            <a:r>
              <a:rPr lang="en-US" altLang="en-US" dirty="0">
                <a:solidFill>
                  <a:schemeClr val="accent1"/>
                </a:solidFill>
                <a:latin typeface="+mn-lt"/>
              </a:rPr>
              <a:t>Margin and Padding</a:t>
            </a:r>
            <a:endParaRPr lang="bg-BG" altLang="en-US" dirty="0">
              <a:solidFill>
                <a:schemeClr val="accent1"/>
              </a:solidFill>
              <a:latin typeface="+mn-lt"/>
            </a:endParaRPr>
          </a:p>
        </p:txBody>
      </p:sp>
      <p:sp>
        <p:nvSpPr>
          <p:cNvPr id="178179" name="Rectangle 3">
            <a:extLst>
              <a:ext uri="{FF2B5EF4-FFF2-40B4-BE49-F238E27FC236}">
                <a16:creationId xmlns:a16="http://schemas.microsoft.com/office/drawing/2014/main" id="{22A3C162-8D31-44C9-AA35-E3D9623C16B5}"/>
              </a:ext>
            </a:extLst>
          </p:cNvPr>
          <p:cNvSpPr>
            <a:spLocks noGrp="1" noChangeArrowheads="1"/>
          </p:cNvSpPr>
          <p:nvPr>
            <p:ph idx="1"/>
          </p:nvPr>
        </p:nvSpPr>
        <p:spPr>
          <a:xfrm>
            <a:off x="436099" y="1319767"/>
            <a:ext cx="11133050" cy="5363609"/>
          </a:xfrm>
        </p:spPr>
        <p:txBody>
          <a:bodyPr>
            <a:normAutofit/>
          </a:bodyPr>
          <a:lstStyle/>
          <a:p>
            <a:pPr>
              <a:lnSpc>
                <a:spcPct val="150000"/>
              </a:lnSpc>
            </a:pPr>
            <a:r>
              <a:rPr lang="en-US" altLang="en-US" dirty="0">
                <a:ea typeface="Consolas" panose="020B0609020204030204" pitchFamily="49" charset="0"/>
                <a:cs typeface="Consolas" panose="020B0609020204030204" pitchFamily="49" charset="0"/>
              </a:rPr>
              <a:t>margin</a:t>
            </a:r>
            <a:r>
              <a:rPr lang="en-US" altLang="en-US" dirty="0"/>
              <a:t> and </a:t>
            </a:r>
            <a:r>
              <a:rPr lang="en-US" altLang="en-US" dirty="0">
                <a:ea typeface="Consolas" panose="020B0609020204030204" pitchFamily="49" charset="0"/>
                <a:cs typeface="Consolas" panose="020B0609020204030204" pitchFamily="49" charset="0"/>
              </a:rPr>
              <a:t>padding</a:t>
            </a:r>
            <a:r>
              <a:rPr lang="en-US" altLang="en-US" dirty="0"/>
              <a:t> define the spacing around the element</a:t>
            </a:r>
          </a:p>
          <a:p>
            <a:pPr lvl="1">
              <a:lnSpc>
                <a:spcPct val="150000"/>
              </a:lnSpc>
            </a:pPr>
            <a:r>
              <a:rPr lang="en-US" altLang="en-US" b="1" dirty="0">
                <a:solidFill>
                  <a:schemeClr val="accent1"/>
                </a:solidFill>
                <a:ea typeface="Consolas" panose="020B0609020204030204" pitchFamily="49" charset="0"/>
                <a:cs typeface="Consolas" panose="020B0609020204030204" pitchFamily="49" charset="0"/>
              </a:rPr>
              <a:t>Margin </a:t>
            </a:r>
            <a:r>
              <a:rPr lang="en-US" altLang="en-US" dirty="0"/>
              <a:t>is the </a:t>
            </a:r>
            <a:r>
              <a:rPr lang="en-US" altLang="en-US" dirty="0">
                <a:solidFill>
                  <a:srgbClr val="FF0000"/>
                </a:solidFill>
              </a:rPr>
              <a:t>spacing outside of the border</a:t>
            </a:r>
          </a:p>
          <a:p>
            <a:pPr lvl="1">
              <a:lnSpc>
                <a:spcPct val="150000"/>
              </a:lnSpc>
            </a:pPr>
            <a:r>
              <a:rPr lang="en-US" altLang="en-US" b="1" dirty="0">
                <a:solidFill>
                  <a:schemeClr val="accent1"/>
                </a:solidFill>
                <a:ea typeface="Consolas" panose="020B0609020204030204" pitchFamily="49" charset="0"/>
                <a:cs typeface="Consolas" panose="020B0609020204030204" pitchFamily="49" charset="0"/>
              </a:rPr>
              <a:t>Padding </a:t>
            </a:r>
            <a:r>
              <a:rPr lang="en-US" altLang="en-US" dirty="0"/>
              <a:t>is the spacing </a:t>
            </a:r>
            <a:r>
              <a:rPr lang="en-US" altLang="en-US" dirty="0">
                <a:solidFill>
                  <a:srgbClr val="FF0000"/>
                </a:solidFill>
              </a:rPr>
              <a:t>between the border and the content</a:t>
            </a:r>
          </a:p>
          <a:p>
            <a:pPr lvl="1">
              <a:lnSpc>
                <a:spcPct val="150000"/>
              </a:lnSpc>
            </a:pPr>
            <a:r>
              <a:rPr lang="en-US" altLang="en-US" dirty="0"/>
              <a:t>Numerical value, e.g. </a:t>
            </a:r>
            <a:r>
              <a:rPr lang="en-US" altLang="en-US" dirty="0">
                <a:ea typeface="Consolas" panose="020B0609020204030204" pitchFamily="49" charset="0"/>
                <a:cs typeface="Consolas" panose="020B0609020204030204" pitchFamily="49" charset="0"/>
              </a:rPr>
              <a:t>10px</a:t>
            </a:r>
            <a:r>
              <a:rPr lang="en-US" altLang="en-US" dirty="0"/>
              <a:t> </a:t>
            </a:r>
          </a:p>
          <a:p>
            <a:pPr lvl="1">
              <a:lnSpc>
                <a:spcPct val="150000"/>
              </a:lnSpc>
            </a:pPr>
            <a:r>
              <a:rPr lang="en-US" altLang="en-US" dirty="0"/>
              <a:t>Can be defined for each of the four sides separately - margin-top, padding-left, …</a:t>
            </a:r>
          </a:p>
          <a:p>
            <a:pPr lvl="1">
              <a:lnSpc>
                <a:spcPct val="100000"/>
              </a:lnSpc>
              <a:buFont typeface="Wingdings" panose="05000000000000000000" pitchFamily="2" charset="2"/>
              <a:buChar char="ü"/>
            </a:pPr>
            <a:endParaRPr lang="en-US" altLang="en-US" sz="2800" dirty="0"/>
          </a:p>
        </p:txBody>
      </p:sp>
      <p:sp>
        <p:nvSpPr>
          <p:cNvPr id="4" name="Slide Number Placeholder 3">
            <a:extLst>
              <a:ext uri="{FF2B5EF4-FFF2-40B4-BE49-F238E27FC236}">
                <a16:creationId xmlns:a16="http://schemas.microsoft.com/office/drawing/2014/main" id="{E9D877DF-882C-4F55-8FBE-D2013A8CE158}"/>
              </a:ext>
            </a:extLst>
          </p:cNvPr>
          <p:cNvSpPr>
            <a:spLocks noGrp="1"/>
          </p:cNvSpPr>
          <p:nvPr>
            <p:ph type="sldNum" sz="quarter" idx="12"/>
          </p:nvPr>
        </p:nvSpPr>
        <p:spPr/>
        <p:txBody>
          <a:bodyPr/>
          <a:lstStyle/>
          <a:p>
            <a:pPr>
              <a:defRPr/>
            </a:pPr>
            <a:fld id="{991D84BD-40CF-485A-940A-554EBA5C42AD}" type="slidenum">
              <a:rPr lang="en-US" smtClean="0"/>
              <a:pPr>
                <a:defRPr/>
              </a:pPr>
              <a:t>33</a:t>
            </a:fld>
            <a:endParaRPr lang="en-US" dirty="0"/>
          </a:p>
        </p:txBody>
      </p:sp>
      <p:cxnSp>
        <p:nvCxnSpPr>
          <p:cNvPr id="5" name="Straight Connector 4">
            <a:extLst>
              <a:ext uri="{FF2B5EF4-FFF2-40B4-BE49-F238E27FC236}">
                <a16:creationId xmlns:a16="http://schemas.microsoft.com/office/drawing/2014/main" id="{001F73F0-D320-4E9E-B581-BEB76000E759}"/>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3" name="TextBox 2">
            <a:extLst>
              <a:ext uri="{FF2B5EF4-FFF2-40B4-BE49-F238E27FC236}">
                <a16:creationId xmlns:a16="http://schemas.microsoft.com/office/drawing/2014/main" id="{43AB12CA-A237-B1E8-90CB-F4D13A181FD3}"/>
              </a:ext>
            </a:extLst>
          </p:cNvPr>
          <p:cNvSpPr txBox="1"/>
          <p:nvPr/>
        </p:nvSpPr>
        <p:spPr>
          <a:xfrm>
            <a:off x="7007136" y="4968078"/>
            <a:ext cx="4021934" cy="1754326"/>
          </a:xfrm>
          <a:prstGeom prst="rect">
            <a:avLst/>
          </a:prstGeom>
          <a:noFill/>
        </p:spPr>
        <p:txBody>
          <a:bodyPr wrap="square">
            <a:spAutoFit/>
          </a:bodyPr>
          <a:lstStyle/>
          <a:p>
            <a:r>
              <a:rPr lang="en-US" b="0" i="0" dirty="0">
                <a:solidFill>
                  <a:srgbClr val="A52A2A"/>
                </a:solidFill>
                <a:effectLst/>
                <a:latin typeface="Consolas" panose="020B0609020204030204" pitchFamily="49" charset="0"/>
              </a:rPr>
              <a:t>p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margin-top</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100px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margin-bottom</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100px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margin-right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150px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margin-left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80px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
        <p:nvSpPr>
          <p:cNvPr id="7" name="TextBox 6">
            <a:extLst>
              <a:ext uri="{FF2B5EF4-FFF2-40B4-BE49-F238E27FC236}">
                <a16:creationId xmlns:a16="http://schemas.microsoft.com/office/drawing/2014/main" id="{E1EFAC68-3017-E54A-E149-C84331BA60BD}"/>
              </a:ext>
            </a:extLst>
          </p:cNvPr>
          <p:cNvSpPr txBox="1"/>
          <p:nvPr/>
        </p:nvSpPr>
        <p:spPr>
          <a:xfrm>
            <a:off x="5367131" y="4548179"/>
            <a:ext cx="6228522" cy="369332"/>
          </a:xfrm>
          <a:prstGeom prst="rect">
            <a:avLst/>
          </a:prstGeom>
          <a:noFill/>
        </p:spPr>
        <p:txBody>
          <a:bodyPr wrap="square">
            <a:spAutoFit/>
          </a:bodyPr>
          <a:lstStyle/>
          <a:p>
            <a:pPr algn="l"/>
            <a:r>
              <a:rPr lang="en-US" b="0" i="0" dirty="0">
                <a:solidFill>
                  <a:srgbClr val="000000"/>
                </a:solidFill>
                <a:effectLst/>
                <a:latin typeface="Times New Roman" panose="02020603050405020304" pitchFamily="18" charset="0"/>
                <a:cs typeface="Times New Roman" panose="02020603050405020304" pitchFamily="18" charset="0"/>
              </a:rPr>
              <a:t>Set different margins for all four sides of a &lt;p&gt; element:</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a:extLst>
              <a:ext uri="{FF2B5EF4-FFF2-40B4-BE49-F238E27FC236}">
                <a16:creationId xmlns:a16="http://schemas.microsoft.com/office/drawing/2014/main" id="{9E91C2FE-C6EF-482C-B5EC-135EC84973F1}"/>
              </a:ext>
            </a:extLst>
          </p:cNvPr>
          <p:cNvSpPr>
            <a:spLocks noGrp="1" noChangeArrowheads="1"/>
          </p:cNvSpPr>
          <p:nvPr>
            <p:ph type="title"/>
          </p:nvPr>
        </p:nvSpPr>
        <p:spPr>
          <a:xfrm>
            <a:off x="1668460" y="415925"/>
            <a:ext cx="8855075" cy="1049339"/>
          </a:xfrm>
        </p:spPr>
        <p:txBody>
          <a:bodyPr>
            <a:normAutofit/>
          </a:bodyPr>
          <a:lstStyle/>
          <a:p>
            <a:pPr>
              <a:defRPr/>
            </a:pPr>
            <a:r>
              <a:rPr lang="en-US" sz="3800" dirty="0">
                <a:solidFill>
                  <a:schemeClr val="accent1"/>
                </a:solidFill>
                <a:latin typeface="+mn-lt"/>
              </a:rPr>
              <a:t>Margin and Padding: Short Rules</a:t>
            </a:r>
            <a:endParaRPr lang="bg-BG" sz="3800" dirty="0">
              <a:solidFill>
                <a:schemeClr val="accent1"/>
              </a:solidFill>
              <a:latin typeface="+mn-lt"/>
            </a:endParaRPr>
          </a:p>
        </p:txBody>
      </p:sp>
      <p:sp>
        <p:nvSpPr>
          <p:cNvPr id="180227" name="Rectangle 3">
            <a:extLst>
              <a:ext uri="{FF2B5EF4-FFF2-40B4-BE49-F238E27FC236}">
                <a16:creationId xmlns:a16="http://schemas.microsoft.com/office/drawing/2014/main" id="{9B12AD90-50BE-4BF8-BF9F-3CC6D8AEE834}"/>
              </a:ext>
            </a:extLst>
          </p:cNvPr>
          <p:cNvSpPr>
            <a:spLocks noGrp="1" noChangeArrowheads="1"/>
          </p:cNvSpPr>
          <p:nvPr>
            <p:ph idx="1"/>
          </p:nvPr>
        </p:nvSpPr>
        <p:spPr>
          <a:xfrm>
            <a:off x="838200" y="1393826"/>
            <a:ext cx="10515600" cy="5102226"/>
          </a:xfrm>
        </p:spPr>
        <p:txBody>
          <a:bodyPr/>
          <a:lstStyle/>
          <a:p>
            <a:pPr>
              <a:lnSpc>
                <a:spcPct val="100000"/>
              </a:lnSpc>
            </a:pPr>
            <a:r>
              <a:rPr lang="en-US" altLang="en-US" dirty="0"/>
              <a:t>margin: 5px;</a:t>
            </a:r>
          </a:p>
          <a:p>
            <a:pPr lvl="1">
              <a:lnSpc>
                <a:spcPct val="100000"/>
              </a:lnSpc>
            </a:pPr>
            <a:r>
              <a:rPr lang="en-US" altLang="en-US" sz="2800" dirty="0"/>
              <a:t>Sets all four sides to have margin of </a:t>
            </a:r>
            <a:r>
              <a:rPr lang="en-US" altLang="en-US" sz="2800" dirty="0">
                <a:ea typeface="Consolas" panose="020B0609020204030204" pitchFamily="49" charset="0"/>
                <a:cs typeface="Consolas" panose="020B0609020204030204" pitchFamily="49" charset="0"/>
              </a:rPr>
              <a:t>5</a:t>
            </a:r>
            <a:r>
              <a:rPr lang="en-US" altLang="en-US" sz="2800" dirty="0"/>
              <a:t> px;</a:t>
            </a:r>
          </a:p>
          <a:p>
            <a:pPr>
              <a:lnSpc>
                <a:spcPct val="100000"/>
              </a:lnSpc>
            </a:pPr>
            <a:r>
              <a:rPr lang="en-US" altLang="en-US" dirty="0"/>
              <a:t>margin: 10px 20px;</a:t>
            </a:r>
          </a:p>
          <a:p>
            <a:pPr lvl="1">
              <a:lnSpc>
                <a:spcPct val="100000"/>
              </a:lnSpc>
            </a:pPr>
            <a:r>
              <a:rPr lang="en-US" altLang="en-US" sz="2800" dirty="0"/>
              <a:t>top and bottom to </a:t>
            </a:r>
            <a:r>
              <a:rPr lang="en-US" altLang="en-US" sz="2800" dirty="0">
                <a:ea typeface="Consolas" panose="020B0609020204030204" pitchFamily="49" charset="0"/>
                <a:cs typeface="Consolas" panose="020B0609020204030204" pitchFamily="49" charset="0"/>
              </a:rPr>
              <a:t>10px</a:t>
            </a:r>
            <a:r>
              <a:rPr lang="en-US" altLang="en-US" sz="2800" dirty="0"/>
              <a:t>, left and right to </a:t>
            </a:r>
            <a:r>
              <a:rPr lang="en-US" altLang="en-US" sz="2800" dirty="0">
                <a:ea typeface="Consolas" panose="020B0609020204030204" pitchFamily="49" charset="0"/>
                <a:cs typeface="Consolas" panose="020B0609020204030204" pitchFamily="49" charset="0"/>
              </a:rPr>
              <a:t>20px</a:t>
            </a:r>
            <a:r>
              <a:rPr lang="en-US" altLang="en-US" sz="2800" dirty="0"/>
              <a:t>;</a:t>
            </a:r>
          </a:p>
          <a:p>
            <a:pPr>
              <a:lnSpc>
                <a:spcPct val="100000"/>
              </a:lnSpc>
            </a:pPr>
            <a:r>
              <a:rPr lang="en-US" altLang="en-US" dirty="0"/>
              <a:t>margin: 5px 3px 8px;</a:t>
            </a:r>
          </a:p>
          <a:p>
            <a:pPr lvl="1">
              <a:lnSpc>
                <a:spcPct val="100000"/>
              </a:lnSpc>
            </a:pPr>
            <a:r>
              <a:rPr lang="en-US" altLang="en-US" sz="2800" dirty="0"/>
              <a:t>top 5px, left/right 3px, bottom 8px</a:t>
            </a:r>
          </a:p>
          <a:p>
            <a:pPr>
              <a:lnSpc>
                <a:spcPct val="100000"/>
              </a:lnSpc>
            </a:pPr>
            <a:r>
              <a:rPr lang="en-US" altLang="en-US" dirty="0"/>
              <a:t>margin: 1px 3px 5px 7px;</a:t>
            </a:r>
          </a:p>
          <a:p>
            <a:pPr lvl="1">
              <a:lnSpc>
                <a:spcPct val="100000"/>
              </a:lnSpc>
            </a:pPr>
            <a:r>
              <a:rPr lang="en-US" altLang="en-US" sz="2800" dirty="0"/>
              <a:t>top, right, bottom, left (clockwise from top)</a:t>
            </a:r>
          </a:p>
          <a:p>
            <a:pPr>
              <a:lnSpc>
                <a:spcPct val="100000"/>
              </a:lnSpc>
            </a:pPr>
            <a:r>
              <a:rPr lang="en-US" altLang="en-US" dirty="0"/>
              <a:t>Same for padding</a:t>
            </a:r>
            <a:endParaRPr lang="bg-BG" altLang="en-US" dirty="0"/>
          </a:p>
        </p:txBody>
      </p:sp>
      <p:sp>
        <p:nvSpPr>
          <p:cNvPr id="4" name="Slide Number Placeholder 3">
            <a:extLst>
              <a:ext uri="{FF2B5EF4-FFF2-40B4-BE49-F238E27FC236}">
                <a16:creationId xmlns:a16="http://schemas.microsoft.com/office/drawing/2014/main" id="{482B095F-F247-48CF-BED5-8B24F3163517}"/>
              </a:ext>
            </a:extLst>
          </p:cNvPr>
          <p:cNvSpPr>
            <a:spLocks noGrp="1"/>
          </p:cNvSpPr>
          <p:nvPr>
            <p:ph type="sldNum" sz="quarter" idx="12"/>
          </p:nvPr>
        </p:nvSpPr>
        <p:spPr/>
        <p:txBody>
          <a:bodyPr/>
          <a:lstStyle/>
          <a:p>
            <a:pPr>
              <a:defRPr/>
            </a:pPr>
            <a:fld id="{FB51A451-8EBE-4C4B-97D2-B8D4B8EE4D8A}" type="slidenum">
              <a:rPr lang="en-US" smtClean="0"/>
              <a:pPr>
                <a:defRPr/>
              </a:pPr>
              <a:t>34</a:t>
            </a:fld>
            <a:endParaRPr lang="en-US" dirty="0"/>
          </a:p>
        </p:txBody>
      </p:sp>
      <p:cxnSp>
        <p:nvCxnSpPr>
          <p:cNvPr id="5" name="Straight Connector 4">
            <a:extLst>
              <a:ext uri="{FF2B5EF4-FFF2-40B4-BE49-F238E27FC236}">
                <a16:creationId xmlns:a16="http://schemas.microsoft.com/office/drawing/2014/main" id="{86A725BA-C80E-45A7-BC48-40C3224D24A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a:extLst>
              <a:ext uri="{FF2B5EF4-FFF2-40B4-BE49-F238E27FC236}">
                <a16:creationId xmlns:a16="http://schemas.microsoft.com/office/drawing/2014/main" id="{DC142E9E-7AAC-4898-872C-31E53B6ACDF7}"/>
              </a:ext>
            </a:extLst>
          </p:cNvPr>
          <p:cNvSpPr>
            <a:spLocks noGrp="1" noChangeArrowheads="1"/>
          </p:cNvSpPr>
          <p:nvPr>
            <p:ph type="title"/>
          </p:nvPr>
        </p:nvSpPr>
        <p:spPr>
          <a:xfrm>
            <a:off x="824132" y="365127"/>
            <a:ext cx="10515600" cy="933927"/>
          </a:xfrm>
        </p:spPr>
        <p:txBody>
          <a:bodyPr/>
          <a:lstStyle/>
          <a:p>
            <a:pPr algn="ctr"/>
            <a:r>
              <a:rPr lang="en-US" altLang="en-US" dirty="0">
                <a:solidFill>
                  <a:schemeClr val="accent1"/>
                </a:solidFill>
                <a:latin typeface="+mn-lt"/>
              </a:rPr>
              <a:t>Positioning</a:t>
            </a:r>
            <a:endParaRPr lang="bg-BG" altLang="en-US" dirty="0">
              <a:solidFill>
                <a:schemeClr val="accent1"/>
              </a:solidFill>
              <a:latin typeface="+mn-lt"/>
            </a:endParaRPr>
          </a:p>
        </p:txBody>
      </p:sp>
      <p:sp>
        <p:nvSpPr>
          <p:cNvPr id="184323" name="Rectangle 3">
            <a:extLst>
              <a:ext uri="{FF2B5EF4-FFF2-40B4-BE49-F238E27FC236}">
                <a16:creationId xmlns:a16="http://schemas.microsoft.com/office/drawing/2014/main" id="{D0BEFFE1-3D7E-476A-AD2C-47A33E59D62A}"/>
              </a:ext>
            </a:extLst>
          </p:cNvPr>
          <p:cNvSpPr>
            <a:spLocks noGrp="1" noChangeArrowheads="1"/>
          </p:cNvSpPr>
          <p:nvPr>
            <p:ph idx="1"/>
          </p:nvPr>
        </p:nvSpPr>
        <p:spPr>
          <a:xfrm>
            <a:off x="824132" y="1309869"/>
            <a:ext cx="10795782" cy="5030784"/>
          </a:xfrm>
        </p:spPr>
        <p:txBody>
          <a:bodyPr>
            <a:normAutofit/>
          </a:bodyPr>
          <a:lstStyle/>
          <a:p>
            <a:pPr>
              <a:lnSpc>
                <a:spcPct val="100000"/>
              </a:lnSpc>
            </a:pPr>
            <a:r>
              <a:rPr lang="en-US" altLang="en-US" sz="2400" dirty="0"/>
              <a:t>Position: defines the positioning of the element in the page content flow</a:t>
            </a:r>
          </a:p>
          <a:p>
            <a:pPr>
              <a:lnSpc>
                <a:spcPct val="100000"/>
              </a:lnSpc>
            </a:pPr>
            <a:r>
              <a:rPr lang="en-US" altLang="en-US" sz="2400" dirty="0"/>
              <a:t>The value is one of:</a:t>
            </a:r>
          </a:p>
          <a:p>
            <a:pPr lvl="1">
              <a:lnSpc>
                <a:spcPct val="100000"/>
              </a:lnSpc>
            </a:pPr>
            <a:r>
              <a:rPr lang="en-US" altLang="en-US" sz="2600" dirty="0"/>
              <a:t>static (default): </a:t>
            </a:r>
            <a:r>
              <a:rPr lang="en-US" sz="2600" b="0" i="0" dirty="0">
                <a:solidFill>
                  <a:srgbClr val="000000"/>
                </a:solidFill>
                <a:effectLst/>
                <a:highlight>
                  <a:srgbClr val="FFFFFF"/>
                </a:highlight>
              </a:rPr>
              <a:t>Static positioned elements are not affected by the top, bottom, left, and right properties.</a:t>
            </a:r>
            <a:endParaRPr lang="en-US" altLang="en-US" sz="2600" dirty="0"/>
          </a:p>
          <a:p>
            <a:pPr lvl="1">
              <a:lnSpc>
                <a:spcPct val="100000"/>
              </a:lnSpc>
            </a:pPr>
            <a:r>
              <a:rPr lang="en-US" altLang="en-US" sz="2600" dirty="0"/>
              <a:t>relative – relative position according to where the element would appear with static position</a:t>
            </a:r>
          </a:p>
          <a:p>
            <a:pPr lvl="1">
              <a:lnSpc>
                <a:spcPct val="100000"/>
              </a:lnSpc>
            </a:pPr>
            <a:r>
              <a:rPr lang="en-US" altLang="en-US" sz="2600" dirty="0"/>
              <a:t>absolute – position according to the innermost positioned parent element</a:t>
            </a:r>
          </a:p>
          <a:p>
            <a:pPr lvl="1">
              <a:lnSpc>
                <a:spcPct val="100000"/>
              </a:lnSpc>
            </a:pPr>
            <a:r>
              <a:rPr lang="en-US" altLang="en-US" sz="2600" dirty="0"/>
              <a:t>fixed – same as  absolute, </a:t>
            </a:r>
            <a:r>
              <a:rPr lang="en-US" altLang="en-US" sz="2600" dirty="0">
                <a:solidFill>
                  <a:srgbClr val="FF0000"/>
                </a:solidFill>
              </a:rPr>
              <a:t>but ignores page scrolling</a:t>
            </a:r>
          </a:p>
        </p:txBody>
      </p:sp>
      <p:sp>
        <p:nvSpPr>
          <p:cNvPr id="4" name="Slide Number Placeholder 3">
            <a:extLst>
              <a:ext uri="{FF2B5EF4-FFF2-40B4-BE49-F238E27FC236}">
                <a16:creationId xmlns:a16="http://schemas.microsoft.com/office/drawing/2014/main" id="{D70AF8BD-8F5C-4B6C-9659-30DDF41522F7}"/>
              </a:ext>
            </a:extLst>
          </p:cNvPr>
          <p:cNvSpPr>
            <a:spLocks noGrp="1"/>
          </p:cNvSpPr>
          <p:nvPr>
            <p:ph type="sldNum" sz="quarter" idx="12"/>
          </p:nvPr>
        </p:nvSpPr>
        <p:spPr/>
        <p:txBody>
          <a:bodyPr/>
          <a:lstStyle/>
          <a:p>
            <a:pPr>
              <a:defRPr/>
            </a:pPr>
            <a:fld id="{B011648B-4182-4262-92A5-3A5AB0BE0E21}" type="slidenum">
              <a:rPr lang="en-US" smtClean="0"/>
              <a:pPr>
                <a:defRPr/>
              </a:pPr>
              <a:t>35</a:t>
            </a:fld>
            <a:endParaRPr lang="en-US" dirty="0"/>
          </a:p>
        </p:txBody>
      </p:sp>
      <p:cxnSp>
        <p:nvCxnSpPr>
          <p:cNvPr id="5" name="Straight Connector 4">
            <a:extLst>
              <a:ext uri="{FF2B5EF4-FFF2-40B4-BE49-F238E27FC236}">
                <a16:creationId xmlns:a16="http://schemas.microsoft.com/office/drawing/2014/main" id="{4DD90182-7D54-410F-964B-6B0B748E3195}"/>
              </a:ext>
            </a:extLst>
          </p:cNvPr>
          <p:cNvCxnSpPr>
            <a:cxnSpLocks/>
          </p:cNvCxnSpPr>
          <p:nvPr/>
        </p:nvCxnSpPr>
        <p:spPr>
          <a:xfrm>
            <a:off x="1668465" y="1241155"/>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a:extLst>
              <a:ext uri="{FF2B5EF4-FFF2-40B4-BE49-F238E27FC236}">
                <a16:creationId xmlns:a16="http://schemas.microsoft.com/office/drawing/2014/main" id="{30FD8507-24E1-49F4-8D8B-3420AA81D126}"/>
              </a:ext>
            </a:extLst>
          </p:cNvPr>
          <p:cNvSpPr>
            <a:spLocks noGrp="1" noChangeArrowheads="1"/>
          </p:cNvSpPr>
          <p:nvPr>
            <p:ph type="title"/>
          </p:nvPr>
        </p:nvSpPr>
        <p:spPr>
          <a:xfrm>
            <a:off x="1668460" y="381000"/>
            <a:ext cx="7170741" cy="1049339"/>
          </a:xfrm>
        </p:spPr>
        <p:txBody>
          <a:bodyPr/>
          <a:lstStyle/>
          <a:p>
            <a:r>
              <a:rPr lang="en-US" altLang="en-US" dirty="0">
                <a:solidFill>
                  <a:schemeClr val="accent1"/>
                </a:solidFill>
                <a:latin typeface="+mn-lt"/>
              </a:rPr>
              <a:t>Float</a:t>
            </a:r>
            <a:endParaRPr lang="bg-BG" altLang="en-US" dirty="0">
              <a:solidFill>
                <a:schemeClr val="accent1"/>
              </a:solidFill>
              <a:latin typeface="+mn-lt"/>
            </a:endParaRPr>
          </a:p>
        </p:txBody>
      </p:sp>
      <p:sp>
        <p:nvSpPr>
          <p:cNvPr id="186371" name="Rectangle 3">
            <a:extLst>
              <a:ext uri="{FF2B5EF4-FFF2-40B4-BE49-F238E27FC236}">
                <a16:creationId xmlns:a16="http://schemas.microsoft.com/office/drawing/2014/main" id="{E81E6C95-E5FB-43AE-8E7F-77363D3D8AD1}"/>
              </a:ext>
            </a:extLst>
          </p:cNvPr>
          <p:cNvSpPr>
            <a:spLocks noGrp="1" noChangeArrowheads="1"/>
          </p:cNvSpPr>
          <p:nvPr>
            <p:ph idx="1"/>
          </p:nvPr>
        </p:nvSpPr>
        <p:spPr>
          <a:xfrm>
            <a:off x="265043" y="1400180"/>
            <a:ext cx="11430947" cy="4956172"/>
          </a:xfrm>
        </p:spPr>
        <p:txBody>
          <a:bodyPr>
            <a:normAutofit/>
          </a:bodyPr>
          <a:lstStyle/>
          <a:p>
            <a:pPr>
              <a:lnSpc>
                <a:spcPct val="100000"/>
              </a:lnSpc>
            </a:pPr>
            <a:r>
              <a:rPr lang="en-US" altLang="en-US" sz="2200" dirty="0"/>
              <a:t>float: the element “floats” to one side</a:t>
            </a:r>
          </a:p>
          <a:p>
            <a:pPr lvl="1">
              <a:lnSpc>
                <a:spcPct val="100000"/>
              </a:lnSpc>
              <a:spcBef>
                <a:spcPts val="600"/>
              </a:spcBef>
            </a:pPr>
            <a:r>
              <a:rPr lang="en-US" altLang="en-US" sz="2200" dirty="0"/>
              <a:t>left: places the element on the left and following content on the right</a:t>
            </a:r>
          </a:p>
          <a:p>
            <a:pPr lvl="1">
              <a:lnSpc>
                <a:spcPct val="100000"/>
              </a:lnSpc>
              <a:spcBef>
                <a:spcPts val="600"/>
              </a:spcBef>
            </a:pPr>
            <a:r>
              <a:rPr lang="en-US" altLang="en-US" sz="2200" dirty="0"/>
              <a:t>right: places the element on the right and following content on the left</a:t>
            </a:r>
          </a:p>
          <a:p>
            <a:pPr lvl="1">
              <a:lnSpc>
                <a:spcPct val="100000"/>
              </a:lnSpc>
              <a:spcBef>
                <a:spcPts val="600"/>
              </a:spcBef>
            </a:pPr>
            <a:r>
              <a:rPr lang="en-US" altLang="en-US" sz="2200" dirty="0"/>
              <a:t>margins of floated elements do not collapse</a:t>
            </a:r>
          </a:p>
          <a:p>
            <a:pPr lvl="1">
              <a:lnSpc>
                <a:spcPct val="100000"/>
              </a:lnSpc>
              <a:spcBef>
                <a:spcPts val="600"/>
              </a:spcBef>
            </a:pPr>
            <a:r>
              <a:rPr lang="en-US" altLang="en-US" sz="2200" dirty="0"/>
              <a:t>floated inline elements can apply height</a:t>
            </a:r>
          </a:p>
          <a:p>
            <a:pPr lvl="1">
              <a:lnSpc>
                <a:spcPct val="100000"/>
              </a:lnSpc>
              <a:spcBef>
                <a:spcPts val="600"/>
              </a:spcBef>
            </a:pPr>
            <a:r>
              <a:rPr lang="en-US" sz="2200" b="0" i="0" dirty="0">
                <a:solidFill>
                  <a:srgbClr val="000000"/>
                </a:solidFill>
                <a:effectLst/>
              </a:rPr>
              <a:t>The following example specifies that an image should float to the </a:t>
            </a:r>
            <a:r>
              <a:rPr lang="en-US" sz="2200" b="1" i="0" dirty="0">
                <a:solidFill>
                  <a:srgbClr val="000000"/>
                </a:solidFill>
                <a:effectLst/>
              </a:rPr>
              <a:t>right</a:t>
            </a:r>
            <a:r>
              <a:rPr lang="en-US" sz="2200" b="0" i="0" dirty="0">
                <a:solidFill>
                  <a:srgbClr val="000000"/>
                </a:solidFill>
                <a:effectLst/>
              </a:rPr>
              <a:t> in a text:</a:t>
            </a:r>
            <a:endParaRPr lang="bg-BG" altLang="en-US" sz="2200" dirty="0"/>
          </a:p>
        </p:txBody>
      </p:sp>
      <p:sp>
        <p:nvSpPr>
          <p:cNvPr id="4" name="Slide Number Placeholder 3">
            <a:extLst>
              <a:ext uri="{FF2B5EF4-FFF2-40B4-BE49-F238E27FC236}">
                <a16:creationId xmlns:a16="http://schemas.microsoft.com/office/drawing/2014/main" id="{4E47FCAC-129F-42BB-B21D-D0D44331F725}"/>
              </a:ext>
            </a:extLst>
          </p:cNvPr>
          <p:cNvSpPr>
            <a:spLocks noGrp="1"/>
          </p:cNvSpPr>
          <p:nvPr>
            <p:ph type="sldNum" sz="quarter" idx="12"/>
          </p:nvPr>
        </p:nvSpPr>
        <p:spPr/>
        <p:txBody>
          <a:bodyPr/>
          <a:lstStyle/>
          <a:p>
            <a:pPr>
              <a:defRPr/>
            </a:pPr>
            <a:fld id="{64832C74-AC82-4C83-8F85-57368A99AC5A}" type="slidenum">
              <a:rPr lang="en-US" smtClean="0"/>
              <a:pPr>
                <a:defRPr/>
              </a:pPr>
              <a:t>36</a:t>
            </a:fld>
            <a:endParaRPr lang="en-US" dirty="0"/>
          </a:p>
        </p:txBody>
      </p:sp>
      <p:cxnSp>
        <p:nvCxnSpPr>
          <p:cNvPr id="5" name="Straight Connector 4">
            <a:extLst>
              <a:ext uri="{FF2B5EF4-FFF2-40B4-BE49-F238E27FC236}">
                <a16:creationId xmlns:a16="http://schemas.microsoft.com/office/drawing/2014/main" id="{2B4DA4F8-2043-4FF3-831F-9BD236DB707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E6900287-CDF4-B589-D1F5-8949017D490B}"/>
              </a:ext>
            </a:extLst>
          </p:cNvPr>
          <p:cNvPicPr>
            <a:picLocks noChangeAspect="1"/>
          </p:cNvPicPr>
          <p:nvPr/>
        </p:nvPicPr>
        <p:blipFill rotWithShape="1">
          <a:blip r:embed="rId3"/>
          <a:srcRect b="3692"/>
          <a:stretch/>
        </p:blipFill>
        <p:spPr>
          <a:xfrm>
            <a:off x="556592" y="4229376"/>
            <a:ext cx="8105775" cy="2201592"/>
          </a:xfrm>
          <a:prstGeom prst="rect">
            <a:avLst/>
          </a:prstGeom>
        </p:spPr>
      </p:pic>
      <p:sp>
        <p:nvSpPr>
          <p:cNvPr id="7" name="TextBox 6">
            <a:extLst>
              <a:ext uri="{FF2B5EF4-FFF2-40B4-BE49-F238E27FC236}">
                <a16:creationId xmlns:a16="http://schemas.microsoft.com/office/drawing/2014/main" id="{57EDB082-CA9D-C5B1-D4EB-31D4A7DF1DDC}"/>
              </a:ext>
            </a:extLst>
          </p:cNvPr>
          <p:cNvSpPr txBox="1"/>
          <p:nvPr/>
        </p:nvSpPr>
        <p:spPr>
          <a:xfrm>
            <a:off x="9416616" y="4070578"/>
            <a:ext cx="2252870" cy="923330"/>
          </a:xfrm>
          <a:prstGeom prst="rect">
            <a:avLst/>
          </a:prstGeom>
          <a:noFill/>
        </p:spPr>
        <p:txBody>
          <a:bodyPr wrap="square">
            <a:spAutoFit/>
          </a:bodyPr>
          <a:lstStyle/>
          <a:p>
            <a:r>
              <a:rPr lang="en-US" b="0" i="0" dirty="0" err="1">
                <a:solidFill>
                  <a:srgbClr val="A52A2A"/>
                </a:solidFill>
                <a:effectLst/>
                <a:latin typeface="Consolas" panose="020B0609020204030204" pitchFamily="49" charset="0"/>
              </a:rPr>
              <a:t>img</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float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right</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DD29FD8F-8C8B-41B1-9AE0-3C1BE829C500}"/>
              </a:ext>
            </a:extLst>
          </p:cNvPr>
          <p:cNvSpPr>
            <a:spLocks noGrp="1" noChangeArrowheads="1"/>
          </p:cNvSpPr>
          <p:nvPr>
            <p:ph type="title"/>
          </p:nvPr>
        </p:nvSpPr>
        <p:spPr/>
        <p:txBody>
          <a:bodyPr/>
          <a:lstStyle/>
          <a:p>
            <a:r>
              <a:rPr lang="en-US" altLang="en-US" b="1" dirty="0">
                <a:solidFill>
                  <a:schemeClr val="accent1"/>
                </a:solidFill>
                <a:latin typeface="+mn-lt"/>
              </a:rPr>
              <a:t>Clear</a:t>
            </a:r>
            <a:endParaRPr lang="bg-BG" altLang="en-US" b="1" dirty="0">
              <a:solidFill>
                <a:schemeClr val="accent1"/>
              </a:solidFill>
              <a:latin typeface="+mn-lt"/>
            </a:endParaRPr>
          </a:p>
        </p:txBody>
      </p:sp>
      <p:sp>
        <p:nvSpPr>
          <p:cNvPr id="188419" name="Rectangle 3">
            <a:extLst>
              <a:ext uri="{FF2B5EF4-FFF2-40B4-BE49-F238E27FC236}">
                <a16:creationId xmlns:a16="http://schemas.microsoft.com/office/drawing/2014/main" id="{EA827B21-E3BD-40C1-8003-8FA71CE16A78}"/>
              </a:ext>
            </a:extLst>
          </p:cNvPr>
          <p:cNvSpPr>
            <a:spLocks noGrp="1" noChangeArrowheads="1"/>
          </p:cNvSpPr>
          <p:nvPr>
            <p:ph idx="1"/>
          </p:nvPr>
        </p:nvSpPr>
        <p:spPr>
          <a:xfrm>
            <a:off x="238540" y="1426613"/>
            <a:ext cx="11714920" cy="5167313"/>
          </a:xfrm>
        </p:spPr>
        <p:txBody>
          <a:bodyPr>
            <a:normAutofit/>
          </a:bodyPr>
          <a:lstStyle/>
          <a:p>
            <a:pPr>
              <a:lnSpc>
                <a:spcPct val="150000"/>
              </a:lnSpc>
            </a:pPr>
            <a:r>
              <a:rPr lang="en-US" altLang="en-US" b="1" dirty="0">
                <a:solidFill>
                  <a:schemeClr val="accent1"/>
                </a:solidFill>
              </a:rPr>
              <a:t>Clear </a:t>
            </a:r>
          </a:p>
          <a:p>
            <a:pPr>
              <a:lnSpc>
                <a:spcPct val="110000"/>
              </a:lnSpc>
              <a:spcBef>
                <a:spcPts val="0"/>
              </a:spcBef>
            </a:pPr>
            <a:r>
              <a:rPr kumimoji="0" lang="en-US" altLang="en-US" sz="2200" b="0" i="0" u="none" strike="noStrike" cap="none" normalizeH="0" baseline="0" dirty="0">
                <a:ln>
                  <a:noFill/>
                </a:ln>
                <a:solidFill>
                  <a:srgbClr val="000000"/>
                </a:solidFill>
                <a:effectLst/>
              </a:rPr>
              <a:t>When we use the </a:t>
            </a:r>
            <a:r>
              <a:rPr kumimoji="0" lang="en-US" altLang="en-US" sz="2200" b="0" i="0" u="none" strike="noStrike" cap="none" normalizeH="0" baseline="0" dirty="0">
                <a:ln>
                  <a:noFill/>
                </a:ln>
                <a:solidFill>
                  <a:srgbClr val="DC143C"/>
                </a:solidFill>
                <a:effectLst/>
              </a:rPr>
              <a:t>float</a:t>
            </a:r>
            <a:r>
              <a:rPr kumimoji="0" lang="en-US" altLang="en-US" sz="2200" b="0" i="0" u="none" strike="noStrike" cap="none" normalizeH="0" baseline="0" dirty="0">
                <a:ln>
                  <a:noFill/>
                </a:ln>
                <a:solidFill>
                  <a:srgbClr val="000000"/>
                </a:solidFill>
                <a:effectLst/>
              </a:rPr>
              <a:t> property, and we want the next element below (not on right or left), we will have to use the </a:t>
            </a:r>
            <a:r>
              <a:rPr kumimoji="0" lang="en-US" altLang="en-US" sz="2200" b="0" i="0" u="none" strike="noStrike" cap="none" normalizeH="0" baseline="0" dirty="0">
                <a:ln>
                  <a:noFill/>
                </a:ln>
                <a:solidFill>
                  <a:srgbClr val="DC143C"/>
                </a:solidFill>
                <a:effectLst/>
              </a:rPr>
              <a:t>clear</a:t>
            </a:r>
            <a:r>
              <a:rPr kumimoji="0" lang="en-US" altLang="en-US" sz="2200" b="0" i="0" u="none" strike="noStrike" cap="none" normalizeH="0" baseline="0" dirty="0">
                <a:ln>
                  <a:noFill/>
                </a:ln>
                <a:solidFill>
                  <a:srgbClr val="000000"/>
                </a:solidFill>
                <a:effectLst/>
              </a:rPr>
              <a:t> property.</a:t>
            </a:r>
            <a:r>
              <a:rPr kumimoji="0" lang="en-US" altLang="en-US" sz="2200" b="0" i="0" u="none" strike="noStrike" cap="none" normalizeH="0" baseline="0" dirty="0">
                <a:ln>
                  <a:noFill/>
                </a:ln>
                <a:solidFill>
                  <a:schemeClr val="tx1"/>
                </a:solidFill>
                <a:effectLst/>
              </a:rPr>
              <a:t> </a:t>
            </a:r>
            <a:endParaRPr kumimoji="0" lang="en-US" altLang="en-US" sz="2200" b="1" i="0" u="none" strike="noStrike" cap="none" normalizeH="0" baseline="0" dirty="0">
              <a:ln>
                <a:noFill/>
              </a:ln>
              <a:solidFill>
                <a:schemeClr val="accent1"/>
              </a:solidFill>
              <a:effectLst/>
            </a:endParaRPr>
          </a:p>
          <a:p>
            <a:pPr lvl="1">
              <a:lnSpc>
                <a:spcPct val="110000"/>
              </a:lnSpc>
              <a:spcBef>
                <a:spcPts val="0"/>
              </a:spcBef>
            </a:pPr>
            <a:r>
              <a:rPr lang="en-US" altLang="en-US" sz="2200" dirty="0"/>
              <a:t>Possible values: left, right, both</a:t>
            </a:r>
          </a:p>
        </p:txBody>
      </p:sp>
      <p:sp>
        <p:nvSpPr>
          <p:cNvPr id="4" name="Slide Number Placeholder 3">
            <a:extLst>
              <a:ext uri="{FF2B5EF4-FFF2-40B4-BE49-F238E27FC236}">
                <a16:creationId xmlns:a16="http://schemas.microsoft.com/office/drawing/2014/main" id="{C5F2C991-2989-40D4-9BD5-8E626052ACFF}"/>
              </a:ext>
            </a:extLst>
          </p:cNvPr>
          <p:cNvSpPr>
            <a:spLocks noGrp="1"/>
          </p:cNvSpPr>
          <p:nvPr>
            <p:ph type="sldNum" sz="quarter" idx="12"/>
          </p:nvPr>
        </p:nvSpPr>
        <p:spPr/>
        <p:txBody>
          <a:bodyPr/>
          <a:lstStyle/>
          <a:p>
            <a:pPr>
              <a:defRPr/>
            </a:pPr>
            <a:fld id="{01C073A9-0815-42E9-B690-27CF0563F10E}" type="slidenum">
              <a:rPr lang="en-US" smtClean="0"/>
              <a:pPr>
                <a:defRPr/>
              </a:pPr>
              <a:t>37</a:t>
            </a:fld>
            <a:endParaRPr lang="en-US" dirty="0"/>
          </a:p>
        </p:txBody>
      </p:sp>
      <p:cxnSp>
        <p:nvCxnSpPr>
          <p:cNvPr id="5" name="Straight Connector 4">
            <a:extLst>
              <a:ext uri="{FF2B5EF4-FFF2-40B4-BE49-F238E27FC236}">
                <a16:creationId xmlns:a16="http://schemas.microsoft.com/office/drawing/2014/main" id="{B49AADFB-480B-4324-89BF-D8AA64D45694}"/>
              </a:ext>
            </a:extLst>
          </p:cNvPr>
          <p:cNvCxnSpPr>
            <a:cxnSpLocks/>
          </p:cNvCxnSpPr>
          <p:nvPr/>
        </p:nvCxnSpPr>
        <p:spPr>
          <a:xfrm>
            <a:off x="1668465" y="135241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7" name="TextBox 6">
            <a:extLst>
              <a:ext uri="{FF2B5EF4-FFF2-40B4-BE49-F238E27FC236}">
                <a16:creationId xmlns:a16="http://schemas.microsoft.com/office/drawing/2014/main" id="{A773C630-96AB-6CBC-B70F-FC077B4D1EA0}"/>
              </a:ext>
            </a:extLst>
          </p:cNvPr>
          <p:cNvSpPr txBox="1"/>
          <p:nvPr/>
        </p:nvSpPr>
        <p:spPr>
          <a:xfrm>
            <a:off x="9342783" y="4633002"/>
            <a:ext cx="2011017" cy="2031325"/>
          </a:xfrm>
          <a:prstGeom prst="rect">
            <a:avLst/>
          </a:prstGeom>
          <a:noFill/>
        </p:spPr>
        <p:txBody>
          <a:bodyPr wrap="square">
            <a:spAutoFit/>
          </a:bodyPr>
          <a:lstStyle/>
          <a:p>
            <a:r>
              <a:rPr lang="en-US" b="0" i="0" dirty="0">
                <a:solidFill>
                  <a:srgbClr val="A52A2A"/>
                </a:solidFill>
                <a:effectLst/>
                <a:latin typeface="Consolas" panose="020B0609020204030204" pitchFamily="49" charset="0"/>
              </a:rPr>
              <a:t>div1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float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left</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A52A2A"/>
                </a:solidFill>
                <a:effectLst/>
                <a:latin typeface="Consolas" panose="020B0609020204030204" pitchFamily="49" charset="0"/>
              </a:rPr>
              <a:t>div2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clear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left</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
        <p:nvSpPr>
          <p:cNvPr id="9" name="TextBox 8">
            <a:extLst>
              <a:ext uri="{FF2B5EF4-FFF2-40B4-BE49-F238E27FC236}">
                <a16:creationId xmlns:a16="http://schemas.microsoft.com/office/drawing/2014/main" id="{310C8AC8-0649-636E-650F-CA6961E774B7}"/>
              </a:ext>
            </a:extLst>
          </p:cNvPr>
          <p:cNvSpPr txBox="1"/>
          <p:nvPr/>
        </p:nvSpPr>
        <p:spPr>
          <a:xfrm>
            <a:off x="5698435" y="3709672"/>
            <a:ext cx="6096000" cy="923330"/>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This example clears the float to the left. Here, it means that the &lt;div2&gt; element is pushed below the left floated &lt;div1&gt; element: </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666BC03C-7DCC-4813-AF55-0FF6E9FDE580}"/>
              </a:ext>
            </a:extLst>
          </p:cNvPr>
          <p:cNvSpPr>
            <a:spLocks noGrp="1" noChangeArrowheads="1"/>
          </p:cNvSpPr>
          <p:nvPr>
            <p:ph type="title"/>
          </p:nvPr>
        </p:nvSpPr>
        <p:spPr>
          <a:xfrm>
            <a:off x="2895605" y="304801"/>
            <a:ext cx="7886700" cy="1325563"/>
          </a:xfrm>
        </p:spPr>
        <p:txBody>
          <a:bodyPr/>
          <a:lstStyle/>
          <a:p>
            <a:r>
              <a:rPr lang="en-US" altLang="en-US" dirty="0">
                <a:solidFill>
                  <a:schemeClr val="accent1"/>
                </a:solidFill>
                <a:latin typeface="+mn-lt"/>
              </a:rPr>
              <a:t>Opacity</a:t>
            </a:r>
            <a:endParaRPr lang="bg-BG" altLang="en-US" dirty="0">
              <a:solidFill>
                <a:schemeClr val="accent1"/>
              </a:solidFill>
              <a:latin typeface="+mn-lt"/>
            </a:endParaRPr>
          </a:p>
        </p:txBody>
      </p:sp>
      <p:sp>
        <p:nvSpPr>
          <p:cNvPr id="190467" name="Rectangle 3">
            <a:extLst>
              <a:ext uri="{FF2B5EF4-FFF2-40B4-BE49-F238E27FC236}">
                <a16:creationId xmlns:a16="http://schemas.microsoft.com/office/drawing/2014/main" id="{692D15D7-8557-41A0-8C66-21E1AE081E67}"/>
              </a:ext>
            </a:extLst>
          </p:cNvPr>
          <p:cNvSpPr>
            <a:spLocks noGrp="1" noChangeArrowheads="1"/>
          </p:cNvSpPr>
          <p:nvPr>
            <p:ph idx="1"/>
          </p:nvPr>
        </p:nvSpPr>
        <p:spPr>
          <a:xfrm>
            <a:off x="503583" y="1325563"/>
            <a:ext cx="11325561" cy="4859334"/>
          </a:xfrm>
        </p:spPr>
        <p:txBody>
          <a:bodyPr>
            <a:normAutofit/>
          </a:bodyPr>
          <a:lstStyle/>
          <a:p>
            <a:pPr>
              <a:lnSpc>
                <a:spcPct val="150000"/>
              </a:lnSpc>
            </a:pPr>
            <a:r>
              <a:rPr lang="en-US" altLang="en-US" sz="2200" dirty="0"/>
              <a:t>Opacity: specifies the opacity of the element</a:t>
            </a:r>
          </a:p>
          <a:p>
            <a:pPr lvl="1">
              <a:lnSpc>
                <a:spcPct val="150000"/>
              </a:lnSpc>
            </a:pPr>
            <a:r>
              <a:rPr lang="en-US" altLang="en-US" sz="2200" dirty="0"/>
              <a:t>Floating point number from 0.0 to 1.0</a:t>
            </a:r>
          </a:p>
          <a:p>
            <a:pPr lvl="1">
              <a:lnSpc>
                <a:spcPct val="150000"/>
              </a:lnSpc>
            </a:pPr>
            <a:r>
              <a:rPr lang="en-US" altLang="en-US" sz="2200" dirty="0"/>
              <a:t>For old Mozilla browsers use –</a:t>
            </a:r>
            <a:r>
              <a:rPr lang="en-US" altLang="en-US" sz="2200" dirty="0" err="1"/>
              <a:t>moz</a:t>
            </a:r>
            <a:r>
              <a:rPr lang="en-US" altLang="en-US" sz="2200" dirty="0"/>
              <a:t>-opacity</a:t>
            </a:r>
          </a:p>
          <a:p>
            <a:pPr lvl="1">
              <a:lnSpc>
                <a:spcPct val="150000"/>
              </a:lnSpc>
            </a:pPr>
            <a:r>
              <a:rPr lang="en-US" altLang="en-US" sz="2200" dirty="0"/>
              <a:t>For IE use filter: alpha(opacity=value) where value is from 0 to 100; </a:t>
            </a:r>
          </a:p>
        </p:txBody>
      </p:sp>
      <p:sp>
        <p:nvSpPr>
          <p:cNvPr id="4" name="Slide Number Placeholder 3">
            <a:extLst>
              <a:ext uri="{FF2B5EF4-FFF2-40B4-BE49-F238E27FC236}">
                <a16:creationId xmlns:a16="http://schemas.microsoft.com/office/drawing/2014/main" id="{E11A0876-2526-46C7-84BD-C2A17D156839}"/>
              </a:ext>
            </a:extLst>
          </p:cNvPr>
          <p:cNvSpPr>
            <a:spLocks noGrp="1"/>
          </p:cNvSpPr>
          <p:nvPr>
            <p:ph type="sldNum" sz="quarter" idx="12"/>
          </p:nvPr>
        </p:nvSpPr>
        <p:spPr/>
        <p:txBody>
          <a:bodyPr/>
          <a:lstStyle/>
          <a:p>
            <a:pPr>
              <a:defRPr/>
            </a:pPr>
            <a:fld id="{B997430C-C40D-473B-BF91-32DA8A7F4FB1}" type="slidenum">
              <a:rPr lang="en-US" smtClean="0"/>
              <a:pPr>
                <a:defRPr/>
              </a:pPr>
              <a:t>38</a:t>
            </a:fld>
            <a:endParaRPr lang="en-US" dirty="0"/>
          </a:p>
        </p:txBody>
      </p:sp>
      <p:cxnSp>
        <p:nvCxnSpPr>
          <p:cNvPr id="5" name="Straight Connector 4">
            <a:extLst>
              <a:ext uri="{FF2B5EF4-FFF2-40B4-BE49-F238E27FC236}">
                <a16:creationId xmlns:a16="http://schemas.microsoft.com/office/drawing/2014/main" id="{5148F3C6-8889-4610-BA2F-05014CE35F2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C590AEC2-D62F-0B49-0FE8-5C6F22393D87}"/>
              </a:ext>
            </a:extLst>
          </p:cNvPr>
          <p:cNvPicPr>
            <a:picLocks noChangeAspect="1"/>
          </p:cNvPicPr>
          <p:nvPr/>
        </p:nvPicPr>
        <p:blipFill>
          <a:blip r:embed="rId3"/>
          <a:stretch>
            <a:fillRect/>
          </a:stretch>
        </p:blipFill>
        <p:spPr>
          <a:xfrm>
            <a:off x="3723369" y="4260300"/>
            <a:ext cx="8105775" cy="2447925"/>
          </a:xfrm>
          <a:prstGeom prst="rect">
            <a:avLst/>
          </a:prstGeom>
        </p:spPr>
      </p:pic>
      <p:sp>
        <p:nvSpPr>
          <p:cNvPr id="8" name="Rectangle 3">
            <a:extLst>
              <a:ext uri="{FF2B5EF4-FFF2-40B4-BE49-F238E27FC236}">
                <a16:creationId xmlns:a16="http://schemas.microsoft.com/office/drawing/2014/main" id="{5B5E15A8-3E0E-0F6C-7BFE-05EEF192DDE8}"/>
              </a:ext>
            </a:extLst>
          </p:cNvPr>
          <p:cNvSpPr>
            <a:spLocks noChangeArrowheads="1"/>
          </p:cNvSpPr>
          <p:nvPr/>
        </p:nvSpPr>
        <p:spPr bwMode="auto">
          <a:xfrm>
            <a:off x="792361" y="3817000"/>
            <a:ext cx="6178282"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The </a:t>
            </a:r>
            <a:r>
              <a:rPr kumimoji="0" lang="en-US" altLang="en-US" sz="1200" b="0" i="0" u="none" strike="noStrike" cap="none" normalizeH="0" baseline="0" dirty="0">
                <a:ln>
                  <a:noFill/>
                </a:ln>
                <a:solidFill>
                  <a:srgbClr val="DC143C"/>
                </a:solidFill>
                <a:effectLst/>
                <a:latin typeface="Consolas" panose="020B0609020204030204" pitchFamily="49" charset="0"/>
              </a:rPr>
              <a:t>opacity</a:t>
            </a:r>
            <a:r>
              <a:rPr kumimoji="0" lang="en-US" altLang="en-US" sz="1200" b="0" i="0" u="none" strike="noStrike" cap="none" normalizeH="0" baseline="0" dirty="0">
                <a:ln>
                  <a:noFill/>
                </a:ln>
                <a:solidFill>
                  <a:srgbClr val="000000"/>
                </a:solidFill>
                <a:effectLst/>
                <a:latin typeface="Verdana" panose="020B0604030504040204" pitchFamily="34" charset="0"/>
              </a:rPr>
              <a:t> property specifies the opacity/transparency of an element.</a:t>
            </a:r>
            <a:endParaRPr kumimoji="0" lang="en-US" altLang="en-US" sz="1100" b="0" i="0" u="none" strike="noStrike" cap="none" normalizeH="0" baseline="0" dirty="0">
              <a:ln>
                <a:noFill/>
              </a:ln>
              <a:solidFill>
                <a:schemeClr val="tx1"/>
              </a:solidFill>
              <a:effectLst/>
            </a:endParaRPr>
          </a:p>
        </p:txBody>
      </p:sp>
      <p:sp>
        <p:nvSpPr>
          <p:cNvPr id="10" name="TextBox 9">
            <a:extLst>
              <a:ext uri="{FF2B5EF4-FFF2-40B4-BE49-F238E27FC236}">
                <a16:creationId xmlns:a16="http://schemas.microsoft.com/office/drawing/2014/main" id="{CCBF6E25-16B0-AD2E-90A7-494D952EA048}"/>
              </a:ext>
            </a:extLst>
          </p:cNvPr>
          <p:cNvSpPr txBox="1"/>
          <p:nvPr/>
        </p:nvSpPr>
        <p:spPr>
          <a:xfrm>
            <a:off x="362856" y="4952302"/>
            <a:ext cx="2532749" cy="923330"/>
          </a:xfrm>
          <a:prstGeom prst="rect">
            <a:avLst/>
          </a:prstGeom>
          <a:noFill/>
        </p:spPr>
        <p:txBody>
          <a:bodyPr wrap="square">
            <a:spAutoFit/>
          </a:bodyPr>
          <a:lstStyle/>
          <a:p>
            <a:r>
              <a:rPr lang="en-US" b="0" i="0" dirty="0" err="1">
                <a:solidFill>
                  <a:srgbClr val="A52A2A"/>
                </a:solidFill>
                <a:effectLst/>
                <a:latin typeface="Consolas" panose="020B0609020204030204" pitchFamily="49" charset="0"/>
              </a:rPr>
              <a:t>img</a:t>
            </a:r>
            <a:r>
              <a:rPr lang="en-US" b="0" i="0" dirty="0">
                <a:solidFill>
                  <a:srgbClr val="A52A2A"/>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opacity</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0.5</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65AAEDC3-7C18-4FC3-AD58-335E3A825047}"/>
              </a:ext>
            </a:extLst>
          </p:cNvPr>
          <p:cNvSpPr>
            <a:spLocks noGrp="1" noChangeArrowheads="1"/>
          </p:cNvSpPr>
          <p:nvPr>
            <p:ph type="title"/>
          </p:nvPr>
        </p:nvSpPr>
        <p:spPr/>
        <p:txBody>
          <a:bodyPr/>
          <a:lstStyle/>
          <a:p>
            <a:pPr algn="ctr"/>
            <a:r>
              <a:rPr lang="en-US" altLang="en-US" b="1" dirty="0">
                <a:solidFill>
                  <a:schemeClr val="accent1"/>
                </a:solidFill>
                <a:latin typeface="+mn-lt"/>
              </a:rPr>
              <a:t>Visibility</a:t>
            </a:r>
            <a:endParaRPr lang="bg-BG" altLang="en-US" b="1" dirty="0">
              <a:solidFill>
                <a:schemeClr val="accent1"/>
              </a:solidFill>
              <a:latin typeface="+mn-lt"/>
            </a:endParaRPr>
          </a:p>
        </p:txBody>
      </p:sp>
      <p:sp>
        <p:nvSpPr>
          <p:cNvPr id="192515" name="Rectangle 3">
            <a:extLst>
              <a:ext uri="{FF2B5EF4-FFF2-40B4-BE49-F238E27FC236}">
                <a16:creationId xmlns:a16="http://schemas.microsoft.com/office/drawing/2014/main" id="{C30DCDC7-0CEA-4579-8EAA-7E08868578B6}"/>
              </a:ext>
            </a:extLst>
          </p:cNvPr>
          <p:cNvSpPr>
            <a:spLocks noGrp="1" noChangeArrowheads="1"/>
          </p:cNvSpPr>
          <p:nvPr>
            <p:ph idx="1"/>
          </p:nvPr>
        </p:nvSpPr>
        <p:spPr>
          <a:xfrm>
            <a:off x="689113" y="1412879"/>
            <a:ext cx="10664687" cy="4943474"/>
          </a:xfrm>
        </p:spPr>
        <p:txBody>
          <a:bodyPr/>
          <a:lstStyle/>
          <a:p>
            <a:pPr>
              <a:lnSpc>
                <a:spcPct val="150000"/>
              </a:lnSpc>
            </a:pPr>
            <a:r>
              <a:rPr lang="en-US" altLang="en-US" b="1" dirty="0">
                <a:solidFill>
                  <a:schemeClr val="accent5"/>
                </a:solidFill>
              </a:rPr>
              <a:t>Visibility</a:t>
            </a:r>
            <a:r>
              <a:rPr lang="en-US" altLang="en-US" b="1" dirty="0">
                <a:solidFill>
                  <a:schemeClr val="accent1"/>
                </a:solidFill>
              </a:rPr>
              <a:t>  </a:t>
            </a:r>
          </a:p>
          <a:p>
            <a:pPr lvl="1">
              <a:lnSpc>
                <a:spcPct val="150000"/>
              </a:lnSpc>
            </a:pPr>
            <a:r>
              <a:rPr lang="en-US" altLang="en-US" sz="2800" dirty="0"/>
              <a:t>Determines whether the element is visible</a:t>
            </a:r>
          </a:p>
          <a:p>
            <a:pPr lvl="1">
              <a:lnSpc>
                <a:spcPct val="150000"/>
              </a:lnSpc>
            </a:pPr>
            <a:r>
              <a:rPr lang="en-US" altLang="en-US" sz="2800" dirty="0">
                <a:solidFill>
                  <a:srgbClr val="FF0000"/>
                </a:solidFill>
              </a:rPr>
              <a:t>hidden:</a:t>
            </a:r>
            <a:r>
              <a:rPr lang="en-US" altLang="en-US" sz="2800" dirty="0"/>
              <a:t> element is not rendered, but still occupies place on the page (similar to opacity:0)</a:t>
            </a:r>
          </a:p>
          <a:p>
            <a:pPr lvl="1">
              <a:lnSpc>
                <a:spcPct val="150000"/>
              </a:lnSpc>
            </a:pPr>
            <a:r>
              <a:rPr lang="en-US" altLang="en-US" sz="2800" dirty="0">
                <a:solidFill>
                  <a:srgbClr val="FF0000"/>
                </a:solidFill>
              </a:rPr>
              <a:t>visible</a:t>
            </a:r>
            <a:r>
              <a:rPr lang="en-US" altLang="en-US" sz="2800" dirty="0"/>
              <a:t>: element is rendered normally</a:t>
            </a:r>
            <a:endParaRPr lang="bg-BG" altLang="en-US" sz="2800" dirty="0"/>
          </a:p>
        </p:txBody>
      </p:sp>
      <p:sp>
        <p:nvSpPr>
          <p:cNvPr id="4" name="Slide Number Placeholder 3">
            <a:extLst>
              <a:ext uri="{FF2B5EF4-FFF2-40B4-BE49-F238E27FC236}">
                <a16:creationId xmlns:a16="http://schemas.microsoft.com/office/drawing/2014/main" id="{565F9F61-3F9C-4A5B-A2B5-40CFF3CAD475}"/>
              </a:ext>
            </a:extLst>
          </p:cNvPr>
          <p:cNvSpPr>
            <a:spLocks noGrp="1"/>
          </p:cNvSpPr>
          <p:nvPr>
            <p:ph type="sldNum" sz="quarter" idx="12"/>
          </p:nvPr>
        </p:nvSpPr>
        <p:spPr/>
        <p:txBody>
          <a:bodyPr/>
          <a:lstStyle/>
          <a:p>
            <a:pPr>
              <a:defRPr/>
            </a:pPr>
            <a:fld id="{2F542EF9-6699-4A13-B8C4-3AA085F80B0C}" type="slidenum">
              <a:rPr lang="en-US" smtClean="0"/>
              <a:pPr>
                <a:defRPr/>
              </a:pPr>
              <a:t>39</a:t>
            </a:fld>
            <a:endParaRPr lang="en-US" dirty="0"/>
          </a:p>
        </p:txBody>
      </p:sp>
      <p:cxnSp>
        <p:nvCxnSpPr>
          <p:cNvPr id="5" name="Straight Connector 4">
            <a:extLst>
              <a:ext uri="{FF2B5EF4-FFF2-40B4-BE49-F238E27FC236}">
                <a16:creationId xmlns:a16="http://schemas.microsoft.com/office/drawing/2014/main" id="{9F5D9C2D-CAC4-4FBA-97F2-6C6FE8E8CE21}"/>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A3B07E80-68E7-45A1-A7CC-416C8B858D57}"/>
              </a:ext>
            </a:extLst>
          </p:cNvPr>
          <p:cNvSpPr>
            <a:spLocks noGrp="1" noChangeArrowheads="1"/>
          </p:cNvSpPr>
          <p:nvPr>
            <p:ph type="title"/>
          </p:nvPr>
        </p:nvSpPr>
        <p:spPr>
          <a:xfrm>
            <a:off x="838200" y="365128"/>
            <a:ext cx="10515600" cy="960436"/>
          </a:xfrm>
        </p:spPr>
        <p:txBody>
          <a:bodyPr>
            <a:normAutofit fontScale="90000"/>
          </a:bodyPr>
          <a:lstStyle/>
          <a:p>
            <a:pPr algn="ctr"/>
            <a:br>
              <a:rPr lang="en-US" altLang="en-US" dirty="0">
                <a:solidFill>
                  <a:schemeClr val="accent1"/>
                </a:solidFill>
                <a:latin typeface="+mn-lt"/>
              </a:rPr>
            </a:br>
            <a:r>
              <a:rPr lang="en-US" altLang="en-US" dirty="0">
                <a:solidFill>
                  <a:schemeClr val="accent1"/>
                </a:solidFill>
                <a:latin typeface="+mn-lt"/>
              </a:rPr>
              <a:t>Display</a:t>
            </a:r>
            <a:endParaRPr lang="bg-BG" altLang="en-US" dirty="0">
              <a:solidFill>
                <a:schemeClr val="accent1"/>
              </a:solidFill>
              <a:latin typeface="+mn-lt"/>
            </a:endParaRPr>
          </a:p>
        </p:txBody>
      </p:sp>
      <p:sp>
        <p:nvSpPr>
          <p:cNvPr id="194563" name="Rectangle 3">
            <a:extLst>
              <a:ext uri="{FF2B5EF4-FFF2-40B4-BE49-F238E27FC236}">
                <a16:creationId xmlns:a16="http://schemas.microsoft.com/office/drawing/2014/main" id="{2FCEEF86-7CB6-4D99-82DB-AE91A98F6D02}"/>
              </a:ext>
            </a:extLst>
          </p:cNvPr>
          <p:cNvSpPr>
            <a:spLocks noGrp="1" noChangeArrowheads="1"/>
          </p:cNvSpPr>
          <p:nvPr>
            <p:ph idx="1"/>
          </p:nvPr>
        </p:nvSpPr>
        <p:spPr>
          <a:xfrm>
            <a:off x="583096" y="1399415"/>
            <a:ext cx="10770704" cy="4956933"/>
          </a:xfrm>
        </p:spPr>
        <p:txBody>
          <a:bodyPr>
            <a:normAutofit/>
          </a:bodyPr>
          <a:lstStyle/>
          <a:p>
            <a:pPr>
              <a:lnSpc>
                <a:spcPct val="100000"/>
              </a:lnSpc>
            </a:pPr>
            <a:r>
              <a:rPr lang="en-US" altLang="en-US" sz="2400" dirty="0"/>
              <a:t>Display: controls the display of the element and the way it is rendered and if breaks should be placed before and after the element</a:t>
            </a:r>
          </a:p>
          <a:p>
            <a:pPr lvl="1">
              <a:lnSpc>
                <a:spcPct val="150000"/>
              </a:lnSpc>
            </a:pPr>
            <a:r>
              <a:rPr lang="en-US" altLang="en-US" sz="2200" b="1" dirty="0">
                <a:solidFill>
                  <a:schemeClr val="accent1"/>
                </a:solidFill>
              </a:rPr>
              <a:t>inline:</a:t>
            </a:r>
            <a:r>
              <a:rPr lang="en-US" altLang="en-US" sz="2200" b="1" dirty="0"/>
              <a:t> </a:t>
            </a:r>
            <a:r>
              <a:rPr lang="en-US" altLang="en-US" sz="2200" dirty="0"/>
              <a:t>no breaks are placed before and after (&lt;span&gt; is an inline element)</a:t>
            </a:r>
          </a:p>
          <a:p>
            <a:pPr lvl="1">
              <a:lnSpc>
                <a:spcPct val="150000"/>
              </a:lnSpc>
            </a:pPr>
            <a:r>
              <a:rPr lang="en-US" altLang="en-US" sz="2200" b="1" dirty="0">
                <a:solidFill>
                  <a:schemeClr val="accent1"/>
                </a:solidFill>
              </a:rPr>
              <a:t>bloc</a:t>
            </a:r>
            <a:r>
              <a:rPr lang="en-US" altLang="en-US" sz="2200" dirty="0">
                <a:solidFill>
                  <a:schemeClr val="accent1"/>
                </a:solidFill>
              </a:rPr>
              <a:t>k:</a:t>
            </a:r>
            <a:r>
              <a:rPr lang="en-US" altLang="en-US" sz="2200" dirty="0"/>
              <a:t> breaks are placed before AND after the element (&lt;div&gt; is a block element)</a:t>
            </a:r>
          </a:p>
          <a:p>
            <a:pPr lvl="1">
              <a:lnSpc>
                <a:spcPct val="150000"/>
              </a:lnSpc>
            </a:pPr>
            <a:r>
              <a:rPr lang="en-US" altLang="en-US" sz="2200" b="1" dirty="0">
                <a:solidFill>
                  <a:schemeClr val="accent1"/>
                </a:solidFill>
              </a:rPr>
              <a:t>none:</a:t>
            </a:r>
            <a:r>
              <a:rPr lang="en-US" altLang="en-US" sz="2200" dirty="0"/>
              <a:t> element is hidden and its dimensions are not used to calculate the surrounding elements rendering (differs from visibility: hidden!)</a:t>
            </a:r>
          </a:p>
          <a:p>
            <a:pPr lvl="1">
              <a:lnSpc>
                <a:spcPct val="100000"/>
              </a:lnSpc>
            </a:pPr>
            <a:endParaRPr lang="en-US" altLang="en-US" sz="2800" dirty="0"/>
          </a:p>
        </p:txBody>
      </p:sp>
      <p:sp>
        <p:nvSpPr>
          <p:cNvPr id="4" name="Slide Number Placeholder 3">
            <a:extLst>
              <a:ext uri="{FF2B5EF4-FFF2-40B4-BE49-F238E27FC236}">
                <a16:creationId xmlns:a16="http://schemas.microsoft.com/office/drawing/2014/main" id="{3557E031-C32C-4746-9AA9-271648B07A22}"/>
              </a:ext>
            </a:extLst>
          </p:cNvPr>
          <p:cNvSpPr>
            <a:spLocks noGrp="1"/>
          </p:cNvSpPr>
          <p:nvPr>
            <p:ph type="sldNum" sz="quarter" idx="12"/>
          </p:nvPr>
        </p:nvSpPr>
        <p:spPr/>
        <p:txBody>
          <a:bodyPr/>
          <a:lstStyle/>
          <a:p>
            <a:pPr>
              <a:defRPr/>
            </a:pPr>
            <a:fld id="{7DE7566B-8B0D-41E0-B5D7-770DA02F259C}" type="slidenum">
              <a:rPr lang="en-US" smtClean="0"/>
              <a:pPr>
                <a:defRPr/>
              </a:pPr>
              <a:t>40</a:t>
            </a:fld>
            <a:endParaRPr lang="en-US" dirty="0"/>
          </a:p>
        </p:txBody>
      </p:sp>
      <p:cxnSp>
        <p:nvCxnSpPr>
          <p:cNvPr id="5" name="Straight Connector 4">
            <a:extLst>
              <a:ext uri="{FF2B5EF4-FFF2-40B4-BE49-F238E27FC236}">
                <a16:creationId xmlns:a16="http://schemas.microsoft.com/office/drawing/2014/main" id="{61B4DC58-ABF9-4760-9445-28A303E79ED3}"/>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4090E10E-1520-41EA-89EE-FAC75D184F92}"/>
              </a:ext>
            </a:extLst>
          </p:cNvPr>
          <p:cNvSpPr>
            <a:spLocks noGrp="1" noChangeArrowheads="1"/>
          </p:cNvSpPr>
          <p:nvPr>
            <p:ph type="title"/>
          </p:nvPr>
        </p:nvSpPr>
        <p:spPr/>
        <p:txBody>
          <a:bodyPr/>
          <a:lstStyle/>
          <a:p>
            <a:pPr algn="ctr"/>
            <a:r>
              <a:rPr lang="en-US" altLang="en-US" b="1" dirty="0">
                <a:solidFill>
                  <a:schemeClr val="accent1"/>
                </a:solidFill>
                <a:latin typeface="+mn-lt"/>
              </a:rPr>
              <a:t>Overflow</a:t>
            </a:r>
            <a:endParaRPr lang="bg-BG" altLang="en-US" b="1" dirty="0">
              <a:solidFill>
                <a:schemeClr val="accent1"/>
              </a:solidFill>
              <a:latin typeface="+mn-lt"/>
            </a:endParaRPr>
          </a:p>
        </p:txBody>
      </p:sp>
      <p:sp>
        <p:nvSpPr>
          <p:cNvPr id="196611" name="Rectangle 3">
            <a:extLst>
              <a:ext uri="{FF2B5EF4-FFF2-40B4-BE49-F238E27FC236}">
                <a16:creationId xmlns:a16="http://schemas.microsoft.com/office/drawing/2014/main" id="{4C60B176-FB74-4244-B354-00AD73902133}"/>
              </a:ext>
            </a:extLst>
          </p:cNvPr>
          <p:cNvSpPr>
            <a:spLocks noGrp="1" noChangeArrowheads="1"/>
          </p:cNvSpPr>
          <p:nvPr>
            <p:ph idx="1"/>
          </p:nvPr>
        </p:nvSpPr>
        <p:spPr>
          <a:xfrm>
            <a:off x="530087" y="1341444"/>
            <a:ext cx="11184836" cy="5014904"/>
          </a:xfrm>
        </p:spPr>
        <p:txBody>
          <a:bodyPr>
            <a:normAutofit/>
          </a:bodyPr>
          <a:lstStyle/>
          <a:p>
            <a:pPr>
              <a:lnSpc>
                <a:spcPct val="150000"/>
              </a:lnSpc>
            </a:pPr>
            <a:r>
              <a:rPr lang="en-US" altLang="en-US" b="1" dirty="0">
                <a:solidFill>
                  <a:schemeClr val="accent1"/>
                </a:solidFill>
              </a:rPr>
              <a:t>Overflow</a:t>
            </a:r>
            <a:r>
              <a:rPr lang="en-US" altLang="en-US" dirty="0">
                <a:solidFill>
                  <a:schemeClr val="accent1"/>
                </a:solidFill>
              </a:rPr>
              <a:t>:</a:t>
            </a:r>
            <a:r>
              <a:rPr lang="en-US" altLang="en-US" dirty="0"/>
              <a:t> defines the behavior of </a:t>
            </a:r>
            <a:r>
              <a:rPr lang="en-US" altLang="en-US" dirty="0">
                <a:solidFill>
                  <a:srgbClr val="FF0000"/>
                </a:solidFill>
              </a:rPr>
              <a:t>element when content needs more space </a:t>
            </a:r>
            <a:r>
              <a:rPr lang="en-US" altLang="en-US" dirty="0"/>
              <a:t>than you have specified by the size properties or for other reasons. Values: </a:t>
            </a:r>
          </a:p>
          <a:p>
            <a:pPr lvl="1">
              <a:lnSpc>
                <a:spcPct val="150000"/>
              </a:lnSpc>
            </a:pPr>
            <a:r>
              <a:rPr lang="en-US" altLang="en-US" dirty="0"/>
              <a:t>visible (default) – content spills out of the element</a:t>
            </a:r>
          </a:p>
          <a:p>
            <a:pPr lvl="1">
              <a:lnSpc>
                <a:spcPct val="150000"/>
              </a:lnSpc>
            </a:pPr>
            <a:r>
              <a:rPr lang="en-US" altLang="en-US" dirty="0"/>
              <a:t>auto - show scrollbars if needed</a:t>
            </a:r>
          </a:p>
          <a:p>
            <a:pPr lvl="1">
              <a:lnSpc>
                <a:spcPct val="150000"/>
              </a:lnSpc>
            </a:pPr>
            <a:r>
              <a:rPr lang="en-US" altLang="en-US" dirty="0"/>
              <a:t>scroll – always show scrollbars</a:t>
            </a:r>
          </a:p>
          <a:p>
            <a:pPr lvl="1">
              <a:lnSpc>
                <a:spcPct val="150000"/>
              </a:lnSpc>
            </a:pPr>
            <a:r>
              <a:rPr lang="en-US" altLang="en-US" dirty="0"/>
              <a:t>hidden – any content that cannot fit is clipped</a:t>
            </a:r>
            <a:endParaRPr lang="bg-BG" altLang="en-US" dirty="0"/>
          </a:p>
        </p:txBody>
      </p:sp>
      <p:sp>
        <p:nvSpPr>
          <p:cNvPr id="4" name="Slide Number Placeholder 3">
            <a:extLst>
              <a:ext uri="{FF2B5EF4-FFF2-40B4-BE49-F238E27FC236}">
                <a16:creationId xmlns:a16="http://schemas.microsoft.com/office/drawing/2014/main" id="{C3440462-7C84-4BD0-B54B-8EF1075AEB8C}"/>
              </a:ext>
            </a:extLst>
          </p:cNvPr>
          <p:cNvSpPr>
            <a:spLocks noGrp="1"/>
          </p:cNvSpPr>
          <p:nvPr>
            <p:ph type="sldNum" sz="quarter" idx="12"/>
          </p:nvPr>
        </p:nvSpPr>
        <p:spPr/>
        <p:txBody>
          <a:bodyPr/>
          <a:lstStyle/>
          <a:p>
            <a:pPr>
              <a:defRPr/>
            </a:pPr>
            <a:fld id="{AA7AC128-CC64-4087-8DD9-6A9E794EC6AE}" type="slidenum">
              <a:rPr lang="en-US" smtClean="0"/>
              <a:pPr>
                <a:defRPr/>
              </a:pPr>
              <a:t>41</a:t>
            </a:fld>
            <a:endParaRPr lang="en-US" dirty="0"/>
          </a:p>
        </p:txBody>
      </p:sp>
      <p:cxnSp>
        <p:nvCxnSpPr>
          <p:cNvPr id="5" name="Straight Connector 4">
            <a:extLst>
              <a:ext uri="{FF2B5EF4-FFF2-40B4-BE49-F238E27FC236}">
                <a16:creationId xmlns:a16="http://schemas.microsoft.com/office/drawing/2014/main" id="{2DA9988C-AF21-492E-89CE-0BB9F9EDFD4C}"/>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7" name="TextBox 6">
            <a:extLst>
              <a:ext uri="{FF2B5EF4-FFF2-40B4-BE49-F238E27FC236}">
                <a16:creationId xmlns:a16="http://schemas.microsoft.com/office/drawing/2014/main" id="{00F80AFC-6700-BC91-943D-89EDB4C6B0B7}"/>
              </a:ext>
            </a:extLst>
          </p:cNvPr>
          <p:cNvSpPr txBox="1"/>
          <p:nvPr/>
        </p:nvSpPr>
        <p:spPr>
          <a:xfrm>
            <a:off x="8610600" y="3247190"/>
            <a:ext cx="3490415" cy="1754326"/>
          </a:xfrm>
          <a:prstGeom prst="rect">
            <a:avLst/>
          </a:prstGeom>
          <a:noFill/>
        </p:spPr>
        <p:txBody>
          <a:bodyPr wrap="square">
            <a:spAutoFit/>
          </a:bodyPr>
          <a:lstStyle/>
          <a:p>
            <a:r>
              <a:rPr lang="en-US" b="0" i="0" dirty="0">
                <a:solidFill>
                  <a:srgbClr val="A52A2A"/>
                </a:solidFill>
                <a:effectLst/>
                <a:latin typeface="Consolas" panose="020B0609020204030204" pitchFamily="49" charset="0"/>
              </a:rPr>
              <a:t>div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width</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200px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height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65px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background-color</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coral</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overflow</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visible</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pic>
        <p:nvPicPr>
          <p:cNvPr id="9" name="Picture 8">
            <a:extLst>
              <a:ext uri="{FF2B5EF4-FFF2-40B4-BE49-F238E27FC236}">
                <a16:creationId xmlns:a16="http://schemas.microsoft.com/office/drawing/2014/main" id="{A6441316-2680-71C1-2C93-6FC3C90BC726}"/>
              </a:ext>
            </a:extLst>
          </p:cNvPr>
          <p:cNvPicPr>
            <a:picLocks noChangeAspect="1"/>
          </p:cNvPicPr>
          <p:nvPr/>
        </p:nvPicPr>
        <p:blipFill>
          <a:blip r:embed="rId3"/>
          <a:stretch>
            <a:fillRect/>
          </a:stretch>
        </p:blipFill>
        <p:spPr>
          <a:xfrm>
            <a:off x="8995452" y="4731195"/>
            <a:ext cx="2190750" cy="1895475"/>
          </a:xfrm>
          <a:prstGeom prst="rect">
            <a:avLst/>
          </a:prstGeom>
        </p:spPr>
      </p:pic>
      <p:sp>
        <p:nvSpPr>
          <p:cNvPr id="11" name="TextBox 10">
            <a:extLst>
              <a:ext uri="{FF2B5EF4-FFF2-40B4-BE49-F238E27FC236}">
                <a16:creationId xmlns:a16="http://schemas.microsoft.com/office/drawing/2014/main" id="{541BD8F5-C8EF-FCD5-1858-27D0AE701B1F}"/>
              </a:ext>
            </a:extLst>
          </p:cNvPr>
          <p:cNvSpPr txBox="1"/>
          <p:nvPr/>
        </p:nvSpPr>
        <p:spPr>
          <a:xfrm>
            <a:off x="1149823" y="5722022"/>
            <a:ext cx="2743199" cy="923330"/>
          </a:xfrm>
          <a:prstGeom prst="rect">
            <a:avLst/>
          </a:prstGeom>
          <a:noFill/>
        </p:spPr>
        <p:txBody>
          <a:bodyPr wrap="square">
            <a:spAutoFit/>
          </a:bodyPr>
          <a:lstStyle/>
          <a:p>
            <a:r>
              <a:rPr lang="en-US" b="0" i="0" dirty="0">
                <a:solidFill>
                  <a:srgbClr val="A52A2A"/>
                </a:solidFill>
                <a:effectLst/>
                <a:latin typeface="Consolas" panose="020B0609020204030204" pitchFamily="49" charset="0"/>
              </a:rPr>
              <a:t>div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overflow</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hidden</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endParaRPr lang="en-US"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a:extLst>
              <a:ext uri="{FF2B5EF4-FFF2-40B4-BE49-F238E27FC236}">
                <a16:creationId xmlns:a16="http://schemas.microsoft.com/office/drawing/2014/main" id="{E76471D6-4AD2-4027-962D-7B309E963A39}"/>
              </a:ext>
            </a:extLst>
          </p:cNvPr>
          <p:cNvSpPr>
            <a:spLocks noGrp="1" noChangeArrowheads="1"/>
          </p:cNvSpPr>
          <p:nvPr>
            <p:ph type="title"/>
          </p:nvPr>
        </p:nvSpPr>
        <p:spPr/>
        <p:txBody>
          <a:bodyPr/>
          <a:lstStyle/>
          <a:p>
            <a:pPr algn="ctr">
              <a:defRPr/>
            </a:pPr>
            <a:r>
              <a:rPr lang="en-US" dirty="0">
                <a:solidFill>
                  <a:schemeClr val="accent1"/>
                </a:solidFill>
                <a:latin typeface="+mn-lt"/>
              </a:rPr>
              <a:t>Other CSS Properties</a:t>
            </a:r>
            <a:endParaRPr lang="bg-BG" dirty="0">
              <a:solidFill>
                <a:schemeClr val="accent1"/>
              </a:solidFill>
              <a:latin typeface="+mn-lt"/>
            </a:endParaRPr>
          </a:p>
        </p:txBody>
      </p:sp>
      <p:sp>
        <p:nvSpPr>
          <p:cNvPr id="198659" name="Rectangle 3">
            <a:extLst>
              <a:ext uri="{FF2B5EF4-FFF2-40B4-BE49-F238E27FC236}">
                <a16:creationId xmlns:a16="http://schemas.microsoft.com/office/drawing/2014/main" id="{CC9475D2-8417-4013-89E0-9C5D15BE3AAC}"/>
              </a:ext>
            </a:extLst>
          </p:cNvPr>
          <p:cNvSpPr>
            <a:spLocks noGrp="1" noChangeArrowheads="1"/>
          </p:cNvSpPr>
          <p:nvPr>
            <p:ph idx="1"/>
          </p:nvPr>
        </p:nvSpPr>
        <p:spPr>
          <a:xfrm>
            <a:off x="437322" y="1540561"/>
            <a:ext cx="11065565" cy="4815789"/>
          </a:xfrm>
        </p:spPr>
        <p:txBody>
          <a:bodyPr>
            <a:normAutofit/>
          </a:bodyPr>
          <a:lstStyle/>
          <a:p>
            <a:pPr>
              <a:lnSpc>
                <a:spcPct val="100000"/>
              </a:lnSpc>
            </a:pPr>
            <a:r>
              <a:rPr lang="en-US" altLang="en-US" dirty="0"/>
              <a:t>Cursor: specifies the look of the mouse cursor when placed over the element</a:t>
            </a:r>
            <a:endParaRPr lang="bg-BG" altLang="en-US" dirty="0"/>
          </a:p>
          <a:p>
            <a:pPr lvl="1">
              <a:lnSpc>
                <a:spcPct val="100000"/>
              </a:lnSpc>
            </a:pPr>
            <a:r>
              <a:rPr lang="en-US" altLang="en-US" sz="2800" dirty="0"/>
              <a:t> Values: crosshair, help, pointer, progress, move, hair, </a:t>
            </a:r>
            <a:r>
              <a:rPr lang="en-US" altLang="en-US" sz="2800" noProof="1"/>
              <a:t>col-resize</a:t>
            </a:r>
            <a:r>
              <a:rPr lang="en-US" altLang="en-US" sz="2800" dirty="0"/>
              <a:t>, row-resize, text, wait, copy, drop, and others</a:t>
            </a:r>
          </a:p>
          <a:p>
            <a:pPr>
              <a:lnSpc>
                <a:spcPct val="100000"/>
              </a:lnSpc>
            </a:pPr>
            <a:r>
              <a:rPr lang="en-US" altLang="en-US" dirty="0"/>
              <a:t>white-space – controls the line breaking of text. Value is one of:</a:t>
            </a:r>
          </a:p>
          <a:p>
            <a:pPr lvl="1">
              <a:lnSpc>
                <a:spcPct val="100000"/>
              </a:lnSpc>
            </a:pPr>
            <a:r>
              <a:rPr lang="en-US" altLang="en-US" noProof="1"/>
              <a:t>nowrap</a:t>
            </a:r>
            <a:r>
              <a:rPr lang="en-US" altLang="en-US" dirty="0"/>
              <a:t> – keeps the text on one line</a:t>
            </a:r>
          </a:p>
          <a:p>
            <a:pPr lvl="1">
              <a:lnSpc>
                <a:spcPct val="100000"/>
              </a:lnSpc>
            </a:pPr>
            <a:r>
              <a:rPr lang="en-US" altLang="en-US" dirty="0"/>
              <a:t>normal (default) – browser decides whether to brake the lines if needed</a:t>
            </a:r>
          </a:p>
          <a:p>
            <a:pPr lvl="1">
              <a:lnSpc>
                <a:spcPct val="100000"/>
              </a:lnSpc>
            </a:pPr>
            <a:r>
              <a:rPr lang="en-US" altLang="en-US" dirty="0"/>
              <a:t>Pre: </a:t>
            </a:r>
            <a:r>
              <a:rPr lang="en-US" b="0" i="0" dirty="0">
                <a:solidFill>
                  <a:srgbClr val="000000"/>
                </a:solidFill>
                <a:effectLst/>
              </a:rPr>
              <a:t>Whitespace is preserved by the browser. Text will only wrap on line breaks. Acts like the &lt;pre&gt; tag in HTML</a:t>
            </a:r>
            <a:endParaRPr lang="en-US" altLang="en-US" dirty="0"/>
          </a:p>
        </p:txBody>
      </p:sp>
      <p:sp>
        <p:nvSpPr>
          <p:cNvPr id="4" name="Slide Number Placeholder 3">
            <a:extLst>
              <a:ext uri="{FF2B5EF4-FFF2-40B4-BE49-F238E27FC236}">
                <a16:creationId xmlns:a16="http://schemas.microsoft.com/office/drawing/2014/main" id="{EE89BB43-A621-4BE0-BFF7-E2BE8A00A19F}"/>
              </a:ext>
            </a:extLst>
          </p:cNvPr>
          <p:cNvSpPr>
            <a:spLocks noGrp="1"/>
          </p:cNvSpPr>
          <p:nvPr>
            <p:ph type="sldNum" sz="quarter" idx="12"/>
          </p:nvPr>
        </p:nvSpPr>
        <p:spPr/>
        <p:txBody>
          <a:bodyPr/>
          <a:lstStyle/>
          <a:p>
            <a:pPr>
              <a:defRPr/>
            </a:pPr>
            <a:fld id="{F3D9E585-BCD4-4A3F-B45C-AF55559A013A}" type="slidenum">
              <a:rPr lang="en-US" smtClean="0"/>
              <a:pPr>
                <a:defRPr/>
              </a:pPr>
              <a:t>42</a:t>
            </a:fld>
            <a:endParaRPr lang="en-US" dirty="0"/>
          </a:p>
        </p:txBody>
      </p:sp>
      <p:cxnSp>
        <p:nvCxnSpPr>
          <p:cNvPr id="5" name="Straight Connector 4">
            <a:extLst>
              <a:ext uri="{FF2B5EF4-FFF2-40B4-BE49-F238E27FC236}">
                <a16:creationId xmlns:a16="http://schemas.microsoft.com/office/drawing/2014/main" id="{5DEE453F-2165-4C5F-8768-D8CFA73225A8}"/>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22E36-198D-41FF-A353-6E41AB609325}"/>
              </a:ext>
            </a:extLst>
          </p:cNvPr>
          <p:cNvSpPr>
            <a:spLocks noGrp="1"/>
          </p:cNvSpPr>
          <p:nvPr>
            <p:ph type="title"/>
          </p:nvPr>
        </p:nvSpPr>
        <p:spPr/>
        <p:txBody>
          <a:bodyPr/>
          <a:lstStyle/>
          <a:p>
            <a:r>
              <a:rPr lang="en-US" b="1" dirty="0">
                <a:solidFill>
                  <a:schemeClr val="accent1"/>
                </a:solidFill>
                <a:latin typeface="+mn-lt"/>
                <a:ea typeface="Calibri" panose="020F0502020204030204" pitchFamily="34" charset="0"/>
                <a:cs typeface="Times New Roman" panose="02020603050405020304" pitchFamily="18" charset="0"/>
              </a:rPr>
              <a:t>Table Styling Properties</a:t>
            </a:r>
            <a:br>
              <a:rPr lang="en-US" b="1" dirty="0">
                <a:solidFill>
                  <a:schemeClr val="accent1"/>
                </a:solidFill>
                <a:latin typeface="+mn-lt"/>
              </a:rPr>
            </a:br>
            <a:endParaRPr lang="en-US" b="1" dirty="0">
              <a:solidFill>
                <a:schemeClr val="accent1"/>
              </a:solidFill>
              <a:latin typeface="+mn-lt"/>
            </a:endParaRPr>
          </a:p>
        </p:txBody>
      </p:sp>
      <p:sp>
        <p:nvSpPr>
          <p:cNvPr id="3" name="Content Placeholder 2">
            <a:extLst>
              <a:ext uri="{FF2B5EF4-FFF2-40B4-BE49-F238E27FC236}">
                <a16:creationId xmlns:a16="http://schemas.microsoft.com/office/drawing/2014/main" id="{9E559BA2-10EF-4189-BC38-9CA24786080B}"/>
              </a:ext>
            </a:extLst>
          </p:cNvPr>
          <p:cNvSpPr>
            <a:spLocks noGrp="1"/>
          </p:cNvSpPr>
          <p:nvPr>
            <p:ph idx="1"/>
          </p:nvPr>
        </p:nvSpPr>
        <p:spPr/>
        <p:txBody>
          <a:bodyPr/>
          <a:lstStyle/>
          <a:p>
            <a:r>
              <a:rPr lang="en-US" b="0" i="0" dirty="0">
                <a:solidFill>
                  <a:srgbClr val="000000"/>
                </a:solidFill>
                <a:effectLst/>
              </a:rPr>
              <a:t>Table Borders</a:t>
            </a:r>
            <a:endParaRPr lang="en-US" b="0" i="0" dirty="0">
              <a:solidFill>
                <a:srgbClr val="000000"/>
              </a:solidFill>
              <a:effectLst/>
              <a:latin typeface="Segoe UI" panose="020B0502040204020203" pitchFamily="34" charset="0"/>
            </a:endParaRPr>
          </a:p>
          <a:p>
            <a:pPr marL="914377" lvl="2" indent="0">
              <a:buNone/>
            </a:pPr>
            <a:r>
              <a:rPr lang="en-US" sz="2400" b="0" i="0" dirty="0">
                <a:solidFill>
                  <a:srgbClr val="A52A2A"/>
                </a:solidFill>
                <a:effectLst/>
                <a:latin typeface="Consolas" panose="020B0609020204030204" pitchFamily="49" charset="0"/>
              </a:rPr>
              <a:t>table, </a:t>
            </a:r>
            <a:r>
              <a:rPr lang="en-US" sz="2400" b="0" i="0" dirty="0" err="1">
                <a:solidFill>
                  <a:srgbClr val="A52A2A"/>
                </a:solidFill>
                <a:effectLst/>
                <a:latin typeface="Consolas" panose="020B0609020204030204" pitchFamily="49" charset="0"/>
              </a:rPr>
              <a:t>th</a:t>
            </a:r>
            <a:r>
              <a:rPr lang="en-US" sz="2400" b="0" i="0" dirty="0">
                <a:solidFill>
                  <a:srgbClr val="A52A2A"/>
                </a:solidFill>
                <a:effectLst/>
                <a:latin typeface="Consolas" panose="020B0609020204030204" pitchFamily="49" charset="0"/>
              </a:rPr>
              <a:t>, td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border</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1px solid</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p>
          <a:p>
            <a:r>
              <a:rPr lang="en-US" b="0" i="0" dirty="0">
                <a:solidFill>
                  <a:srgbClr val="000000"/>
                </a:solidFill>
                <a:effectLst/>
              </a:rPr>
              <a:t>Table width, height </a:t>
            </a:r>
          </a:p>
          <a:p>
            <a:r>
              <a:rPr lang="en-US" sz="2400" b="0" i="0" dirty="0">
                <a:solidFill>
                  <a:srgbClr val="A52A2A"/>
                </a:solidFill>
                <a:effectLst/>
                <a:latin typeface="Consolas" panose="020B0609020204030204" pitchFamily="49" charset="0"/>
              </a:rPr>
              <a:t>table </a:t>
            </a:r>
            <a:r>
              <a:rPr lang="en-US" sz="2400" b="0" i="0" dirty="0">
                <a:solidFill>
                  <a:srgbClr val="000000"/>
                </a:solidFill>
                <a:effectLst/>
                <a:latin typeface="Consolas" panose="020B0609020204030204" pitchFamily="49" charset="0"/>
              </a:rPr>
              <a:t>{</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width</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100%</a:t>
            </a:r>
            <a:r>
              <a:rPr lang="en-US" sz="2400" b="0" i="0" dirty="0">
                <a:solidFill>
                  <a:srgbClr val="000000"/>
                </a:solidFill>
                <a:effectLst/>
                <a:latin typeface="Consolas" panose="020B0609020204030204" pitchFamily="49" charset="0"/>
              </a:rPr>
              <a:t>;</a:t>
            </a:r>
          </a:p>
          <a:p>
            <a:pPr marL="0" indent="0">
              <a:buNone/>
            </a:pPr>
            <a:r>
              <a:rPr lang="en-US" sz="2400" b="0" i="0" dirty="0">
                <a:solidFill>
                  <a:srgbClr val="000000"/>
                </a:solidFill>
                <a:effectLst/>
                <a:latin typeface="Consolas" panose="020B0609020204030204" pitchFamily="49" charset="0"/>
              </a:rPr>
              <a:t>   </a:t>
            </a:r>
            <a:r>
              <a:rPr lang="en-US" sz="2400" dirty="0">
                <a:solidFill>
                  <a:srgbClr val="FF0000"/>
                </a:solidFill>
                <a:latin typeface="Consolas" panose="020B0609020204030204" pitchFamily="49" charset="0"/>
              </a:rPr>
              <a:t>height</a:t>
            </a:r>
            <a:r>
              <a:rPr lang="en-US" sz="2400" dirty="0">
                <a:solidFill>
                  <a:srgbClr val="000000"/>
                </a:solidFill>
                <a:latin typeface="Consolas" panose="020B0609020204030204" pitchFamily="49" charset="0"/>
              </a:rPr>
              <a:t>:40%;</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p>
        </p:txBody>
      </p:sp>
      <p:cxnSp>
        <p:nvCxnSpPr>
          <p:cNvPr id="4" name="Straight Connector 3">
            <a:extLst>
              <a:ext uri="{FF2B5EF4-FFF2-40B4-BE49-F238E27FC236}">
                <a16:creationId xmlns:a16="http://schemas.microsoft.com/office/drawing/2014/main" id="{CCE32370-8BE7-4650-BD56-CDB1F2496176}"/>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5" name="Slide Number Placeholder 4">
            <a:extLst>
              <a:ext uri="{FF2B5EF4-FFF2-40B4-BE49-F238E27FC236}">
                <a16:creationId xmlns:a16="http://schemas.microsoft.com/office/drawing/2014/main" id="{677A5EA3-0A8A-DAF5-3FF1-50026B53050D}"/>
              </a:ext>
            </a:extLst>
          </p:cNvPr>
          <p:cNvSpPr>
            <a:spLocks noGrp="1"/>
          </p:cNvSpPr>
          <p:nvPr>
            <p:ph type="sldNum" sz="quarter" idx="12"/>
          </p:nvPr>
        </p:nvSpPr>
        <p:spPr/>
        <p:txBody>
          <a:bodyPr/>
          <a:lstStyle/>
          <a:p>
            <a:fld id="{C12FDFCB-08DC-4BFC-932D-D8A3ABE37605}" type="slidenum">
              <a:rPr lang="en-US" smtClean="0"/>
              <a:t>43</a:t>
            </a:fld>
            <a:endParaRPr lang="en-US"/>
          </a:p>
        </p:txBody>
      </p:sp>
    </p:spTree>
    <p:extLst>
      <p:ext uri="{BB962C8B-B14F-4D97-AF65-F5344CB8AC3E}">
        <p14:creationId xmlns:p14="http://schemas.microsoft.com/office/powerpoint/2010/main" val="6963553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4CD5C-714E-491F-B9DA-D9E50FAF5E54}"/>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F12EBEC5-5B9A-4CF4-820F-0F6A97EC6131}"/>
              </a:ext>
            </a:extLst>
          </p:cNvPr>
          <p:cNvSpPr>
            <a:spLocks noGrp="1"/>
          </p:cNvSpPr>
          <p:nvPr>
            <p:ph idx="1"/>
          </p:nvPr>
        </p:nvSpPr>
        <p:spPr/>
        <p:txBody>
          <a:bodyPr/>
          <a:lstStyle/>
          <a:p>
            <a:r>
              <a:rPr lang="en-US" b="0" i="0" dirty="0">
                <a:solidFill>
                  <a:srgbClr val="000000"/>
                </a:solidFill>
                <a:effectLst/>
                <a:latin typeface="Segoe UI" panose="020B0502040204020203" pitchFamily="34" charset="0"/>
              </a:rPr>
              <a:t>CSS Table Alignment</a:t>
            </a:r>
          </a:p>
          <a:p>
            <a:pPr marL="457189" lvl="1" indent="0">
              <a:buNone/>
            </a:pPr>
            <a:r>
              <a:rPr lang="en-US" b="0" i="0" dirty="0">
                <a:solidFill>
                  <a:srgbClr val="A52A2A"/>
                </a:solidFill>
                <a:effectLst/>
                <a:latin typeface="Consolas" panose="020B0609020204030204" pitchFamily="49" charset="0"/>
              </a:rPr>
              <a:t>td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text-align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center</a:t>
            </a:r>
            <a:r>
              <a:rPr lang="en-US" b="0" i="0" dirty="0">
                <a:solidFill>
                  <a:srgbClr val="000000"/>
                </a:solidFill>
                <a:effectLst/>
                <a:latin typeface="Consolas" panose="020B0609020204030204" pitchFamily="49" charset="0"/>
              </a:rPr>
              <a:t>;</a:t>
            </a:r>
          </a:p>
          <a:p>
            <a:pPr marL="457189" lvl="1" indent="0">
              <a:buNone/>
            </a:pPr>
            <a:r>
              <a:rPr lang="en-US" dirty="0">
                <a:solidFill>
                  <a:srgbClr val="000000"/>
                </a:solidFill>
                <a:latin typeface="Consolas" panose="020B0609020204030204" pitchFamily="49" charset="0"/>
              </a:rPr>
              <a:t>  </a:t>
            </a:r>
            <a:r>
              <a:rPr lang="en-US" b="0" i="0" dirty="0">
                <a:solidFill>
                  <a:srgbClr val="FF0000"/>
                </a:solidFill>
                <a:effectLst/>
                <a:latin typeface="Consolas" panose="020B0609020204030204" pitchFamily="49" charset="0"/>
              </a:rPr>
              <a:t>vertical-align</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bottom</a:t>
            </a:r>
            <a:r>
              <a:rPr lang="en-US" b="0" i="0" dirty="0">
                <a:solidFill>
                  <a:srgbClr val="000000"/>
                </a:solidFill>
                <a:effectLst/>
                <a:latin typeface="Consolas" panose="020B0609020204030204" pitchFamily="49" charset="0"/>
              </a:rPr>
              <a:t>;</a:t>
            </a:r>
            <a:br>
              <a:rPr lang="en-US" dirty="0"/>
            </a:b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a:t>
            </a:r>
            <a:r>
              <a:rPr lang="en-US" b="0" i="0" dirty="0">
                <a:solidFill>
                  <a:srgbClr val="000000"/>
                </a:solidFill>
                <a:effectLst/>
                <a:latin typeface="Consolas" panose="020B0609020204030204" pitchFamily="49" charset="0"/>
              </a:rPr>
              <a:t>}</a:t>
            </a:r>
            <a:endParaRPr lang="en-US" dirty="0"/>
          </a:p>
        </p:txBody>
      </p:sp>
      <p:cxnSp>
        <p:nvCxnSpPr>
          <p:cNvPr id="4" name="Straight Connector 3">
            <a:extLst>
              <a:ext uri="{FF2B5EF4-FFF2-40B4-BE49-F238E27FC236}">
                <a16:creationId xmlns:a16="http://schemas.microsoft.com/office/drawing/2014/main" id="{D2621D48-986A-462E-9A8D-DCBF3FB5EF29}"/>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5" name="Slide Number Placeholder 4">
            <a:extLst>
              <a:ext uri="{FF2B5EF4-FFF2-40B4-BE49-F238E27FC236}">
                <a16:creationId xmlns:a16="http://schemas.microsoft.com/office/drawing/2014/main" id="{B7A4E91B-5BDD-6787-076B-D3C4E28A1E15}"/>
              </a:ext>
            </a:extLst>
          </p:cNvPr>
          <p:cNvSpPr>
            <a:spLocks noGrp="1"/>
          </p:cNvSpPr>
          <p:nvPr>
            <p:ph type="sldNum" sz="quarter" idx="12"/>
          </p:nvPr>
        </p:nvSpPr>
        <p:spPr/>
        <p:txBody>
          <a:bodyPr/>
          <a:lstStyle/>
          <a:p>
            <a:fld id="{C12FDFCB-08DC-4BFC-932D-D8A3ABE37605}" type="slidenum">
              <a:rPr lang="en-US" smtClean="0"/>
              <a:t>44</a:t>
            </a:fld>
            <a:endParaRPr lang="en-US"/>
          </a:p>
        </p:txBody>
      </p:sp>
    </p:spTree>
    <p:extLst>
      <p:ext uri="{BB962C8B-B14F-4D97-AF65-F5344CB8AC3E}">
        <p14:creationId xmlns:p14="http://schemas.microsoft.com/office/powerpoint/2010/main" val="11599249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19799-8F09-44E1-9489-F25A35116585}"/>
              </a:ext>
            </a:extLst>
          </p:cNvPr>
          <p:cNvSpPr>
            <a:spLocks noGrp="1"/>
          </p:cNvSpPr>
          <p:nvPr>
            <p:ph type="title"/>
          </p:nvPr>
        </p:nvSpPr>
        <p:spPr/>
        <p:txBody>
          <a:bodyPr/>
          <a:lstStyle/>
          <a:p>
            <a:r>
              <a:rPr lang="en-US" dirty="0"/>
              <a:t>CSS: Creating Navigation Bars</a:t>
            </a:r>
            <a:br>
              <a:rPr lang="en-US" dirty="0"/>
            </a:br>
            <a:endParaRPr lang="en-US" dirty="0"/>
          </a:p>
        </p:txBody>
      </p:sp>
      <p:sp>
        <p:nvSpPr>
          <p:cNvPr id="3" name="Content Placeholder 2">
            <a:extLst>
              <a:ext uri="{FF2B5EF4-FFF2-40B4-BE49-F238E27FC236}">
                <a16:creationId xmlns:a16="http://schemas.microsoft.com/office/drawing/2014/main" id="{3640092D-784C-44AC-8593-6D72F1813898}"/>
              </a:ext>
            </a:extLst>
          </p:cNvPr>
          <p:cNvSpPr>
            <a:spLocks noGrp="1"/>
          </p:cNvSpPr>
          <p:nvPr>
            <p:ph idx="1"/>
          </p:nvPr>
        </p:nvSpPr>
        <p:spPr/>
        <p:txBody>
          <a:bodyPr/>
          <a:lstStyle/>
          <a:p>
            <a:pPr marL="0" indent="0">
              <a:buNone/>
            </a:pPr>
            <a:r>
              <a:rPr lang="it-IT" dirty="0">
                <a:solidFill>
                  <a:schemeClr val="accent1"/>
                </a:solidFill>
              </a:rPr>
              <a:t>&lt;ul id="navbar"&gt;</a:t>
            </a:r>
          </a:p>
          <a:p>
            <a:pPr marL="0" indent="0">
              <a:buNone/>
            </a:pPr>
            <a:r>
              <a:rPr lang="it-IT" dirty="0">
                <a:solidFill>
                  <a:schemeClr val="accent1"/>
                </a:solidFill>
              </a:rPr>
              <a:t>    &lt;li&gt;&lt;a href="/tests"&gt;Home&lt;/a&gt;&lt;/li&gt;</a:t>
            </a:r>
          </a:p>
          <a:p>
            <a:pPr marL="0" indent="0">
              <a:buNone/>
            </a:pPr>
            <a:r>
              <a:rPr lang="it-IT" dirty="0">
                <a:solidFill>
                  <a:schemeClr val="accent1"/>
                </a:solidFill>
              </a:rPr>
              <a:t>    &lt;li&gt;&lt;a href="/studyroom"&gt;About US&lt;/a&gt;&lt;/li&gt;</a:t>
            </a:r>
          </a:p>
          <a:p>
            <a:pPr marL="0" indent="0">
              <a:buNone/>
            </a:pPr>
            <a:r>
              <a:rPr lang="it-IT" dirty="0">
                <a:solidFill>
                  <a:schemeClr val="accent1"/>
                </a:solidFill>
              </a:rPr>
              <a:t>    &lt;li&gt;&lt;a href="/flashcards"&gt;contact US&lt;/a&gt;&lt;/li&gt;</a:t>
            </a:r>
          </a:p>
          <a:p>
            <a:pPr marL="0" indent="0">
              <a:buNone/>
            </a:pPr>
            <a:r>
              <a:rPr lang="it-IT" dirty="0">
                <a:solidFill>
                  <a:schemeClr val="accent1"/>
                </a:solidFill>
              </a:rPr>
              <a:t>    &lt;li&gt;&lt;a href="/library"&gt;help&lt;/a&gt;&lt;/li&gt;</a:t>
            </a:r>
          </a:p>
          <a:p>
            <a:pPr marL="0" indent="0">
              <a:buNone/>
            </a:pPr>
            <a:r>
              <a:rPr lang="it-IT" dirty="0">
                <a:solidFill>
                  <a:schemeClr val="accent1"/>
                </a:solidFill>
              </a:rPr>
              <a:t>    &lt;li&gt;&lt;a href="/testimonials"&gt;login&lt;/a&gt;&lt;/li&gt;</a:t>
            </a:r>
          </a:p>
          <a:p>
            <a:pPr marL="0" indent="0">
              <a:buNone/>
            </a:pPr>
            <a:r>
              <a:rPr lang="it-IT" dirty="0">
                <a:solidFill>
                  <a:schemeClr val="accent1"/>
                </a:solidFill>
              </a:rPr>
              <a:t>&lt;/ul&gt;</a:t>
            </a:r>
            <a:endParaRPr lang="en-US" dirty="0">
              <a:solidFill>
                <a:schemeClr val="accent1"/>
              </a:solidFill>
            </a:endParaRPr>
          </a:p>
        </p:txBody>
      </p:sp>
      <p:pic>
        <p:nvPicPr>
          <p:cNvPr id="5" name="Picture 4">
            <a:extLst>
              <a:ext uri="{FF2B5EF4-FFF2-40B4-BE49-F238E27FC236}">
                <a16:creationId xmlns:a16="http://schemas.microsoft.com/office/drawing/2014/main" id="{6E94A225-ACAA-49A1-8414-EA5ABA003C3B}"/>
              </a:ext>
            </a:extLst>
          </p:cNvPr>
          <p:cNvPicPr>
            <a:picLocks noChangeAspect="1"/>
          </p:cNvPicPr>
          <p:nvPr/>
        </p:nvPicPr>
        <p:blipFill>
          <a:blip r:embed="rId2"/>
          <a:stretch>
            <a:fillRect/>
          </a:stretch>
        </p:blipFill>
        <p:spPr>
          <a:xfrm>
            <a:off x="8767670" y="4413370"/>
            <a:ext cx="3192102" cy="2079503"/>
          </a:xfrm>
          <a:prstGeom prst="rect">
            <a:avLst/>
          </a:prstGeom>
        </p:spPr>
      </p:pic>
      <p:cxnSp>
        <p:nvCxnSpPr>
          <p:cNvPr id="6" name="Straight Connector 5">
            <a:extLst>
              <a:ext uri="{FF2B5EF4-FFF2-40B4-BE49-F238E27FC236}">
                <a16:creationId xmlns:a16="http://schemas.microsoft.com/office/drawing/2014/main" id="{DD454E3D-A8E6-4B5D-96CF-E6A14750CC49}"/>
              </a:ext>
            </a:extLst>
          </p:cNvPr>
          <p:cNvCxnSpPr>
            <a:cxnSpLocks/>
          </p:cNvCxnSpPr>
          <p:nvPr/>
        </p:nvCxnSpPr>
        <p:spPr>
          <a:xfrm>
            <a:off x="1407208" y="1267054"/>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34D91A5B-4C59-7C78-A7A1-98C83E914712}"/>
              </a:ext>
            </a:extLst>
          </p:cNvPr>
          <p:cNvSpPr>
            <a:spLocks noGrp="1"/>
          </p:cNvSpPr>
          <p:nvPr>
            <p:ph type="sldNum" sz="quarter" idx="12"/>
          </p:nvPr>
        </p:nvSpPr>
        <p:spPr/>
        <p:txBody>
          <a:bodyPr/>
          <a:lstStyle/>
          <a:p>
            <a:fld id="{C12FDFCB-08DC-4BFC-932D-D8A3ABE37605}" type="slidenum">
              <a:rPr lang="en-US" smtClean="0"/>
              <a:t>45</a:t>
            </a:fld>
            <a:endParaRPr lang="en-US"/>
          </a:p>
        </p:txBody>
      </p:sp>
    </p:spTree>
    <p:extLst>
      <p:ext uri="{BB962C8B-B14F-4D97-AF65-F5344CB8AC3E}">
        <p14:creationId xmlns:p14="http://schemas.microsoft.com/office/powerpoint/2010/main" val="2750709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B753B-1FD5-4D11-BD8D-7120DF8EFDE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2859EDC5-005C-401A-813D-68E4690F3DED}"/>
              </a:ext>
            </a:extLst>
          </p:cNvPr>
          <p:cNvSpPr>
            <a:spLocks noGrp="1"/>
          </p:cNvSpPr>
          <p:nvPr>
            <p:ph idx="1"/>
          </p:nvPr>
        </p:nvSpPr>
        <p:spPr/>
        <p:txBody>
          <a:bodyPr>
            <a:noAutofit/>
          </a:bodyPr>
          <a:lstStyle/>
          <a:p>
            <a:pPr marL="0" indent="0">
              <a:buNone/>
            </a:pPr>
            <a:r>
              <a:rPr lang="en-US" sz="3200" dirty="0"/>
              <a:t>#navbar {</a:t>
            </a:r>
          </a:p>
          <a:p>
            <a:pPr marL="0" indent="0">
              <a:buNone/>
            </a:pPr>
            <a:r>
              <a:rPr lang="en-US" sz="3200" dirty="0"/>
              <a:t>    list-style-type: none;</a:t>
            </a:r>
          </a:p>
          <a:p>
            <a:pPr marL="0" indent="0">
              <a:buNone/>
            </a:pPr>
            <a:r>
              <a:rPr lang="en-US" sz="3200" dirty="0"/>
              <a:t>    margin: 0;</a:t>
            </a:r>
          </a:p>
          <a:p>
            <a:pPr marL="0" indent="0">
              <a:buNone/>
            </a:pPr>
            <a:r>
              <a:rPr lang="en-US" sz="3200" dirty="0"/>
              <a:t>    padding: 0;</a:t>
            </a:r>
          </a:p>
          <a:p>
            <a:pPr marL="0" indent="0">
              <a:buNone/>
            </a:pPr>
            <a:r>
              <a:rPr lang="en-US" sz="3200" dirty="0"/>
              <a:t>    width: 200px;</a:t>
            </a:r>
          </a:p>
          <a:p>
            <a:pPr marL="0" indent="0">
              <a:buNone/>
            </a:pPr>
            <a:r>
              <a:rPr lang="en-US" sz="3200" dirty="0"/>
              <a:t>    background-color: #EEEEEE;</a:t>
            </a:r>
          </a:p>
          <a:p>
            <a:pPr marL="0" indent="0">
              <a:buNone/>
            </a:pPr>
            <a:r>
              <a:rPr lang="en-US" sz="3200" dirty="0"/>
              <a:t>}</a:t>
            </a:r>
          </a:p>
          <a:p>
            <a:pPr marL="0" indent="0">
              <a:buNone/>
            </a:pPr>
            <a:endParaRPr lang="en-US" sz="3200" dirty="0"/>
          </a:p>
        </p:txBody>
      </p:sp>
      <p:pic>
        <p:nvPicPr>
          <p:cNvPr id="5" name="Picture 4">
            <a:extLst>
              <a:ext uri="{FF2B5EF4-FFF2-40B4-BE49-F238E27FC236}">
                <a16:creationId xmlns:a16="http://schemas.microsoft.com/office/drawing/2014/main" id="{E5D90B3D-A9C8-46CA-80B2-F22B13597CA2}"/>
              </a:ext>
            </a:extLst>
          </p:cNvPr>
          <p:cNvPicPr>
            <a:picLocks noChangeAspect="1"/>
          </p:cNvPicPr>
          <p:nvPr/>
        </p:nvPicPr>
        <p:blipFill>
          <a:blip r:embed="rId2"/>
          <a:stretch>
            <a:fillRect/>
          </a:stretch>
        </p:blipFill>
        <p:spPr>
          <a:xfrm>
            <a:off x="7768611" y="2266787"/>
            <a:ext cx="3392737" cy="1724641"/>
          </a:xfrm>
          <a:prstGeom prst="rect">
            <a:avLst/>
          </a:prstGeom>
        </p:spPr>
      </p:pic>
      <p:cxnSp>
        <p:nvCxnSpPr>
          <p:cNvPr id="6" name="Straight Connector 5">
            <a:extLst>
              <a:ext uri="{FF2B5EF4-FFF2-40B4-BE49-F238E27FC236}">
                <a16:creationId xmlns:a16="http://schemas.microsoft.com/office/drawing/2014/main" id="{C6D40BF8-98D7-4E5A-A150-5CE95C1D0160}"/>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470CDB07-4DF5-D17F-E232-6BF1224E2E92}"/>
              </a:ext>
            </a:extLst>
          </p:cNvPr>
          <p:cNvSpPr>
            <a:spLocks noGrp="1"/>
          </p:cNvSpPr>
          <p:nvPr>
            <p:ph type="sldNum" sz="quarter" idx="12"/>
          </p:nvPr>
        </p:nvSpPr>
        <p:spPr/>
        <p:txBody>
          <a:bodyPr/>
          <a:lstStyle/>
          <a:p>
            <a:fld id="{C12FDFCB-08DC-4BFC-932D-D8A3ABE37605}" type="slidenum">
              <a:rPr lang="en-US" smtClean="0"/>
              <a:t>46</a:t>
            </a:fld>
            <a:endParaRPr lang="en-US"/>
          </a:p>
        </p:txBody>
      </p:sp>
    </p:spTree>
    <p:extLst>
      <p:ext uri="{BB962C8B-B14F-4D97-AF65-F5344CB8AC3E}">
        <p14:creationId xmlns:p14="http://schemas.microsoft.com/office/powerpoint/2010/main" val="3282427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862EC-48D6-469C-BBCF-3421A02E1E6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920AC29D-20DF-45FB-A7E3-15674A84C80A}"/>
              </a:ext>
            </a:extLst>
          </p:cNvPr>
          <p:cNvSpPr>
            <a:spLocks noGrp="1"/>
          </p:cNvSpPr>
          <p:nvPr>
            <p:ph idx="1"/>
          </p:nvPr>
        </p:nvSpPr>
        <p:spPr/>
        <p:txBody>
          <a:bodyPr>
            <a:normAutofit/>
          </a:bodyPr>
          <a:lstStyle/>
          <a:p>
            <a:pPr marL="0" indent="0">
              <a:buNone/>
            </a:pPr>
            <a:r>
              <a:rPr lang="en-US" sz="2800" dirty="0" err="1"/>
              <a:t>ul#navbar</a:t>
            </a:r>
            <a:r>
              <a:rPr lang="en-US" sz="2800" dirty="0"/>
              <a:t> li a {</a:t>
            </a:r>
          </a:p>
          <a:p>
            <a:pPr marL="0" indent="0">
              <a:buNone/>
            </a:pPr>
            <a:r>
              <a:rPr lang="en-US" sz="2800" dirty="0"/>
              <a:t>    display: block;</a:t>
            </a:r>
          </a:p>
          <a:p>
            <a:pPr marL="0" indent="0">
              <a:buNone/>
            </a:pPr>
            <a:r>
              <a:rPr lang="en-US" sz="2800" dirty="0"/>
              <a:t>    color: #000000;</a:t>
            </a:r>
          </a:p>
          <a:p>
            <a:pPr marL="0" indent="0">
              <a:buNone/>
            </a:pPr>
            <a:r>
              <a:rPr lang="en-US" sz="2800" dirty="0"/>
              <a:t>    </a:t>
            </a:r>
            <a:r>
              <a:rPr lang="en-US" sz="2800" dirty="0" err="1"/>
              <a:t>font-weight:bold</a:t>
            </a:r>
            <a:r>
              <a:rPr lang="en-US" sz="2800" dirty="0"/>
              <a:t>;</a:t>
            </a:r>
          </a:p>
          <a:p>
            <a:pPr marL="0" indent="0">
              <a:buNone/>
            </a:pPr>
            <a:r>
              <a:rPr lang="en-US" sz="2800" dirty="0"/>
              <a:t>    padding: 8px 16px;</a:t>
            </a:r>
          </a:p>
          <a:p>
            <a:pPr marL="0" indent="0">
              <a:buNone/>
            </a:pPr>
            <a:r>
              <a:rPr lang="en-US" sz="2800" dirty="0"/>
              <a:t>    text-decoration: none;</a:t>
            </a:r>
          </a:p>
          <a:p>
            <a:pPr marL="0" indent="0">
              <a:buNone/>
            </a:pPr>
            <a:r>
              <a:rPr lang="en-US" sz="2800" dirty="0"/>
              <a:t>}</a:t>
            </a:r>
          </a:p>
          <a:p>
            <a:pPr marL="0" indent="0">
              <a:buNone/>
            </a:pPr>
            <a:endParaRPr lang="en-US" sz="2800" dirty="0"/>
          </a:p>
          <a:p>
            <a:endParaRPr lang="en-US" dirty="0"/>
          </a:p>
        </p:txBody>
      </p:sp>
      <p:pic>
        <p:nvPicPr>
          <p:cNvPr id="5" name="Picture 4">
            <a:extLst>
              <a:ext uri="{FF2B5EF4-FFF2-40B4-BE49-F238E27FC236}">
                <a16:creationId xmlns:a16="http://schemas.microsoft.com/office/drawing/2014/main" id="{01CE2C7C-147B-4A2C-B5CA-2EF440CECDEE}"/>
              </a:ext>
            </a:extLst>
          </p:cNvPr>
          <p:cNvPicPr>
            <a:picLocks noChangeAspect="1"/>
          </p:cNvPicPr>
          <p:nvPr/>
        </p:nvPicPr>
        <p:blipFill>
          <a:blip r:embed="rId2"/>
          <a:stretch>
            <a:fillRect/>
          </a:stretch>
        </p:blipFill>
        <p:spPr>
          <a:xfrm>
            <a:off x="7830082" y="1825625"/>
            <a:ext cx="2105319" cy="1924319"/>
          </a:xfrm>
          <a:prstGeom prst="rect">
            <a:avLst/>
          </a:prstGeom>
        </p:spPr>
      </p:pic>
      <p:cxnSp>
        <p:nvCxnSpPr>
          <p:cNvPr id="6" name="Straight Connector 5">
            <a:extLst>
              <a:ext uri="{FF2B5EF4-FFF2-40B4-BE49-F238E27FC236}">
                <a16:creationId xmlns:a16="http://schemas.microsoft.com/office/drawing/2014/main" id="{883E6761-0C7B-4C4A-BE79-B4E025F868A4}"/>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BA31A751-B5CF-D76D-80C5-F18C8F25DB2B}"/>
              </a:ext>
            </a:extLst>
          </p:cNvPr>
          <p:cNvSpPr>
            <a:spLocks noGrp="1"/>
          </p:cNvSpPr>
          <p:nvPr>
            <p:ph type="sldNum" sz="quarter" idx="12"/>
          </p:nvPr>
        </p:nvSpPr>
        <p:spPr/>
        <p:txBody>
          <a:bodyPr/>
          <a:lstStyle/>
          <a:p>
            <a:fld id="{C12FDFCB-08DC-4BFC-932D-D8A3ABE37605}" type="slidenum">
              <a:rPr lang="en-US" smtClean="0"/>
              <a:t>47</a:t>
            </a:fld>
            <a:endParaRPr lang="en-US"/>
          </a:p>
        </p:txBody>
      </p:sp>
    </p:spTree>
    <p:extLst>
      <p:ext uri="{BB962C8B-B14F-4D97-AF65-F5344CB8AC3E}">
        <p14:creationId xmlns:p14="http://schemas.microsoft.com/office/powerpoint/2010/main" val="3684614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3148D-E5C1-410A-A913-67081CBE8420}"/>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ED39FADC-6281-46B8-A1CC-86675713F8A6}"/>
              </a:ext>
            </a:extLst>
          </p:cNvPr>
          <p:cNvSpPr>
            <a:spLocks noGrp="1"/>
          </p:cNvSpPr>
          <p:nvPr>
            <p:ph idx="1"/>
          </p:nvPr>
        </p:nvSpPr>
        <p:spPr/>
        <p:txBody>
          <a:bodyPr/>
          <a:lstStyle/>
          <a:p>
            <a:pPr marL="0" indent="0">
              <a:buNone/>
            </a:pPr>
            <a:r>
              <a:rPr lang="en-US" sz="2800" dirty="0" err="1"/>
              <a:t>ul#navbar</a:t>
            </a:r>
            <a:r>
              <a:rPr lang="en-US" sz="2800" dirty="0"/>
              <a:t> li a:hover {</a:t>
            </a:r>
          </a:p>
          <a:p>
            <a:pPr marL="0" indent="0">
              <a:buNone/>
            </a:pPr>
            <a:r>
              <a:rPr lang="en-US" sz="2800" dirty="0"/>
              <a:t>    background-color: orange;</a:t>
            </a:r>
          </a:p>
          <a:p>
            <a:pPr marL="0" indent="0">
              <a:buNone/>
            </a:pPr>
            <a:r>
              <a:rPr lang="en-US" sz="2800" dirty="0"/>
              <a:t>    color: white;</a:t>
            </a:r>
          </a:p>
          <a:p>
            <a:pPr marL="0" indent="0">
              <a:buNone/>
            </a:pPr>
            <a:r>
              <a:rPr lang="en-US" sz="2800" dirty="0"/>
              <a:t>}</a:t>
            </a:r>
          </a:p>
          <a:p>
            <a:endParaRPr lang="en-US" dirty="0"/>
          </a:p>
        </p:txBody>
      </p:sp>
      <p:pic>
        <p:nvPicPr>
          <p:cNvPr id="5" name="Picture 4">
            <a:extLst>
              <a:ext uri="{FF2B5EF4-FFF2-40B4-BE49-F238E27FC236}">
                <a16:creationId xmlns:a16="http://schemas.microsoft.com/office/drawing/2014/main" id="{836EF403-A141-45E3-B467-6DADB936949A}"/>
              </a:ext>
            </a:extLst>
          </p:cNvPr>
          <p:cNvPicPr>
            <a:picLocks noChangeAspect="1"/>
          </p:cNvPicPr>
          <p:nvPr/>
        </p:nvPicPr>
        <p:blipFill>
          <a:blip r:embed="rId2"/>
          <a:stretch>
            <a:fillRect/>
          </a:stretch>
        </p:blipFill>
        <p:spPr>
          <a:xfrm>
            <a:off x="8500663" y="1825625"/>
            <a:ext cx="2476846" cy="2219635"/>
          </a:xfrm>
          <a:prstGeom prst="rect">
            <a:avLst/>
          </a:prstGeom>
        </p:spPr>
      </p:pic>
      <p:cxnSp>
        <p:nvCxnSpPr>
          <p:cNvPr id="6" name="Straight Connector 5">
            <a:extLst>
              <a:ext uri="{FF2B5EF4-FFF2-40B4-BE49-F238E27FC236}">
                <a16:creationId xmlns:a16="http://schemas.microsoft.com/office/drawing/2014/main" id="{4E732E65-C9E8-41F1-8D1D-34AF30A5A2D1}"/>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E7B20F34-7900-4213-6DD7-A93CB4B3AC74}"/>
              </a:ext>
            </a:extLst>
          </p:cNvPr>
          <p:cNvSpPr>
            <a:spLocks noGrp="1"/>
          </p:cNvSpPr>
          <p:nvPr>
            <p:ph type="sldNum" sz="quarter" idx="12"/>
          </p:nvPr>
        </p:nvSpPr>
        <p:spPr/>
        <p:txBody>
          <a:bodyPr/>
          <a:lstStyle/>
          <a:p>
            <a:fld id="{C12FDFCB-08DC-4BFC-932D-D8A3ABE37605}" type="slidenum">
              <a:rPr lang="en-US" smtClean="0"/>
              <a:t>48</a:t>
            </a:fld>
            <a:endParaRPr lang="en-US"/>
          </a:p>
        </p:txBody>
      </p:sp>
    </p:spTree>
    <p:extLst>
      <p:ext uri="{BB962C8B-B14F-4D97-AF65-F5344CB8AC3E}">
        <p14:creationId xmlns:p14="http://schemas.microsoft.com/office/powerpoint/2010/main" val="30401208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3A47-855F-4FE5-BDF5-95AABBCA6AC4}"/>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4E942906-B4BB-4794-B21B-1470C5A58E19}"/>
              </a:ext>
            </a:extLst>
          </p:cNvPr>
          <p:cNvSpPr>
            <a:spLocks noGrp="1"/>
          </p:cNvSpPr>
          <p:nvPr>
            <p:ph idx="1"/>
          </p:nvPr>
        </p:nvSpPr>
        <p:spPr/>
        <p:txBody>
          <a:bodyPr/>
          <a:lstStyle/>
          <a:p>
            <a:pPr marL="0" indent="0">
              <a:buNone/>
            </a:pPr>
            <a:r>
              <a:rPr lang="en-US" dirty="0" err="1"/>
              <a:t>ul#navbar</a:t>
            </a:r>
            <a:r>
              <a:rPr lang="en-US" dirty="0"/>
              <a:t> li {</a:t>
            </a:r>
          </a:p>
          <a:p>
            <a:pPr marL="0" indent="0">
              <a:buNone/>
            </a:pPr>
            <a:r>
              <a:rPr lang="en-US" dirty="0"/>
              <a:t> 	display: </a:t>
            </a:r>
            <a:r>
              <a:rPr lang="en-US"/>
              <a:t>inline;}</a:t>
            </a:r>
            <a:endParaRPr lang="en-US" dirty="0"/>
          </a:p>
        </p:txBody>
      </p:sp>
      <p:pic>
        <p:nvPicPr>
          <p:cNvPr id="5" name="Picture 4">
            <a:extLst>
              <a:ext uri="{FF2B5EF4-FFF2-40B4-BE49-F238E27FC236}">
                <a16:creationId xmlns:a16="http://schemas.microsoft.com/office/drawing/2014/main" id="{EB485A97-D410-4286-92A1-633DF58DF21A}"/>
              </a:ext>
            </a:extLst>
          </p:cNvPr>
          <p:cNvPicPr>
            <a:picLocks noChangeAspect="1"/>
          </p:cNvPicPr>
          <p:nvPr/>
        </p:nvPicPr>
        <p:blipFill>
          <a:blip r:embed="rId2"/>
          <a:stretch>
            <a:fillRect/>
          </a:stretch>
        </p:blipFill>
        <p:spPr>
          <a:xfrm>
            <a:off x="5210629" y="2430211"/>
            <a:ext cx="5399314" cy="632304"/>
          </a:xfrm>
          <a:prstGeom prst="rect">
            <a:avLst/>
          </a:prstGeom>
        </p:spPr>
      </p:pic>
      <p:cxnSp>
        <p:nvCxnSpPr>
          <p:cNvPr id="6" name="Straight Connector 5">
            <a:extLst>
              <a:ext uri="{FF2B5EF4-FFF2-40B4-BE49-F238E27FC236}">
                <a16:creationId xmlns:a16="http://schemas.microsoft.com/office/drawing/2014/main" id="{6E4DF601-330D-4E86-9FA8-5EAC376503A2}"/>
              </a:ext>
            </a:extLst>
          </p:cNvPr>
          <p:cNvCxnSpPr>
            <a:cxnSpLocks/>
          </p:cNvCxnSpPr>
          <p:nvPr/>
        </p:nvCxnSpPr>
        <p:spPr>
          <a:xfrm>
            <a:off x="1407208" y="1267054"/>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29B7409E-A735-FC3C-0732-0887BD564483}"/>
              </a:ext>
            </a:extLst>
          </p:cNvPr>
          <p:cNvSpPr>
            <a:spLocks noGrp="1"/>
          </p:cNvSpPr>
          <p:nvPr>
            <p:ph type="sldNum" sz="quarter" idx="12"/>
          </p:nvPr>
        </p:nvSpPr>
        <p:spPr/>
        <p:txBody>
          <a:bodyPr/>
          <a:lstStyle/>
          <a:p>
            <a:fld id="{C12FDFCB-08DC-4BFC-932D-D8A3ABE37605}" type="slidenum">
              <a:rPr lang="en-US" smtClean="0"/>
              <a:t>49</a:t>
            </a:fld>
            <a:endParaRPr lang="en-US"/>
          </a:p>
        </p:txBody>
      </p:sp>
    </p:spTree>
    <p:extLst>
      <p:ext uri="{BB962C8B-B14F-4D97-AF65-F5344CB8AC3E}">
        <p14:creationId xmlns:p14="http://schemas.microsoft.com/office/powerpoint/2010/main" val="485487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992EC-24D3-4220-9497-43BD3C67B295}"/>
              </a:ext>
            </a:extLst>
          </p:cNvPr>
          <p:cNvSpPr>
            <a:spLocks noGrp="1"/>
          </p:cNvSpPr>
          <p:nvPr>
            <p:ph type="title"/>
          </p:nvPr>
        </p:nvSpPr>
        <p:spPr/>
        <p:txBody>
          <a:bodyPr/>
          <a:lstStyle/>
          <a:p>
            <a:r>
              <a:rPr lang="en-US" dirty="0">
                <a:solidFill>
                  <a:schemeClr val="accent1"/>
                </a:solidFill>
                <a:latin typeface="+mn-lt"/>
              </a:rPr>
              <a:t>CSS Measuring Units</a:t>
            </a:r>
          </a:p>
        </p:txBody>
      </p:sp>
      <p:sp>
        <p:nvSpPr>
          <p:cNvPr id="3" name="Content Placeholder 2">
            <a:extLst>
              <a:ext uri="{FF2B5EF4-FFF2-40B4-BE49-F238E27FC236}">
                <a16:creationId xmlns:a16="http://schemas.microsoft.com/office/drawing/2014/main" id="{DD2DD934-40BD-43AD-9D66-A8162621758E}"/>
              </a:ext>
            </a:extLst>
          </p:cNvPr>
          <p:cNvSpPr>
            <a:spLocks noGrp="1"/>
          </p:cNvSpPr>
          <p:nvPr>
            <p:ph sz="half" idx="1"/>
          </p:nvPr>
        </p:nvSpPr>
        <p:spPr/>
        <p:txBody>
          <a:bodyPr/>
          <a:lstStyle/>
          <a:p>
            <a:r>
              <a:rPr lang="en-US" dirty="0"/>
              <a:t>CSS Units</a:t>
            </a:r>
          </a:p>
          <a:p>
            <a:r>
              <a:rPr lang="en-US" dirty="0"/>
              <a:t>CSS has several different units for expressing a length.</a:t>
            </a:r>
          </a:p>
          <a:p>
            <a:endParaRPr lang="en-US" dirty="0"/>
          </a:p>
          <a:p>
            <a:r>
              <a:rPr lang="en-US" dirty="0"/>
              <a:t>Many CSS properties take "length" values, such as width, margin, padding, font-size, etc.</a:t>
            </a:r>
          </a:p>
        </p:txBody>
      </p:sp>
      <p:pic>
        <p:nvPicPr>
          <p:cNvPr id="5" name="Picture 4">
            <a:extLst>
              <a:ext uri="{FF2B5EF4-FFF2-40B4-BE49-F238E27FC236}">
                <a16:creationId xmlns:a16="http://schemas.microsoft.com/office/drawing/2014/main" id="{51AB71F0-0978-468C-8178-98D7CB19B31F}"/>
              </a:ext>
            </a:extLst>
          </p:cNvPr>
          <p:cNvPicPr>
            <a:picLocks noChangeAspect="1"/>
          </p:cNvPicPr>
          <p:nvPr/>
        </p:nvPicPr>
        <p:blipFill>
          <a:blip r:embed="rId2"/>
          <a:stretch>
            <a:fillRect/>
          </a:stretch>
        </p:blipFill>
        <p:spPr>
          <a:xfrm>
            <a:off x="6448359" y="1833340"/>
            <a:ext cx="4201111" cy="3191320"/>
          </a:xfrm>
          <a:prstGeom prst="rect">
            <a:avLst/>
          </a:prstGeom>
        </p:spPr>
      </p:pic>
      <p:cxnSp>
        <p:nvCxnSpPr>
          <p:cNvPr id="7" name="Straight Connector 6">
            <a:extLst>
              <a:ext uri="{FF2B5EF4-FFF2-40B4-BE49-F238E27FC236}">
                <a16:creationId xmlns:a16="http://schemas.microsoft.com/office/drawing/2014/main" id="{A40CD13A-657C-417E-9DDE-54AFD3BD3557}"/>
              </a:ext>
            </a:extLst>
          </p:cNvPr>
          <p:cNvCxnSpPr>
            <a:cxnSpLocks/>
          </p:cNvCxnSpPr>
          <p:nvPr/>
        </p:nvCxnSpPr>
        <p:spPr>
          <a:xfrm>
            <a:off x="1407208" y="1252540"/>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
        <p:nvSpPr>
          <p:cNvPr id="4" name="Slide Number Placeholder 3">
            <a:extLst>
              <a:ext uri="{FF2B5EF4-FFF2-40B4-BE49-F238E27FC236}">
                <a16:creationId xmlns:a16="http://schemas.microsoft.com/office/drawing/2014/main" id="{5F36C453-419A-B05A-9A3A-D82F7562DB8A}"/>
              </a:ext>
            </a:extLst>
          </p:cNvPr>
          <p:cNvSpPr>
            <a:spLocks noGrp="1"/>
          </p:cNvSpPr>
          <p:nvPr>
            <p:ph type="sldNum" sz="quarter" idx="12"/>
          </p:nvPr>
        </p:nvSpPr>
        <p:spPr/>
        <p:txBody>
          <a:bodyPr/>
          <a:lstStyle/>
          <a:p>
            <a:fld id="{C12FDFCB-08DC-4BFC-932D-D8A3ABE37605}" type="slidenum">
              <a:rPr lang="en-US" smtClean="0"/>
              <a:t>50</a:t>
            </a:fld>
            <a:endParaRPr lang="en-US"/>
          </a:p>
        </p:txBody>
      </p:sp>
    </p:spTree>
    <p:extLst>
      <p:ext uri="{BB962C8B-B14F-4D97-AF65-F5344CB8AC3E}">
        <p14:creationId xmlns:p14="http://schemas.microsoft.com/office/powerpoint/2010/main" val="3292005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07A87DC5-758B-4B46-A32A-348831638F77}"/>
              </a:ext>
            </a:extLst>
          </p:cNvPr>
          <p:cNvSpPr>
            <a:spLocks noGrp="1" noChangeArrowheads="1"/>
          </p:cNvSpPr>
          <p:nvPr>
            <p:ph type="title"/>
          </p:nvPr>
        </p:nvSpPr>
        <p:spPr/>
        <p:txBody>
          <a:bodyPr/>
          <a:lstStyle/>
          <a:p>
            <a:r>
              <a:rPr lang="en-US" altLang="en-US" dirty="0">
                <a:solidFill>
                  <a:schemeClr val="accent1"/>
                </a:solidFill>
                <a:latin typeface="+mn-lt"/>
              </a:rPr>
              <a:t>Benefits of using CSS</a:t>
            </a:r>
            <a:endParaRPr lang="bg-BG" altLang="en-US" dirty="0">
              <a:solidFill>
                <a:schemeClr val="accent1"/>
              </a:solidFill>
              <a:latin typeface="+mn-lt"/>
            </a:endParaRPr>
          </a:p>
        </p:txBody>
      </p:sp>
      <p:sp>
        <p:nvSpPr>
          <p:cNvPr id="200707" name="Rectangle 3">
            <a:extLst>
              <a:ext uri="{FF2B5EF4-FFF2-40B4-BE49-F238E27FC236}">
                <a16:creationId xmlns:a16="http://schemas.microsoft.com/office/drawing/2014/main" id="{AD116924-152E-48CF-A2E4-7341EA23F814}"/>
              </a:ext>
            </a:extLst>
          </p:cNvPr>
          <p:cNvSpPr>
            <a:spLocks noGrp="1" noChangeArrowheads="1"/>
          </p:cNvSpPr>
          <p:nvPr>
            <p:ph idx="1"/>
          </p:nvPr>
        </p:nvSpPr>
        <p:spPr>
          <a:xfrm>
            <a:off x="838200" y="1524000"/>
            <a:ext cx="10346635" cy="5011739"/>
          </a:xfrm>
        </p:spPr>
        <p:txBody>
          <a:bodyPr/>
          <a:lstStyle/>
          <a:p>
            <a:pPr>
              <a:lnSpc>
                <a:spcPct val="100000"/>
              </a:lnSpc>
            </a:pPr>
            <a:r>
              <a:rPr lang="en-US" altLang="en-US" dirty="0"/>
              <a:t>More powerful formatting than using presentation tags</a:t>
            </a:r>
          </a:p>
          <a:p>
            <a:pPr>
              <a:lnSpc>
                <a:spcPct val="100000"/>
              </a:lnSpc>
            </a:pPr>
            <a:r>
              <a:rPr lang="en-US" altLang="en-US" dirty="0"/>
              <a:t>Your pages load faster, because browsers cache the </a:t>
            </a:r>
            <a:r>
              <a:rPr lang="en-US" altLang="en-US" dirty="0">
                <a:latin typeface="Consolas" panose="020B0609020204030204" pitchFamily="49" charset="0"/>
                <a:cs typeface="Courier New" panose="02070309020205020404" pitchFamily="49" charset="0"/>
              </a:rPr>
              <a:t>.</a:t>
            </a:r>
            <a:r>
              <a:rPr lang="en-US" altLang="en-US" noProof="1">
                <a:latin typeface="Consolas" panose="020B0609020204030204" pitchFamily="49" charset="0"/>
                <a:cs typeface="Courier New" panose="02070309020205020404" pitchFamily="49" charset="0"/>
              </a:rPr>
              <a:t>css</a:t>
            </a:r>
            <a:r>
              <a:rPr lang="en-US" altLang="en-US" dirty="0"/>
              <a:t> files</a:t>
            </a:r>
          </a:p>
          <a:p>
            <a:pPr>
              <a:lnSpc>
                <a:spcPct val="100000"/>
              </a:lnSpc>
            </a:pPr>
            <a:r>
              <a:rPr lang="en-US" altLang="en-US" dirty="0"/>
              <a:t>Increased accessibility, because rules can be defined according given media</a:t>
            </a:r>
          </a:p>
          <a:p>
            <a:pPr>
              <a:lnSpc>
                <a:spcPct val="100000"/>
              </a:lnSpc>
            </a:pPr>
            <a:r>
              <a:rPr lang="en-US" altLang="en-US" dirty="0"/>
              <a:t>Pages are easier to maintain and update</a:t>
            </a:r>
          </a:p>
        </p:txBody>
      </p:sp>
      <p:sp>
        <p:nvSpPr>
          <p:cNvPr id="4" name="Slide Number Placeholder 3">
            <a:extLst>
              <a:ext uri="{FF2B5EF4-FFF2-40B4-BE49-F238E27FC236}">
                <a16:creationId xmlns:a16="http://schemas.microsoft.com/office/drawing/2014/main" id="{C4608C63-D142-4BEF-B1A2-1451A1F9CF9A}"/>
              </a:ext>
            </a:extLst>
          </p:cNvPr>
          <p:cNvSpPr>
            <a:spLocks noGrp="1"/>
          </p:cNvSpPr>
          <p:nvPr>
            <p:ph type="sldNum" sz="quarter" idx="12"/>
          </p:nvPr>
        </p:nvSpPr>
        <p:spPr/>
        <p:txBody>
          <a:bodyPr/>
          <a:lstStyle/>
          <a:p>
            <a:pPr>
              <a:defRPr/>
            </a:pPr>
            <a:fld id="{F8DE0597-EA7B-466E-8DF1-15887B36D5D1}" type="slidenum">
              <a:rPr lang="en-US" smtClean="0"/>
              <a:pPr>
                <a:defRPr/>
              </a:pPr>
              <a:t>51</a:t>
            </a:fld>
            <a:endParaRPr lang="en-US" dirty="0"/>
          </a:p>
        </p:txBody>
      </p:sp>
      <p:cxnSp>
        <p:nvCxnSpPr>
          <p:cNvPr id="5" name="Straight Connector 4">
            <a:extLst>
              <a:ext uri="{FF2B5EF4-FFF2-40B4-BE49-F238E27FC236}">
                <a16:creationId xmlns:a16="http://schemas.microsoft.com/office/drawing/2014/main" id="{EE26E87D-159C-4681-A1D3-12AF57E422F5}"/>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209386539"/>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07A87DC5-758B-4B46-A32A-348831638F77}"/>
              </a:ext>
            </a:extLst>
          </p:cNvPr>
          <p:cNvSpPr>
            <a:spLocks noGrp="1" noChangeArrowheads="1"/>
          </p:cNvSpPr>
          <p:nvPr>
            <p:ph type="title"/>
          </p:nvPr>
        </p:nvSpPr>
        <p:spPr/>
        <p:txBody>
          <a:bodyPr/>
          <a:lstStyle/>
          <a:p>
            <a:r>
              <a:rPr lang="en-US" altLang="en-US" dirty="0">
                <a:solidFill>
                  <a:schemeClr val="accent1"/>
                </a:solidFill>
                <a:latin typeface="+mn-lt"/>
              </a:rPr>
              <a:t>Reading Assignment</a:t>
            </a:r>
            <a:endParaRPr lang="bg-BG" altLang="en-US" dirty="0">
              <a:solidFill>
                <a:schemeClr val="accent1"/>
              </a:solidFill>
              <a:latin typeface="+mn-lt"/>
            </a:endParaRPr>
          </a:p>
        </p:txBody>
      </p:sp>
      <p:sp>
        <p:nvSpPr>
          <p:cNvPr id="200707" name="Rectangle 3">
            <a:extLst>
              <a:ext uri="{FF2B5EF4-FFF2-40B4-BE49-F238E27FC236}">
                <a16:creationId xmlns:a16="http://schemas.microsoft.com/office/drawing/2014/main" id="{AD116924-152E-48CF-A2E4-7341EA23F814}"/>
              </a:ext>
            </a:extLst>
          </p:cNvPr>
          <p:cNvSpPr>
            <a:spLocks noGrp="1" noChangeArrowheads="1"/>
          </p:cNvSpPr>
          <p:nvPr>
            <p:ph idx="1"/>
          </p:nvPr>
        </p:nvSpPr>
        <p:spPr>
          <a:xfrm>
            <a:off x="838200" y="1524001"/>
            <a:ext cx="10346635" cy="4717774"/>
          </a:xfrm>
        </p:spPr>
        <p:txBody>
          <a:bodyPr/>
          <a:lstStyle/>
          <a:p>
            <a:pPr algn="l"/>
            <a:r>
              <a:rPr lang="en-US" b="0" i="0" dirty="0">
                <a:solidFill>
                  <a:srgbClr val="000000"/>
                </a:solidFill>
                <a:effectLst/>
                <a:latin typeface="Segoe UI" panose="020B0502040204020203" pitchFamily="34" charset="0"/>
              </a:rPr>
              <a:t>How to use Font Awesome Icons?</a:t>
            </a:r>
          </a:p>
          <a:p>
            <a:pPr algn="l"/>
            <a:r>
              <a:rPr lang="en-US" b="0" i="0" dirty="0">
                <a:solidFill>
                  <a:srgbClr val="000000"/>
                </a:solidFill>
                <a:effectLst/>
                <a:latin typeface="Segoe UI" panose="020B0502040204020203" pitchFamily="34" charset="0"/>
              </a:rPr>
              <a:t>CSS Box model?</a:t>
            </a:r>
          </a:p>
        </p:txBody>
      </p:sp>
      <p:sp>
        <p:nvSpPr>
          <p:cNvPr id="4" name="Slide Number Placeholder 3">
            <a:extLst>
              <a:ext uri="{FF2B5EF4-FFF2-40B4-BE49-F238E27FC236}">
                <a16:creationId xmlns:a16="http://schemas.microsoft.com/office/drawing/2014/main" id="{C4608C63-D142-4BEF-B1A2-1451A1F9CF9A}"/>
              </a:ext>
            </a:extLst>
          </p:cNvPr>
          <p:cNvSpPr>
            <a:spLocks noGrp="1"/>
          </p:cNvSpPr>
          <p:nvPr>
            <p:ph type="sldNum" sz="quarter" idx="12"/>
          </p:nvPr>
        </p:nvSpPr>
        <p:spPr/>
        <p:txBody>
          <a:bodyPr/>
          <a:lstStyle/>
          <a:p>
            <a:pPr>
              <a:defRPr/>
            </a:pPr>
            <a:fld id="{F8DE0597-EA7B-466E-8DF1-15887B36D5D1}" type="slidenum">
              <a:rPr lang="en-US" smtClean="0"/>
              <a:pPr>
                <a:defRPr/>
              </a:pPr>
              <a:t>52</a:t>
            </a:fld>
            <a:endParaRPr lang="en-US" dirty="0"/>
          </a:p>
        </p:txBody>
      </p:sp>
      <p:cxnSp>
        <p:nvCxnSpPr>
          <p:cNvPr id="5" name="Straight Connector 4">
            <a:extLst>
              <a:ext uri="{FF2B5EF4-FFF2-40B4-BE49-F238E27FC236}">
                <a16:creationId xmlns:a16="http://schemas.microsoft.com/office/drawing/2014/main" id="{EE26E87D-159C-4681-A1D3-12AF57E422F5}"/>
              </a:ext>
            </a:extLst>
          </p:cNvPr>
          <p:cNvCxnSpPr>
            <a:cxnSpLocks/>
          </p:cNvCxnSpPr>
          <p:nvPr/>
        </p:nvCxnSpPr>
        <p:spPr>
          <a:xfrm>
            <a:off x="1668465" y="1325563"/>
            <a:ext cx="8855075" cy="0"/>
          </a:xfrm>
          <a:prstGeom prst="line">
            <a:avLst/>
          </a:prstGeom>
          <a:ln w="76200">
            <a:solidFill>
              <a:srgbClr val="0C788E"/>
            </a:solidFill>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170683998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843EAC3-D8F0-495D-8FB9-20CFD0FB3305}"/>
                  </a:ext>
                </a:extLst>
              </p14:cNvPr>
              <p14:cNvContentPartPr/>
              <p14:nvPr/>
            </p14:nvContentPartPr>
            <p14:xfrm>
              <a:off x="5641321" y="2187101"/>
              <a:ext cx="383" cy="383"/>
            </p14:xfrm>
          </p:contentPart>
        </mc:Choice>
        <mc:Fallback xmlns="">
          <p:pic>
            <p:nvPicPr>
              <p:cNvPr id="7" name="Ink 6">
                <a:extLst>
                  <a:ext uri="{FF2B5EF4-FFF2-40B4-BE49-F238E27FC236}">
                    <a16:creationId xmlns:a16="http://schemas.microsoft.com/office/drawing/2014/main" id="{1843EAC3-D8F0-495D-8FB9-20CFD0FB3305}"/>
                  </a:ext>
                </a:extLst>
              </p:cNvPr>
              <p:cNvPicPr/>
              <p:nvPr/>
            </p:nvPicPr>
            <p:blipFill>
              <a:blip r:embed="rId3"/>
              <a:stretch>
                <a:fillRect/>
              </a:stretch>
            </p:blipFill>
            <p:spPr>
              <a:xfrm>
                <a:off x="5631746" y="2177526"/>
                <a:ext cx="19150" cy="19150"/>
              </a:xfrm>
              <a:prstGeom prst="rect">
                <a:avLst/>
              </a:prstGeom>
            </p:spPr>
          </p:pic>
        </mc:Fallback>
      </mc:AlternateContent>
      <p:sp>
        <p:nvSpPr>
          <p:cNvPr id="118787" name="Rectangle 3">
            <a:extLst>
              <a:ext uri="{FF2B5EF4-FFF2-40B4-BE49-F238E27FC236}">
                <a16:creationId xmlns:a16="http://schemas.microsoft.com/office/drawing/2014/main" id="{BD2B2A63-C31C-464F-83D1-1DAFCF78F0DB}"/>
              </a:ext>
            </a:extLst>
          </p:cNvPr>
          <p:cNvSpPr txBox="1">
            <a:spLocks noChangeArrowheads="1"/>
          </p:cNvSpPr>
          <p:nvPr/>
        </p:nvSpPr>
        <p:spPr bwMode="auto">
          <a:xfrm>
            <a:off x="927239" y="956606"/>
            <a:ext cx="10298779" cy="5383975"/>
          </a:xfrm>
          <a:prstGeom prst="rect">
            <a:avLst/>
          </a:prstGeom>
          <a:noFill/>
          <a:ln>
            <a:noFill/>
          </a:ln>
          <a:effec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a:lnSpc>
                <a:spcPct val="150000"/>
              </a:lnSpc>
              <a:buNone/>
              <a:defRPr/>
            </a:pPr>
            <a:r>
              <a:rPr lang="en-US" altLang="en-US" sz="5088" b="1" dirty="0">
                <a:latin typeface="French Script MT" panose="03020402040607040605" pitchFamily="66" charset="0"/>
              </a:rPr>
              <a:t> </a:t>
            </a:r>
            <a:r>
              <a:rPr lang="en-US" altLang="en-US" sz="10177" b="1" dirty="0">
                <a:solidFill>
                  <a:srgbClr val="00B0F0"/>
                </a:solidFill>
                <a:latin typeface="French Script MT" panose="03020402040607040605" pitchFamily="66" charset="0"/>
              </a:rPr>
              <a:t>Thanks</a:t>
            </a:r>
            <a:r>
              <a:rPr lang="en-US" altLang="en-US" sz="10177" b="1" dirty="0">
                <a:latin typeface="French Script MT" panose="03020402040607040605" pitchFamily="66" charset="0"/>
              </a:rPr>
              <a:t> </a:t>
            </a:r>
          </a:p>
          <a:p>
            <a:pPr algn="ctr">
              <a:lnSpc>
                <a:spcPct val="150000"/>
              </a:lnSpc>
              <a:buNone/>
              <a:defRPr/>
            </a:pPr>
            <a:r>
              <a:rPr lang="en-US" altLang="en-US" sz="6997" dirty="0">
                <a:latin typeface="Georgia" panose="02040502050405020303" pitchFamily="18" charset="0"/>
              </a:rPr>
              <a:t>?</a:t>
            </a:r>
          </a:p>
        </p:txBody>
      </p:sp>
      <p:pic>
        <p:nvPicPr>
          <p:cNvPr id="9" name="Picture 7" descr="Question Mark Head Vector Images (over 4,000)">
            <a:extLst>
              <a:ext uri="{FF2B5EF4-FFF2-40B4-BE49-F238E27FC236}">
                <a16:creationId xmlns:a16="http://schemas.microsoft.com/office/drawing/2014/main" id="{A454EA06-1921-4C03-A690-7CA0762CBE28}"/>
              </a:ext>
            </a:extLst>
          </p:cNvPr>
          <p:cNvPicPr>
            <a:picLocks noChangeAspect="1" noChangeArrowheads="1"/>
          </p:cNvPicPr>
          <p:nvPr/>
        </p:nvPicPr>
        <p:blipFill>
          <a:blip r:embed="rId4"/>
          <a:srcRect/>
          <a:stretch>
            <a:fillRect/>
          </a:stretch>
        </p:blipFill>
        <p:spPr bwMode="auto">
          <a:xfrm>
            <a:off x="4416664" y="3197086"/>
            <a:ext cx="3282341" cy="3447207"/>
          </a:xfrm>
          <a:prstGeom prst="ellipse">
            <a:avLst/>
          </a:prstGeom>
          <a:ln>
            <a:noFill/>
          </a:ln>
          <a:effectLst>
            <a:softEdge rad="112500"/>
          </a:effectLst>
        </p:spPr>
      </p:pic>
      <p:sp>
        <p:nvSpPr>
          <p:cNvPr id="2" name="Slide Number Placeholder 1">
            <a:extLst>
              <a:ext uri="{FF2B5EF4-FFF2-40B4-BE49-F238E27FC236}">
                <a16:creationId xmlns:a16="http://schemas.microsoft.com/office/drawing/2014/main" id="{58D65C5E-CB81-C0BE-C6DB-FA6DB15CF4F8}"/>
              </a:ext>
            </a:extLst>
          </p:cNvPr>
          <p:cNvSpPr>
            <a:spLocks noGrp="1"/>
          </p:cNvSpPr>
          <p:nvPr>
            <p:ph type="sldNum" sz="quarter" idx="12"/>
          </p:nvPr>
        </p:nvSpPr>
        <p:spPr/>
        <p:txBody>
          <a:bodyPr/>
          <a:lstStyle/>
          <a:p>
            <a:fld id="{C12FDFCB-08DC-4BFC-932D-D8A3ABE37605}" type="slidenum">
              <a:rPr lang="en-US" smtClean="0"/>
              <a:t>53</a:t>
            </a:fld>
            <a:endParaRPr lang="en-US"/>
          </a:p>
        </p:txBody>
      </p:sp>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Calibri Light"/>
        <a:ea typeface=""/>
        <a:cs typeface=""/>
      </a:majorFont>
      <a:minorFont>
        <a:latin typeface="Comic Sans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3602</TotalTime>
  <Words>4482</Words>
  <Application>Microsoft Office PowerPoint</Application>
  <PresentationFormat>Widescreen</PresentationFormat>
  <Paragraphs>553</Paragraphs>
  <Slides>53</Slides>
  <Notes>38</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53</vt:i4>
      </vt:variant>
    </vt:vector>
  </HeadingPairs>
  <TitlesOfParts>
    <vt:vector size="72" baseType="lpstr">
      <vt:lpstr>Arial</vt:lpstr>
      <vt:lpstr>Calibri</vt:lpstr>
      <vt:lpstr>Calibri Light</vt:lpstr>
      <vt:lpstr>Comic Sans MS</vt:lpstr>
      <vt:lpstr>Consolas</vt:lpstr>
      <vt:lpstr>Corbel</vt:lpstr>
      <vt:lpstr>Courier New</vt:lpstr>
      <vt:lpstr>French Script MT</vt:lpstr>
      <vt:lpstr>Georgia</vt:lpstr>
      <vt:lpstr>Inter</vt:lpstr>
      <vt:lpstr>Nunito Sans</vt:lpstr>
      <vt:lpstr>Segoe UI</vt:lpstr>
      <vt:lpstr>Söhne</vt:lpstr>
      <vt:lpstr>Times New Roman</vt:lpstr>
      <vt:lpstr>Verdana</vt:lpstr>
      <vt:lpstr>WhitneyHTF-Medium</vt:lpstr>
      <vt:lpstr>Wingdings</vt:lpstr>
      <vt:lpstr>Yetenbi</vt:lpstr>
      <vt:lpstr>Office Theme</vt:lpstr>
      <vt:lpstr>CHAPTER THREE  Cascading Style Sheets (CSS)</vt:lpstr>
      <vt:lpstr>Outline </vt:lpstr>
      <vt:lpstr>What is CSS?  </vt:lpstr>
      <vt:lpstr>What is CSS?</vt:lpstr>
      <vt:lpstr>CSS Syntax</vt:lpstr>
      <vt:lpstr> Style Sheets Syntax</vt:lpstr>
      <vt:lpstr>Selectors</vt:lpstr>
      <vt:lpstr> Selectors (2)</vt:lpstr>
      <vt:lpstr>Values in the CSS Rules</vt:lpstr>
      <vt:lpstr>Linking HTML and CSS</vt:lpstr>
      <vt:lpstr>Inline Styles: Example</vt:lpstr>
      <vt:lpstr>Embedded Styles</vt:lpstr>
      <vt:lpstr>Embedded Styles: Example </vt:lpstr>
      <vt:lpstr>External CSS Styles</vt:lpstr>
      <vt:lpstr>External Styles: Example (2)</vt:lpstr>
      <vt:lpstr>Introduction to CSS Inheritance </vt:lpstr>
      <vt:lpstr>Example:</vt:lpstr>
      <vt:lpstr>Style Rules Precedence</vt:lpstr>
      <vt:lpstr>How to Calculate Specificity? </vt:lpstr>
      <vt:lpstr>examples on how to calculate specificity values:  </vt:lpstr>
      <vt:lpstr>Cont..</vt:lpstr>
      <vt:lpstr>Cont..</vt:lpstr>
      <vt:lpstr>Cont..</vt:lpstr>
      <vt:lpstr>!important?</vt:lpstr>
      <vt:lpstr>Text-related CSS Properties</vt:lpstr>
      <vt:lpstr>CSS Rules for Fonts (2)</vt:lpstr>
      <vt:lpstr>Shorthand Font Property</vt:lpstr>
      <vt:lpstr>Backgrounds</vt:lpstr>
      <vt:lpstr>Backgrounds (2)</vt:lpstr>
      <vt:lpstr> Borders</vt:lpstr>
      <vt:lpstr> Borders</vt:lpstr>
      <vt:lpstr>Width and Height</vt:lpstr>
      <vt:lpstr>Margin and Padding</vt:lpstr>
      <vt:lpstr>Margin and Padding: Short Rules</vt:lpstr>
      <vt:lpstr>Positioning</vt:lpstr>
      <vt:lpstr>Float</vt:lpstr>
      <vt:lpstr>Clear</vt:lpstr>
      <vt:lpstr>Opacity</vt:lpstr>
      <vt:lpstr>Visibility</vt:lpstr>
      <vt:lpstr> Display</vt:lpstr>
      <vt:lpstr>Overflow</vt:lpstr>
      <vt:lpstr>Other CSS Properties</vt:lpstr>
      <vt:lpstr>Table Styling Properties </vt:lpstr>
      <vt:lpstr>Cont.</vt:lpstr>
      <vt:lpstr>CSS: Creating Navigation Bars </vt:lpstr>
      <vt:lpstr>Cont..</vt:lpstr>
      <vt:lpstr>Cont..</vt:lpstr>
      <vt:lpstr>Cont..</vt:lpstr>
      <vt:lpstr>Cont..</vt:lpstr>
      <vt:lpstr>CSS Measuring Units</vt:lpstr>
      <vt:lpstr>Benefits of using CSS</vt:lpstr>
      <vt:lpstr>Reading Assignment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Tesfahun Nurrie</dc:creator>
  <cp:lastModifiedBy>CSDA</cp:lastModifiedBy>
  <cp:revision>392</cp:revision>
  <dcterms:created xsi:type="dcterms:W3CDTF">2022-03-30T07:07:02Z</dcterms:created>
  <dcterms:modified xsi:type="dcterms:W3CDTF">2024-04-26T12:30:15Z</dcterms:modified>
</cp:coreProperties>
</file>