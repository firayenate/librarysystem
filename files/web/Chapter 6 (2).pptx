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Lst>
  <p:notesMasterIdLst>
    <p:notesMasterId r:id="rId25"/>
  </p:notesMasterIdLst>
  <p:sldIdLst>
    <p:sldId id="258" r:id="rId3"/>
    <p:sldId id="259" r:id="rId4"/>
    <p:sldId id="296" r:id="rId5"/>
    <p:sldId id="288" r:id="rId6"/>
    <p:sldId id="289" r:id="rId7"/>
    <p:sldId id="290" r:id="rId8"/>
    <p:sldId id="304" r:id="rId9"/>
    <p:sldId id="291" r:id="rId10"/>
    <p:sldId id="292" r:id="rId11"/>
    <p:sldId id="294" r:id="rId12"/>
    <p:sldId id="295" r:id="rId13"/>
    <p:sldId id="297" r:id="rId14"/>
    <p:sldId id="298" r:id="rId15"/>
    <p:sldId id="300" r:id="rId16"/>
    <p:sldId id="301" r:id="rId17"/>
    <p:sldId id="309" r:id="rId18"/>
    <p:sldId id="303" r:id="rId19"/>
    <p:sldId id="305" r:id="rId20"/>
    <p:sldId id="306" r:id="rId21"/>
    <p:sldId id="307" r:id="rId22"/>
    <p:sldId id="308" r:id="rId23"/>
    <p:sldId id="28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6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378" autoAdjust="0"/>
  </p:normalViewPr>
  <p:slideViewPr>
    <p:cSldViewPr>
      <p:cViewPr varScale="1">
        <p:scale>
          <a:sx n="47" d="100"/>
          <a:sy n="47" d="100"/>
        </p:scale>
        <p:origin x="2046"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83631B-4CA9-4D14-A5BA-A02749DFEE9C}" type="datetimeFigureOut">
              <a:rPr lang="en-US" smtClean="0"/>
              <a:t>6/5/2024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36F543-9680-4A2E-9D16-BDE8EA498D68}" type="slidenum">
              <a:rPr lang="en-US" smtClean="0"/>
              <a:t>‹#›</a:t>
            </a:fld>
            <a:endParaRPr lang="en-US"/>
          </a:p>
        </p:txBody>
      </p:sp>
    </p:spTree>
    <p:extLst>
      <p:ext uri="{BB962C8B-B14F-4D97-AF65-F5344CB8AC3E}">
        <p14:creationId xmlns:p14="http://schemas.microsoft.com/office/powerpoint/2010/main" val="190768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1215385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MinionPro-Regular"/>
              </a:rPr>
              <a:t>An excellent example of this technology is Google maps, in which new sections of a map are downloaded from the server when needed, without requiring a page refresh.</a:t>
            </a:r>
            <a:r>
              <a:rPr lang="en-US" sz="2800" dirty="0"/>
              <a:t> </a:t>
            </a:r>
            <a:br>
              <a:rPr lang="en-US" sz="2800" dirty="0"/>
            </a:br>
            <a:endParaRPr lang="en-US" dirty="0"/>
          </a:p>
        </p:txBody>
      </p:sp>
      <p:sp>
        <p:nvSpPr>
          <p:cNvPr id="4" name="Slide Number Placeholder 3"/>
          <p:cNvSpPr>
            <a:spLocks noGrp="1"/>
          </p:cNvSpPr>
          <p:nvPr>
            <p:ph type="sldNum" sz="quarter" idx="5"/>
          </p:nvPr>
        </p:nvSpPr>
        <p:spPr/>
        <p:txBody>
          <a:bodyPr/>
          <a:lstStyle/>
          <a:p>
            <a:fld id="{1D36F543-9680-4A2E-9D16-BDE8EA498D68}" type="slidenum">
              <a:rPr lang="en-US" smtClean="0"/>
              <a:t>3</a:t>
            </a:fld>
            <a:endParaRPr lang="en-US"/>
          </a:p>
        </p:txBody>
      </p:sp>
    </p:spTree>
    <p:extLst>
      <p:ext uri="{BB962C8B-B14F-4D97-AF65-F5344CB8AC3E}">
        <p14:creationId xmlns:p14="http://schemas.microsoft.com/office/powerpoint/2010/main" val="196421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synchronous request is made from the client to the server, the client's browser waits for the operation to complete before proceeding further. This can cause the browser to become unresponsive, as it waits for the server to respond. During this time, the JavaScript engine of the browser is indeed blocked, meaning that any other JavaScript code that should be executed in the browser will also be halted until the synchronous operation completes. This can lead to a poor user experience, especially in cases where the operation takes a significant amount of time to complete.</a:t>
            </a:r>
          </a:p>
        </p:txBody>
      </p:sp>
      <p:sp>
        <p:nvSpPr>
          <p:cNvPr id="4" name="Slide Number Placeholder 3"/>
          <p:cNvSpPr>
            <a:spLocks noGrp="1"/>
          </p:cNvSpPr>
          <p:nvPr>
            <p:ph type="sldNum" sz="quarter" idx="5"/>
          </p:nvPr>
        </p:nvSpPr>
        <p:spPr/>
        <p:txBody>
          <a:bodyPr/>
          <a:lstStyle/>
          <a:p>
            <a:fld id="{1D36F543-9680-4A2E-9D16-BDE8EA498D68}" type="slidenum">
              <a:rPr lang="en-US" smtClean="0"/>
              <a:t>4</a:t>
            </a:fld>
            <a:endParaRPr lang="en-US"/>
          </a:p>
        </p:txBody>
      </p:sp>
    </p:spTree>
    <p:extLst>
      <p:ext uri="{BB962C8B-B14F-4D97-AF65-F5344CB8AC3E}">
        <p14:creationId xmlns:p14="http://schemas.microsoft.com/office/powerpoint/2010/main" val="613991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asynchronous web application model, when a request is made from the client to the server, the browser does not wait for the operation to complete before moving on. Instead, it continues to execute other tasks, allowing the user to interact with the page without interruption. This means that the JavaScript engine of the browser is not blocked, and other operations can be performed simultaneously.</a:t>
            </a:r>
          </a:p>
          <a:p>
            <a:r>
              <a:rPr lang="en-US" dirty="0"/>
              <a:t>Asynchronous requests are typically handled using techniques such as AJAX (Asynchronous JavaScript and XML), where the browser can make requests to the server and receive responses dynamically without having to reload the entire page. This leads to a more responsive and interactive user experience, as only specific parts of the page are updated when needed, rather than refreshing the entire page.</a:t>
            </a:r>
          </a:p>
        </p:txBody>
      </p:sp>
      <p:sp>
        <p:nvSpPr>
          <p:cNvPr id="4" name="Slide Number Placeholder 3"/>
          <p:cNvSpPr>
            <a:spLocks noGrp="1"/>
          </p:cNvSpPr>
          <p:nvPr>
            <p:ph type="sldNum" sz="quarter" idx="5"/>
          </p:nvPr>
        </p:nvSpPr>
        <p:spPr/>
        <p:txBody>
          <a:bodyPr/>
          <a:lstStyle/>
          <a:p>
            <a:fld id="{1D36F543-9680-4A2E-9D16-BDE8EA498D68}" type="slidenum">
              <a:rPr lang="en-US" smtClean="0"/>
              <a:t>6</a:t>
            </a:fld>
            <a:endParaRPr lang="en-US"/>
          </a:p>
        </p:txBody>
      </p:sp>
    </p:spTree>
    <p:extLst>
      <p:ext uri="{BB962C8B-B14F-4D97-AF65-F5344CB8AC3E}">
        <p14:creationId xmlns:p14="http://schemas.microsoft.com/office/powerpoint/2010/main" val="2157266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MinionPro-Regular"/>
              </a:rPr>
              <a:t>When an Ajax call successfully completes, the object’s </a:t>
            </a:r>
            <a:r>
              <a:rPr lang="en-US" sz="1800" b="0" i="0" dirty="0">
                <a:solidFill>
                  <a:srgbClr val="000000"/>
                </a:solidFill>
                <a:effectLst/>
                <a:latin typeface="UbuntuMono-Regular"/>
              </a:rPr>
              <a:t>status </a:t>
            </a:r>
            <a:r>
              <a:rPr lang="en-US" sz="1800" b="0" i="0" dirty="0">
                <a:solidFill>
                  <a:srgbClr val="000000"/>
                </a:solidFill>
                <a:effectLst/>
                <a:latin typeface="MinionPro-Regular"/>
              </a:rPr>
              <a:t>will have a value of </a:t>
            </a:r>
            <a:r>
              <a:rPr lang="en-US" sz="1800" b="0" i="0" dirty="0">
                <a:solidFill>
                  <a:srgbClr val="000000"/>
                </a:solidFill>
                <a:effectLst/>
                <a:latin typeface="UbuntuMono-Regular"/>
              </a:rPr>
              <a:t>200</a:t>
            </a:r>
            <a:r>
              <a:rPr lang="en-US" dirty="0"/>
              <a:t> </a:t>
            </a:r>
            <a:br>
              <a:rPr lang="en-US" dirty="0"/>
            </a:br>
            <a:endParaRPr lang="en-US" dirty="0"/>
          </a:p>
          <a:p>
            <a:endParaRPr lang="en-US" dirty="0"/>
          </a:p>
          <a:p>
            <a:r>
              <a:rPr lang="en-US" b="1" dirty="0" err="1"/>
              <a:t>readyState</a:t>
            </a:r>
            <a:r>
              <a:rPr lang="en-US" dirty="0"/>
              <a:t> is a property that you check to see the current state of the </a:t>
            </a:r>
            <a:r>
              <a:rPr lang="en-US" dirty="0" err="1"/>
              <a:t>XMLHttpRequest</a:t>
            </a:r>
            <a:r>
              <a:rPr lang="en-US" dirty="0"/>
              <a:t>.</a:t>
            </a:r>
          </a:p>
          <a:p>
            <a:r>
              <a:rPr lang="en-US" b="1" dirty="0" err="1"/>
              <a:t>onreadystatechange</a:t>
            </a:r>
            <a:r>
              <a:rPr lang="en-US" dirty="0"/>
              <a:t> is an event handler that you define to execute code in response to changes in the </a:t>
            </a:r>
            <a:r>
              <a:rPr lang="en-US" dirty="0" err="1"/>
              <a:t>readyState</a:t>
            </a:r>
            <a:r>
              <a:rPr lang="en-US" dirty="0"/>
              <a:t>.</a:t>
            </a:r>
          </a:p>
        </p:txBody>
      </p:sp>
      <p:sp>
        <p:nvSpPr>
          <p:cNvPr id="4" name="Slide Number Placeholder 3"/>
          <p:cNvSpPr>
            <a:spLocks noGrp="1"/>
          </p:cNvSpPr>
          <p:nvPr>
            <p:ph type="sldNum" sz="quarter" idx="5"/>
          </p:nvPr>
        </p:nvSpPr>
        <p:spPr/>
        <p:txBody>
          <a:bodyPr/>
          <a:lstStyle/>
          <a:p>
            <a:fld id="{1D36F543-9680-4A2E-9D16-BDE8EA498D68}" type="slidenum">
              <a:rPr lang="en-US" smtClean="0"/>
              <a:t>11</a:t>
            </a:fld>
            <a:endParaRPr lang="en-US"/>
          </a:p>
        </p:txBody>
      </p:sp>
    </p:spTree>
    <p:extLst>
      <p:ext uri="{BB962C8B-B14F-4D97-AF65-F5344CB8AC3E}">
        <p14:creationId xmlns:p14="http://schemas.microsoft.com/office/powerpoint/2010/main" val="4184990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HTTP requests are sent using the </a:t>
            </a:r>
            <a:r>
              <a:rPr lang="en-US" b="1" dirty="0" err="1"/>
              <a:t>XMLHttpRequest</a:t>
            </a:r>
            <a:r>
              <a:rPr lang="en-US" b="1" dirty="0"/>
              <a:t> object</a:t>
            </a:r>
            <a:r>
              <a:rPr lang="en-US" dirty="0"/>
              <a:t>.</a:t>
            </a:r>
          </a:p>
          <a:p>
            <a:pPr lvl="0" algn="just">
              <a:lnSpc>
                <a:spcPct val="150000"/>
              </a:lnSpc>
              <a:buFont typeface="+mj-lt"/>
              <a:buAutoNum type="arabicPeriod"/>
            </a:pPr>
            <a:r>
              <a:rPr lang="en-US" b="0" i="0" dirty="0">
                <a:solidFill>
                  <a:srgbClr val="000000"/>
                </a:solidFill>
                <a:effectLst/>
                <a:latin typeface="Comic Sans MS" panose="030F0702030302020204" pitchFamily="66" charset="0"/>
              </a:rPr>
              <a:t>User sends a request from the UI and a JavaScript call goes to </a:t>
            </a:r>
            <a:r>
              <a:rPr lang="en-US" b="0" i="0" dirty="0" err="1">
                <a:solidFill>
                  <a:srgbClr val="000000"/>
                </a:solidFill>
                <a:effectLst/>
                <a:latin typeface="Comic Sans MS" panose="030F0702030302020204" pitchFamily="66" charset="0"/>
              </a:rPr>
              <a:t>XMLHttpRequest</a:t>
            </a:r>
            <a:r>
              <a:rPr lang="en-US" b="0" i="0" dirty="0">
                <a:solidFill>
                  <a:srgbClr val="000000"/>
                </a:solidFill>
                <a:effectLst/>
                <a:latin typeface="Comic Sans MS" panose="030F0702030302020204" pitchFamily="66" charset="0"/>
              </a:rPr>
              <a:t> object.</a:t>
            </a:r>
          </a:p>
          <a:p>
            <a:pPr lvl="0" algn="just">
              <a:lnSpc>
                <a:spcPct val="150000"/>
              </a:lnSpc>
              <a:buFont typeface="+mj-lt"/>
              <a:buAutoNum type="arabicPeriod"/>
            </a:pPr>
            <a:r>
              <a:rPr lang="en-US" b="0" i="0" dirty="0">
                <a:solidFill>
                  <a:srgbClr val="000000"/>
                </a:solidFill>
                <a:effectLst/>
                <a:latin typeface="Comic Sans MS" panose="030F0702030302020204" pitchFamily="66" charset="0"/>
              </a:rPr>
              <a:t>HTTP Request is sent to the server by </a:t>
            </a:r>
            <a:r>
              <a:rPr lang="en-US" b="0" i="0" dirty="0" err="1">
                <a:solidFill>
                  <a:srgbClr val="000000"/>
                </a:solidFill>
                <a:effectLst/>
                <a:latin typeface="Comic Sans MS" panose="030F0702030302020204" pitchFamily="66" charset="0"/>
              </a:rPr>
              <a:t>XMLHttpRequest</a:t>
            </a:r>
            <a:r>
              <a:rPr lang="en-US" b="0" i="0" dirty="0">
                <a:solidFill>
                  <a:srgbClr val="000000"/>
                </a:solidFill>
                <a:effectLst/>
                <a:latin typeface="Comic Sans MS" panose="030F0702030302020204" pitchFamily="66" charset="0"/>
              </a:rPr>
              <a:t> object.</a:t>
            </a:r>
          </a:p>
          <a:p>
            <a:pPr lvl="0" algn="just">
              <a:lnSpc>
                <a:spcPct val="150000"/>
              </a:lnSpc>
              <a:buFont typeface="+mj-lt"/>
              <a:buAutoNum type="arabicPeriod"/>
            </a:pPr>
            <a:r>
              <a:rPr lang="en-US" b="0" i="0" dirty="0">
                <a:solidFill>
                  <a:srgbClr val="000000"/>
                </a:solidFill>
                <a:effectLst/>
                <a:latin typeface="Comic Sans MS" panose="030F0702030302020204" pitchFamily="66" charset="0"/>
              </a:rPr>
              <a:t>Server interacts with the database using JSP, PHP, Servlet, ASP.net etc.</a:t>
            </a:r>
          </a:p>
          <a:p>
            <a:pPr lvl="0" algn="just">
              <a:lnSpc>
                <a:spcPct val="150000"/>
              </a:lnSpc>
              <a:buFont typeface="+mj-lt"/>
              <a:buAutoNum type="arabicPeriod"/>
            </a:pPr>
            <a:r>
              <a:rPr lang="en-US" b="0" i="0" dirty="0">
                <a:solidFill>
                  <a:srgbClr val="000000"/>
                </a:solidFill>
                <a:effectLst/>
                <a:latin typeface="Comic Sans MS" panose="030F0702030302020204" pitchFamily="66" charset="0"/>
              </a:rPr>
              <a:t>Data is retrieved.</a:t>
            </a:r>
          </a:p>
          <a:p>
            <a:pPr lvl="0" algn="just">
              <a:lnSpc>
                <a:spcPct val="150000"/>
              </a:lnSpc>
              <a:buFont typeface="+mj-lt"/>
              <a:buAutoNum type="arabicPeriod"/>
            </a:pPr>
            <a:r>
              <a:rPr lang="en-US" b="0" i="0" dirty="0">
                <a:solidFill>
                  <a:srgbClr val="000000"/>
                </a:solidFill>
                <a:effectLst/>
                <a:latin typeface="Comic Sans MS" panose="030F0702030302020204" pitchFamily="66" charset="0"/>
              </a:rPr>
              <a:t>Server sends XML data or JSON data to the </a:t>
            </a:r>
            <a:r>
              <a:rPr lang="en-US" b="0" i="0" dirty="0" err="1">
                <a:solidFill>
                  <a:srgbClr val="000000"/>
                </a:solidFill>
                <a:effectLst/>
                <a:latin typeface="Comic Sans MS" panose="030F0702030302020204" pitchFamily="66" charset="0"/>
              </a:rPr>
              <a:t>XMLHttpRequest</a:t>
            </a:r>
            <a:r>
              <a:rPr lang="en-US" b="0" i="0" dirty="0">
                <a:solidFill>
                  <a:srgbClr val="000000"/>
                </a:solidFill>
                <a:effectLst/>
                <a:latin typeface="Comic Sans MS" panose="030F0702030302020204" pitchFamily="66" charset="0"/>
              </a:rPr>
              <a:t> callback function.</a:t>
            </a:r>
          </a:p>
          <a:p>
            <a:pPr lvl="0" algn="just">
              <a:lnSpc>
                <a:spcPct val="150000"/>
              </a:lnSpc>
              <a:buFont typeface="+mj-lt"/>
              <a:buAutoNum type="arabicPeriod"/>
            </a:pPr>
            <a:r>
              <a:rPr lang="en-US" b="0" i="0" dirty="0">
                <a:solidFill>
                  <a:srgbClr val="000000"/>
                </a:solidFill>
                <a:effectLst/>
                <a:latin typeface="Comic Sans MS" panose="030F0702030302020204" pitchFamily="66" charset="0"/>
              </a:rPr>
              <a:t>HTML and CSS data is displayed on the browser.</a:t>
            </a:r>
          </a:p>
          <a:p>
            <a:endParaRPr lang="en-US" dirty="0"/>
          </a:p>
        </p:txBody>
      </p:sp>
      <p:sp>
        <p:nvSpPr>
          <p:cNvPr id="4" name="Slide Number Placeholder 3"/>
          <p:cNvSpPr>
            <a:spLocks noGrp="1"/>
          </p:cNvSpPr>
          <p:nvPr>
            <p:ph type="sldNum" sz="quarter" idx="5"/>
          </p:nvPr>
        </p:nvSpPr>
        <p:spPr/>
        <p:txBody>
          <a:bodyPr/>
          <a:lstStyle/>
          <a:p>
            <a:fld id="{1D36F543-9680-4A2E-9D16-BDE8EA498D68}" type="slidenum">
              <a:rPr lang="en-US" smtClean="0"/>
              <a:t>13</a:t>
            </a:fld>
            <a:endParaRPr lang="en-US"/>
          </a:p>
        </p:txBody>
      </p:sp>
    </p:spTree>
    <p:extLst>
      <p:ext uri="{BB962C8B-B14F-4D97-AF65-F5344CB8AC3E}">
        <p14:creationId xmlns:p14="http://schemas.microsoft.com/office/powerpoint/2010/main" val="2587975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36F543-9680-4A2E-9D16-BDE8EA498D68}" type="slidenum">
              <a:rPr lang="en-US" smtClean="0"/>
              <a:t>14</a:t>
            </a:fld>
            <a:endParaRPr lang="en-US"/>
          </a:p>
        </p:txBody>
      </p:sp>
    </p:spTree>
    <p:extLst>
      <p:ext uri="{BB962C8B-B14F-4D97-AF65-F5344CB8AC3E}">
        <p14:creationId xmlns:p14="http://schemas.microsoft.com/office/powerpoint/2010/main" val="2580745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onreadystatechange</a:t>
            </a:r>
            <a:r>
              <a:rPr lang="en-US" dirty="0"/>
              <a:t> callback is designed to be triggered asynchronously whenever the </a:t>
            </a:r>
            <a:r>
              <a:rPr lang="en-US" dirty="0" err="1"/>
              <a:t>readyState</a:t>
            </a:r>
            <a:r>
              <a:rPr lang="en-US" dirty="0"/>
              <a:t> changes. </a:t>
            </a:r>
          </a:p>
          <a:p>
            <a:r>
              <a:rPr lang="en-US" dirty="0"/>
              <a:t>Thus, </a:t>
            </a:r>
            <a:r>
              <a:rPr lang="en-US" dirty="0" err="1"/>
              <a:t>xhr.send</a:t>
            </a:r>
            <a:r>
              <a:rPr lang="en-US" dirty="0"/>
              <a:t>() starts the request, and the response handling occurs later, as defined by the callback function.</a:t>
            </a:r>
          </a:p>
        </p:txBody>
      </p:sp>
      <p:sp>
        <p:nvSpPr>
          <p:cNvPr id="4" name="Slide Number Placeholder 3"/>
          <p:cNvSpPr>
            <a:spLocks noGrp="1"/>
          </p:cNvSpPr>
          <p:nvPr>
            <p:ph type="sldNum" sz="quarter" idx="5"/>
          </p:nvPr>
        </p:nvSpPr>
        <p:spPr/>
        <p:txBody>
          <a:bodyPr/>
          <a:lstStyle/>
          <a:p>
            <a:fld id="{1D36F543-9680-4A2E-9D16-BDE8EA498D68}" type="slidenum">
              <a:rPr lang="en-US" smtClean="0"/>
              <a:t>15</a:t>
            </a:fld>
            <a:endParaRPr lang="en-US"/>
          </a:p>
        </p:txBody>
      </p:sp>
    </p:spTree>
    <p:extLst>
      <p:ext uri="{BB962C8B-B14F-4D97-AF65-F5344CB8AC3E}">
        <p14:creationId xmlns:p14="http://schemas.microsoft.com/office/powerpoint/2010/main" val="337044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onreadystatechange</a:t>
            </a:r>
            <a:r>
              <a:rPr lang="en-US" dirty="0"/>
              <a:t> callback is designed to be triggered asynchronously whenever the </a:t>
            </a:r>
            <a:r>
              <a:rPr lang="en-US" dirty="0" err="1"/>
              <a:t>readyState</a:t>
            </a:r>
            <a:r>
              <a:rPr lang="en-US" dirty="0"/>
              <a:t> changes. </a:t>
            </a:r>
          </a:p>
          <a:p>
            <a:r>
              <a:rPr lang="en-US" dirty="0"/>
              <a:t>Thus, </a:t>
            </a:r>
            <a:r>
              <a:rPr lang="en-US" dirty="0" err="1"/>
              <a:t>xhr.send</a:t>
            </a:r>
            <a:r>
              <a:rPr lang="en-US" dirty="0"/>
              <a:t>() starts the request, and the response handling occurs later, as defined by the callback function.</a:t>
            </a:r>
          </a:p>
        </p:txBody>
      </p:sp>
      <p:sp>
        <p:nvSpPr>
          <p:cNvPr id="4" name="Slide Number Placeholder 3"/>
          <p:cNvSpPr>
            <a:spLocks noGrp="1"/>
          </p:cNvSpPr>
          <p:nvPr>
            <p:ph type="sldNum" sz="quarter" idx="5"/>
          </p:nvPr>
        </p:nvSpPr>
        <p:spPr/>
        <p:txBody>
          <a:bodyPr/>
          <a:lstStyle/>
          <a:p>
            <a:fld id="{1D36F543-9680-4A2E-9D16-BDE8EA498D68}" type="slidenum">
              <a:rPr lang="en-US" smtClean="0"/>
              <a:t>16</a:t>
            </a:fld>
            <a:endParaRPr lang="en-US"/>
          </a:p>
        </p:txBody>
      </p:sp>
    </p:spTree>
    <p:extLst>
      <p:ext uri="{BB962C8B-B14F-4D97-AF65-F5344CB8AC3E}">
        <p14:creationId xmlns:p14="http://schemas.microsoft.com/office/powerpoint/2010/main" val="3264385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2200" dirty="0"/>
              <a:t>Real-Time Form Data Validation</a:t>
            </a:r>
          </a:p>
          <a:p>
            <a:pPr lvl="1">
              <a:lnSpc>
                <a:spcPct val="80000"/>
              </a:lnSpc>
            </a:pPr>
            <a:r>
              <a:rPr lang="en-US" altLang="en-US" sz="1600" dirty="0"/>
              <a:t>Form data that require server-side validation can be validated in a form “before” the user submits it. </a:t>
            </a:r>
          </a:p>
          <a:p>
            <a:pPr>
              <a:lnSpc>
                <a:spcPct val="80000"/>
              </a:lnSpc>
            </a:pPr>
            <a:r>
              <a:rPr lang="en-US" altLang="en-US" sz="2200" dirty="0"/>
              <a:t>Auto completion </a:t>
            </a:r>
          </a:p>
          <a:p>
            <a:pPr lvl="1">
              <a:lnSpc>
                <a:spcPct val="80000"/>
              </a:lnSpc>
            </a:pPr>
            <a:r>
              <a:rPr lang="en-US" altLang="en-US" sz="1600" dirty="0"/>
              <a:t>A specific portion of form data may be auto-completed as the user types. </a:t>
            </a:r>
          </a:p>
          <a:p>
            <a:pPr>
              <a:lnSpc>
                <a:spcPct val="80000"/>
              </a:lnSpc>
            </a:pPr>
            <a:r>
              <a:rPr lang="en-US" altLang="en-US" sz="2200" dirty="0"/>
              <a:t>Master Details Operations</a:t>
            </a:r>
          </a:p>
          <a:p>
            <a:pPr lvl="1">
              <a:lnSpc>
                <a:spcPct val="80000"/>
              </a:lnSpc>
            </a:pPr>
            <a:r>
              <a:rPr lang="en-US" altLang="en-US" sz="1600" dirty="0"/>
              <a:t>Based on a client event, an HTML page can fetch more detailed information on data without refreshing the page. </a:t>
            </a:r>
          </a:p>
          <a:p>
            <a:pPr>
              <a:lnSpc>
                <a:spcPct val="80000"/>
              </a:lnSpc>
            </a:pPr>
            <a:r>
              <a:rPr lang="en-US" altLang="en-US" sz="2200" dirty="0"/>
              <a:t>Sophisticated UI Controls</a:t>
            </a:r>
          </a:p>
          <a:p>
            <a:pPr lvl="1">
              <a:lnSpc>
                <a:spcPct val="80000"/>
              </a:lnSpc>
            </a:pPr>
            <a:r>
              <a:rPr lang="en-US" altLang="en-US" sz="1600" dirty="0"/>
              <a:t>Controls such as tree controls, menus, and progress bars may be provided without page refreshes. </a:t>
            </a:r>
          </a:p>
        </p:txBody>
      </p:sp>
      <p:sp>
        <p:nvSpPr>
          <p:cNvPr id="4" name="Slide Number Placeholder 3"/>
          <p:cNvSpPr>
            <a:spLocks noGrp="1"/>
          </p:cNvSpPr>
          <p:nvPr>
            <p:ph type="sldNum" sz="quarter" idx="5"/>
          </p:nvPr>
        </p:nvSpPr>
        <p:spPr/>
        <p:txBody>
          <a:bodyPr/>
          <a:lstStyle/>
          <a:p>
            <a:fld id="{1D36F543-9680-4A2E-9D16-BDE8EA498D68}" type="slidenum">
              <a:rPr lang="en-US" smtClean="0"/>
              <a:t>17</a:t>
            </a:fld>
            <a:endParaRPr lang="en-US"/>
          </a:p>
        </p:txBody>
      </p:sp>
    </p:spTree>
    <p:extLst>
      <p:ext uri="{BB962C8B-B14F-4D97-AF65-F5344CB8AC3E}">
        <p14:creationId xmlns:p14="http://schemas.microsoft.com/office/powerpoint/2010/main" val="3742889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1D36F543-9680-4A2E-9D16-BDE8EA498D68}" type="slidenum">
              <a:rPr lang="en-US" smtClean="0"/>
              <a:t>18</a:t>
            </a:fld>
            <a:endParaRPr lang="en-US"/>
          </a:p>
        </p:txBody>
      </p:sp>
    </p:spTree>
    <p:extLst>
      <p:ext uri="{BB962C8B-B14F-4D97-AF65-F5344CB8AC3E}">
        <p14:creationId xmlns:p14="http://schemas.microsoft.com/office/powerpoint/2010/main" val="1869678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1D36F543-9680-4A2E-9D16-BDE8EA498D68}" type="slidenum">
              <a:rPr lang="en-US" smtClean="0"/>
              <a:t>19</a:t>
            </a:fld>
            <a:endParaRPr lang="en-US"/>
          </a:p>
        </p:txBody>
      </p:sp>
    </p:spTree>
    <p:extLst>
      <p:ext uri="{BB962C8B-B14F-4D97-AF65-F5344CB8AC3E}">
        <p14:creationId xmlns:p14="http://schemas.microsoft.com/office/powerpoint/2010/main" val="1646596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1D36F543-9680-4A2E-9D16-BDE8EA498D68}" type="slidenum">
              <a:rPr lang="en-US" smtClean="0"/>
              <a:t>20</a:t>
            </a:fld>
            <a:endParaRPr lang="en-US"/>
          </a:p>
        </p:txBody>
      </p:sp>
    </p:spTree>
    <p:extLst>
      <p:ext uri="{BB962C8B-B14F-4D97-AF65-F5344CB8AC3E}">
        <p14:creationId xmlns:p14="http://schemas.microsoft.com/office/powerpoint/2010/main" val="64186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1D36F543-9680-4A2E-9D16-BDE8EA498D68}" type="slidenum">
              <a:rPr lang="en-US" smtClean="0"/>
              <a:t>21</a:t>
            </a:fld>
            <a:endParaRPr lang="en-US"/>
          </a:p>
        </p:txBody>
      </p:sp>
    </p:spTree>
    <p:extLst>
      <p:ext uri="{BB962C8B-B14F-4D97-AF65-F5344CB8AC3E}">
        <p14:creationId xmlns:p14="http://schemas.microsoft.com/office/powerpoint/2010/main" val="3973612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F9220-E0A3-42C7-854A-645B7E7029A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F9B09F-55F2-4FF6-B58E-B4F318BB4C7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A1926D-79D3-497F-805C-4FE079C10F45}"/>
              </a:ext>
            </a:extLst>
          </p:cNvPr>
          <p:cNvSpPr>
            <a:spLocks noGrp="1"/>
          </p:cNvSpPr>
          <p:nvPr>
            <p:ph type="dt" sz="half" idx="10"/>
          </p:nvPr>
        </p:nvSpPr>
        <p:spPr/>
        <p:txBody>
          <a:bodyPr/>
          <a:lstStyle/>
          <a:p>
            <a:fld id="{002D1FBA-3183-4EF1-BA0A-DDAC3D4BEC0D}"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582CA394-238B-4EA9-A88A-4911CB5C62E2}"/>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454D6285-C730-4129-B6C4-873D9960D2F0}"/>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1953743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66897-9F59-429F-BBB3-13E63133DC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BF5C5-F29D-45A2-AEDB-2A1BA028F6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A058AA-714B-43EF-85CB-46B490122FEE}"/>
              </a:ext>
            </a:extLst>
          </p:cNvPr>
          <p:cNvSpPr>
            <a:spLocks noGrp="1"/>
          </p:cNvSpPr>
          <p:nvPr>
            <p:ph type="dt" sz="half" idx="10"/>
          </p:nvPr>
        </p:nvSpPr>
        <p:spPr/>
        <p:txBody>
          <a:bodyPr/>
          <a:lstStyle/>
          <a:p>
            <a:fld id="{22FCE877-5DD2-47D7-9C88-F9376EC0879A}"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5E45C36C-3CA9-4136-B3D1-12C6EF290F0D}"/>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EFD353CF-274F-41EE-8CCB-AD721F2C215E}"/>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3209757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B15FF-8E04-41AE-9DF6-38D810EC7DB2}"/>
              </a:ext>
            </a:extLst>
          </p:cNvPr>
          <p:cNvSpPr>
            <a:spLocks noGrp="1"/>
          </p:cNvSpPr>
          <p:nvPr>
            <p:ph type="title"/>
          </p:nvPr>
        </p:nvSpPr>
        <p:spPr>
          <a:xfrm>
            <a:off x="623887"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7F5357-E3AC-4647-AB4A-9B2AE1AA4303}"/>
              </a:ext>
            </a:extLst>
          </p:cNvPr>
          <p:cNvSpPr>
            <a:spLocks noGrp="1"/>
          </p:cNvSpPr>
          <p:nvPr>
            <p:ph type="body" idx="1"/>
          </p:nvPr>
        </p:nvSpPr>
        <p:spPr>
          <a:xfrm>
            <a:off x="623887" y="4589468"/>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88DEE-5A5A-42CF-B023-04A7EE3B077B}"/>
              </a:ext>
            </a:extLst>
          </p:cNvPr>
          <p:cNvSpPr>
            <a:spLocks noGrp="1"/>
          </p:cNvSpPr>
          <p:nvPr>
            <p:ph type="dt" sz="half" idx="10"/>
          </p:nvPr>
        </p:nvSpPr>
        <p:spPr/>
        <p:txBody>
          <a:bodyPr/>
          <a:lstStyle/>
          <a:p>
            <a:fld id="{4D591E32-EFEF-4521-9A24-1B9C610C2E8B}"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93FB7FEF-EDBD-4B42-9AA0-98B3F5A2BB40}"/>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4BE1418D-573B-45F2-B0F3-279C8AC7D528}"/>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98876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D3FA7-6613-4324-B111-2526F6FA88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80738E-7286-4B87-91F9-1C25CC6E17E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39ACB4-2D29-4251-A95F-C3D9EE2AAFF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12188B-54CE-4968-945B-8E899CC3BF27}"/>
              </a:ext>
            </a:extLst>
          </p:cNvPr>
          <p:cNvSpPr>
            <a:spLocks noGrp="1"/>
          </p:cNvSpPr>
          <p:nvPr>
            <p:ph type="dt" sz="half" idx="10"/>
          </p:nvPr>
        </p:nvSpPr>
        <p:spPr/>
        <p:txBody>
          <a:bodyPr/>
          <a:lstStyle/>
          <a:p>
            <a:fld id="{C385964C-343B-44B2-97F0-BAF82D021C2B}" type="datetime1">
              <a:rPr lang="en-US" smtClean="0">
                <a:solidFill>
                  <a:srgbClr val="2E2B21">
                    <a:tint val="75000"/>
                  </a:srgbClr>
                </a:solidFill>
              </a:rPr>
              <a:t>6/5/2024</a:t>
            </a:fld>
            <a:endParaRPr lang="en-US" dirty="0">
              <a:solidFill>
                <a:srgbClr val="2E2B21">
                  <a:tint val="75000"/>
                </a:srgbClr>
              </a:solidFill>
            </a:endParaRPr>
          </a:p>
        </p:txBody>
      </p:sp>
      <p:sp>
        <p:nvSpPr>
          <p:cNvPr id="6" name="Footer Placeholder 5">
            <a:extLst>
              <a:ext uri="{FF2B5EF4-FFF2-40B4-BE49-F238E27FC236}">
                <a16:creationId xmlns:a16="http://schemas.microsoft.com/office/drawing/2014/main" id="{67803A78-7F5E-45A0-AD4F-E5A9DE652E65}"/>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7" name="Slide Number Placeholder 6">
            <a:extLst>
              <a:ext uri="{FF2B5EF4-FFF2-40B4-BE49-F238E27FC236}">
                <a16:creationId xmlns:a16="http://schemas.microsoft.com/office/drawing/2014/main" id="{0866F21D-784E-467F-B678-0BC0FCB7F52C}"/>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2111379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B14DD-903B-4A03-9CBF-B21D6BA171C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AE1ED4-29AC-437E-BD1F-A71A29B2FF2C}"/>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E1ABF5-9AD8-4D89-9783-BC29CC75ACF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320BD6-9B7A-4263-958E-E963C1537B59}"/>
              </a:ext>
            </a:extLst>
          </p:cNvPr>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9A97D8-747E-4A08-A72C-3AD65A1A2823}"/>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06DCC0-6160-47AE-BD5C-4A1C1CD2AE08}"/>
              </a:ext>
            </a:extLst>
          </p:cNvPr>
          <p:cNvSpPr>
            <a:spLocks noGrp="1"/>
          </p:cNvSpPr>
          <p:nvPr>
            <p:ph type="dt" sz="half" idx="10"/>
          </p:nvPr>
        </p:nvSpPr>
        <p:spPr/>
        <p:txBody>
          <a:bodyPr/>
          <a:lstStyle/>
          <a:p>
            <a:fld id="{A0C33E50-485D-41F8-8C62-4F8C19BCBA3B}" type="datetime1">
              <a:rPr lang="en-US" smtClean="0">
                <a:solidFill>
                  <a:srgbClr val="2E2B21">
                    <a:tint val="75000"/>
                  </a:srgbClr>
                </a:solidFill>
              </a:rPr>
              <a:t>6/5/2024</a:t>
            </a:fld>
            <a:endParaRPr lang="en-US" dirty="0">
              <a:solidFill>
                <a:srgbClr val="2E2B21">
                  <a:tint val="75000"/>
                </a:srgbClr>
              </a:solidFill>
            </a:endParaRPr>
          </a:p>
        </p:txBody>
      </p:sp>
      <p:sp>
        <p:nvSpPr>
          <p:cNvPr id="8" name="Footer Placeholder 7">
            <a:extLst>
              <a:ext uri="{FF2B5EF4-FFF2-40B4-BE49-F238E27FC236}">
                <a16:creationId xmlns:a16="http://schemas.microsoft.com/office/drawing/2014/main" id="{9ED965C1-F43D-477F-81C6-CA2276FBF888}"/>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9" name="Slide Number Placeholder 8">
            <a:extLst>
              <a:ext uri="{FF2B5EF4-FFF2-40B4-BE49-F238E27FC236}">
                <a16:creationId xmlns:a16="http://schemas.microsoft.com/office/drawing/2014/main" id="{2DCFC7A2-308D-43AD-BE5F-3B2268FC8397}"/>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747071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3F974-70BA-44B5-9193-531F86A96D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140C23-4683-4E3A-81F8-8822B80D5A34}"/>
              </a:ext>
            </a:extLst>
          </p:cNvPr>
          <p:cNvSpPr>
            <a:spLocks noGrp="1"/>
          </p:cNvSpPr>
          <p:nvPr>
            <p:ph type="dt" sz="half" idx="10"/>
          </p:nvPr>
        </p:nvSpPr>
        <p:spPr/>
        <p:txBody>
          <a:bodyPr/>
          <a:lstStyle/>
          <a:p>
            <a:fld id="{34A92EC6-EABA-4EFB-B319-32644E1DB5FB}" type="datetime1">
              <a:rPr lang="en-US" smtClean="0">
                <a:solidFill>
                  <a:srgbClr val="2E2B21">
                    <a:tint val="75000"/>
                  </a:srgbClr>
                </a:solidFill>
              </a:rPr>
              <a:t>6/5/2024</a:t>
            </a:fld>
            <a:endParaRPr lang="en-US" dirty="0">
              <a:solidFill>
                <a:srgbClr val="2E2B21">
                  <a:tint val="75000"/>
                </a:srgbClr>
              </a:solidFill>
            </a:endParaRPr>
          </a:p>
        </p:txBody>
      </p:sp>
      <p:sp>
        <p:nvSpPr>
          <p:cNvPr id="4" name="Footer Placeholder 3">
            <a:extLst>
              <a:ext uri="{FF2B5EF4-FFF2-40B4-BE49-F238E27FC236}">
                <a16:creationId xmlns:a16="http://schemas.microsoft.com/office/drawing/2014/main" id="{8C628FF6-9965-49B6-922C-B9EA0CF7359A}"/>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8AE06A84-6648-4462-A302-8FFEF92567F1}"/>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2071946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1A60EE-BE3C-4E9D-A4A8-BBB2AB5E6CC2}"/>
              </a:ext>
            </a:extLst>
          </p:cNvPr>
          <p:cNvSpPr>
            <a:spLocks noGrp="1"/>
          </p:cNvSpPr>
          <p:nvPr>
            <p:ph type="dt" sz="half" idx="10"/>
          </p:nvPr>
        </p:nvSpPr>
        <p:spPr/>
        <p:txBody>
          <a:bodyPr/>
          <a:lstStyle/>
          <a:p>
            <a:fld id="{FF827807-7763-45A4-BBD2-CF9DA6DBE694}" type="datetime1">
              <a:rPr lang="en-US" smtClean="0">
                <a:solidFill>
                  <a:srgbClr val="2E2B21">
                    <a:tint val="75000"/>
                  </a:srgbClr>
                </a:solidFill>
              </a:rPr>
              <a:t>6/5/2024</a:t>
            </a:fld>
            <a:endParaRPr lang="en-US" dirty="0">
              <a:solidFill>
                <a:srgbClr val="2E2B21">
                  <a:tint val="75000"/>
                </a:srgbClr>
              </a:solidFill>
            </a:endParaRPr>
          </a:p>
        </p:txBody>
      </p:sp>
      <p:sp>
        <p:nvSpPr>
          <p:cNvPr id="3" name="Footer Placeholder 2">
            <a:extLst>
              <a:ext uri="{FF2B5EF4-FFF2-40B4-BE49-F238E27FC236}">
                <a16:creationId xmlns:a16="http://schemas.microsoft.com/office/drawing/2014/main" id="{78304F98-C080-4527-AAD6-5185BFA68274}"/>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4" name="Slide Number Placeholder 3">
            <a:extLst>
              <a:ext uri="{FF2B5EF4-FFF2-40B4-BE49-F238E27FC236}">
                <a16:creationId xmlns:a16="http://schemas.microsoft.com/office/drawing/2014/main" id="{570C53F1-B7C2-4463-83D5-87C7A6203DB3}"/>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419275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95150-B6B4-423D-81FA-9AA2FB70AFA7}"/>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F90ED2-73A8-487F-A41C-CB8C75473E13}"/>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9020E3-E17F-4BB1-9F23-E61CA390C812}"/>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C0DD95-D172-4D61-937F-B3FEC33A0E1A}"/>
              </a:ext>
            </a:extLst>
          </p:cNvPr>
          <p:cNvSpPr>
            <a:spLocks noGrp="1"/>
          </p:cNvSpPr>
          <p:nvPr>
            <p:ph type="dt" sz="half" idx="10"/>
          </p:nvPr>
        </p:nvSpPr>
        <p:spPr/>
        <p:txBody>
          <a:bodyPr/>
          <a:lstStyle/>
          <a:p>
            <a:fld id="{6B4BA002-75FB-4DE2-8B7D-12925C98B2B3}" type="datetime1">
              <a:rPr lang="en-US" smtClean="0">
                <a:solidFill>
                  <a:srgbClr val="2E2B21">
                    <a:tint val="75000"/>
                  </a:srgbClr>
                </a:solidFill>
              </a:rPr>
              <a:t>6/5/2024</a:t>
            </a:fld>
            <a:endParaRPr lang="en-US" dirty="0">
              <a:solidFill>
                <a:srgbClr val="2E2B21">
                  <a:tint val="75000"/>
                </a:srgbClr>
              </a:solidFill>
            </a:endParaRPr>
          </a:p>
        </p:txBody>
      </p:sp>
      <p:sp>
        <p:nvSpPr>
          <p:cNvPr id="6" name="Footer Placeholder 5">
            <a:extLst>
              <a:ext uri="{FF2B5EF4-FFF2-40B4-BE49-F238E27FC236}">
                <a16:creationId xmlns:a16="http://schemas.microsoft.com/office/drawing/2014/main" id="{DE9057F4-8BBF-4DBA-A0E0-DF38623844F0}"/>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7" name="Slide Number Placeholder 6">
            <a:extLst>
              <a:ext uri="{FF2B5EF4-FFF2-40B4-BE49-F238E27FC236}">
                <a16:creationId xmlns:a16="http://schemas.microsoft.com/office/drawing/2014/main" id="{27042D1C-249D-47CD-B808-1DCD9CA4F819}"/>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2330092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0471A-F65B-4B94-B549-1BAB95B9564B}"/>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035135-4E5B-4974-AFEB-EE48A58D1517}"/>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5E7141-8253-4D32-AEE2-C12B898A02C1}"/>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3A90E6-B641-41F0-BD64-1B3992BBA69F}"/>
              </a:ext>
            </a:extLst>
          </p:cNvPr>
          <p:cNvSpPr>
            <a:spLocks noGrp="1"/>
          </p:cNvSpPr>
          <p:nvPr>
            <p:ph type="dt" sz="half" idx="10"/>
          </p:nvPr>
        </p:nvSpPr>
        <p:spPr/>
        <p:txBody>
          <a:bodyPr/>
          <a:lstStyle/>
          <a:p>
            <a:fld id="{9BC8382D-AF70-48B5-AB83-BD7CD1BAAAD0}" type="datetime1">
              <a:rPr lang="en-US" smtClean="0">
                <a:solidFill>
                  <a:srgbClr val="2E2B21">
                    <a:tint val="75000"/>
                  </a:srgbClr>
                </a:solidFill>
              </a:rPr>
              <a:t>6/5/2024</a:t>
            </a:fld>
            <a:endParaRPr lang="en-US" dirty="0">
              <a:solidFill>
                <a:srgbClr val="2E2B21">
                  <a:tint val="75000"/>
                </a:srgbClr>
              </a:solidFill>
            </a:endParaRPr>
          </a:p>
        </p:txBody>
      </p:sp>
      <p:sp>
        <p:nvSpPr>
          <p:cNvPr id="6" name="Footer Placeholder 5">
            <a:extLst>
              <a:ext uri="{FF2B5EF4-FFF2-40B4-BE49-F238E27FC236}">
                <a16:creationId xmlns:a16="http://schemas.microsoft.com/office/drawing/2014/main" id="{511C1549-B429-4835-9F75-53CADE881BD7}"/>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7" name="Slide Number Placeholder 6">
            <a:extLst>
              <a:ext uri="{FF2B5EF4-FFF2-40B4-BE49-F238E27FC236}">
                <a16:creationId xmlns:a16="http://schemas.microsoft.com/office/drawing/2014/main" id="{D10B1B54-5E7F-4C40-81FE-B8338EBE062E}"/>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2656413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362ED-8110-4596-AAE7-8DFCD729A2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828F05-3AC2-4D6C-BA73-FF16C646D6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4231C-5174-4FAB-963F-98A087711D2E}"/>
              </a:ext>
            </a:extLst>
          </p:cNvPr>
          <p:cNvSpPr>
            <a:spLocks noGrp="1"/>
          </p:cNvSpPr>
          <p:nvPr>
            <p:ph type="dt" sz="half" idx="10"/>
          </p:nvPr>
        </p:nvSpPr>
        <p:spPr/>
        <p:txBody>
          <a:bodyPr/>
          <a:lstStyle/>
          <a:p>
            <a:fld id="{85903883-6954-40BB-A3C7-BF2AE355C960}"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CADC39DA-5538-43CC-9BB4-420DDF0D252B}"/>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4A44F16B-F0A4-4527-8451-5A1917D58E28}"/>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380020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A8227-7DC3-4AB6-B2C0-B98D73F28B3F}"/>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AFFF98-A5E2-4BB3-8AE7-EB3C4913848E}"/>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394E9F-C4BB-4CAD-9071-15296DF59154}"/>
              </a:ext>
            </a:extLst>
          </p:cNvPr>
          <p:cNvSpPr>
            <a:spLocks noGrp="1"/>
          </p:cNvSpPr>
          <p:nvPr>
            <p:ph type="dt" sz="half" idx="10"/>
          </p:nvPr>
        </p:nvSpPr>
        <p:spPr/>
        <p:txBody>
          <a:bodyPr/>
          <a:lstStyle/>
          <a:p>
            <a:fld id="{9B7B8364-3E70-45E5-AB20-5423F8F19ED1}"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6E2F404F-218A-445B-BA6E-D2AF6409EAB0}"/>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AFD1E940-3AAA-412C-AEDB-899EA383A9BB}"/>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40637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9" name="Rectangle 8"/>
          <p:cNvSpPr/>
          <p:nvPr userDrawn="1"/>
        </p:nvSpPr>
        <p:spPr>
          <a:xfrm>
            <a:off x="192032" y="26517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dirty="0">
              <a:solidFill>
                <a:srgbClr val="FFFFFF"/>
              </a:solidFill>
            </a:endParaRPr>
          </a:p>
        </p:txBody>
      </p:sp>
      <p:cxnSp>
        <p:nvCxnSpPr>
          <p:cNvPr id="12" name="Straight Connector 11"/>
          <p:cNvCxnSpPr/>
          <p:nvPr userDrawn="1"/>
        </p:nvCxnSpPr>
        <p:spPr>
          <a:xfrm>
            <a:off x="453326" y="1196392"/>
            <a:ext cx="8237349"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390914" y="448056"/>
            <a:ext cx="515783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404622" y="6203969"/>
            <a:ext cx="245745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D388EF64-EA5A-4FDD-957C-EC01DDB22C6C}" type="datetime1">
              <a:rPr lang="en-US" smtClean="0">
                <a:solidFill>
                  <a:srgbClr val="2E2B21">
                    <a:lumMod val="65000"/>
                    <a:lumOff val="35000"/>
                  </a:srgbClr>
                </a:solidFill>
              </a:rPr>
              <a:t>6/5/2024</a:t>
            </a:fld>
            <a:endParaRPr lang="en-US" dirty="0">
              <a:solidFill>
                <a:srgbClr val="2E2B21">
                  <a:lumMod val="65000"/>
                  <a:lumOff val="35000"/>
                </a:srgbClr>
              </a:solidFill>
            </a:endParaRPr>
          </a:p>
        </p:txBody>
      </p:sp>
      <p:sp>
        <p:nvSpPr>
          <p:cNvPr id="7" name="Footer Placeholder 4"/>
          <p:cNvSpPr>
            <a:spLocks noGrp="1"/>
          </p:cNvSpPr>
          <p:nvPr>
            <p:ph type="ftr" sz="quarter" idx="3"/>
          </p:nvPr>
        </p:nvSpPr>
        <p:spPr>
          <a:xfrm>
            <a:off x="3486150" y="6203969"/>
            <a:ext cx="21717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r>
              <a:rPr lang="en-US">
                <a:solidFill>
                  <a:srgbClr val="2E2B21">
                    <a:lumMod val="65000"/>
                    <a:lumOff val="35000"/>
                  </a:srgbClr>
                </a:solidFill>
              </a:rPr>
              <a:t>Department of Computer Science</a:t>
            </a:r>
            <a:endParaRPr lang="en-US" dirty="0">
              <a:solidFill>
                <a:srgbClr val="2E2B21">
                  <a:lumMod val="65000"/>
                  <a:lumOff val="35000"/>
                </a:srgbClr>
              </a:solidFill>
            </a:endParaRPr>
          </a:p>
        </p:txBody>
      </p:sp>
      <p:sp>
        <p:nvSpPr>
          <p:cNvPr id="8" name="Slide Number Placeholder 5"/>
          <p:cNvSpPr>
            <a:spLocks noGrp="1"/>
          </p:cNvSpPr>
          <p:nvPr>
            <p:ph type="sldNum" sz="quarter" idx="4"/>
          </p:nvPr>
        </p:nvSpPr>
        <p:spPr>
          <a:xfrm>
            <a:off x="6278945" y="6203969"/>
            <a:ext cx="245745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solidFill>
                  <a:srgbClr val="2E2B21">
                    <a:lumMod val="65000"/>
                    <a:lumOff val="35000"/>
                  </a:srgbClr>
                </a:solidFill>
              </a:rPr>
              <a:pPr/>
              <a:t>‹#›</a:t>
            </a:fld>
            <a:endParaRPr lang="en-US" dirty="0">
              <a:solidFill>
                <a:srgbClr val="2E2B21">
                  <a:lumMod val="65000"/>
                  <a:lumOff val="35000"/>
                </a:srgbClr>
              </a:solidFill>
            </a:endParaRPr>
          </a:p>
        </p:txBody>
      </p:sp>
    </p:spTree>
    <p:extLst>
      <p:ext uri="{BB962C8B-B14F-4D97-AF65-F5344CB8AC3E}">
        <p14:creationId xmlns:p14="http://schemas.microsoft.com/office/powerpoint/2010/main" val="2079633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p:cNvSpPr/>
          <p:nvPr userDrawn="1"/>
        </p:nvSpPr>
        <p:spPr bwMode="blackWhite">
          <a:xfrm>
            <a:off x="191214" y="262787"/>
            <a:ext cx="8761576"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27988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9" name="Rectangle 8"/>
          <p:cNvSpPr/>
          <p:nvPr userDrawn="1"/>
        </p:nvSpPr>
        <p:spPr>
          <a:xfrm>
            <a:off x="191222" y="26278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p:cNvSpPr/>
          <p:nvPr userDrawn="1"/>
        </p:nvSpPr>
        <p:spPr bwMode="blackWhite">
          <a:xfrm>
            <a:off x="191214" y="262798"/>
            <a:ext cx="8761576"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p:cNvSpPr>
            <a:spLocks noGrp="1"/>
          </p:cNvSpPr>
          <p:nvPr>
            <p:ph type="title"/>
          </p:nvPr>
        </p:nvSpPr>
        <p:spPr>
          <a:xfrm>
            <a:off x="390906" y="1536192"/>
            <a:ext cx="5157216"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404622" y="2560320"/>
            <a:ext cx="7084314"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661379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F9220-E0A3-42C7-854A-645B7E7029A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F9B09F-55F2-4FF6-B58E-B4F318BB4C7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A1926D-79D3-497F-805C-4FE079C10F45}"/>
              </a:ext>
            </a:extLst>
          </p:cNvPr>
          <p:cNvSpPr>
            <a:spLocks noGrp="1"/>
          </p:cNvSpPr>
          <p:nvPr>
            <p:ph type="dt" sz="half" idx="10"/>
          </p:nvPr>
        </p:nvSpPr>
        <p:spPr/>
        <p:txBody>
          <a:bodyPr/>
          <a:lstStyle/>
          <a:p>
            <a:fld id="{8C10473C-9295-45EA-9245-EC83CA829F5C}"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582CA394-238B-4EA9-A88A-4911CB5C62E2}"/>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454D6285-C730-4129-B6C4-873D9960D2F0}"/>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2549815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66897-9F59-429F-BBB3-13E63133DC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BF5C5-F29D-45A2-AEDB-2A1BA028F6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A058AA-714B-43EF-85CB-46B490122FEE}"/>
              </a:ext>
            </a:extLst>
          </p:cNvPr>
          <p:cNvSpPr>
            <a:spLocks noGrp="1"/>
          </p:cNvSpPr>
          <p:nvPr>
            <p:ph type="dt" sz="half" idx="10"/>
          </p:nvPr>
        </p:nvSpPr>
        <p:spPr/>
        <p:txBody>
          <a:bodyPr/>
          <a:lstStyle/>
          <a:p>
            <a:fld id="{622A1217-9232-4A41-9E57-2996E947B81D}"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5E45C36C-3CA9-4136-B3D1-12C6EF290F0D}"/>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EFD353CF-274F-41EE-8CCB-AD721F2C215E}"/>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13032413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B15FF-8E04-41AE-9DF6-38D810EC7DB2}"/>
              </a:ext>
            </a:extLst>
          </p:cNvPr>
          <p:cNvSpPr>
            <a:spLocks noGrp="1"/>
          </p:cNvSpPr>
          <p:nvPr>
            <p:ph type="title"/>
          </p:nvPr>
        </p:nvSpPr>
        <p:spPr>
          <a:xfrm>
            <a:off x="623887"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7F5357-E3AC-4647-AB4A-9B2AE1AA4303}"/>
              </a:ext>
            </a:extLst>
          </p:cNvPr>
          <p:cNvSpPr>
            <a:spLocks noGrp="1"/>
          </p:cNvSpPr>
          <p:nvPr>
            <p:ph type="body" idx="1"/>
          </p:nvPr>
        </p:nvSpPr>
        <p:spPr>
          <a:xfrm>
            <a:off x="623887"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88DEE-5A5A-42CF-B023-04A7EE3B077B}"/>
              </a:ext>
            </a:extLst>
          </p:cNvPr>
          <p:cNvSpPr>
            <a:spLocks noGrp="1"/>
          </p:cNvSpPr>
          <p:nvPr>
            <p:ph type="dt" sz="half" idx="10"/>
          </p:nvPr>
        </p:nvSpPr>
        <p:spPr/>
        <p:txBody>
          <a:bodyPr/>
          <a:lstStyle/>
          <a:p>
            <a:fld id="{96599A5C-1131-410F-A69B-2834FEC69266}"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93FB7FEF-EDBD-4B42-9AA0-98B3F5A2BB40}"/>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4BE1418D-573B-45F2-B0F3-279C8AC7D528}"/>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28644554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D3FA7-6613-4324-B111-2526F6FA88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80738E-7286-4B87-91F9-1C25CC6E17E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39ACB4-2D29-4251-A95F-C3D9EE2AAFF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12188B-54CE-4968-945B-8E899CC3BF27}"/>
              </a:ext>
            </a:extLst>
          </p:cNvPr>
          <p:cNvSpPr>
            <a:spLocks noGrp="1"/>
          </p:cNvSpPr>
          <p:nvPr>
            <p:ph type="dt" sz="half" idx="10"/>
          </p:nvPr>
        </p:nvSpPr>
        <p:spPr/>
        <p:txBody>
          <a:bodyPr/>
          <a:lstStyle/>
          <a:p>
            <a:fld id="{263DA836-AB08-463F-B9EF-DB003C59C46E}" type="datetime1">
              <a:rPr lang="en-US" smtClean="0">
                <a:solidFill>
                  <a:srgbClr val="2E2B21">
                    <a:tint val="75000"/>
                  </a:srgbClr>
                </a:solidFill>
              </a:rPr>
              <a:t>6/5/2024</a:t>
            </a:fld>
            <a:endParaRPr lang="en-US" dirty="0">
              <a:solidFill>
                <a:srgbClr val="2E2B21">
                  <a:tint val="75000"/>
                </a:srgbClr>
              </a:solidFill>
            </a:endParaRPr>
          </a:p>
        </p:txBody>
      </p:sp>
      <p:sp>
        <p:nvSpPr>
          <p:cNvPr id="6" name="Footer Placeholder 5">
            <a:extLst>
              <a:ext uri="{FF2B5EF4-FFF2-40B4-BE49-F238E27FC236}">
                <a16:creationId xmlns:a16="http://schemas.microsoft.com/office/drawing/2014/main" id="{67803A78-7F5E-45A0-AD4F-E5A9DE652E65}"/>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7" name="Slide Number Placeholder 6">
            <a:extLst>
              <a:ext uri="{FF2B5EF4-FFF2-40B4-BE49-F238E27FC236}">
                <a16:creationId xmlns:a16="http://schemas.microsoft.com/office/drawing/2014/main" id="{0866F21D-784E-467F-B678-0BC0FCB7F52C}"/>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31803896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B14DD-903B-4A03-9CBF-B21D6BA171C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AE1ED4-29AC-437E-BD1F-A71A29B2FF2C}"/>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E1ABF5-9AD8-4D89-9783-BC29CC75ACF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320BD6-9B7A-4263-958E-E963C1537B59}"/>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9A97D8-747E-4A08-A72C-3AD65A1A28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06DCC0-6160-47AE-BD5C-4A1C1CD2AE08}"/>
              </a:ext>
            </a:extLst>
          </p:cNvPr>
          <p:cNvSpPr>
            <a:spLocks noGrp="1"/>
          </p:cNvSpPr>
          <p:nvPr>
            <p:ph type="dt" sz="half" idx="10"/>
          </p:nvPr>
        </p:nvSpPr>
        <p:spPr/>
        <p:txBody>
          <a:bodyPr/>
          <a:lstStyle/>
          <a:p>
            <a:fld id="{73A7E189-05E6-4F45-8509-710CB447A7AC}" type="datetime1">
              <a:rPr lang="en-US" smtClean="0">
                <a:solidFill>
                  <a:srgbClr val="2E2B21">
                    <a:tint val="75000"/>
                  </a:srgbClr>
                </a:solidFill>
              </a:rPr>
              <a:t>6/5/2024</a:t>
            </a:fld>
            <a:endParaRPr lang="en-US" dirty="0">
              <a:solidFill>
                <a:srgbClr val="2E2B21">
                  <a:tint val="75000"/>
                </a:srgbClr>
              </a:solidFill>
            </a:endParaRPr>
          </a:p>
        </p:txBody>
      </p:sp>
      <p:sp>
        <p:nvSpPr>
          <p:cNvPr id="8" name="Footer Placeholder 7">
            <a:extLst>
              <a:ext uri="{FF2B5EF4-FFF2-40B4-BE49-F238E27FC236}">
                <a16:creationId xmlns:a16="http://schemas.microsoft.com/office/drawing/2014/main" id="{9ED965C1-F43D-477F-81C6-CA2276FBF888}"/>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9" name="Slide Number Placeholder 8">
            <a:extLst>
              <a:ext uri="{FF2B5EF4-FFF2-40B4-BE49-F238E27FC236}">
                <a16:creationId xmlns:a16="http://schemas.microsoft.com/office/drawing/2014/main" id="{2DCFC7A2-308D-43AD-BE5F-3B2268FC8397}"/>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24654754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3F974-70BA-44B5-9193-531F86A96D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140C23-4683-4E3A-81F8-8822B80D5A34}"/>
              </a:ext>
            </a:extLst>
          </p:cNvPr>
          <p:cNvSpPr>
            <a:spLocks noGrp="1"/>
          </p:cNvSpPr>
          <p:nvPr>
            <p:ph type="dt" sz="half" idx="10"/>
          </p:nvPr>
        </p:nvSpPr>
        <p:spPr/>
        <p:txBody>
          <a:bodyPr/>
          <a:lstStyle/>
          <a:p>
            <a:fld id="{FBA74949-641A-4D6F-B4A4-A69D48250493}" type="datetime1">
              <a:rPr lang="en-US" smtClean="0">
                <a:solidFill>
                  <a:srgbClr val="2E2B21">
                    <a:tint val="75000"/>
                  </a:srgbClr>
                </a:solidFill>
              </a:rPr>
              <a:t>6/5/2024</a:t>
            </a:fld>
            <a:endParaRPr lang="en-US" dirty="0">
              <a:solidFill>
                <a:srgbClr val="2E2B21">
                  <a:tint val="75000"/>
                </a:srgbClr>
              </a:solidFill>
            </a:endParaRPr>
          </a:p>
        </p:txBody>
      </p:sp>
      <p:sp>
        <p:nvSpPr>
          <p:cNvPr id="4" name="Footer Placeholder 3">
            <a:extLst>
              <a:ext uri="{FF2B5EF4-FFF2-40B4-BE49-F238E27FC236}">
                <a16:creationId xmlns:a16="http://schemas.microsoft.com/office/drawing/2014/main" id="{8C628FF6-9965-49B6-922C-B9EA0CF7359A}"/>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8AE06A84-6648-4462-A302-8FFEF92567F1}"/>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8989780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1A60EE-BE3C-4E9D-A4A8-BBB2AB5E6CC2}"/>
              </a:ext>
            </a:extLst>
          </p:cNvPr>
          <p:cNvSpPr>
            <a:spLocks noGrp="1"/>
          </p:cNvSpPr>
          <p:nvPr>
            <p:ph type="dt" sz="half" idx="10"/>
          </p:nvPr>
        </p:nvSpPr>
        <p:spPr/>
        <p:txBody>
          <a:bodyPr/>
          <a:lstStyle/>
          <a:p>
            <a:fld id="{F96F736F-AB87-423D-BF3F-28ADCDB62FA0}" type="datetime1">
              <a:rPr lang="en-US" smtClean="0">
                <a:solidFill>
                  <a:srgbClr val="2E2B21">
                    <a:tint val="75000"/>
                  </a:srgbClr>
                </a:solidFill>
              </a:rPr>
              <a:t>6/5/2024</a:t>
            </a:fld>
            <a:endParaRPr lang="en-US" dirty="0">
              <a:solidFill>
                <a:srgbClr val="2E2B21">
                  <a:tint val="75000"/>
                </a:srgbClr>
              </a:solidFill>
            </a:endParaRPr>
          </a:p>
        </p:txBody>
      </p:sp>
      <p:sp>
        <p:nvSpPr>
          <p:cNvPr id="3" name="Footer Placeholder 2">
            <a:extLst>
              <a:ext uri="{FF2B5EF4-FFF2-40B4-BE49-F238E27FC236}">
                <a16:creationId xmlns:a16="http://schemas.microsoft.com/office/drawing/2014/main" id="{78304F98-C080-4527-AAD6-5185BFA68274}"/>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4" name="Slide Number Placeholder 3">
            <a:extLst>
              <a:ext uri="{FF2B5EF4-FFF2-40B4-BE49-F238E27FC236}">
                <a16:creationId xmlns:a16="http://schemas.microsoft.com/office/drawing/2014/main" id="{570C53F1-B7C2-4463-83D5-87C7A6203DB3}"/>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743656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95150-B6B4-423D-81FA-9AA2FB70AFA7}"/>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F90ED2-73A8-487F-A41C-CB8C75473E13}"/>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9020E3-E17F-4BB1-9F23-E61CA390C812}"/>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C0DD95-D172-4D61-937F-B3FEC33A0E1A}"/>
              </a:ext>
            </a:extLst>
          </p:cNvPr>
          <p:cNvSpPr>
            <a:spLocks noGrp="1"/>
          </p:cNvSpPr>
          <p:nvPr>
            <p:ph type="dt" sz="half" idx="10"/>
          </p:nvPr>
        </p:nvSpPr>
        <p:spPr/>
        <p:txBody>
          <a:bodyPr/>
          <a:lstStyle/>
          <a:p>
            <a:fld id="{D01DEADC-8D9E-456D-BDA1-0592B64A93DA}" type="datetime1">
              <a:rPr lang="en-US" smtClean="0">
                <a:solidFill>
                  <a:srgbClr val="2E2B21">
                    <a:tint val="75000"/>
                  </a:srgbClr>
                </a:solidFill>
              </a:rPr>
              <a:t>6/5/2024</a:t>
            </a:fld>
            <a:endParaRPr lang="en-US" dirty="0">
              <a:solidFill>
                <a:srgbClr val="2E2B21">
                  <a:tint val="75000"/>
                </a:srgbClr>
              </a:solidFill>
            </a:endParaRPr>
          </a:p>
        </p:txBody>
      </p:sp>
      <p:sp>
        <p:nvSpPr>
          <p:cNvPr id="6" name="Footer Placeholder 5">
            <a:extLst>
              <a:ext uri="{FF2B5EF4-FFF2-40B4-BE49-F238E27FC236}">
                <a16:creationId xmlns:a16="http://schemas.microsoft.com/office/drawing/2014/main" id="{DE9057F4-8BBF-4DBA-A0E0-DF38623844F0}"/>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7" name="Slide Number Placeholder 6">
            <a:extLst>
              <a:ext uri="{FF2B5EF4-FFF2-40B4-BE49-F238E27FC236}">
                <a16:creationId xmlns:a16="http://schemas.microsoft.com/office/drawing/2014/main" id="{27042D1C-249D-47CD-B808-1DCD9CA4F819}"/>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42249307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0471A-F65B-4B94-B549-1BAB95B9564B}"/>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035135-4E5B-4974-AFEB-EE48A58D1517}"/>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5E7141-8253-4D32-AEE2-C12B898A02C1}"/>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3A90E6-B641-41F0-BD64-1B3992BBA69F}"/>
              </a:ext>
            </a:extLst>
          </p:cNvPr>
          <p:cNvSpPr>
            <a:spLocks noGrp="1"/>
          </p:cNvSpPr>
          <p:nvPr>
            <p:ph type="dt" sz="half" idx="10"/>
          </p:nvPr>
        </p:nvSpPr>
        <p:spPr/>
        <p:txBody>
          <a:bodyPr/>
          <a:lstStyle/>
          <a:p>
            <a:fld id="{60333CEC-E724-44CB-A2B3-E23F28301AC0}" type="datetime1">
              <a:rPr lang="en-US" smtClean="0">
                <a:solidFill>
                  <a:srgbClr val="2E2B21">
                    <a:tint val="75000"/>
                  </a:srgbClr>
                </a:solidFill>
              </a:rPr>
              <a:t>6/5/2024</a:t>
            </a:fld>
            <a:endParaRPr lang="en-US" dirty="0">
              <a:solidFill>
                <a:srgbClr val="2E2B21">
                  <a:tint val="75000"/>
                </a:srgbClr>
              </a:solidFill>
            </a:endParaRPr>
          </a:p>
        </p:txBody>
      </p:sp>
      <p:sp>
        <p:nvSpPr>
          <p:cNvPr id="6" name="Footer Placeholder 5">
            <a:extLst>
              <a:ext uri="{FF2B5EF4-FFF2-40B4-BE49-F238E27FC236}">
                <a16:creationId xmlns:a16="http://schemas.microsoft.com/office/drawing/2014/main" id="{511C1549-B429-4835-9F75-53CADE881BD7}"/>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7" name="Slide Number Placeholder 6">
            <a:extLst>
              <a:ext uri="{FF2B5EF4-FFF2-40B4-BE49-F238E27FC236}">
                <a16:creationId xmlns:a16="http://schemas.microsoft.com/office/drawing/2014/main" id="{D10B1B54-5E7F-4C40-81FE-B8338EBE062E}"/>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6995166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362ED-8110-4596-AAE7-8DFCD729A2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828F05-3AC2-4D6C-BA73-FF16C646D6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4231C-5174-4FAB-963F-98A087711D2E}"/>
              </a:ext>
            </a:extLst>
          </p:cNvPr>
          <p:cNvSpPr>
            <a:spLocks noGrp="1"/>
          </p:cNvSpPr>
          <p:nvPr>
            <p:ph type="dt" sz="half" idx="10"/>
          </p:nvPr>
        </p:nvSpPr>
        <p:spPr/>
        <p:txBody>
          <a:bodyPr/>
          <a:lstStyle/>
          <a:p>
            <a:fld id="{4217EDD4-5191-454C-9163-F9F8D366A699}"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CADC39DA-5538-43CC-9BB4-420DDF0D252B}"/>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4A44F16B-F0A4-4527-8451-5A1917D58E28}"/>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12735840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A8227-7DC3-4AB6-B2C0-B98D73F28B3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AFFF98-A5E2-4BB3-8AE7-EB3C4913848E}"/>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394E9F-C4BB-4CAD-9071-15296DF59154}"/>
              </a:ext>
            </a:extLst>
          </p:cNvPr>
          <p:cNvSpPr>
            <a:spLocks noGrp="1"/>
          </p:cNvSpPr>
          <p:nvPr>
            <p:ph type="dt" sz="half" idx="10"/>
          </p:nvPr>
        </p:nvSpPr>
        <p:spPr/>
        <p:txBody>
          <a:bodyPr/>
          <a:lstStyle/>
          <a:p>
            <a:fld id="{6CF35776-FC18-41DA-BA4D-87BE4368DCC6}"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6E2F404F-218A-445B-BA6E-D2AF6409EAB0}"/>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AFD1E940-3AAA-412C-AEDB-899EA383A9BB}"/>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Tree>
    <p:extLst>
      <p:ext uri="{BB962C8B-B14F-4D97-AF65-F5344CB8AC3E}">
        <p14:creationId xmlns:p14="http://schemas.microsoft.com/office/powerpoint/2010/main" val="36618498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p:cNvSpPr/>
          <p:nvPr userDrawn="1"/>
        </p:nvSpPr>
        <p:spPr bwMode="blackWhite">
          <a:xfrm>
            <a:off x="191214" y="262787"/>
            <a:ext cx="8761576"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195581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9" name="Rectangle 8"/>
          <p:cNvSpPr/>
          <p:nvPr userDrawn="1"/>
        </p:nvSpPr>
        <p:spPr>
          <a:xfrm>
            <a:off x="191220" y="26278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p:cNvSpPr/>
          <p:nvPr userDrawn="1"/>
        </p:nvSpPr>
        <p:spPr bwMode="blackWhite">
          <a:xfrm>
            <a:off x="191214" y="262797"/>
            <a:ext cx="8761576"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p:cNvSpPr>
            <a:spLocks noGrp="1"/>
          </p:cNvSpPr>
          <p:nvPr>
            <p:ph type="title"/>
          </p:nvPr>
        </p:nvSpPr>
        <p:spPr>
          <a:xfrm>
            <a:off x="390906" y="1536192"/>
            <a:ext cx="5157216"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404622" y="2560320"/>
            <a:ext cx="7084314"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3696047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6F3633-06BB-4C7A-953A-6CE8E6C8F65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D827FC-BC45-4C8E-AD3B-783F64D3BA3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6CFC5-AAC8-429E-8A9F-45BA4CF43B04}"/>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CE9F7C-D68F-4C16-9C18-D0DF621A4F94}"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5D078E8B-C302-4E98-8A00-10C6751BAF0B}"/>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CF5FB752-862F-4AC8-8DEE-EF044DE24E82}"/>
              </a:ext>
            </a:extLst>
          </p:cNvPr>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
        <p:nvSpPr>
          <p:cNvPr id="7" name="Rectangle 6">
            <a:extLst>
              <a:ext uri="{FF2B5EF4-FFF2-40B4-BE49-F238E27FC236}">
                <a16:creationId xmlns:a16="http://schemas.microsoft.com/office/drawing/2014/main" id="{65F345D5-EBC5-47A1-A6CE-56B67C10FEE6}"/>
              </a:ext>
            </a:extLst>
          </p:cNvPr>
          <p:cNvSpPr/>
          <p:nvPr userDrawn="1"/>
        </p:nvSpPr>
        <p:spPr>
          <a:xfrm>
            <a:off x="192032" y="26517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dirty="0">
              <a:solidFill>
                <a:srgbClr val="FFFFFF"/>
              </a:solidFill>
            </a:endParaRPr>
          </a:p>
        </p:txBody>
      </p:sp>
      <p:cxnSp>
        <p:nvCxnSpPr>
          <p:cNvPr id="8" name="Straight Connector 7">
            <a:extLst>
              <a:ext uri="{FF2B5EF4-FFF2-40B4-BE49-F238E27FC236}">
                <a16:creationId xmlns:a16="http://schemas.microsoft.com/office/drawing/2014/main" id="{8CD0B80A-9EE1-4822-9BC0-ECBF55B0C2E4}"/>
              </a:ext>
            </a:extLst>
          </p:cNvPr>
          <p:cNvCxnSpPr/>
          <p:nvPr userDrawn="1"/>
        </p:nvCxnSpPr>
        <p:spPr>
          <a:xfrm>
            <a:off x="453326" y="1196392"/>
            <a:ext cx="8237349"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7561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6F3633-06BB-4C7A-953A-6CE8E6C8F65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D827FC-BC45-4C8E-AD3B-783F64D3BA3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6CFC5-AAC8-429E-8A9F-45BA4CF43B0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DCD62F-307D-4E55-B88E-EFA71E24CB34}" type="datetime1">
              <a:rPr lang="en-US" smtClean="0">
                <a:solidFill>
                  <a:srgbClr val="2E2B21">
                    <a:tint val="75000"/>
                  </a:srgbClr>
                </a:solidFill>
              </a:rPr>
              <a:t>6/5/2024</a:t>
            </a:fld>
            <a:endParaRPr lang="en-US" dirty="0">
              <a:solidFill>
                <a:srgbClr val="2E2B21">
                  <a:tint val="75000"/>
                </a:srgbClr>
              </a:solidFill>
            </a:endParaRPr>
          </a:p>
        </p:txBody>
      </p:sp>
      <p:sp>
        <p:nvSpPr>
          <p:cNvPr id="5" name="Footer Placeholder 4">
            <a:extLst>
              <a:ext uri="{FF2B5EF4-FFF2-40B4-BE49-F238E27FC236}">
                <a16:creationId xmlns:a16="http://schemas.microsoft.com/office/drawing/2014/main" id="{5D078E8B-C302-4E98-8A00-10C6751BAF0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6" name="Slide Number Placeholder 5">
            <a:extLst>
              <a:ext uri="{FF2B5EF4-FFF2-40B4-BE49-F238E27FC236}">
                <a16:creationId xmlns:a16="http://schemas.microsoft.com/office/drawing/2014/main" id="{CF5FB752-862F-4AC8-8DEE-EF044DE24E8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solidFill>
                  <a:srgbClr val="2E2B21">
                    <a:tint val="75000"/>
                  </a:srgbClr>
                </a:solidFill>
              </a:rPr>
              <a:pPr/>
              <a:t>‹#›</a:t>
            </a:fld>
            <a:endParaRPr lang="en-US" dirty="0">
              <a:solidFill>
                <a:srgbClr val="2E2B21">
                  <a:tint val="75000"/>
                </a:srgbClr>
              </a:solidFill>
            </a:endParaRPr>
          </a:p>
        </p:txBody>
      </p:sp>
      <p:sp>
        <p:nvSpPr>
          <p:cNvPr id="7" name="Rectangle 6">
            <a:extLst>
              <a:ext uri="{FF2B5EF4-FFF2-40B4-BE49-F238E27FC236}">
                <a16:creationId xmlns:a16="http://schemas.microsoft.com/office/drawing/2014/main" id="{65F345D5-EBC5-47A1-A6CE-56B67C10FEE6}"/>
              </a:ext>
            </a:extLst>
          </p:cNvPr>
          <p:cNvSpPr/>
          <p:nvPr userDrawn="1"/>
        </p:nvSpPr>
        <p:spPr>
          <a:xfrm>
            <a:off x="192030" y="26517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dirty="0">
              <a:solidFill>
                <a:srgbClr val="FFFFFF"/>
              </a:solidFill>
            </a:endParaRPr>
          </a:p>
        </p:txBody>
      </p:sp>
      <p:cxnSp>
        <p:nvCxnSpPr>
          <p:cNvPr id="8" name="Straight Connector 7">
            <a:extLst>
              <a:ext uri="{FF2B5EF4-FFF2-40B4-BE49-F238E27FC236}">
                <a16:creationId xmlns:a16="http://schemas.microsoft.com/office/drawing/2014/main" id="{8CD0B80A-9EE1-4822-9BC0-ECBF55B0C2E4}"/>
              </a:ext>
            </a:extLst>
          </p:cNvPr>
          <p:cNvCxnSpPr/>
          <p:nvPr userDrawn="1"/>
        </p:nvCxnSpPr>
        <p:spPr>
          <a:xfrm>
            <a:off x="453326" y="1196392"/>
            <a:ext cx="8237349"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955594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8" r:id="rId12"/>
    <p:sldLayoutId id="2147483689"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D9B21DB-8E92-440F-9452-2C0FB616DED3}"/>
              </a:ext>
            </a:extLst>
          </p:cNvPr>
          <p:cNvSpPr>
            <a:spLocks noGrp="1"/>
          </p:cNvSpPr>
          <p:nvPr>
            <p:ph sz="half" idx="1"/>
          </p:nvPr>
        </p:nvSpPr>
        <p:spPr>
          <a:xfrm>
            <a:off x="457200" y="1819027"/>
            <a:ext cx="8305800" cy="4505573"/>
          </a:xfrm>
        </p:spPr>
        <p:txBody>
          <a:bodyPr>
            <a:normAutofit/>
          </a:bodyPr>
          <a:lstStyle/>
          <a:p>
            <a:pPr marL="0" indent="0" algn="ctr">
              <a:lnSpc>
                <a:spcPct val="120000"/>
              </a:lnSpc>
              <a:buNone/>
            </a:pPr>
            <a:r>
              <a:rPr lang="en-US" sz="4000" dirty="0">
                <a:latin typeface="Comic Sans MS" panose="030F0702030302020204" pitchFamily="66" charset="0"/>
                <a:cs typeface="Times New Roman" panose="02020603050405020304" pitchFamily="18" charset="0"/>
              </a:rPr>
              <a:t>Chapter Six</a:t>
            </a:r>
          </a:p>
          <a:p>
            <a:pPr marL="0" indent="0" algn="ctr">
              <a:lnSpc>
                <a:spcPct val="120000"/>
              </a:lnSpc>
              <a:buNone/>
            </a:pPr>
            <a:r>
              <a:rPr lang="en-US" sz="4000" dirty="0">
                <a:latin typeface="Comic Sans MS" panose="030F0702030302020204" pitchFamily="66" charset="0"/>
                <a:cs typeface="Times New Roman" panose="02020603050405020304" pitchFamily="18" charset="0"/>
              </a:rPr>
              <a:t>Advanced JavaScript and XML (AJAX)  </a:t>
            </a:r>
            <a:endParaRPr lang="en-US" sz="4000" dirty="0">
              <a:latin typeface="Comic Sans MS" panose="030F0702030302020204" pitchFamily="66" charset="0"/>
            </a:endParaRPr>
          </a:p>
        </p:txBody>
      </p:sp>
      <p:sp>
        <p:nvSpPr>
          <p:cNvPr id="6" name="Footer Placeholder 5"/>
          <p:cNvSpPr>
            <a:spLocks noGrp="1"/>
          </p:cNvSpPr>
          <p:nvPr>
            <p:ph type="ftr" sz="quarter" idx="11"/>
          </p:nvPr>
        </p:nvSpPr>
        <p:spPr/>
        <p:txBody>
          <a:bodyPr/>
          <a:lstStyle/>
          <a:p>
            <a:r>
              <a:rPr lang="en-US">
                <a:solidFill>
                  <a:srgbClr val="FF0000"/>
                </a:solidFill>
              </a:rPr>
              <a:t>Department of Computer Science</a:t>
            </a:r>
            <a:endParaRPr lang="en-US" dirty="0">
              <a:solidFill>
                <a:srgbClr val="FF0000"/>
              </a:solidFill>
            </a:endParaRPr>
          </a:p>
        </p:txBody>
      </p:sp>
      <p:sp>
        <p:nvSpPr>
          <p:cNvPr id="2" name="Slide Number Placeholder 1">
            <a:extLst>
              <a:ext uri="{FF2B5EF4-FFF2-40B4-BE49-F238E27FC236}">
                <a16:creationId xmlns:a16="http://schemas.microsoft.com/office/drawing/2014/main" id="{3EE4BB5F-7FFD-41EE-922C-7ABA5BF2660B}"/>
              </a:ext>
            </a:extLst>
          </p:cNvPr>
          <p:cNvSpPr>
            <a:spLocks noGrp="1"/>
          </p:cNvSpPr>
          <p:nvPr>
            <p:ph type="sldNum" sz="quarter" idx="12"/>
          </p:nvPr>
        </p:nvSpPr>
        <p:spPr/>
        <p:txBody>
          <a:bodyPr/>
          <a:lstStyle/>
          <a:p>
            <a:fld id="{D57F1E4F-1CFF-5643-939E-217C01CDF565}" type="slidenum">
              <a:rPr lang="en-US" smtClean="0">
                <a:solidFill>
                  <a:srgbClr val="2E2B21">
                    <a:tint val="75000"/>
                  </a:srgbClr>
                </a:solidFill>
              </a:rPr>
              <a:pPr/>
              <a:t>1</a:t>
            </a:fld>
            <a:endParaRPr lang="en-US" dirty="0">
              <a:solidFill>
                <a:srgbClr val="2E2B21">
                  <a:tint val="75000"/>
                </a:srgbClr>
              </a:solidFill>
            </a:endParaRPr>
          </a:p>
        </p:txBody>
      </p:sp>
      <p:pic>
        <p:nvPicPr>
          <p:cNvPr id="5" name="Picture 4" descr="Ð"/>
          <p:cNvPicPr/>
          <p:nvPr/>
        </p:nvPicPr>
        <p:blipFill>
          <a:blip r:embed="rId3"/>
          <a:srcRect/>
          <a:stretch>
            <a:fillRect/>
          </a:stretch>
        </p:blipFill>
        <p:spPr bwMode="auto">
          <a:xfrm>
            <a:off x="3733801" y="214065"/>
            <a:ext cx="1643063" cy="1457325"/>
          </a:xfrm>
          <a:prstGeom prst="rect">
            <a:avLst/>
          </a:prstGeom>
          <a:noFill/>
        </p:spPr>
      </p:pic>
    </p:spTree>
    <p:extLst>
      <p:ext uri="{BB962C8B-B14F-4D97-AF65-F5344CB8AC3E}">
        <p14:creationId xmlns:p14="http://schemas.microsoft.com/office/powerpoint/2010/main" val="2101627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01682"/>
            <a:ext cx="8134350" cy="517518"/>
          </a:xfrm>
        </p:spPr>
        <p:txBody>
          <a:bodyPr>
            <a:normAutofit fontScale="90000"/>
          </a:bodyPr>
          <a:lstStyle/>
          <a:p>
            <a:r>
              <a:rPr lang="en-US" b="1" dirty="0"/>
              <a:t>Outline </a:t>
            </a:r>
            <a:endParaRPr lang="en-US" dirty="0">
              <a:latin typeface="Cambria" pitchFamily="18" charset="0"/>
              <a:ea typeface="Cambria" pitchFamily="18" charset="0"/>
            </a:endParaRPr>
          </a:p>
        </p:txBody>
      </p:sp>
      <p:sp>
        <p:nvSpPr>
          <p:cNvPr id="3" name="Content Placeholder 2"/>
          <p:cNvSpPr>
            <a:spLocks noGrp="1"/>
          </p:cNvSpPr>
          <p:nvPr>
            <p:ph idx="1"/>
          </p:nvPr>
        </p:nvSpPr>
        <p:spPr>
          <a:xfrm>
            <a:off x="457200" y="1219200"/>
            <a:ext cx="8305800" cy="4953000"/>
          </a:xfrm>
        </p:spPr>
        <p:txBody>
          <a:bodyPr>
            <a:normAutofit/>
          </a:bodyPr>
          <a:lstStyle/>
          <a:p>
            <a:pPr>
              <a:lnSpc>
                <a:spcPct val="160000"/>
              </a:lnSpc>
            </a:pPr>
            <a:r>
              <a:rPr lang="en-US" sz="3200" dirty="0">
                <a:latin typeface="Comic Sans MS" panose="030F0702030302020204" pitchFamily="66" charset="0"/>
              </a:rPr>
              <a:t>Introduction to AJAX</a:t>
            </a:r>
          </a:p>
          <a:p>
            <a:pPr>
              <a:lnSpc>
                <a:spcPct val="160000"/>
              </a:lnSpc>
            </a:pPr>
            <a:r>
              <a:rPr lang="en-US" sz="3200" dirty="0" err="1">
                <a:latin typeface="Comic Sans MS" panose="030F0702030302020204" pitchFamily="66" charset="0"/>
              </a:rPr>
              <a:t>XMLHttpRequest</a:t>
            </a:r>
            <a:r>
              <a:rPr lang="en-US" sz="3200" dirty="0">
                <a:latin typeface="Comic Sans MS" panose="030F0702030302020204" pitchFamily="66" charset="0"/>
              </a:rPr>
              <a:t> Object</a:t>
            </a:r>
          </a:p>
          <a:p>
            <a:pPr>
              <a:lnSpc>
                <a:spcPct val="160000"/>
              </a:lnSpc>
            </a:pPr>
            <a:r>
              <a:rPr lang="en-US" sz="3200" dirty="0">
                <a:latin typeface="Comic Sans MS" panose="030F0702030302020204" pitchFamily="66" charset="0"/>
              </a:rPr>
              <a:t>Sending Request to PHP server</a:t>
            </a:r>
          </a:p>
          <a:p>
            <a:pPr>
              <a:lnSpc>
                <a:spcPct val="160000"/>
              </a:lnSpc>
            </a:pPr>
            <a:r>
              <a:rPr lang="en-US" sz="3200" dirty="0">
                <a:latin typeface="Comic Sans MS" panose="030F0702030302020204" pitchFamily="66" charset="0"/>
              </a:rPr>
              <a:t>Handling Response from Server</a:t>
            </a:r>
            <a:endParaRPr lang="en-US" dirty="0">
              <a:latin typeface="Comic Sans MS" panose="030F0702030302020204" pitchFamily="66" charset="0"/>
            </a:endParaRPr>
          </a:p>
          <a:p>
            <a:pPr>
              <a:lnSpc>
                <a:spcPct val="160000"/>
              </a:lnSpc>
            </a:pPr>
            <a:endParaRPr lang="en-US" dirty="0">
              <a:latin typeface="Comic Sans MS" panose="030F0702030302020204" pitchFamily="66" charset="0"/>
            </a:endParaRPr>
          </a:p>
        </p:txBody>
      </p:sp>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2</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Tree>
    <p:extLst>
      <p:ext uri="{BB962C8B-B14F-4D97-AF65-F5344CB8AC3E}">
        <p14:creationId xmlns:p14="http://schemas.microsoft.com/office/powerpoint/2010/main" val="2386829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7"/>
            <a:ext cx="8058150" cy="854074"/>
          </a:xfrm>
        </p:spPr>
        <p:txBody>
          <a:bodyPr>
            <a:normAutofit fontScale="90000"/>
          </a:bodyPr>
          <a:lstStyle/>
          <a:p>
            <a:br>
              <a:rPr lang="en-US" b="1" dirty="0"/>
            </a:br>
            <a:r>
              <a:rPr lang="en-US" b="1" dirty="0"/>
              <a:t>What is Ajax?</a:t>
            </a:r>
            <a:br>
              <a:rPr lang="en-US" b="1" dirty="0"/>
            </a:br>
            <a:endParaRPr lang="en-US" b="1" dirty="0">
              <a:latin typeface="Cambria" pitchFamily="18" charset="0"/>
              <a:ea typeface="Cambria" pitchFamily="18" charset="0"/>
            </a:endParaRPr>
          </a:p>
        </p:txBody>
      </p:sp>
      <p:sp>
        <p:nvSpPr>
          <p:cNvPr id="3" name="Content Placeholder 2"/>
          <p:cNvSpPr>
            <a:spLocks noGrp="1"/>
          </p:cNvSpPr>
          <p:nvPr>
            <p:ph idx="1"/>
          </p:nvPr>
        </p:nvSpPr>
        <p:spPr>
          <a:xfrm>
            <a:off x="552450" y="1219201"/>
            <a:ext cx="8058150" cy="4953000"/>
          </a:xfrm>
        </p:spPr>
        <p:txBody>
          <a:bodyPr>
            <a:normAutofit/>
          </a:bodyPr>
          <a:lstStyle/>
          <a:p>
            <a:pPr>
              <a:lnSpc>
                <a:spcPct val="160000"/>
              </a:lnSpc>
            </a:pPr>
            <a:r>
              <a:rPr lang="en-US" dirty="0">
                <a:latin typeface="Comic Sans MS" panose="030F0702030302020204" pitchFamily="66" charset="0"/>
              </a:rPr>
              <a:t>Ajax is an acronym for Asynchronous JavaScript and XML.</a:t>
            </a:r>
          </a:p>
          <a:p>
            <a:pPr>
              <a:lnSpc>
                <a:spcPct val="100000"/>
              </a:lnSpc>
            </a:pPr>
            <a:r>
              <a:rPr lang="en-US" dirty="0">
                <a:latin typeface="Comic Sans MS" panose="030F0702030302020204" pitchFamily="66" charset="0"/>
              </a:rPr>
              <a:t>It is used to communicate with the server without refreshing the web page and thus increasing the user experience and better performance.</a:t>
            </a:r>
          </a:p>
          <a:p>
            <a:pPr>
              <a:lnSpc>
                <a:spcPct val="100000"/>
              </a:lnSpc>
            </a:pPr>
            <a:r>
              <a:rPr lang="en-US" b="0" i="0" dirty="0">
                <a:effectLst/>
                <a:latin typeface="Comic Sans MS" panose="030F0702030302020204" pitchFamily="66" charset="0"/>
              </a:rPr>
              <a:t>Each action sends data and receives results in the background.</a:t>
            </a:r>
            <a:r>
              <a:rPr lang="en-US" dirty="0">
                <a:latin typeface="Comic Sans MS" panose="030F0702030302020204" pitchFamily="66" charset="0"/>
              </a:rPr>
              <a:t> </a:t>
            </a:r>
            <a:br>
              <a:rPr lang="en-US" dirty="0">
                <a:latin typeface="Comic Sans MS" panose="030F0702030302020204" pitchFamily="66" charset="0"/>
              </a:rPr>
            </a:br>
            <a:endParaRPr lang="en-US" dirty="0">
              <a:latin typeface="Comic Sans MS" panose="030F0702030302020204" pitchFamily="66" charset="0"/>
            </a:endParaRPr>
          </a:p>
        </p:txBody>
      </p:sp>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3</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Tree>
    <p:extLst>
      <p:ext uri="{BB962C8B-B14F-4D97-AF65-F5344CB8AC3E}">
        <p14:creationId xmlns:p14="http://schemas.microsoft.com/office/powerpoint/2010/main" val="3369163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2323"/>
            <a:ext cx="7886700" cy="1082674"/>
          </a:xfrm>
        </p:spPr>
        <p:txBody>
          <a:bodyPr>
            <a:normAutofit fontScale="90000"/>
          </a:bodyPr>
          <a:lstStyle/>
          <a:p>
            <a:pPr>
              <a:lnSpc>
                <a:spcPct val="160000"/>
              </a:lnSpc>
            </a:pPr>
            <a:r>
              <a:rPr lang="en-US" dirty="0">
                <a:latin typeface="Comic Sans MS" panose="030F0702030302020204" pitchFamily="66" charset="0"/>
              </a:rPr>
              <a:t>Synchronous vs Asynchronous</a:t>
            </a:r>
          </a:p>
        </p:txBody>
      </p:sp>
      <p:sp>
        <p:nvSpPr>
          <p:cNvPr id="3" name="Content Placeholder 2"/>
          <p:cNvSpPr>
            <a:spLocks noGrp="1"/>
          </p:cNvSpPr>
          <p:nvPr>
            <p:ph idx="1"/>
          </p:nvPr>
        </p:nvSpPr>
        <p:spPr>
          <a:xfrm>
            <a:off x="628650" y="1219200"/>
            <a:ext cx="8058150" cy="4876800"/>
          </a:xfrm>
        </p:spPr>
        <p:txBody>
          <a:bodyPr>
            <a:normAutofit/>
          </a:bodyPr>
          <a:lstStyle/>
          <a:p>
            <a:pPr>
              <a:lnSpc>
                <a:spcPct val="160000"/>
              </a:lnSpc>
            </a:pPr>
            <a:r>
              <a:rPr lang="en-US" dirty="0">
                <a:latin typeface="Comic Sans MS" panose="030F0702030302020204" pitchFamily="66" charset="0"/>
              </a:rPr>
              <a:t>Synchronous (Classic Web-Application Model)</a:t>
            </a:r>
          </a:p>
          <a:p>
            <a:pPr>
              <a:lnSpc>
                <a:spcPct val="160000"/>
              </a:lnSpc>
            </a:pPr>
            <a:r>
              <a:rPr lang="en-US" dirty="0">
                <a:latin typeface="Comic Sans MS" panose="030F0702030302020204" pitchFamily="66" charset="0"/>
              </a:rPr>
              <a:t>Synchronous request blocks the client until operation completes i.e. browser is unresponsive. </a:t>
            </a:r>
          </a:p>
          <a:p>
            <a:pPr>
              <a:lnSpc>
                <a:spcPct val="160000"/>
              </a:lnSpc>
            </a:pPr>
            <a:r>
              <a:rPr lang="en-US" dirty="0">
                <a:latin typeface="Comic Sans MS" panose="030F0702030302020204" pitchFamily="66" charset="0"/>
              </a:rPr>
              <a:t>In such case, JavaScript engine of the browser is blocked.</a:t>
            </a:r>
          </a:p>
        </p:txBody>
      </p:sp>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4</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Tree>
    <p:extLst>
      <p:ext uri="{BB962C8B-B14F-4D97-AF65-F5344CB8AC3E}">
        <p14:creationId xmlns:p14="http://schemas.microsoft.com/office/powerpoint/2010/main" val="2712513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49065"/>
          </a:xfrm>
        </p:spPr>
        <p:txBody>
          <a:bodyPr/>
          <a:lstStyle/>
          <a:p>
            <a:r>
              <a:rPr lang="en-US" b="1" dirty="0">
                <a:latin typeface="Comic Sans MS" panose="030F0702030302020204" pitchFamily="66" charset="0"/>
                <a:ea typeface="Cambria" pitchFamily="18" charset="0"/>
              </a:rPr>
              <a:t>Cont.…</a:t>
            </a:r>
            <a:endParaRPr lang="en-US" dirty="0">
              <a:latin typeface="Comic Sans MS" panose="030F0702030302020204" pitchFamily="66" charset="0"/>
              <a:ea typeface="Cambria" pitchFamily="18" charset="0"/>
            </a:endParaRPr>
          </a:p>
        </p:txBody>
      </p:sp>
      <p:pic>
        <p:nvPicPr>
          <p:cNvPr id="7" name="Content Placeholder 6">
            <a:extLst>
              <a:ext uri="{FF2B5EF4-FFF2-40B4-BE49-F238E27FC236}">
                <a16:creationId xmlns:a16="http://schemas.microsoft.com/office/drawing/2014/main" id="{CE7C070F-E3AA-15D5-ACC5-3DCD4E6D52D1}"/>
              </a:ext>
            </a:extLst>
          </p:cNvPr>
          <p:cNvPicPr>
            <a:picLocks noGrp="1" noChangeAspect="1"/>
          </p:cNvPicPr>
          <p:nvPr>
            <p:ph idx="1"/>
          </p:nvPr>
        </p:nvPicPr>
        <p:blipFill rotWithShape="1">
          <a:blip r:embed="rId2"/>
          <a:srcRect l="2542" r="4237"/>
          <a:stretch/>
        </p:blipFill>
        <p:spPr>
          <a:xfrm>
            <a:off x="381000" y="1219200"/>
            <a:ext cx="8382000" cy="4222755"/>
          </a:xfrm>
        </p:spPr>
      </p:pic>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5</a:t>
            </a:fld>
            <a:endParaRPr lang="en-US" dirty="0">
              <a:solidFill>
                <a:srgbClr val="2E2B21">
                  <a:tint val="75000"/>
                </a:srgbClr>
              </a:solidFill>
            </a:endParaRPr>
          </a:p>
        </p:txBody>
      </p:sp>
      <p:sp>
        <p:nvSpPr>
          <p:cNvPr id="9" name="TextBox 8">
            <a:extLst>
              <a:ext uri="{FF2B5EF4-FFF2-40B4-BE49-F238E27FC236}">
                <a16:creationId xmlns:a16="http://schemas.microsoft.com/office/drawing/2014/main" id="{FCD77DE9-00A4-0743-9349-06E04279375A}"/>
              </a:ext>
            </a:extLst>
          </p:cNvPr>
          <p:cNvSpPr txBox="1"/>
          <p:nvPr/>
        </p:nvSpPr>
        <p:spPr>
          <a:xfrm>
            <a:off x="628650" y="5643808"/>
            <a:ext cx="8134350" cy="769441"/>
          </a:xfrm>
          <a:prstGeom prst="rect">
            <a:avLst/>
          </a:prstGeom>
          <a:noFill/>
        </p:spPr>
        <p:txBody>
          <a:bodyPr wrap="square">
            <a:spAutoFit/>
          </a:bodyPr>
          <a:lstStyle/>
          <a:p>
            <a:r>
              <a:rPr lang="en-US" sz="2200" b="0" i="0" dirty="0">
                <a:solidFill>
                  <a:srgbClr val="333333"/>
                </a:solidFill>
                <a:effectLst/>
                <a:latin typeface="inter-regular"/>
              </a:rPr>
              <a:t>As you can see in the image, full page is refreshed at request time and user is blocked until request completes.</a:t>
            </a:r>
            <a:endParaRPr lang="en-US" sz="2200" dirty="0"/>
          </a:p>
        </p:txBody>
      </p:sp>
    </p:spTree>
    <p:extLst>
      <p:ext uri="{BB962C8B-B14F-4D97-AF65-F5344CB8AC3E}">
        <p14:creationId xmlns:p14="http://schemas.microsoft.com/office/powerpoint/2010/main" val="2755633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3"/>
          </a:xfrm>
        </p:spPr>
        <p:txBody>
          <a:bodyPr>
            <a:noAutofit/>
          </a:bodyPr>
          <a:lstStyle/>
          <a:p>
            <a:pPr algn="just"/>
            <a:br>
              <a:rPr lang="en-US" sz="2400" b="1" i="0" dirty="0">
                <a:solidFill>
                  <a:srgbClr val="610B38"/>
                </a:solidFill>
                <a:effectLst/>
                <a:latin typeface="Verdana" panose="020B0604030504040204" pitchFamily="34" charset="0"/>
                <a:ea typeface="Verdana" panose="020B0604030504040204" pitchFamily="34" charset="0"/>
              </a:rPr>
            </a:br>
            <a:r>
              <a:rPr lang="en-US" sz="2400" b="1" i="0" dirty="0">
                <a:solidFill>
                  <a:srgbClr val="610B38"/>
                </a:solidFill>
                <a:effectLst/>
                <a:latin typeface="Verdana" panose="020B0604030504040204" pitchFamily="34" charset="0"/>
                <a:ea typeface="Verdana" panose="020B0604030504040204" pitchFamily="34" charset="0"/>
              </a:rPr>
              <a:t>Asynchronous(AJAX Web-Application Model)</a:t>
            </a:r>
          </a:p>
        </p:txBody>
      </p:sp>
      <p:sp>
        <p:nvSpPr>
          <p:cNvPr id="3" name="Content Placeholder 2"/>
          <p:cNvSpPr>
            <a:spLocks noGrp="1"/>
          </p:cNvSpPr>
          <p:nvPr>
            <p:ph idx="1"/>
          </p:nvPr>
        </p:nvSpPr>
        <p:spPr>
          <a:xfrm>
            <a:off x="457200" y="1219200"/>
            <a:ext cx="8305800" cy="4953000"/>
          </a:xfrm>
        </p:spPr>
        <p:txBody>
          <a:bodyPr>
            <a:normAutofit/>
          </a:bodyPr>
          <a:lstStyle/>
          <a:p>
            <a:pPr algn="just">
              <a:lnSpc>
                <a:spcPct val="150000"/>
              </a:lnSpc>
              <a:buFont typeface="Courier New" panose="02070309020205020404" pitchFamily="49" charset="0"/>
              <a:buChar char="o"/>
            </a:pPr>
            <a:r>
              <a:rPr lang="en-US" sz="2400" b="0" i="0" dirty="0">
                <a:solidFill>
                  <a:srgbClr val="333333"/>
                </a:solidFill>
                <a:effectLst/>
                <a:latin typeface="Comic Sans MS" panose="030F0702030302020204" pitchFamily="66" charset="0"/>
              </a:rPr>
              <a:t>Asynchronous request doesn’t block the client i.e. browser is responsive.</a:t>
            </a:r>
          </a:p>
          <a:p>
            <a:pPr algn="just">
              <a:lnSpc>
                <a:spcPct val="150000"/>
              </a:lnSpc>
              <a:buFont typeface="Courier New" panose="02070309020205020404" pitchFamily="49" charset="0"/>
              <a:buChar char="o"/>
            </a:pPr>
            <a:r>
              <a:rPr lang="en-US" sz="2400" b="0" i="0" dirty="0">
                <a:solidFill>
                  <a:srgbClr val="333333"/>
                </a:solidFill>
                <a:effectLst/>
                <a:latin typeface="Comic Sans MS" panose="030F0702030302020204" pitchFamily="66" charset="0"/>
              </a:rPr>
              <a:t>At that time, user can perform another operations also. </a:t>
            </a:r>
          </a:p>
          <a:p>
            <a:pPr algn="just">
              <a:lnSpc>
                <a:spcPct val="150000"/>
              </a:lnSpc>
              <a:buFont typeface="Courier New" panose="02070309020205020404" pitchFamily="49" charset="0"/>
              <a:buChar char="o"/>
            </a:pPr>
            <a:r>
              <a:rPr lang="en-US" sz="2400" b="0" i="0" dirty="0">
                <a:solidFill>
                  <a:srgbClr val="333333"/>
                </a:solidFill>
                <a:effectLst/>
                <a:latin typeface="Comic Sans MS" panose="030F0702030302020204" pitchFamily="66" charset="0"/>
              </a:rPr>
              <a:t>In such case, </a:t>
            </a:r>
            <a:r>
              <a:rPr lang="en-US" sz="2400" dirty="0">
                <a:solidFill>
                  <a:srgbClr val="333333"/>
                </a:solidFill>
                <a:latin typeface="Comic Sans MS" panose="030F0702030302020204" pitchFamily="66" charset="0"/>
              </a:rPr>
              <a:t>J</a:t>
            </a:r>
            <a:r>
              <a:rPr lang="en-US" sz="2400" b="0" i="0" dirty="0">
                <a:solidFill>
                  <a:srgbClr val="333333"/>
                </a:solidFill>
                <a:effectLst/>
                <a:latin typeface="Comic Sans MS" panose="030F0702030302020204" pitchFamily="66" charset="0"/>
              </a:rPr>
              <a:t>avaScript engine of the browser is not blocked.</a:t>
            </a:r>
          </a:p>
          <a:p>
            <a:pPr algn="just">
              <a:lnSpc>
                <a:spcPct val="150000"/>
              </a:lnSpc>
              <a:buFont typeface="Courier New" panose="02070309020205020404" pitchFamily="49" charset="0"/>
              <a:buChar char="o"/>
            </a:pPr>
            <a:r>
              <a:rPr lang="en-US" sz="2400" dirty="0">
                <a:latin typeface="Comic Sans MS" panose="030F0702030302020204" pitchFamily="66" charset="0"/>
              </a:rPr>
              <a:t>full page is not refreshed at request time and user gets response from the ajax engine</a:t>
            </a:r>
          </a:p>
        </p:txBody>
      </p:sp>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6</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Tree>
    <p:extLst>
      <p:ext uri="{BB962C8B-B14F-4D97-AF65-F5344CB8AC3E}">
        <p14:creationId xmlns:p14="http://schemas.microsoft.com/office/powerpoint/2010/main" val="2643967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698CE-FA08-B8E1-4D0F-88C97B3EF77F}"/>
              </a:ext>
            </a:extLst>
          </p:cNvPr>
          <p:cNvSpPr>
            <a:spLocks noGrp="1"/>
          </p:cNvSpPr>
          <p:nvPr>
            <p:ph type="title"/>
          </p:nvPr>
        </p:nvSpPr>
        <p:spPr>
          <a:xfrm>
            <a:off x="658749" y="304800"/>
            <a:ext cx="7886700" cy="1325563"/>
          </a:xfrm>
        </p:spPr>
        <p:txBody>
          <a:bodyPr>
            <a:normAutofit/>
          </a:bodyPr>
          <a:lstStyle/>
          <a:p>
            <a:r>
              <a:rPr lang="en-US" sz="4000" dirty="0">
                <a:latin typeface="Comic Sans MS" panose="030F0702030302020204" pitchFamily="66" charset="0"/>
              </a:rPr>
              <a:t>Cont..</a:t>
            </a:r>
          </a:p>
        </p:txBody>
      </p:sp>
      <p:pic>
        <p:nvPicPr>
          <p:cNvPr id="6" name="Content Placeholder 5">
            <a:extLst>
              <a:ext uri="{FF2B5EF4-FFF2-40B4-BE49-F238E27FC236}">
                <a16:creationId xmlns:a16="http://schemas.microsoft.com/office/drawing/2014/main" id="{4BB140BF-1A4C-EA0A-9488-F6FC87FD93D7}"/>
              </a:ext>
            </a:extLst>
          </p:cNvPr>
          <p:cNvPicPr>
            <a:picLocks noGrp="1" noChangeAspect="1"/>
          </p:cNvPicPr>
          <p:nvPr>
            <p:ph idx="1"/>
          </p:nvPr>
        </p:nvPicPr>
        <p:blipFill>
          <a:blip r:embed="rId2"/>
          <a:stretch>
            <a:fillRect/>
          </a:stretch>
        </p:blipFill>
        <p:spPr>
          <a:xfrm>
            <a:off x="288799" y="1295400"/>
            <a:ext cx="8626601" cy="5039934"/>
          </a:xfrm>
          <a:prstGeom prst="rect">
            <a:avLst/>
          </a:prstGeom>
        </p:spPr>
      </p:pic>
      <p:sp>
        <p:nvSpPr>
          <p:cNvPr id="4" name="Footer Placeholder 3">
            <a:extLst>
              <a:ext uri="{FF2B5EF4-FFF2-40B4-BE49-F238E27FC236}">
                <a16:creationId xmlns:a16="http://schemas.microsoft.com/office/drawing/2014/main" id="{A5B2CB84-55BF-18F4-6D11-EC30E3ACB749}"/>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009B75C6-0E65-2675-410B-EBB6BBC76110}"/>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7</a:t>
            </a:fld>
            <a:endParaRPr lang="en-US" dirty="0">
              <a:solidFill>
                <a:srgbClr val="2E2B21">
                  <a:tint val="75000"/>
                </a:srgbClr>
              </a:solidFill>
            </a:endParaRPr>
          </a:p>
        </p:txBody>
      </p:sp>
    </p:spTree>
    <p:extLst>
      <p:ext uri="{BB962C8B-B14F-4D97-AF65-F5344CB8AC3E}">
        <p14:creationId xmlns:p14="http://schemas.microsoft.com/office/powerpoint/2010/main" val="3858508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799"/>
            <a:ext cx="8096250" cy="932793"/>
          </a:xfrm>
        </p:spPr>
        <p:txBody>
          <a:bodyPr>
            <a:normAutofit fontScale="90000"/>
          </a:bodyPr>
          <a:lstStyle/>
          <a:p>
            <a:pPr>
              <a:lnSpc>
                <a:spcPct val="160000"/>
              </a:lnSpc>
            </a:pPr>
            <a:r>
              <a:rPr lang="en-US" dirty="0">
                <a:latin typeface="Comic Sans MS" panose="030F0702030302020204" pitchFamily="66" charset="0"/>
              </a:rPr>
              <a:t>AJAX Technologies</a:t>
            </a:r>
          </a:p>
        </p:txBody>
      </p:sp>
      <p:sp>
        <p:nvSpPr>
          <p:cNvPr id="3" name="Content Placeholder 2"/>
          <p:cNvSpPr>
            <a:spLocks noGrp="1"/>
          </p:cNvSpPr>
          <p:nvPr>
            <p:ph idx="1"/>
          </p:nvPr>
        </p:nvSpPr>
        <p:spPr>
          <a:xfrm>
            <a:off x="457200" y="1219200"/>
            <a:ext cx="8305800" cy="4800600"/>
          </a:xfrm>
        </p:spPr>
        <p:txBody>
          <a:bodyPr>
            <a:normAutofit/>
          </a:bodyPr>
          <a:lstStyle/>
          <a:p>
            <a:pPr>
              <a:lnSpc>
                <a:spcPct val="160000"/>
              </a:lnSpc>
            </a:pPr>
            <a:r>
              <a:rPr lang="en-US" dirty="0">
                <a:latin typeface="Comic Sans MS" panose="030F0702030302020204" pitchFamily="66" charset="0"/>
              </a:rPr>
              <a:t>AJAX technologies includes:</a:t>
            </a:r>
          </a:p>
          <a:p>
            <a:pPr lvl="1">
              <a:lnSpc>
                <a:spcPct val="160000"/>
              </a:lnSpc>
            </a:pPr>
            <a:r>
              <a:rPr lang="en-US" dirty="0">
                <a:latin typeface="Comic Sans MS" panose="030F0702030302020204" pitchFamily="66" charset="0"/>
              </a:rPr>
              <a:t>HTML/XHTML and CSS</a:t>
            </a:r>
          </a:p>
          <a:p>
            <a:pPr lvl="1">
              <a:lnSpc>
                <a:spcPct val="160000"/>
              </a:lnSpc>
            </a:pPr>
            <a:r>
              <a:rPr lang="en-US" dirty="0">
                <a:latin typeface="Comic Sans MS" panose="030F0702030302020204" pitchFamily="66" charset="0"/>
              </a:rPr>
              <a:t>DOM</a:t>
            </a:r>
          </a:p>
          <a:p>
            <a:pPr lvl="1">
              <a:lnSpc>
                <a:spcPct val="160000"/>
              </a:lnSpc>
            </a:pPr>
            <a:r>
              <a:rPr lang="en-US" dirty="0">
                <a:latin typeface="Comic Sans MS" panose="030F0702030302020204" pitchFamily="66" charset="0"/>
              </a:rPr>
              <a:t>XML or JSON</a:t>
            </a:r>
          </a:p>
          <a:p>
            <a:pPr lvl="1">
              <a:lnSpc>
                <a:spcPct val="160000"/>
              </a:lnSpc>
            </a:pPr>
            <a:r>
              <a:rPr lang="en-US" dirty="0">
                <a:latin typeface="Comic Sans MS" panose="030F0702030302020204" pitchFamily="66" charset="0"/>
              </a:rPr>
              <a:t>XMLHttpRequest</a:t>
            </a:r>
          </a:p>
          <a:p>
            <a:pPr lvl="1">
              <a:lnSpc>
                <a:spcPct val="160000"/>
              </a:lnSpc>
            </a:pPr>
            <a:r>
              <a:rPr lang="en-US" dirty="0">
                <a:latin typeface="Comic Sans MS" panose="030F0702030302020204" pitchFamily="66" charset="0"/>
              </a:rPr>
              <a:t>JavaScript</a:t>
            </a:r>
          </a:p>
        </p:txBody>
      </p:sp>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8</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Tree>
    <p:extLst>
      <p:ext uri="{BB962C8B-B14F-4D97-AF65-F5344CB8AC3E}">
        <p14:creationId xmlns:p14="http://schemas.microsoft.com/office/powerpoint/2010/main" val="2251765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82674"/>
          </a:xfrm>
        </p:spPr>
        <p:txBody>
          <a:bodyPr/>
          <a:lstStyle/>
          <a:p>
            <a:r>
              <a:rPr lang="en-US" dirty="0">
                <a:latin typeface="Comic Sans MS" panose="030F0702030302020204" pitchFamily="66" charset="0"/>
              </a:rPr>
              <a:t>Cont..</a:t>
            </a:r>
            <a:endParaRPr lang="en-US" dirty="0">
              <a:latin typeface="Comic Sans MS" panose="030F0702030302020204" pitchFamily="66" charset="0"/>
              <a:ea typeface="Cambria" pitchFamily="18" charset="0"/>
            </a:endParaRPr>
          </a:p>
        </p:txBody>
      </p:sp>
      <p:sp>
        <p:nvSpPr>
          <p:cNvPr id="3" name="Content Placeholder 2"/>
          <p:cNvSpPr>
            <a:spLocks noGrp="1"/>
          </p:cNvSpPr>
          <p:nvPr>
            <p:ph idx="1"/>
          </p:nvPr>
        </p:nvSpPr>
        <p:spPr>
          <a:xfrm>
            <a:off x="457200" y="1219200"/>
            <a:ext cx="8305800" cy="5137155"/>
          </a:xfrm>
        </p:spPr>
        <p:txBody>
          <a:bodyPr>
            <a:normAutofit/>
          </a:bodyPr>
          <a:lstStyle/>
          <a:p>
            <a:pPr>
              <a:lnSpc>
                <a:spcPct val="120000"/>
              </a:lnSpc>
              <a:buFont typeface="Wingdings" panose="05000000000000000000" pitchFamily="2" charset="2"/>
              <a:buChar char="v"/>
            </a:pPr>
            <a:r>
              <a:rPr lang="en-US" sz="2000" dirty="0">
                <a:solidFill>
                  <a:srgbClr val="FF0000"/>
                </a:solidFill>
                <a:latin typeface="Comic Sans MS" panose="030F0702030302020204" pitchFamily="66" charset="0"/>
              </a:rPr>
              <a:t>HTML/XHTML and CSS</a:t>
            </a:r>
          </a:p>
          <a:p>
            <a:pPr lvl="1">
              <a:lnSpc>
                <a:spcPct val="120000"/>
              </a:lnSpc>
            </a:pPr>
            <a:r>
              <a:rPr lang="en-US" sz="2000" dirty="0">
                <a:latin typeface="Comic Sans MS" panose="030F0702030302020204" pitchFamily="66" charset="0"/>
              </a:rPr>
              <a:t>These technologies are used for displaying content and style. It is mainly used for presentation.</a:t>
            </a:r>
          </a:p>
          <a:p>
            <a:pPr>
              <a:lnSpc>
                <a:spcPct val="120000"/>
              </a:lnSpc>
              <a:buFont typeface="Wingdings" panose="05000000000000000000" pitchFamily="2" charset="2"/>
              <a:buChar char="v"/>
            </a:pPr>
            <a:r>
              <a:rPr lang="en-US" sz="2000" dirty="0">
                <a:solidFill>
                  <a:srgbClr val="FF0000"/>
                </a:solidFill>
                <a:latin typeface="Comic Sans MS" panose="030F0702030302020204" pitchFamily="66" charset="0"/>
              </a:rPr>
              <a:t>DOM</a:t>
            </a:r>
          </a:p>
          <a:p>
            <a:pPr lvl="1">
              <a:lnSpc>
                <a:spcPct val="120000"/>
              </a:lnSpc>
            </a:pPr>
            <a:r>
              <a:rPr lang="en-US" sz="2000" dirty="0">
                <a:latin typeface="Comic Sans MS" panose="030F0702030302020204" pitchFamily="66" charset="0"/>
              </a:rPr>
              <a:t>It is used for dynamic display and interaction with data.</a:t>
            </a:r>
          </a:p>
          <a:p>
            <a:pPr>
              <a:lnSpc>
                <a:spcPct val="120000"/>
              </a:lnSpc>
              <a:buFont typeface="Wingdings" panose="05000000000000000000" pitchFamily="2" charset="2"/>
              <a:buChar char="v"/>
            </a:pPr>
            <a:r>
              <a:rPr lang="en-US" sz="2000" dirty="0">
                <a:solidFill>
                  <a:srgbClr val="FF0000"/>
                </a:solidFill>
                <a:latin typeface="Comic Sans MS" panose="030F0702030302020204" pitchFamily="66" charset="0"/>
              </a:rPr>
              <a:t>XML or JSON</a:t>
            </a:r>
          </a:p>
          <a:p>
            <a:pPr lvl="1">
              <a:lnSpc>
                <a:spcPct val="120000"/>
              </a:lnSpc>
            </a:pPr>
            <a:r>
              <a:rPr lang="en-US" sz="2000" dirty="0">
                <a:latin typeface="Comic Sans MS" panose="030F0702030302020204" pitchFamily="66" charset="0"/>
              </a:rPr>
              <a:t>For carrying data to and from server. JSON (JavaScript Object Notation) is like XML but short and faster than XML.</a:t>
            </a:r>
          </a:p>
          <a:p>
            <a:pPr>
              <a:buFont typeface="Wingdings" panose="05000000000000000000" pitchFamily="2" charset="2"/>
              <a:buChar char="v"/>
            </a:pPr>
            <a:r>
              <a:rPr lang="en-US" altLang="en-US" dirty="0">
                <a:solidFill>
                  <a:srgbClr val="FF0000"/>
                </a:solidFill>
              </a:rPr>
              <a:t>JavaScript</a:t>
            </a:r>
          </a:p>
          <a:p>
            <a:pPr lvl="2"/>
            <a:r>
              <a:rPr lang="en-US" altLang="en-US" sz="2400" dirty="0"/>
              <a:t>Binding everything together</a:t>
            </a:r>
          </a:p>
          <a:p>
            <a:pPr marL="457200" lvl="1" indent="0">
              <a:lnSpc>
                <a:spcPct val="120000"/>
              </a:lnSpc>
              <a:buNone/>
            </a:pPr>
            <a:endParaRPr lang="en-US" sz="2000" dirty="0">
              <a:latin typeface="Comic Sans MS" panose="030F0702030302020204" pitchFamily="66" charset="0"/>
            </a:endParaRPr>
          </a:p>
        </p:txBody>
      </p:sp>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9</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Tree>
    <p:extLst>
      <p:ext uri="{BB962C8B-B14F-4D97-AF65-F5344CB8AC3E}">
        <p14:creationId xmlns:p14="http://schemas.microsoft.com/office/powerpoint/2010/main" val="318716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82674"/>
          </a:xfrm>
        </p:spPr>
        <p:txBody>
          <a:bodyPr/>
          <a:lstStyle/>
          <a:p>
            <a:pPr algn="just"/>
            <a:r>
              <a:rPr lang="en-US" b="0" i="0" dirty="0">
                <a:solidFill>
                  <a:srgbClr val="610B38"/>
                </a:solidFill>
                <a:effectLst/>
                <a:latin typeface="Comic Sans MS" panose="030F0702030302020204" pitchFamily="66" charset="0"/>
              </a:rPr>
              <a:t> XMLHttpRequest</a:t>
            </a:r>
          </a:p>
        </p:txBody>
      </p:sp>
      <p:sp>
        <p:nvSpPr>
          <p:cNvPr id="3" name="Content Placeholder 2"/>
          <p:cNvSpPr>
            <a:spLocks noGrp="1"/>
          </p:cNvSpPr>
          <p:nvPr>
            <p:ph idx="1"/>
          </p:nvPr>
        </p:nvSpPr>
        <p:spPr>
          <a:xfrm>
            <a:off x="628650" y="1219200"/>
            <a:ext cx="7886700" cy="4953000"/>
          </a:xfrm>
        </p:spPr>
        <p:txBody>
          <a:bodyPr>
            <a:normAutofit/>
          </a:bodyPr>
          <a:lstStyle/>
          <a:p>
            <a:pPr>
              <a:lnSpc>
                <a:spcPct val="150000"/>
              </a:lnSpc>
            </a:pPr>
            <a:r>
              <a:rPr lang="en-US" b="0" i="0" dirty="0" err="1">
                <a:solidFill>
                  <a:srgbClr val="333333"/>
                </a:solidFill>
                <a:effectLst/>
                <a:latin typeface="Comic Sans MS" panose="030F0702030302020204" pitchFamily="66" charset="0"/>
              </a:rPr>
              <a:t>XMLHttpRequest</a:t>
            </a:r>
            <a:r>
              <a:rPr lang="en-US" b="0" i="0" dirty="0">
                <a:solidFill>
                  <a:srgbClr val="333333"/>
                </a:solidFill>
                <a:effectLst/>
                <a:latin typeface="Comic Sans MS" panose="030F0702030302020204" pitchFamily="66" charset="0"/>
              </a:rPr>
              <a:t> object is used for asynchronous communication between client and server.</a:t>
            </a:r>
          </a:p>
          <a:p>
            <a:pPr algn="just">
              <a:lnSpc>
                <a:spcPct val="150000"/>
              </a:lnSpc>
            </a:pPr>
            <a:r>
              <a:rPr lang="en-US" b="0" i="0" dirty="0">
                <a:solidFill>
                  <a:srgbClr val="333333"/>
                </a:solidFill>
                <a:effectLst/>
                <a:latin typeface="Comic Sans MS" panose="030F0702030302020204" pitchFamily="66" charset="0"/>
              </a:rPr>
              <a:t>It performs following operations:</a:t>
            </a:r>
          </a:p>
          <a:p>
            <a:pPr lvl="1" algn="just">
              <a:lnSpc>
                <a:spcPct val="150000"/>
              </a:lnSpc>
              <a:buFont typeface="+mj-lt"/>
              <a:buAutoNum type="arabicPeriod"/>
            </a:pPr>
            <a:r>
              <a:rPr lang="en-US" b="0" i="0" dirty="0">
                <a:solidFill>
                  <a:srgbClr val="000000"/>
                </a:solidFill>
                <a:effectLst/>
                <a:latin typeface="Comic Sans MS" panose="030F0702030302020204" pitchFamily="66" charset="0"/>
              </a:rPr>
              <a:t>Sends data from the client in the background</a:t>
            </a:r>
          </a:p>
          <a:p>
            <a:pPr lvl="1" algn="just">
              <a:lnSpc>
                <a:spcPct val="150000"/>
              </a:lnSpc>
              <a:buFont typeface="+mj-lt"/>
              <a:buAutoNum type="arabicPeriod"/>
            </a:pPr>
            <a:r>
              <a:rPr lang="en-US" b="0" i="0" dirty="0">
                <a:solidFill>
                  <a:srgbClr val="000000"/>
                </a:solidFill>
                <a:effectLst/>
                <a:latin typeface="Comic Sans MS" panose="030F0702030302020204" pitchFamily="66" charset="0"/>
              </a:rPr>
              <a:t>Receives the data from the server</a:t>
            </a:r>
          </a:p>
          <a:p>
            <a:pPr lvl="1" algn="just">
              <a:lnSpc>
                <a:spcPct val="150000"/>
              </a:lnSpc>
              <a:buFont typeface="+mj-lt"/>
              <a:buAutoNum type="arabicPeriod"/>
            </a:pPr>
            <a:r>
              <a:rPr lang="en-US" b="0" i="0" dirty="0">
                <a:solidFill>
                  <a:srgbClr val="000000"/>
                </a:solidFill>
                <a:effectLst/>
                <a:latin typeface="Comic Sans MS" panose="030F0702030302020204" pitchFamily="66" charset="0"/>
              </a:rPr>
              <a:t>Updates the webpage without reloading it.</a:t>
            </a:r>
          </a:p>
          <a:p>
            <a:pPr>
              <a:lnSpc>
                <a:spcPct val="150000"/>
              </a:lnSpc>
              <a:buFont typeface="Wingdings" panose="05000000000000000000" pitchFamily="2" charset="2"/>
              <a:buChar char="v"/>
            </a:pPr>
            <a:endParaRPr lang="en-US" dirty="0">
              <a:latin typeface="Comic Sans MS" panose="030F0702030302020204" pitchFamily="66" charset="0"/>
            </a:endParaRPr>
          </a:p>
        </p:txBody>
      </p:sp>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10</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Tree>
    <p:extLst>
      <p:ext uri="{BB962C8B-B14F-4D97-AF65-F5344CB8AC3E}">
        <p14:creationId xmlns:p14="http://schemas.microsoft.com/office/powerpoint/2010/main" val="140012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82674"/>
          </a:xfrm>
        </p:spPr>
        <p:txBody>
          <a:bodyPr>
            <a:no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610B38"/>
                </a:solidFill>
                <a:effectLst/>
                <a:latin typeface="Comic Sans MS" panose="030F0702030302020204" pitchFamily="66" charset="0"/>
              </a:rPr>
              <a:t>Properties of XMLHttpRequest object</a:t>
            </a:r>
          </a:p>
        </p:txBody>
      </p:sp>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11</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graphicFrame>
        <p:nvGraphicFramePr>
          <p:cNvPr id="10" name="Table 9">
            <a:extLst>
              <a:ext uri="{FF2B5EF4-FFF2-40B4-BE49-F238E27FC236}">
                <a16:creationId xmlns:a16="http://schemas.microsoft.com/office/drawing/2014/main" id="{C9AEF8E0-38BB-C0BF-A1CE-67D5ADEFA18F}"/>
              </a:ext>
            </a:extLst>
          </p:cNvPr>
          <p:cNvGraphicFramePr>
            <a:graphicFrameLocks noGrp="1"/>
          </p:cNvGraphicFramePr>
          <p:nvPr>
            <p:extLst>
              <p:ext uri="{D42A27DB-BD31-4B8C-83A1-F6EECF244321}">
                <p14:modId xmlns:p14="http://schemas.microsoft.com/office/powerpoint/2010/main" val="903108163"/>
              </p:ext>
            </p:extLst>
          </p:nvPr>
        </p:nvGraphicFramePr>
        <p:xfrm>
          <a:off x="152400" y="1219199"/>
          <a:ext cx="8763000" cy="4870757"/>
        </p:xfrm>
        <a:graphic>
          <a:graphicData uri="http://schemas.openxmlformats.org/drawingml/2006/table">
            <a:tbl>
              <a:tblPr>
                <a:tableStyleId>{5940675A-B579-460E-94D1-54222C63F5DA}</a:tableStyleId>
              </a:tblPr>
              <a:tblGrid>
                <a:gridCol w="2518834">
                  <a:extLst>
                    <a:ext uri="{9D8B030D-6E8A-4147-A177-3AD203B41FA5}">
                      <a16:colId xmlns:a16="http://schemas.microsoft.com/office/drawing/2014/main" val="542657194"/>
                    </a:ext>
                  </a:extLst>
                </a:gridCol>
                <a:gridCol w="6244166">
                  <a:extLst>
                    <a:ext uri="{9D8B030D-6E8A-4147-A177-3AD203B41FA5}">
                      <a16:colId xmlns:a16="http://schemas.microsoft.com/office/drawing/2014/main" val="2446069137"/>
                    </a:ext>
                  </a:extLst>
                </a:gridCol>
              </a:tblGrid>
              <a:tr h="467663">
                <a:tc>
                  <a:txBody>
                    <a:bodyPr/>
                    <a:lstStyle/>
                    <a:p>
                      <a:pPr algn="l" fontAlgn="t"/>
                      <a:r>
                        <a:rPr lang="en-US" sz="2000" b="1" dirty="0">
                          <a:solidFill>
                            <a:schemeClr val="tx1"/>
                          </a:solidFill>
                          <a:effectLst/>
                          <a:latin typeface="Comic Sans MS" panose="030F0702030302020204" pitchFamily="66" charset="0"/>
                        </a:rPr>
                        <a:t>Property</a:t>
                      </a:r>
                    </a:p>
                  </a:txBody>
                  <a:tcPr marL="75370" marR="75370" marT="75370" marB="75370"/>
                </a:tc>
                <a:tc>
                  <a:txBody>
                    <a:bodyPr/>
                    <a:lstStyle/>
                    <a:p>
                      <a:pPr algn="l" fontAlgn="t"/>
                      <a:r>
                        <a:rPr lang="en-US" sz="2000" b="1" dirty="0">
                          <a:solidFill>
                            <a:schemeClr val="tx1"/>
                          </a:solidFill>
                          <a:effectLst/>
                          <a:latin typeface="Comic Sans MS" panose="030F0702030302020204" pitchFamily="66" charset="0"/>
                        </a:rPr>
                        <a:t>Description</a:t>
                      </a:r>
                    </a:p>
                  </a:txBody>
                  <a:tcPr marL="75370" marR="75370" marT="75370" marB="75370"/>
                </a:tc>
                <a:extLst>
                  <a:ext uri="{0D108BD9-81ED-4DB2-BD59-A6C34878D82A}">
                    <a16:rowId xmlns:a16="http://schemas.microsoft.com/office/drawing/2014/main" val="2210119405"/>
                  </a:ext>
                </a:extLst>
              </a:tr>
              <a:tr h="675338">
                <a:tc>
                  <a:txBody>
                    <a:bodyPr/>
                    <a:lstStyle/>
                    <a:p>
                      <a:pPr algn="just" fontAlgn="t"/>
                      <a:r>
                        <a:rPr lang="en-US" sz="2000" dirty="0" err="1">
                          <a:solidFill>
                            <a:schemeClr val="tx1"/>
                          </a:solidFill>
                          <a:effectLst/>
                          <a:latin typeface="Comic Sans MS" panose="030F0702030302020204" pitchFamily="66" charset="0"/>
                        </a:rPr>
                        <a:t>onReadyStateChange</a:t>
                      </a:r>
                      <a:endParaRPr lang="en-US" sz="2000" dirty="0">
                        <a:solidFill>
                          <a:schemeClr val="tx1"/>
                        </a:solidFill>
                        <a:effectLst/>
                        <a:latin typeface="Comic Sans MS" panose="030F0702030302020204" pitchFamily="66" charset="0"/>
                      </a:endParaRPr>
                    </a:p>
                  </a:txBody>
                  <a:tcPr marL="50246" marR="50246" marT="50246" marB="50246"/>
                </a:tc>
                <a:tc>
                  <a:txBody>
                    <a:bodyPr/>
                    <a:lstStyle/>
                    <a:p>
                      <a:pPr algn="just" fontAlgn="t"/>
                      <a:r>
                        <a:rPr lang="en-US" sz="2000" dirty="0">
                          <a:solidFill>
                            <a:schemeClr val="tx1"/>
                          </a:solidFill>
                          <a:effectLst/>
                          <a:latin typeface="Comic Sans MS" panose="030F0702030302020204" pitchFamily="66" charset="0"/>
                        </a:rPr>
                        <a:t>It is called whenever </a:t>
                      </a:r>
                      <a:r>
                        <a:rPr lang="en-US" sz="2000" dirty="0" err="1">
                          <a:solidFill>
                            <a:schemeClr val="tx1"/>
                          </a:solidFill>
                          <a:effectLst/>
                          <a:latin typeface="Comic Sans MS" panose="030F0702030302020204" pitchFamily="66" charset="0"/>
                        </a:rPr>
                        <a:t>readystate</a:t>
                      </a:r>
                      <a:r>
                        <a:rPr lang="en-US" sz="2000" dirty="0">
                          <a:solidFill>
                            <a:schemeClr val="tx1"/>
                          </a:solidFill>
                          <a:effectLst/>
                          <a:latin typeface="Comic Sans MS" panose="030F0702030302020204" pitchFamily="66" charset="0"/>
                        </a:rPr>
                        <a:t> attribute changes.  </a:t>
                      </a:r>
                    </a:p>
                  </a:txBody>
                  <a:tcPr marL="50246" marR="50246" marT="50246" marB="50246"/>
                </a:tc>
                <a:extLst>
                  <a:ext uri="{0D108BD9-81ED-4DB2-BD59-A6C34878D82A}">
                    <a16:rowId xmlns:a16="http://schemas.microsoft.com/office/drawing/2014/main" val="4126462934"/>
                  </a:ext>
                </a:extLst>
              </a:tr>
              <a:tr h="2860846">
                <a:tc>
                  <a:txBody>
                    <a:bodyPr/>
                    <a:lstStyle/>
                    <a:p>
                      <a:pPr algn="just" fontAlgn="t"/>
                      <a:r>
                        <a:rPr lang="en-US" sz="2000" dirty="0" err="1">
                          <a:solidFill>
                            <a:schemeClr val="tx1"/>
                          </a:solidFill>
                          <a:effectLst/>
                          <a:latin typeface="Comic Sans MS" panose="030F0702030302020204" pitchFamily="66" charset="0"/>
                        </a:rPr>
                        <a:t>readyState</a:t>
                      </a:r>
                      <a:endParaRPr lang="en-US" sz="2000" dirty="0">
                        <a:solidFill>
                          <a:schemeClr val="tx1"/>
                        </a:solidFill>
                        <a:effectLst/>
                        <a:latin typeface="Comic Sans MS" panose="030F0702030302020204" pitchFamily="66" charset="0"/>
                      </a:endParaRPr>
                    </a:p>
                  </a:txBody>
                  <a:tcPr marL="50246" marR="50246" marT="50246" marB="50246"/>
                </a:tc>
                <a:tc>
                  <a:txBody>
                    <a:bodyPr/>
                    <a:lstStyle/>
                    <a:p>
                      <a:pPr algn="just" fontAlgn="t"/>
                      <a:r>
                        <a:rPr lang="en-US" sz="2000" dirty="0">
                          <a:solidFill>
                            <a:schemeClr val="tx1"/>
                          </a:solidFill>
                          <a:effectLst/>
                          <a:latin typeface="Comic Sans MS" panose="030F0702030302020204" pitchFamily="66" charset="0"/>
                        </a:rPr>
                        <a:t>It ranges from 0 to 4.</a:t>
                      </a:r>
                    </a:p>
                    <a:p>
                      <a:pPr lvl="1" algn="just" fontAlgn="t"/>
                      <a:r>
                        <a:rPr lang="en-US" sz="2000" b="1" dirty="0">
                          <a:solidFill>
                            <a:schemeClr val="tx1"/>
                          </a:solidFill>
                          <a:effectLst/>
                          <a:latin typeface="Comic Sans MS" panose="030F0702030302020204" pitchFamily="66" charset="0"/>
                        </a:rPr>
                        <a:t>0</a:t>
                      </a:r>
                      <a:r>
                        <a:rPr lang="en-US" sz="2000" dirty="0">
                          <a:solidFill>
                            <a:schemeClr val="tx1"/>
                          </a:solidFill>
                          <a:effectLst/>
                          <a:latin typeface="Comic Sans MS" panose="030F0702030302020204" pitchFamily="66" charset="0"/>
                        </a:rPr>
                        <a:t> UNOPENED open() is not called.</a:t>
                      </a:r>
                    </a:p>
                    <a:p>
                      <a:pPr lvl="1" algn="just" fontAlgn="t"/>
                      <a:r>
                        <a:rPr lang="en-US" sz="2000" b="1" dirty="0">
                          <a:solidFill>
                            <a:schemeClr val="tx1"/>
                          </a:solidFill>
                          <a:effectLst/>
                          <a:latin typeface="Comic Sans MS" panose="030F0702030302020204" pitchFamily="66" charset="0"/>
                        </a:rPr>
                        <a:t>1 </a:t>
                      </a:r>
                      <a:r>
                        <a:rPr lang="en-US" sz="2000" dirty="0">
                          <a:solidFill>
                            <a:schemeClr val="tx1"/>
                          </a:solidFill>
                          <a:effectLst/>
                          <a:latin typeface="Comic Sans MS" panose="030F0702030302020204" pitchFamily="66" charset="0"/>
                        </a:rPr>
                        <a:t>OPENED open is called but send() is not called.</a:t>
                      </a:r>
                    </a:p>
                    <a:p>
                      <a:pPr lvl="1" algn="just" fontAlgn="t"/>
                      <a:r>
                        <a:rPr lang="en-US" sz="2000" b="1" dirty="0">
                          <a:solidFill>
                            <a:schemeClr val="tx1"/>
                          </a:solidFill>
                          <a:effectLst/>
                          <a:latin typeface="Comic Sans MS" panose="030F0702030302020204" pitchFamily="66" charset="0"/>
                        </a:rPr>
                        <a:t>2</a:t>
                      </a:r>
                      <a:r>
                        <a:rPr lang="en-US" sz="2000" dirty="0">
                          <a:solidFill>
                            <a:schemeClr val="tx1"/>
                          </a:solidFill>
                          <a:effectLst/>
                          <a:latin typeface="Comic Sans MS" panose="030F0702030302020204" pitchFamily="66" charset="0"/>
                        </a:rPr>
                        <a:t> HEADERS_RECEIVED send() is called, and headers and status are available.</a:t>
                      </a:r>
                    </a:p>
                    <a:p>
                      <a:pPr lvl="1" algn="just" fontAlgn="t"/>
                      <a:r>
                        <a:rPr lang="en-US" sz="2000" b="1" dirty="0">
                          <a:solidFill>
                            <a:schemeClr val="tx1"/>
                          </a:solidFill>
                          <a:effectLst/>
                          <a:latin typeface="Comic Sans MS" panose="030F0702030302020204" pitchFamily="66" charset="0"/>
                        </a:rPr>
                        <a:t>3 </a:t>
                      </a:r>
                      <a:r>
                        <a:rPr lang="en-US" sz="2000" dirty="0">
                          <a:solidFill>
                            <a:schemeClr val="tx1"/>
                          </a:solidFill>
                          <a:effectLst/>
                          <a:latin typeface="Comic Sans MS" panose="030F0702030302020204" pitchFamily="66" charset="0"/>
                        </a:rPr>
                        <a:t>LOADING Downloading data; </a:t>
                      </a:r>
                      <a:r>
                        <a:rPr lang="en-US" sz="2000" dirty="0" err="1">
                          <a:solidFill>
                            <a:schemeClr val="tx1"/>
                          </a:solidFill>
                          <a:effectLst/>
                          <a:latin typeface="Comic Sans MS" panose="030F0702030302020204" pitchFamily="66" charset="0"/>
                        </a:rPr>
                        <a:t>responseText</a:t>
                      </a:r>
                      <a:r>
                        <a:rPr lang="en-US" sz="2000" dirty="0">
                          <a:solidFill>
                            <a:schemeClr val="tx1"/>
                          </a:solidFill>
                          <a:effectLst/>
                          <a:latin typeface="Comic Sans MS" panose="030F0702030302020204" pitchFamily="66" charset="0"/>
                        </a:rPr>
                        <a:t> holds the data.</a:t>
                      </a:r>
                    </a:p>
                    <a:p>
                      <a:pPr lvl="1" algn="just" fontAlgn="t"/>
                      <a:r>
                        <a:rPr lang="en-US" sz="2000" b="1" dirty="0">
                          <a:solidFill>
                            <a:schemeClr val="tx1"/>
                          </a:solidFill>
                          <a:effectLst/>
                          <a:latin typeface="Comic Sans MS" panose="030F0702030302020204" pitchFamily="66" charset="0"/>
                        </a:rPr>
                        <a:t>4</a:t>
                      </a:r>
                      <a:r>
                        <a:rPr lang="en-US" sz="2000" dirty="0">
                          <a:solidFill>
                            <a:schemeClr val="tx1"/>
                          </a:solidFill>
                          <a:effectLst/>
                          <a:latin typeface="Comic Sans MS" panose="030F0702030302020204" pitchFamily="66" charset="0"/>
                        </a:rPr>
                        <a:t> DONE The operation is completed fully.</a:t>
                      </a:r>
                    </a:p>
                  </a:txBody>
                  <a:tcPr marL="50246" marR="50246" marT="50246" marB="50246"/>
                </a:tc>
                <a:extLst>
                  <a:ext uri="{0D108BD9-81ED-4DB2-BD59-A6C34878D82A}">
                    <a16:rowId xmlns:a16="http://schemas.microsoft.com/office/drawing/2014/main" val="3669349860"/>
                  </a:ext>
                </a:extLst>
              </a:tr>
              <a:tr h="416078">
                <a:tc>
                  <a:txBody>
                    <a:bodyPr/>
                    <a:lstStyle/>
                    <a:p>
                      <a:pPr algn="just" fontAlgn="t"/>
                      <a:r>
                        <a:rPr lang="en-US" sz="2000" dirty="0" err="1">
                          <a:solidFill>
                            <a:schemeClr val="tx1"/>
                          </a:solidFill>
                          <a:effectLst/>
                          <a:latin typeface="Comic Sans MS" panose="030F0702030302020204" pitchFamily="66" charset="0"/>
                        </a:rPr>
                        <a:t>reponseText</a:t>
                      </a:r>
                      <a:endParaRPr lang="en-US" sz="2000" dirty="0">
                        <a:solidFill>
                          <a:schemeClr val="tx1"/>
                        </a:solidFill>
                        <a:effectLst/>
                        <a:latin typeface="Comic Sans MS" panose="030F0702030302020204" pitchFamily="66" charset="0"/>
                      </a:endParaRPr>
                    </a:p>
                  </a:txBody>
                  <a:tcPr marL="50246" marR="50246" marT="50246" marB="50246"/>
                </a:tc>
                <a:tc>
                  <a:txBody>
                    <a:bodyPr/>
                    <a:lstStyle/>
                    <a:p>
                      <a:pPr algn="just" fontAlgn="t"/>
                      <a:r>
                        <a:rPr lang="en-US" sz="2000" dirty="0">
                          <a:solidFill>
                            <a:schemeClr val="tx1"/>
                          </a:solidFill>
                          <a:effectLst/>
                          <a:latin typeface="Comic Sans MS" panose="030F0702030302020204" pitchFamily="66" charset="0"/>
                        </a:rPr>
                        <a:t>returns response as text.</a:t>
                      </a:r>
                    </a:p>
                  </a:txBody>
                  <a:tcPr marL="50246" marR="50246" marT="50246" marB="50246"/>
                </a:tc>
                <a:extLst>
                  <a:ext uri="{0D108BD9-81ED-4DB2-BD59-A6C34878D82A}">
                    <a16:rowId xmlns:a16="http://schemas.microsoft.com/office/drawing/2014/main" val="2209403170"/>
                  </a:ext>
                </a:extLst>
              </a:tr>
              <a:tr h="416078">
                <a:tc>
                  <a:txBody>
                    <a:bodyPr/>
                    <a:lstStyle/>
                    <a:p>
                      <a:pPr algn="just" fontAlgn="t"/>
                      <a:r>
                        <a:rPr lang="en-US" sz="2000" dirty="0" err="1">
                          <a:solidFill>
                            <a:schemeClr val="tx1"/>
                          </a:solidFill>
                          <a:effectLst/>
                          <a:latin typeface="Comic Sans MS" panose="030F0702030302020204" pitchFamily="66" charset="0"/>
                        </a:rPr>
                        <a:t>responseXML</a:t>
                      </a:r>
                      <a:endParaRPr lang="en-US" sz="2000" dirty="0">
                        <a:solidFill>
                          <a:schemeClr val="tx1"/>
                        </a:solidFill>
                        <a:effectLst/>
                        <a:latin typeface="Comic Sans MS" panose="030F0702030302020204" pitchFamily="66" charset="0"/>
                      </a:endParaRPr>
                    </a:p>
                  </a:txBody>
                  <a:tcPr marL="50246" marR="50246" marT="50246" marB="50246"/>
                </a:tc>
                <a:tc>
                  <a:txBody>
                    <a:bodyPr/>
                    <a:lstStyle/>
                    <a:p>
                      <a:pPr algn="just" fontAlgn="t"/>
                      <a:r>
                        <a:rPr lang="en-US" sz="2000" dirty="0">
                          <a:solidFill>
                            <a:schemeClr val="tx1"/>
                          </a:solidFill>
                          <a:effectLst/>
                          <a:latin typeface="Comic Sans MS" panose="030F0702030302020204" pitchFamily="66" charset="0"/>
                        </a:rPr>
                        <a:t>returns response as XML</a:t>
                      </a:r>
                    </a:p>
                  </a:txBody>
                  <a:tcPr marL="50246" marR="50246" marT="50246" marB="50246"/>
                </a:tc>
                <a:extLst>
                  <a:ext uri="{0D108BD9-81ED-4DB2-BD59-A6C34878D82A}">
                    <a16:rowId xmlns:a16="http://schemas.microsoft.com/office/drawing/2014/main" val="1596560766"/>
                  </a:ext>
                </a:extLst>
              </a:tr>
            </a:tbl>
          </a:graphicData>
        </a:graphic>
      </p:graphicFrame>
    </p:spTree>
    <p:extLst>
      <p:ext uri="{BB962C8B-B14F-4D97-AF65-F5344CB8AC3E}">
        <p14:creationId xmlns:p14="http://schemas.microsoft.com/office/powerpoint/2010/main" val="749132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1673"/>
          </a:xfrm>
        </p:spPr>
        <p:txBody>
          <a:bodyPr>
            <a:noAutofit/>
          </a:bodyPr>
          <a:lstStyle/>
          <a:p>
            <a:r>
              <a:rPr lang="en-US" sz="3200" b="1" dirty="0">
                <a:latin typeface="Comic Sans MS" panose="030F0702030302020204" pitchFamily="66" charset="0"/>
              </a:rPr>
              <a:t>Methods of XMLHttpRequest object</a:t>
            </a:r>
            <a:endParaRPr lang="en-US" sz="3200" dirty="0">
              <a:latin typeface="Comic Sans MS" panose="030F0702030302020204" pitchFamily="66" charset="0"/>
              <a:ea typeface="Cambria" pitchFamily="18" charset="0"/>
            </a:endParaRPr>
          </a:p>
        </p:txBody>
      </p:sp>
      <p:graphicFrame>
        <p:nvGraphicFramePr>
          <p:cNvPr id="6" name="Content Placeholder 5">
            <a:extLst>
              <a:ext uri="{FF2B5EF4-FFF2-40B4-BE49-F238E27FC236}">
                <a16:creationId xmlns:a16="http://schemas.microsoft.com/office/drawing/2014/main" id="{E9234B1F-F62B-411D-88E8-59BEC07F4859}"/>
              </a:ext>
            </a:extLst>
          </p:cNvPr>
          <p:cNvGraphicFramePr>
            <a:graphicFrameLocks noGrp="1"/>
          </p:cNvGraphicFramePr>
          <p:nvPr>
            <p:ph idx="1"/>
            <p:extLst>
              <p:ext uri="{D42A27DB-BD31-4B8C-83A1-F6EECF244321}">
                <p14:modId xmlns:p14="http://schemas.microsoft.com/office/powerpoint/2010/main" val="2191875059"/>
              </p:ext>
            </p:extLst>
          </p:nvPr>
        </p:nvGraphicFramePr>
        <p:xfrm>
          <a:off x="228600" y="1371599"/>
          <a:ext cx="8763000" cy="4984754"/>
        </p:xfrm>
        <a:graphic>
          <a:graphicData uri="http://schemas.openxmlformats.org/drawingml/2006/table">
            <a:tbl>
              <a:tblPr/>
              <a:tblGrid>
                <a:gridCol w="3990294">
                  <a:extLst>
                    <a:ext uri="{9D8B030D-6E8A-4147-A177-3AD203B41FA5}">
                      <a16:colId xmlns:a16="http://schemas.microsoft.com/office/drawing/2014/main" val="3998267150"/>
                    </a:ext>
                  </a:extLst>
                </a:gridCol>
                <a:gridCol w="4772706">
                  <a:extLst>
                    <a:ext uri="{9D8B030D-6E8A-4147-A177-3AD203B41FA5}">
                      <a16:colId xmlns:a16="http://schemas.microsoft.com/office/drawing/2014/main" val="3326646361"/>
                    </a:ext>
                  </a:extLst>
                </a:gridCol>
              </a:tblGrid>
              <a:tr h="575546">
                <a:tc>
                  <a:txBody>
                    <a:bodyPr/>
                    <a:lstStyle/>
                    <a:p>
                      <a:pPr algn="l" fontAlgn="t"/>
                      <a:r>
                        <a:rPr lang="en-US" sz="2000" b="1" dirty="0">
                          <a:solidFill>
                            <a:srgbClr val="000000"/>
                          </a:solidFill>
                          <a:effectLst/>
                          <a:latin typeface="Comic Sans MS" panose="030F0702030302020204" pitchFamily="66" charset="0"/>
                        </a:rPr>
                        <a:t>Method</a:t>
                      </a:r>
                    </a:p>
                  </a:txBody>
                  <a:tcPr marL="114300" marR="114300" marT="114300" marB="114300">
                    <a:lnL w="9525" cap="flat" cmpd="sng" algn="ctr">
                      <a:solidFill>
                        <a:srgbClr val="002B2F"/>
                      </a:solidFill>
                      <a:prstDash val="solid"/>
                      <a:round/>
                      <a:headEnd type="none" w="med" len="med"/>
                      <a:tailEnd type="none" w="med" len="med"/>
                    </a:lnL>
                    <a:lnR w="9525" cap="flat" cmpd="sng" algn="ctr">
                      <a:solidFill>
                        <a:srgbClr val="002B2F"/>
                      </a:solidFill>
                      <a:prstDash val="solid"/>
                      <a:round/>
                      <a:headEnd type="none" w="med" len="med"/>
                      <a:tailEnd type="none" w="med" len="med"/>
                    </a:lnR>
                    <a:lnT w="9525" cap="flat" cmpd="sng" algn="ctr">
                      <a:solidFill>
                        <a:srgbClr val="002B2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000" b="1" dirty="0">
                          <a:solidFill>
                            <a:srgbClr val="000000"/>
                          </a:solidFill>
                          <a:effectLst/>
                          <a:latin typeface="Comic Sans MS" panose="030F0702030302020204" pitchFamily="66" charset="0"/>
                        </a:rPr>
                        <a:t>Description</a:t>
                      </a:r>
                    </a:p>
                  </a:txBody>
                  <a:tcPr marL="114300" marR="114300" marT="114300" marB="114300">
                    <a:lnL w="9525" cap="flat" cmpd="sng" algn="ctr">
                      <a:solidFill>
                        <a:srgbClr val="002B2F"/>
                      </a:solidFill>
                      <a:prstDash val="solid"/>
                      <a:round/>
                      <a:headEnd type="none" w="med" len="med"/>
                      <a:tailEnd type="none" w="med" len="med"/>
                    </a:lnL>
                    <a:lnR w="9525" cap="flat" cmpd="sng" algn="ctr">
                      <a:solidFill>
                        <a:srgbClr val="002B2F"/>
                      </a:solidFill>
                      <a:prstDash val="solid"/>
                      <a:round/>
                      <a:headEnd type="none" w="med" len="med"/>
                      <a:tailEnd type="none" w="med" len="med"/>
                    </a:lnR>
                    <a:lnT w="9525" cap="flat" cmpd="sng" algn="ctr">
                      <a:solidFill>
                        <a:srgbClr val="002B2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734853282"/>
                  </a:ext>
                </a:extLst>
              </a:tr>
              <a:tr h="822209">
                <a:tc>
                  <a:txBody>
                    <a:bodyPr/>
                    <a:lstStyle/>
                    <a:p>
                      <a:pPr marL="0" indent="0" algn="just" fontAlgn="t">
                        <a:buFont typeface="Wingdings" panose="05000000000000000000" pitchFamily="2" charset="2"/>
                        <a:buNone/>
                      </a:pPr>
                      <a:r>
                        <a:rPr lang="en-US" sz="2000" dirty="0">
                          <a:solidFill>
                            <a:srgbClr val="333333"/>
                          </a:solidFill>
                          <a:effectLst/>
                          <a:latin typeface="Comic Sans MS" panose="030F0702030302020204" pitchFamily="66" charset="0"/>
                        </a:rPr>
                        <a:t>void open(method, URL)</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rgbClr val="333333"/>
                          </a:solidFill>
                          <a:effectLst/>
                          <a:latin typeface="Comic Sans MS" panose="030F0702030302020204" pitchFamily="66" charset="0"/>
                        </a:rPr>
                        <a:t>opens the request specifying get or post method and </a:t>
                      </a:r>
                      <a:r>
                        <a:rPr lang="en-US" sz="2000" dirty="0" err="1">
                          <a:solidFill>
                            <a:srgbClr val="333333"/>
                          </a:solidFill>
                          <a:effectLst/>
                          <a:latin typeface="Comic Sans MS" panose="030F0702030302020204" pitchFamily="66" charset="0"/>
                        </a:rPr>
                        <a:t>url</a:t>
                      </a:r>
                      <a:endParaRPr lang="en-US" sz="2000" dirty="0">
                        <a:solidFill>
                          <a:srgbClr val="333333"/>
                        </a:solidFill>
                        <a:effectLst/>
                        <a:latin typeface="Comic Sans MS" panose="030F0702030302020204" pitchFamily="66"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448154513"/>
                  </a:ext>
                </a:extLst>
              </a:tr>
              <a:tr h="822209">
                <a:tc>
                  <a:txBody>
                    <a:bodyPr/>
                    <a:lstStyle/>
                    <a:p>
                      <a:pPr marL="0" indent="0" algn="just" fontAlgn="t">
                        <a:buFont typeface="Wingdings" panose="05000000000000000000" pitchFamily="2" charset="2"/>
                        <a:buNone/>
                      </a:pPr>
                      <a:r>
                        <a:rPr lang="en-US" sz="2000" dirty="0">
                          <a:solidFill>
                            <a:srgbClr val="333333"/>
                          </a:solidFill>
                          <a:effectLst/>
                          <a:latin typeface="Comic Sans MS" panose="030F0702030302020204" pitchFamily="66" charset="0"/>
                        </a:rPr>
                        <a:t>Void open(method, URL, async)</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rgbClr val="333333"/>
                          </a:solidFill>
                          <a:effectLst/>
                          <a:latin typeface="Comic Sans MS" panose="030F0702030302020204" pitchFamily="66" charset="0"/>
                        </a:rPr>
                        <a:t>same as above but specifies asynchronous or not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194114211"/>
                  </a:ext>
                </a:extLst>
              </a:tr>
              <a:tr h="822209">
                <a:tc>
                  <a:txBody>
                    <a:bodyPr/>
                    <a:lstStyle/>
                    <a:p>
                      <a:pPr marL="0" indent="0" algn="just" fontAlgn="t">
                        <a:buFont typeface="Wingdings" panose="05000000000000000000" pitchFamily="2" charset="2"/>
                        <a:buNone/>
                      </a:pPr>
                      <a:r>
                        <a:rPr lang="en-US" sz="2000" dirty="0">
                          <a:solidFill>
                            <a:srgbClr val="333333"/>
                          </a:solidFill>
                          <a:effectLst/>
                          <a:latin typeface="Comic Sans MS" panose="030F0702030302020204" pitchFamily="66" charset="0"/>
                        </a:rPr>
                        <a:t>Void open(method, URL, async, username, password)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rgbClr val="333333"/>
                          </a:solidFill>
                          <a:effectLst/>
                          <a:latin typeface="Comic Sans MS" panose="030F0702030302020204" pitchFamily="66" charset="0"/>
                        </a:rPr>
                        <a:t>same as above but specifies username and password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60012000"/>
                  </a:ext>
                </a:extLst>
              </a:tr>
              <a:tr h="560186">
                <a:tc>
                  <a:txBody>
                    <a:bodyPr/>
                    <a:lstStyle/>
                    <a:p>
                      <a:pPr marL="0" indent="0" algn="just" fontAlgn="t">
                        <a:buFont typeface="Wingdings" panose="05000000000000000000" pitchFamily="2" charset="2"/>
                        <a:buNone/>
                      </a:pPr>
                      <a:r>
                        <a:rPr lang="en-US" sz="2000" dirty="0">
                          <a:solidFill>
                            <a:srgbClr val="333333"/>
                          </a:solidFill>
                          <a:effectLst/>
                          <a:latin typeface="Comic Sans MS" panose="030F0702030302020204" pitchFamily="66" charset="0"/>
                        </a:rPr>
                        <a:t>void send()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rgbClr val="333333"/>
                          </a:solidFill>
                          <a:effectLst/>
                          <a:latin typeface="Comic Sans MS" panose="030F0702030302020204" pitchFamily="66" charset="0"/>
                        </a:rPr>
                        <a:t>sends get request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302170518"/>
                  </a:ext>
                </a:extLst>
              </a:tr>
              <a:tr h="560186">
                <a:tc>
                  <a:txBody>
                    <a:bodyPr/>
                    <a:lstStyle/>
                    <a:p>
                      <a:pPr marL="0" indent="0" algn="just" fontAlgn="t">
                        <a:buFont typeface="Wingdings" panose="05000000000000000000" pitchFamily="2" charset="2"/>
                        <a:buNone/>
                      </a:pPr>
                      <a:r>
                        <a:rPr lang="en-US" sz="2000" dirty="0">
                          <a:solidFill>
                            <a:srgbClr val="333333"/>
                          </a:solidFill>
                          <a:effectLst/>
                          <a:latin typeface="Comic Sans MS" panose="030F0702030302020204" pitchFamily="66" charset="0"/>
                        </a:rPr>
                        <a:t>void send(string)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rgbClr val="333333"/>
                          </a:solidFill>
                          <a:effectLst/>
                          <a:latin typeface="Comic Sans MS" panose="030F0702030302020204" pitchFamily="66" charset="0"/>
                        </a:rPr>
                        <a:t>send post request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87901114"/>
                  </a:ext>
                </a:extLst>
              </a:tr>
              <a:tr h="822209">
                <a:tc>
                  <a:txBody>
                    <a:bodyPr/>
                    <a:lstStyle/>
                    <a:p>
                      <a:pPr marL="0" indent="0" algn="just" fontAlgn="t">
                        <a:buFont typeface="Wingdings" panose="05000000000000000000" pitchFamily="2" charset="2"/>
                        <a:buNone/>
                      </a:pPr>
                      <a:r>
                        <a:rPr lang="en-US" sz="2000" dirty="0" err="1">
                          <a:solidFill>
                            <a:srgbClr val="333333"/>
                          </a:solidFill>
                          <a:effectLst/>
                          <a:latin typeface="Comic Sans MS" panose="030F0702030302020204" pitchFamily="66" charset="0"/>
                        </a:rPr>
                        <a:t>SetRequestHeader</a:t>
                      </a:r>
                      <a:r>
                        <a:rPr lang="en-US" sz="2000" dirty="0">
                          <a:solidFill>
                            <a:srgbClr val="333333"/>
                          </a:solidFill>
                          <a:effectLst/>
                          <a:latin typeface="Comic Sans MS" panose="030F0702030302020204" pitchFamily="66" charset="0"/>
                        </a:rPr>
                        <a:t>(header, value)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rgbClr val="333333"/>
                          </a:solidFill>
                          <a:effectLst/>
                          <a:latin typeface="Comic Sans MS" panose="030F0702030302020204" pitchFamily="66" charset="0"/>
                        </a:rPr>
                        <a:t>it adds request headers.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264510019"/>
                  </a:ext>
                </a:extLst>
              </a:tr>
            </a:tbl>
          </a:graphicData>
        </a:graphic>
      </p:graphicFrame>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12</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Tree>
    <p:extLst>
      <p:ext uri="{BB962C8B-B14F-4D97-AF65-F5344CB8AC3E}">
        <p14:creationId xmlns:p14="http://schemas.microsoft.com/office/powerpoint/2010/main" val="2467654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C0811-4643-6128-66B5-BFE5300DA0E0}"/>
              </a:ext>
            </a:extLst>
          </p:cNvPr>
          <p:cNvSpPr>
            <a:spLocks noGrp="1"/>
          </p:cNvSpPr>
          <p:nvPr>
            <p:ph type="title"/>
          </p:nvPr>
        </p:nvSpPr>
        <p:spPr/>
        <p:txBody>
          <a:bodyPr/>
          <a:lstStyle/>
          <a:p>
            <a:r>
              <a:rPr lang="en-US" dirty="0">
                <a:latin typeface="Comic Sans MS" panose="030F0702030302020204" pitchFamily="66" charset="0"/>
              </a:rPr>
              <a:t>How AJAX works?</a:t>
            </a:r>
          </a:p>
        </p:txBody>
      </p:sp>
      <p:sp>
        <p:nvSpPr>
          <p:cNvPr id="3" name="Content Placeholder 2">
            <a:extLst>
              <a:ext uri="{FF2B5EF4-FFF2-40B4-BE49-F238E27FC236}">
                <a16:creationId xmlns:a16="http://schemas.microsoft.com/office/drawing/2014/main" id="{4F5AB566-8222-2CA6-BAD6-D1649A87F5B1}"/>
              </a:ext>
            </a:extLst>
          </p:cNvPr>
          <p:cNvSpPr>
            <a:spLocks noGrp="1"/>
          </p:cNvSpPr>
          <p:nvPr>
            <p:ph idx="1"/>
          </p:nvPr>
        </p:nvSpPr>
        <p:spPr>
          <a:xfrm>
            <a:off x="304800" y="1295400"/>
            <a:ext cx="8610600" cy="5197474"/>
          </a:xfrm>
        </p:spPr>
        <p:txBody>
          <a:bodyPr/>
          <a:lstStyle/>
          <a:p>
            <a:pPr marL="274320" indent="-274320">
              <a:lnSpc>
                <a:spcPct val="100000"/>
              </a:lnSpc>
              <a:spcBef>
                <a:spcPts val="0"/>
              </a:spcBef>
              <a:buFont typeface="Wingdings" panose="05000000000000000000" pitchFamily="2" charset="2"/>
              <a:buChar char="v"/>
            </a:pPr>
            <a:r>
              <a:rPr lang="en-US" dirty="0">
                <a:latin typeface="Comic Sans MS" panose="030F0702030302020204" pitchFamily="66" charset="0"/>
              </a:rPr>
              <a:t>AJAX communicates with the server using XMLHttpRequest object. </a:t>
            </a:r>
          </a:p>
          <a:p>
            <a:pPr marL="0" indent="0">
              <a:lnSpc>
                <a:spcPct val="150000"/>
              </a:lnSpc>
              <a:buNone/>
            </a:pPr>
            <a:endParaRPr lang="en-US" dirty="0">
              <a:latin typeface="Comic Sans MS" panose="030F0702030302020204" pitchFamily="66" charset="0"/>
            </a:endParaRPr>
          </a:p>
        </p:txBody>
      </p:sp>
      <p:sp>
        <p:nvSpPr>
          <p:cNvPr id="4" name="Footer Placeholder 3">
            <a:extLst>
              <a:ext uri="{FF2B5EF4-FFF2-40B4-BE49-F238E27FC236}">
                <a16:creationId xmlns:a16="http://schemas.microsoft.com/office/drawing/2014/main" id="{82BE4D29-B745-54AD-545B-6E5C9C5BDA28}"/>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D38B75E2-038C-15C4-049C-EFB8E0ACBD13}"/>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13</a:t>
            </a:fld>
            <a:endParaRPr lang="en-US" dirty="0">
              <a:solidFill>
                <a:srgbClr val="2E2B21">
                  <a:tint val="75000"/>
                </a:srgbClr>
              </a:solidFill>
            </a:endParaRPr>
          </a:p>
        </p:txBody>
      </p:sp>
      <p:pic>
        <p:nvPicPr>
          <p:cNvPr id="6" name="Picture 5">
            <a:extLst>
              <a:ext uri="{FF2B5EF4-FFF2-40B4-BE49-F238E27FC236}">
                <a16:creationId xmlns:a16="http://schemas.microsoft.com/office/drawing/2014/main" id="{944F5EF4-6C74-ECB7-4333-A380407C694D}"/>
              </a:ext>
            </a:extLst>
          </p:cNvPr>
          <p:cNvPicPr>
            <a:picLocks noChangeAspect="1"/>
          </p:cNvPicPr>
          <p:nvPr/>
        </p:nvPicPr>
        <p:blipFill rotWithShape="1">
          <a:blip r:embed="rId3"/>
          <a:srcRect b="6746"/>
          <a:stretch/>
        </p:blipFill>
        <p:spPr>
          <a:xfrm>
            <a:off x="457200" y="2330451"/>
            <a:ext cx="8229600" cy="3994149"/>
          </a:xfrm>
          <a:prstGeom prst="rect">
            <a:avLst/>
          </a:prstGeom>
        </p:spPr>
      </p:pic>
    </p:spTree>
    <p:extLst>
      <p:ext uri="{BB962C8B-B14F-4D97-AF65-F5344CB8AC3E}">
        <p14:creationId xmlns:p14="http://schemas.microsoft.com/office/powerpoint/2010/main" val="2517690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CC64-F9DA-2417-1593-BB3A6BA035A1}"/>
              </a:ext>
            </a:extLst>
          </p:cNvPr>
          <p:cNvSpPr>
            <a:spLocks noGrp="1"/>
          </p:cNvSpPr>
          <p:nvPr>
            <p:ph type="title"/>
          </p:nvPr>
        </p:nvSpPr>
        <p:spPr>
          <a:xfrm>
            <a:off x="628650" y="365127"/>
            <a:ext cx="7886700" cy="854074"/>
          </a:xfrm>
        </p:spPr>
        <p:txBody>
          <a:bodyPr/>
          <a:lstStyle/>
          <a:p>
            <a:r>
              <a:rPr lang="en-US" dirty="0"/>
              <a:t>Cont.…</a:t>
            </a:r>
          </a:p>
        </p:txBody>
      </p:sp>
      <p:sp>
        <p:nvSpPr>
          <p:cNvPr id="3" name="Content Placeholder 2">
            <a:extLst>
              <a:ext uri="{FF2B5EF4-FFF2-40B4-BE49-F238E27FC236}">
                <a16:creationId xmlns:a16="http://schemas.microsoft.com/office/drawing/2014/main" id="{095D56F5-C9AC-4242-0F4F-E4457AD5C7D3}"/>
              </a:ext>
            </a:extLst>
          </p:cNvPr>
          <p:cNvSpPr>
            <a:spLocks noGrp="1"/>
          </p:cNvSpPr>
          <p:nvPr>
            <p:ph idx="1"/>
          </p:nvPr>
        </p:nvSpPr>
        <p:spPr>
          <a:xfrm>
            <a:off x="304800" y="1219201"/>
            <a:ext cx="8610600" cy="5137154"/>
          </a:xfrm>
        </p:spPr>
        <p:txBody>
          <a:bodyPr>
            <a:normAutofit fontScale="85000" lnSpcReduction="10000"/>
          </a:bodyPr>
          <a:lstStyle/>
          <a:p>
            <a:pPr marL="0" indent="0" algn="just">
              <a:lnSpc>
                <a:spcPct val="110000"/>
              </a:lnSpc>
              <a:buNone/>
            </a:pPr>
            <a:r>
              <a:rPr lang="en-US" dirty="0">
                <a:solidFill>
                  <a:srgbClr val="333333"/>
                </a:solidFill>
                <a:latin typeface="Comic Sans MS" panose="030F0702030302020204" pitchFamily="66" charset="0"/>
              </a:rPr>
              <a:t>A</a:t>
            </a:r>
            <a:r>
              <a:rPr lang="en-US" b="0" i="0" dirty="0">
                <a:solidFill>
                  <a:srgbClr val="333333"/>
                </a:solidFill>
                <a:effectLst/>
                <a:latin typeface="Comic Sans MS" panose="030F0702030302020204" pitchFamily="66" charset="0"/>
              </a:rPr>
              <a:t>s you can see in the above example, XMLHttpRequest object plays a important role.</a:t>
            </a:r>
          </a:p>
          <a:p>
            <a:pPr lvl="1" algn="just">
              <a:lnSpc>
                <a:spcPct val="150000"/>
              </a:lnSpc>
              <a:buFont typeface="+mj-lt"/>
              <a:buAutoNum type="arabicPeriod"/>
            </a:pPr>
            <a:r>
              <a:rPr lang="en-US" b="0" i="0" dirty="0">
                <a:solidFill>
                  <a:srgbClr val="000000"/>
                </a:solidFill>
                <a:effectLst/>
                <a:latin typeface="Comic Sans MS" panose="030F0702030302020204" pitchFamily="66" charset="0"/>
              </a:rPr>
              <a:t>User sends a request from the UI and a JavaScript call goes to XMLHttpRequest object.</a:t>
            </a:r>
          </a:p>
          <a:p>
            <a:pPr lvl="1" algn="just">
              <a:lnSpc>
                <a:spcPct val="150000"/>
              </a:lnSpc>
              <a:buFont typeface="+mj-lt"/>
              <a:buAutoNum type="arabicPeriod"/>
            </a:pPr>
            <a:r>
              <a:rPr lang="en-US" b="0" i="0" dirty="0">
                <a:solidFill>
                  <a:srgbClr val="000000"/>
                </a:solidFill>
                <a:effectLst/>
                <a:latin typeface="Comic Sans MS" panose="030F0702030302020204" pitchFamily="66" charset="0"/>
              </a:rPr>
              <a:t>HTTP Request is sent to the server by XMLHttpRequest object.</a:t>
            </a:r>
          </a:p>
          <a:p>
            <a:pPr lvl="1" algn="just">
              <a:lnSpc>
                <a:spcPct val="150000"/>
              </a:lnSpc>
              <a:buFont typeface="+mj-lt"/>
              <a:buAutoNum type="arabicPeriod"/>
            </a:pPr>
            <a:r>
              <a:rPr lang="en-US" b="0" i="0" dirty="0">
                <a:solidFill>
                  <a:srgbClr val="000000"/>
                </a:solidFill>
                <a:effectLst/>
                <a:latin typeface="Comic Sans MS" panose="030F0702030302020204" pitchFamily="66" charset="0"/>
              </a:rPr>
              <a:t>Server interacts with the database using JSP, PHP, Servlet, ASP.net etc.</a:t>
            </a:r>
          </a:p>
          <a:p>
            <a:pPr lvl="1" algn="just">
              <a:lnSpc>
                <a:spcPct val="150000"/>
              </a:lnSpc>
              <a:buFont typeface="+mj-lt"/>
              <a:buAutoNum type="arabicPeriod"/>
            </a:pPr>
            <a:r>
              <a:rPr lang="en-US" b="0" i="0" dirty="0">
                <a:solidFill>
                  <a:srgbClr val="000000"/>
                </a:solidFill>
                <a:effectLst/>
                <a:latin typeface="Comic Sans MS" panose="030F0702030302020204" pitchFamily="66" charset="0"/>
              </a:rPr>
              <a:t>Data is retrieved.</a:t>
            </a:r>
          </a:p>
          <a:p>
            <a:pPr lvl="1" algn="just">
              <a:lnSpc>
                <a:spcPct val="150000"/>
              </a:lnSpc>
              <a:buFont typeface="+mj-lt"/>
              <a:buAutoNum type="arabicPeriod"/>
            </a:pPr>
            <a:r>
              <a:rPr lang="en-US" b="0" i="0" dirty="0">
                <a:solidFill>
                  <a:srgbClr val="000000"/>
                </a:solidFill>
                <a:effectLst/>
                <a:latin typeface="Comic Sans MS" panose="030F0702030302020204" pitchFamily="66" charset="0"/>
              </a:rPr>
              <a:t>Server sends XML data or JSON data to the XMLHttpRequest callback function.</a:t>
            </a:r>
          </a:p>
          <a:p>
            <a:pPr lvl="1" algn="just">
              <a:lnSpc>
                <a:spcPct val="150000"/>
              </a:lnSpc>
              <a:buFont typeface="+mj-lt"/>
              <a:buAutoNum type="arabicPeriod"/>
            </a:pPr>
            <a:r>
              <a:rPr lang="en-US" b="0" i="0" dirty="0">
                <a:solidFill>
                  <a:srgbClr val="000000"/>
                </a:solidFill>
                <a:effectLst/>
                <a:latin typeface="Comic Sans MS" panose="030F0702030302020204" pitchFamily="66" charset="0"/>
              </a:rPr>
              <a:t>HTML and CSS data is displayed on the browser.</a:t>
            </a:r>
          </a:p>
          <a:p>
            <a:pPr marL="0" indent="0">
              <a:lnSpc>
                <a:spcPct val="150000"/>
              </a:lnSpc>
              <a:buNone/>
            </a:pPr>
            <a:endParaRPr lang="en-US" sz="2400" dirty="0">
              <a:latin typeface="Comic Sans MS" panose="030F0702030302020204" pitchFamily="66" charset="0"/>
            </a:endParaRPr>
          </a:p>
        </p:txBody>
      </p:sp>
      <p:sp>
        <p:nvSpPr>
          <p:cNvPr id="4" name="Footer Placeholder 3">
            <a:extLst>
              <a:ext uri="{FF2B5EF4-FFF2-40B4-BE49-F238E27FC236}">
                <a16:creationId xmlns:a16="http://schemas.microsoft.com/office/drawing/2014/main" id="{38E258E6-F24C-2CBD-7D2D-D3987CE63251}"/>
              </a:ext>
            </a:extLst>
          </p:cNvPr>
          <p:cNvSpPr>
            <a:spLocks noGrp="1"/>
          </p:cNvSpPr>
          <p:nvPr>
            <p:ph type="ftr" sz="quarter" idx="11"/>
          </p:nvPr>
        </p:nvSpPr>
        <p:spPr/>
        <p:txBody>
          <a:bodyPr/>
          <a:lstStyle/>
          <a:p>
            <a:r>
              <a:rPr lang="en-US" dirty="0">
                <a:solidFill>
                  <a:srgbClr val="2E2B21">
                    <a:tint val="75000"/>
                  </a:srgbClr>
                </a:solidFill>
              </a:rPr>
              <a:t>Department of Computer Science</a:t>
            </a:r>
          </a:p>
        </p:txBody>
      </p:sp>
      <p:sp>
        <p:nvSpPr>
          <p:cNvPr id="5" name="Slide Number Placeholder 4">
            <a:extLst>
              <a:ext uri="{FF2B5EF4-FFF2-40B4-BE49-F238E27FC236}">
                <a16:creationId xmlns:a16="http://schemas.microsoft.com/office/drawing/2014/main" id="{35E5A7CF-0D14-0125-85BC-EAE0C3E6145F}"/>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14</a:t>
            </a:fld>
            <a:endParaRPr lang="en-US" dirty="0">
              <a:solidFill>
                <a:srgbClr val="2E2B21">
                  <a:tint val="75000"/>
                </a:srgbClr>
              </a:solidFill>
            </a:endParaRPr>
          </a:p>
        </p:txBody>
      </p:sp>
    </p:spTree>
    <p:extLst>
      <p:ext uri="{BB962C8B-B14F-4D97-AF65-F5344CB8AC3E}">
        <p14:creationId xmlns:p14="http://schemas.microsoft.com/office/powerpoint/2010/main" val="2849371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13B8F-ED90-FAA5-B8DB-A1E3920830E2}"/>
              </a:ext>
            </a:extLst>
          </p:cNvPr>
          <p:cNvSpPr>
            <a:spLocks noGrp="1"/>
          </p:cNvSpPr>
          <p:nvPr>
            <p:ph type="title"/>
          </p:nvPr>
        </p:nvSpPr>
        <p:spPr>
          <a:xfrm>
            <a:off x="628650" y="365127"/>
            <a:ext cx="7886700" cy="701674"/>
          </a:xfrm>
        </p:spPr>
        <p:txBody>
          <a:bodyPr/>
          <a:lstStyle/>
          <a:p>
            <a:r>
              <a:rPr lang="en-US" dirty="0"/>
              <a:t>Example </a:t>
            </a:r>
          </a:p>
        </p:txBody>
      </p:sp>
      <p:sp>
        <p:nvSpPr>
          <p:cNvPr id="3" name="Content Placeholder 2">
            <a:extLst>
              <a:ext uri="{FF2B5EF4-FFF2-40B4-BE49-F238E27FC236}">
                <a16:creationId xmlns:a16="http://schemas.microsoft.com/office/drawing/2014/main" id="{DB7C1691-758B-95B7-8D52-F961ECF7536C}"/>
              </a:ext>
            </a:extLst>
          </p:cNvPr>
          <p:cNvSpPr>
            <a:spLocks noGrp="1"/>
          </p:cNvSpPr>
          <p:nvPr>
            <p:ph idx="1"/>
          </p:nvPr>
        </p:nvSpPr>
        <p:spPr>
          <a:xfrm>
            <a:off x="381000" y="1203328"/>
            <a:ext cx="8610600" cy="5153027"/>
          </a:xfrm>
        </p:spPr>
        <p:txBody>
          <a:bodyPr>
            <a:noAutofit/>
          </a:bodyPr>
          <a:lstStyle/>
          <a:p>
            <a:pPr marL="0" indent="0">
              <a:lnSpc>
                <a:spcPct val="100000"/>
              </a:lnSpc>
              <a:spcBef>
                <a:spcPts val="0"/>
              </a:spcBef>
              <a:buNone/>
            </a:pPr>
            <a:r>
              <a:rPr lang="en-US" sz="1600" dirty="0">
                <a:solidFill>
                  <a:srgbClr val="0070C0"/>
                </a:solidFill>
                <a:latin typeface="Comic Sans MS" panose="030F0702030302020204" pitchFamily="66" charset="0"/>
              </a:rPr>
              <a:t>&lt;!DOCTYPE html&gt;</a:t>
            </a:r>
          </a:p>
          <a:p>
            <a:pPr marL="0" indent="0">
              <a:lnSpc>
                <a:spcPct val="100000"/>
              </a:lnSpc>
              <a:spcBef>
                <a:spcPts val="0"/>
              </a:spcBef>
              <a:buNone/>
            </a:pPr>
            <a:r>
              <a:rPr lang="en-US" sz="1600" dirty="0">
                <a:solidFill>
                  <a:srgbClr val="0070C0"/>
                </a:solidFill>
                <a:latin typeface="Comic Sans MS" panose="030F0702030302020204" pitchFamily="66" charset="0"/>
              </a:rPr>
              <a:t>&lt;html lang="</a:t>
            </a:r>
            <a:r>
              <a:rPr lang="en-US" sz="1600" dirty="0" err="1">
                <a:solidFill>
                  <a:srgbClr val="0070C0"/>
                </a:solidFill>
                <a:latin typeface="Comic Sans MS" panose="030F0702030302020204" pitchFamily="66" charset="0"/>
              </a:rPr>
              <a:t>en</a:t>
            </a:r>
            <a:r>
              <a:rPr lang="en-US" sz="1600" dirty="0">
                <a:solidFill>
                  <a:srgbClr val="0070C0"/>
                </a:solidFill>
                <a:latin typeface="Comic Sans MS" panose="030F0702030302020204" pitchFamily="66" charset="0"/>
              </a:rPr>
              <a:t>"&gt;</a:t>
            </a:r>
          </a:p>
          <a:p>
            <a:pPr marL="0" indent="0">
              <a:lnSpc>
                <a:spcPct val="100000"/>
              </a:lnSpc>
              <a:spcBef>
                <a:spcPts val="0"/>
              </a:spcBef>
              <a:buNone/>
            </a:pPr>
            <a:r>
              <a:rPr lang="en-US" sz="1600" dirty="0">
                <a:solidFill>
                  <a:srgbClr val="0070C0"/>
                </a:solidFill>
                <a:latin typeface="Comic Sans MS" panose="030F0702030302020204" pitchFamily="66" charset="0"/>
              </a:rPr>
              <a:t>&lt;head&gt;</a:t>
            </a:r>
          </a:p>
          <a:p>
            <a:pPr marL="0" indent="0">
              <a:lnSpc>
                <a:spcPct val="100000"/>
              </a:lnSpc>
              <a:spcBef>
                <a:spcPts val="0"/>
              </a:spcBef>
              <a:buNone/>
            </a:pPr>
            <a:r>
              <a:rPr lang="en-US" sz="1600" dirty="0">
                <a:solidFill>
                  <a:srgbClr val="0070C0"/>
                </a:solidFill>
                <a:latin typeface="Comic Sans MS" panose="030F0702030302020204" pitchFamily="66" charset="0"/>
              </a:rPr>
              <a:t>    &lt;meta charset="UTF-8"&gt;</a:t>
            </a:r>
          </a:p>
          <a:p>
            <a:pPr marL="0" indent="0">
              <a:lnSpc>
                <a:spcPct val="100000"/>
              </a:lnSpc>
              <a:spcBef>
                <a:spcPts val="0"/>
              </a:spcBef>
              <a:buNone/>
            </a:pPr>
            <a:r>
              <a:rPr lang="en-US" sz="1600" dirty="0">
                <a:solidFill>
                  <a:srgbClr val="0070C0"/>
                </a:solidFill>
                <a:latin typeface="Comic Sans MS" panose="030F0702030302020204" pitchFamily="66" charset="0"/>
              </a:rPr>
              <a:t>    &lt;title&gt;AJAX Example&lt;/title&gt;</a:t>
            </a:r>
          </a:p>
          <a:p>
            <a:pPr marL="0" indent="0">
              <a:lnSpc>
                <a:spcPct val="100000"/>
              </a:lnSpc>
              <a:spcBef>
                <a:spcPts val="0"/>
              </a:spcBef>
              <a:buNone/>
            </a:pPr>
            <a:r>
              <a:rPr lang="en-US" sz="1600" dirty="0">
                <a:solidFill>
                  <a:srgbClr val="0070C0"/>
                </a:solidFill>
                <a:latin typeface="Comic Sans MS" panose="030F0702030302020204" pitchFamily="66" charset="0"/>
              </a:rPr>
              <a:t>&lt;/head&gt;</a:t>
            </a:r>
          </a:p>
          <a:p>
            <a:pPr marL="0" indent="0">
              <a:lnSpc>
                <a:spcPct val="100000"/>
              </a:lnSpc>
              <a:spcBef>
                <a:spcPts val="0"/>
              </a:spcBef>
              <a:buNone/>
            </a:pPr>
            <a:r>
              <a:rPr lang="en-US" sz="1600" dirty="0">
                <a:solidFill>
                  <a:srgbClr val="0070C0"/>
                </a:solidFill>
                <a:latin typeface="Comic Sans MS" panose="030F0702030302020204" pitchFamily="66" charset="0"/>
              </a:rPr>
              <a:t>&lt;body&gt;</a:t>
            </a:r>
          </a:p>
          <a:p>
            <a:pPr marL="0" indent="0">
              <a:lnSpc>
                <a:spcPct val="100000"/>
              </a:lnSpc>
              <a:spcBef>
                <a:spcPts val="0"/>
              </a:spcBef>
              <a:buNone/>
            </a:pPr>
            <a:r>
              <a:rPr lang="en-US" sz="1600" dirty="0">
                <a:solidFill>
                  <a:srgbClr val="0070C0"/>
                </a:solidFill>
                <a:latin typeface="Comic Sans MS" panose="030F0702030302020204" pitchFamily="66" charset="0"/>
              </a:rPr>
              <a:t>    &lt;p id="demo"&gt;AJAX change this text.&lt;/p&gt;</a:t>
            </a:r>
          </a:p>
          <a:p>
            <a:pPr marL="0" indent="0">
              <a:lnSpc>
                <a:spcPct val="100000"/>
              </a:lnSpc>
              <a:spcBef>
                <a:spcPts val="0"/>
              </a:spcBef>
              <a:buNone/>
            </a:pPr>
            <a:r>
              <a:rPr lang="en-US" sz="1600" dirty="0">
                <a:solidFill>
                  <a:srgbClr val="0070C0"/>
                </a:solidFill>
                <a:latin typeface="Comic Sans MS" panose="030F0702030302020204" pitchFamily="66" charset="0"/>
              </a:rPr>
              <a:t>    &lt;button type="button" onclick="</a:t>
            </a:r>
            <a:r>
              <a:rPr lang="en-US" sz="1600" dirty="0" err="1">
                <a:solidFill>
                  <a:srgbClr val="0070C0"/>
                </a:solidFill>
                <a:latin typeface="Comic Sans MS" panose="030F0702030302020204" pitchFamily="66" charset="0"/>
              </a:rPr>
              <a:t>loadDoc</a:t>
            </a:r>
            <a:r>
              <a:rPr lang="en-US" sz="1600" dirty="0">
                <a:solidFill>
                  <a:srgbClr val="0070C0"/>
                </a:solidFill>
                <a:latin typeface="Comic Sans MS" panose="030F0702030302020204" pitchFamily="66" charset="0"/>
              </a:rPr>
              <a:t>()"&gt;Change Content&lt;/button&gt;</a:t>
            </a:r>
          </a:p>
          <a:p>
            <a:pPr marL="0" indent="0">
              <a:lnSpc>
                <a:spcPct val="100000"/>
              </a:lnSpc>
              <a:spcBef>
                <a:spcPts val="0"/>
              </a:spcBef>
              <a:buNone/>
            </a:pPr>
            <a:r>
              <a:rPr lang="en-US" sz="1600" dirty="0">
                <a:solidFill>
                  <a:srgbClr val="0070C0"/>
                </a:solidFill>
                <a:latin typeface="Comic Sans MS" panose="030F0702030302020204" pitchFamily="66" charset="0"/>
              </a:rPr>
              <a:t>    &lt;script&gt;</a:t>
            </a:r>
          </a:p>
          <a:p>
            <a:pPr marL="0" indent="0">
              <a:lnSpc>
                <a:spcPct val="100000"/>
              </a:lnSpc>
              <a:spcBef>
                <a:spcPts val="0"/>
              </a:spcBef>
              <a:buNone/>
            </a:pPr>
            <a:r>
              <a:rPr lang="en-US" sz="1600" dirty="0">
                <a:solidFill>
                  <a:srgbClr val="0070C0"/>
                </a:solidFill>
                <a:latin typeface="Comic Sans MS" panose="030F0702030302020204" pitchFamily="66" charset="0"/>
              </a:rPr>
              <a:t>        function </a:t>
            </a:r>
            <a:r>
              <a:rPr lang="en-US" sz="1600" dirty="0" err="1">
                <a:solidFill>
                  <a:srgbClr val="0070C0"/>
                </a:solidFill>
                <a:latin typeface="Comic Sans MS" panose="030F0702030302020204" pitchFamily="66" charset="0"/>
              </a:rPr>
              <a:t>loadDoc</a:t>
            </a:r>
            <a:r>
              <a:rPr lang="en-US" sz="1600" dirty="0">
                <a:solidFill>
                  <a:srgbClr val="0070C0"/>
                </a:solidFill>
                <a:latin typeface="Comic Sans MS" panose="030F0702030302020204" pitchFamily="66" charset="0"/>
              </a:rPr>
              <a:t>() {</a:t>
            </a:r>
          </a:p>
          <a:p>
            <a:pPr marL="0" indent="0">
              <a:lnSpc>
                <a:spcPct val="100000"/>
              </a:lnSpc>
              <a:spcBef>
                <a:spcPts val="0"/>
              </a:spcBef>
              <a:buNone/>
            </a:pPr>
            <a:r>
              <a:rPr lang="en-US" sz="1600" dirty="0">
                <a:solidFill>
                  <a:srgbClr val="0070C0"/>
                </a:solidFill>
                <a:latin typeface="Comic Sans MS" panose="030F0702030302020204" pitchFamily="66" charset="0"/>
              </a:rPr>
              <a:t>            // Create a new </a:t>
            </a:r>
            <a:r>
              <a:rPr lang="en-US" sz="1600" dirty="0" err="1">
                <a:solidFill>
                  <a:srgbClr val="0070C0"/>
                </a:solidFill>
                <a:latin typeface="Comic Sans MS" panose="030F0702030302020204" pitchFamily="66" charset="0"/>
              </a:rPr>
              <a:t>XMLHttpRequest</a:t>
            </a:r>
            <a:r>
              <a:rPr lang="en-US" sz="1600" dirty="0">
                <a:solidFill>
                  <a:srgbClr val="0070C0"/>
                </a:solidFill>
                <a:latin typeface="Comic Sans MS" panose="030F0702030302020204" pitchFamily="66" charset="0"/>
              </a:rPr>
              <a:t> object</a:t>
            </a:r>
          </a:p>
          <a:p>
            <a:pPr marL="0" indent="0">
              <a:lnSpc>
                <a:spcPct val="100000"/>
              </a:lnSpc>
              <a:spcBef>
                <a:spcPts val="0"/>
              </a:spcBef>
              <a:buNone/>
            </a:pPr>
            <a:r>
              <a:rPr lang="en-US" sz="1600" dirty="0">
                <a:solidFill>
                  <a:srgbClr val="0070C0"/>
                </a:solidFill>
                <a:latin typeface="Comic Sans MS" panose="030F0702030302020204" pitchFamily="66" charset="0"/>
              </a:rPr>
              <a:t>            var </a:t>
            </a:r>
            <a:r>
              <a:rPr lang="en-US" sz="1600" dirty="0" err="1">
                <a:solidFill>
                  <a:srgbClr val="0070C0"/>
                </a:solidFill>
                <a:latin typeface="Comic Sans MS" panose="030F0702030302020204" pitchFamily="66" charset="0"/>
              </a:rPr>
              <a:t>xhttp</a:t>
            </a:r>
            <a:r>
              <a:rPr lang="en-US" sz="1600" dirty="0">
                <a:solidFill>
                  <a:srgbClr val="0070C0"/>
                </a:solidFill>
                <a:latin typeface="Comic Sans MS" panose="030F0702030302020204" pitchFamily="66" charset="0"/>
              </a:rPr>
              <a:t> = new </a:t>
            </a:r>
            <a:r>
              <a:rPr lang="en-US" sz="1600" dirty="0" err="1">
                <a:solidFill>
                  <a:srgbClr val="0070C0"/>
                </a:solidFill>
                <a:latin typeface="Comic Sans MS" panose="030F0702030302020204" pitchFamily="66" charset="0"/>
              </a:rPr>
              <a:t>XMLHttpRequest</a:t>
            </a:r>
            <a:r>
              <a:rPr lang="en-US" sz="1600" dirty="0">
                <a:solidFill>
                  <a:srgbClr val="0070C0"/>
                </a:solidFill>
                <a:latin typeface="Comic Sans MS" panose="030F0702030302020204" pitchFamily="66" charset="0"/>
              </a:rPr>
              <a:t>();</a:t>
            </a:r>
          </a:p>
          <a:p>
            <a:pPr marL="0" indent="0">
              <a:lnSpc>
                <a:spcPct val="100000"/>
              </a:lnSpc>
              <a:spcBef>
                <a:spcPts val="0"/>
              </a:spcBef>
              <a:buNone/>
            </a:pPr>
            <a:endParaRPr lang="en-US" sz="1600" dirty="0">
              <a:solidFill>
                <a:srgbClr val="0070C0"/>
              </a:solidFill>
              <a:latin typeface="Comic Sans MS" panose="030F0702030302020204" pitchFamily="66" charset="0"/>
            </a:endParaRPr>
          </a:p>
          <a:p>
            <a:pPr marL="0" indent="0">
              <a:lnSpc>
                <a:spcPct val="100000"/>
              </a:lnSpc>
              <a:spcBef>
                <a:spcPts val="0"/>
              </a:spcBef>
              <a:buNone/>
            </a:pPr>
            <a:endParaRPr lang="en-US" sz="1600" dirty="0">
              <a:solidFill>
                <a:srgbClr val="0070C0"/>
              </a:solidFill>
              <a:latin typeface="Comic Sans MS" panose="030F0702030302020204" pitchFamily="66" charset="0"/>
            </a:endParaRPr>
          </a:p>
          <a:p>
            <a:pPr marL="0" indent="0">
              <a:lnSpc>
                <a:spcPct val="100000"/>
              </a:lnSpc>
              <a:spcBef>
                <a:spcPts val="0"/>
              </a:spcBef>
              <a:buNone/>
            </a:pPr>
            <a:endParaRPr lang="en-US" sz="1600" dirty="0">
              <a:solidFill>
                <a:srgbClr val="0070C0"/>
              </a:solidFill>
              <a:latin typeface="Comic Sans MS" panose="030F0702030302020204" pitchFamily="66" charset="0"/>
            </a:endParaRPr>
          </a:p>
          <a:p>
            <a:pPr marL="0" indent="0" algn="ctr">
              <a:lnSpc>
                <a:spcPct val="100000"/>
              </a:lnSpc>
              <a:spcBef>
                <a:spcPts val="0"/>
              </a:spcBef>
              <a:buNone/>
            </a:pPr>
            <a:endParaRPr lang="en-US" dirty="0">
              <a:solidFill>
                <a:srgbClr val="0070C0"/>
              </a:solidFill>
              <a:latin typeface="Comic Sans MS" panose="030F0702030302020204" pitchFamily="66" charset="0"/>
            </a:endParaRPr>
          </a:p>
          <a:p>
            <a:pPr marL="0" indent="0" algn="ctr">
              <a:lnSpc>
                <a:spcPct val="100000"/>
              </a:lnSpc>
              <a:spcBef>
                <a:spcPts val="0"/>
              </a:spcBef>
              <a:buNone/>
            </a:pPr>
            <a:r>
              <a:rPr lang="en-US" sz="6000" dirty="0">
                <a:solidFill>
                  <a:srgbClr val="0070C0"/>
                </a:solidFill>
                <a:latin typeface="Comic Sans MS" panose="030F0702030302020204" pitchFamily="66" charset="0"/>
              </a:rPr>
              <a:t>…</a:t>
            </a:r>
          </a:p>
          <a:p>
            <a:pPr marL="0" indent="0">
              <a:lnSpc>
                <a:spcPct val="100000"/>
              </a:lnSpc>
              <a:spcBef>
                <a:spcPts val="0"/>
              </a:spcBef>
              <a:buNone/>
            </a:pPr>
            <a:endParaRPr lang="en-US" sz="1600" dirty="0">
              <a:solidFill>
                <a:srgbClr val="0070C0"/>
              </a:solidFill>
              <a:latin typeface="Comic Sans MS" panose="030F0702030302020204" pitchFamily="66" charset="0"/>
            </a:endParaRPr>
          </a:p>
          <a:p>
            <a:pPr marL="0" indent="0">
              <a:lnSpc>
                <a:spcPct val="100000"/>
              </a:lnSpc>
              <a:spcBef>
                <a:spcPts val="0"/>
              </a:spcBef>
              <a:buNone/>
            </a:pPr>
            <a:r>
              <a:rPr lang="en-US" sz="1600" dirty="0">
                <a:solidFill>
                  <a:srgbClr val="0070C0"/>
                </a:solidFill>
                <a:latin typeface="Comic Sans MS" panose="030F0702030302020204" pitchFamily="66" charset="0"/>
              </a:rPr>
              <a:t>           </a:t>
            </a:r>
          </a:p>
        </p:txBody>
      </p:sp>
      <p:sp>
        <p:nvSpPr>
          <p:cNvPr id="4" name="Footer Placeholder 3">
            <a:extLst>
              <a:ext uri="{FF2B5EF4-FFF2-40B4-BE49-F238E27FC236}">
                <a16:creationId xmlns:a16="http://schemas.microsoft.com/office/drawing/2014/main" id="{9A715F08-E887-0B5F-6938-C00D35663233}"/>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0AD61A7C-3F5A-54EC-C17D-B08CB7A31DB2}"/>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15</a:t>
            </a:fld>
            <a:endParaRPr lang="en-US" dirty="0">
              <a:solidFill>
                <a:srgbClr val="2E2B21">
                  <a:tint val="75000"/>
                </a:srgbClr>
              </a:solidFill>
            </a:endParaRPr>
          </a:p>
        </p:txBody>
      </p:sp>
    </p:spTree>
    <p:extLst>
      <p:ext uri="{BB962C8B-B14F-4D97-AF65-F5344CB8AC3E}">
        <p14:creationId xmlns:p14="http://schemas.microsoft.com/office/powerpoint/2010/main" val="3608172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13B8F-ED90-FAA5-B8DB-A1E3920830E2}"/>
              </a:ext>
            </a:extLst>
          </p:cNvPr>
          <p:cNvSpPr>
            <a:spLocks noGrp="1"/>
          </p:cNvSpPr>
          <p:nvPr>
            <p:ph type="title"/>
          </p:nvPr>
        </p:nvSpPr>
        <p:spPr>
          <a:xfrm>
            <a:off x="628650" y="365127"/>
            <a:ext cx="7886700" cy="701674"/>
          </a:xfrm>
        </p:spPr>
        <p:txBody>
          <a:bodyPr/>
          <a:lstStyle/>
          <a:p>
            <a:r>
              <a:rPr lang="en-US" dirty="0"/>
              <a:t>Example </a:t>
            </a:r>
          </a:p>
        </p:txBody>
      </p:sp>
      <p:sp>
        <p:nvSpPr>
          <p:cNvPr id="3" name="Content Placeholder 2">
            <a:extLst>
              <a:ext uri="{FF2B5EF4-FFF2-40B4-BE49-F238E27FC236}">
                <a16:creationId xmlns:a16="http://schemas.microsoft.com/office/drawing/2014/main" id="{DB7C1691-758B-95B7-8D52-F961ECF7536C}"/>
              </a:ext>
            </a:extLst>
          </p:cNvPr>
          <p:cNvSpPr>
            <a:spLocks noGrp="1"/>
          </p:cNvSpPr>
          <p:nvPr>
            <p:ph idx="1"/>
          </p:nvPr>
        </p:nvSpPr>
        <p:spPr>
          <a:xfrm>
            <a:off x="304800" y="1143000"/>
            <a:ext cx="8686800" cy="5349873"/>
          </a:xfrm>
        </p:spPr>
        <p:txBody>
          <a:bodyPr>
            <a:noAutofit/>
          </a:bodyPr>
          <a:lstStyle/>
          <a:p>
            <a:pPr marL="0" indent="0" algn="ctr">
              <a:lnSpc>
                <a:spcPct val="100000"/>
              </a:lnSpc>
              <a:spcBef>
                <a:spcPts val="0"/>
              </a:spcBef>
              <a:buNone/>
            </a:pPr>
            <a:r>
              <a:rPr lang="en-US" sz="4800" dirty="0">
                <a:solidFill>
                  <a:srgbClr val="0070C0"/>
                </a:solidFill>
                <a:latin typeface="Comic Sans MS" panose="030F0702030302020204" pitchFamily="66" charset="0"/>
              </a:rPr>
              <a:t>…</a:t>
            </a:r>
          </a:p>
          <a:p>
            <a:pPr marL="0" indent="0">
              <a:lnSpc>
                <a:spcPct val="100000"/>
              </a:lnSpc>
              <a:spcBef>
                <a:spcPts val="0"/>
              </a:spcBef>
              <a:buNone/>
            </a:pPr>
            <a:endParaRPr lang="en-US" sz="1600" dirty="0">
              <a:solidFill>
                <a:srgbClr val="0070C0"/>
              </a:solidFill>
              <a:latin typeface="Comic Sans MS" panose="030F0702030302020204" pitchFamily="66" charset="0"/>
            </a:endParaRPr>
          </a:p>
          <a:p>
            <a:pPr marL="0" indent="0">
              <a:lnSpc>
                <a:spcPct val="100000"/>
              </a:lnSpc>
              <a:spcBef>
                <a:spcPts val="0"/>
              </a:spcBef>
              <a:buNone/>
            </a:pPr>
            <a:r>
              <a:rPr lang="en-US" sz="1600" dirty="0">
                <a:solidFill>
                  <a:srgbClr val="0070C0"/>
                </a:solidFill>
                <a:latin typeface="Comic Sans MS" panose="030F0702030302020204" pitchFamily="66" charset="0"/>
              </a:rPr>
              <a:t> // Define the function to be called when the </a:t>
            </a:r>
            <a:r>
              <a:rPr lang="en-US" sz="1600" dirty="0" err="1">
                <a:solidFill>
                  <a:srgbClr val="0070C0"/>
                </a:solidFill>
                <a:latin typeface="Comic Sans MS" panose="030F0702030302020204" pitchFamily="66" charset="0"/>
              </a:rPr>
              <a:t>readyState</a:t>
            </a:r>
            <a:r>
              <a:rPr lang="en-US" sz="1600" dirty="0">
                <a:solidFill>
                  <a:srgbClr val="0070C0"/>
                </a:solidFill>
                <a:latin typeface="Comic Sans MS" panose="030F0702030302020204" pitchFamily="66" charset="0"/>
              </a:rPr>
              <a:t> changes</a:t>
            </a:r>
          </a:p>
          <a:p>
            <a:pPr marL="0" indent="0">
              <a:lnSpc>
                <a:spcPct val="100000"/>
              </a:lnSpc>
              <a:spcBef>
                <a:spcPts val="0"/>
              </a:spcBef>
              <a:buNone/>
            </a:pPr>
            <a:r>
              <a:rPr lang="en-US" sz="1600" dirty="0">
                <a:solidFill>
                  <a:srgbClr val="0070C0"/>
                </a:solidFill>
                <a:latin typeface="Comic Sans MS" panose="030F0702030302020204" pitchFamily="66" charset="0"/>
              </a:rPr>
              <a:t>            </a:t>
            </a:r>
            <a:r>
              <a:rPr lang="en-US" sz="1600" dirty="0" err="1">
                <a:solidFill>
                  <a:srgbClr val="0070C0"/>
                </a:solidFill>
                <a:latin typeface="Comic Sans MS" panose="030F0702030302020204" pitchFamily="66" charset="0"/>
              </a:rPr>
              <a:t>xhttp.onreadystatechange</a:t>
            </a:r>
            <a:r>
              <a:rPr lang="en-US" sz="1600" dirty="0">
                <a:solidFill>
                  <a:srgbClr val="0070C0"/>
                </a:solidFill>
                <a:latin typeface="Comic Sans MS" panose="030F0702030302020204" pitchFamily="66" charset="0"/>
              </a:rPr>
              <a:t> = function() {</a:t>
            </a:r>
          </a:p>
          <a:p>
            <a:pPr marL="0" indent="0">
              <a:lnSpc>
                <a:spcPct val="100000"/>
              </a:lnSpc>
              <a:spcBef>
                <a:spcPts val="0"/>
              </a:spcBef>
              <a:buNone/>
            </a:pPr>
            <a:r>
              <a:rPr lang="en-US" sz="1600" dirty="0">
                <a:solidFill>
                  <a:srgbClr val="0070C0"/>
                </a:solidFill>
                <a:latin typeface="Comic Sans MS" panose="030F0702030302020204" pitchFamily="66" charset="0"/>
              </a:rPr>
              <a:t>         // Check if the request is complete (</a:t>
            </a:r>
            <a:r>
              <a:rPr lang="en-US" sz="1600" dirty="0" err="1">
                <a:solidFill>
                  <a:srgbClr val="0070C0"/>
                </a:solidFill>
                <a:latin typeface="Comic Sans MS" panose="030F0702030302020204" pitchFamily="66" charset="0"/>
              </a:rPr>
              <a:t>readyState</a:t>
            </a:r>
            <a:r>
              <a:rPr lang="en-US" sz="1600" dirty="0">
                <a:solidFill>
                  <a:srgbClr val="0070C0"/>
                </a:solidFill>
                <a:latin typeface="Comic Sans MS" panose="030F0702030302020204" pitchFamily="66" charset="0"/>
              </a:rPr>
              <a:t> is 4) and successful (status is 200)</a:t>
            </a:r>
          </a:p>
          <a:p>
            <a:pPr marL="0" indent="0">
              <a:lnSpc>
                <a:spcPct val="100000"/>
              </a:lnSpc>
              <a:spcBef>
                <a:spcPts val="0"/>
              </a:spcBef>
              <a:buNone/>
            </a:pPr>
            <a:r>
              <a:rPr lang="en-US" sz="1600" dirty="0">
                <a:solidFill>
                  <a:srgbClr val="0070C0"/>
                </a:solidFill>
                <a:latin typeface="Comic Sans MS" panose="030F0702030302020204" pitchFamily="66" charset="0"/>
              </a:rPr>
              <a:t>                if (</a:t>
            </a:r>
            <a:r>
              <a:rPr lang="en-US" sz="1600" dirty="0" err="1">
                <a:solidFill>
                  <a:srgbClr val="0070C0"/>
                </a:solidFill>
                <a:latin typeface="Comic Sans MS" panose="030F0702030302020204" pitchFamily="66" charset="0"/>
              </a:rPr>
              <a:t>this.readyState</a:t>
            </a:r>
            <a:r>
              <a:rPr lang="en-US" sz="1600" dirty="0">
                <a:solidFill>
                  <a:srgbClr val="0070C0"/>
                </a:solidFill>
                <a:latin typeface="Comic Sans MS" panose="030F0702030302020204" pitchFamily="66" charset="0"/>
              </a:rPr>
              <a:t> == 4 &amp;&amp; </a:t>
            </a:r>
            <a:r>
              <a:rPr lang="en-US" sz="1600" dirty="0" err="1">
                <a:solidFill>
                  <a:srgbClr val="0070C0"/>
                </a:solidFill>
                <a:latin typeface="Comic Sans MS" panose="030F0702030302020204" pitchFamily="66" charset="0"/>
              </a:rPr>
              <a:t>this.status</a:t>
            </a:r>
            <a:r>
              <a:rPr lang="en-US" sz="1600" dirty="0">
                <a:solidFill>
                  <a:srgbClr val="0070C0"/>
                </a:solidFill>
                <a:latin typeface="Comic Sans MS" panose="030F0702030302020204" pitchFamily="66" charset="0"/>
              </a:rPr>
              <a:t> == 200) {</a:t>
            </a:r>
          </a:p>
          <a:p>
            <a:pPr marL="0" indent="0">
              <a:lnSpc>
                <a:spcPct val="100000"/>
              </a:lnSpc>
              <a:spcBef>
                <a:spcPts val="0"/>
              </a:spcBef>
              <a:buNone/>
            </a:pPr>
            <a:r>
              <a:rPr lang="en-US" sz="1600" dirty="0">
                <a:solidFill>
                  <a:srgbClr val="0070C0"/>
                </a:solidFill>
                <a:latin typeface="Comic Sans MS" panose="030F0702030302020204" pitchFamily="66" charset="0"/>
              </a:rPr>
              <a:t>                    // Update the content of the paragraph with the ID 'demo'</a:t>
            </a:r>
          </a:p>
          <a:p>
            <a:pPr marL="0" indent="0">
              <a:lnSpc>
                <a:spcPct val="100000"/>
              </a:lnSpc>
              <a:spcBef>
                <a:spcPts val="0"/>
              </a:spcBef>
              <a:buNone/>
            </a:pPr>
            <a:r>
              <a:rPr lang="en-US" sz="1600" dirty="0">
                <a:solidFill>
                  <a:srgbClr val="0070C0"/>
                </a:solidFill>
                <a:latin typeface="Comic Sans MS" panose="030F0702030302020204" pitchFamily="66" charset="0"/>
              </a:rPr>
              <a:t>                    </a:t>
            </a:r>
            <a:r>
              <a:rPr lang="en-US" sz="1600" dirty="0" err="1">
                <a:solidFill>
                  <a:srgbClr val="0070C0"/>
                </a:solidFill>
                <a:latin typeface="Comic Sans MS" panose="030F0702030302020204" pitchFamily="66" charset="0"/>
              </a:rPr>
              <a:t>document.getElementById</a:t>
            </a:r>
            <a:r>
              <a:rPr lang="en-US" sz="1600" dirty="0">
                <a:solidFill>
                  <a:srgbClr val="0070C0"/>
                </a:solidFill>
                <a:latin typeface="Comic Sans MS" panose="030F0702030302020204" pitchFamily="66" charset="0"/>
              </a:rPr>
              <a:t>("demo").</a:t>
            </a:r>
            <a:r>
              <a:rPr lang="en-US" sz="1600" dirty="0" err="1">
                <a:solidFill>
                  <a:srgbClr val="0070C0"/>
                </a:solidFill>
                <a:latin typeface="Comic Sans MS" panose="030F0702030302020204" pitchFamily="66" charset="0"/>
              </a:rPr>
              <a:t>innerHTML</a:t>
            </a:r>
            <a:r>
              <a:rPr lang="en-US" sz="1600" dirty="0">
                <a:solidFill>
                  <a:srgbClr val="0070C0"/>
                </a:solidFill>
                <a:latin typeface="Comic Sans MS" panose="030F0702030302020204" pitchFamily="66" charset="0"/>
              </a:rPr>
              <a:t> = </a:t>
            </a:r>
            <a:r>
              <a:rPr lang="en-US" sz="1600" dirty="0" err="1">
                <a:solidFill>
                  <a:srgbClr val="0070C0"/>
                </a:solidFill>
                <a:latin typeface="Comic Sans MS" panose="030F0702030302020204" pitchFamily="66" charset="0"/>
              </a:rPr>
              <a:t>this.responseText</a:t>
            </a:r>
            <a:r>
              <a:rPr lang="en-US" sz="1600" dirty="0">
                <a:solidFill>
                  <a:srgbClr val="0070C0"/>
                </a:solidFill>
                <a:latin typeface="Comic Sans MS" panose="030F0702030302020204" pitchFamily="66" charset="0"/>
              </a:rPr>
              <a:t>;</a:t>
            </a:r>
          </a:p>
          <a:p>
            <a:pPr marL="0" indent="0">
              <a:lnSpc>
                <a:spcPct val="100000"/>
              </a:lnSpc>
              <a:spcBef>
                <a:spcPts val="0"/>
              </a:spcBef>
              <a:buNone/>
            </a:pPr>
            <a:r>
              <a:rPr lang="en-US" sz="1600" dirty="0">
                <a:solidFill>
                  <a:srgbClr val="0070C0"/>
                </a:solidFill>
                <a:latin typeface="Comic Sans MS" panose="030F0702030302020204" pitchFamily="66" charset="0"/>
              </a:rPr>
              <a:t>                }</a:t>
            </a:r>
          </a:p>
          <a:p>
            <a:pPr marL="0" indent="0">
              <a:lnSpc>
                <a:spcPct val="100000"/>
              </a:lnSpc>
              <a:spcBef>
                <a:spcPts val="0"/>
              </a:spcBef>
              <a:buNone/>
            </a:pPr>
            <a:r>
              <a:rPr lang="en-US" sz="1600" dirty="0">
                <a:solidFill>
                  <a:srgbClr val="0070C0"/>
                </a:solidFill>
                <a:latin typeface="Comic Sans MS" panose="030F0702030302020204" pitchFamily="66" charset="0"/>
              </a:rPr>
              <a:t>            };</a:t>
            </a:r>
          </a:p>
          <a:p>
            <a:pPr marL="0" indent="0">
              <a:lnSpc>
                <a:spcPct val="100000"/>
              </a:lnSpc>
              <a:spcBef>
                <a:spcPts val="0"/>
              </a:spcBef>
              <a:buNone/>
            </a:pPr>
            <a:r>
              <a:rPr lang="en-US" sz="1600" dirty="0">
                <a:solidFill>
                  <a:srgbClr val="0070C0"/>
                </a:solidFill>
                <a:latin typeface="Comic Sans MS" panose="030F0702030302020204" pitchFamily="66" charset="0"/>
              </a:rPr>
              <a:t>            // Initialize the request</a:t>
            </a:r>
          </a:p>
          <a:p>
            <a:pPr marL="0" indent="0">
              <a:lnSpc>
                <a:spcPct val="100000"/>
              </a:lnSpc>
              <a:spcBef>
                <a:spcPts val="0"/>
              </a:spcBef>
              <a:buNone/>
            </a:pPr>
            <a:r>
              <a:rPr lang="en-US" sz="1600" dirty="0">
                <a:solidFill>
                  <a:srgbClr val="0070C0"/>
                </a:solidFill>
                <a:latin typeface="Comic Sans MS" panose="030F0702030302020204" pitchFamily="66" charset="0"/>
              </a:rPr>
              <a:t>            </a:t>
            </a:r>
            <a:r>
              <a:rPr lang="en-US" sz="1600" dirty="0" err="1">
                <a:solidFill>
                  <a:srgbClr val="0070C0"/>
                </a:solidFill>
                <a:latin typeface="Comic Sans MS" panose="030F0702030302020204" pitchFamily="66" charset="0"/>
              </a:rPr>
              <a:t>xhttp.open</a:t>
            </a:r>
            <a:r>
              <a:rPr lang="en-US" sz="1600" dirty="0">
                <a:solidFill>
                  <a:srgbClr val="0070C0"/>
                </a:solidFill>
                <a:latin typeface="Comic Sans MS" panose="030F0702030302020204" pitchFamily="66" charset="0"/>
              </a:rPr>
              <a:t>("GET", "</a:t>
            </a:r>
            <a:r>
              <a:rPr lang="en-US" sz="1600" dirty="0" err="1">
                <a:solidFill>
                  <a:srgbClr val="0070C0"/>
                </a:solidFill>
                <a:latin typeface="Comic Sans MS" panose="030F0702030302020204" pitchFamily="66" charset="0"/>
              </a:rPr>
              <a:t>labone.php</a:t>
            </a:r>
            <a:r>
              <a:rPr lang="en-US" sz="1600" dirty="0">
                <a:solidFill>
                  <a:srgbClr val="0070C0"/>
                </a:solidFill>
                <a:latin typeface="Comic Sans MS" panose="030F0702030302020204" pitchFamily="66" charset="0"/>
              </a:rPr>
              <a:t>", true);</a:t>
            </a:r>
          </a:p>
          <a:p>
            <a:pPr marL="0" indent="0">
              <a:lnSpc>
                <a:spcPct val="100000"/>
              </a:lnSpc>
              <a:spcBef>
                <a:spcPts val="0"/>
              </a:spcBef>
              <a:buNone/>
            </a:pPr>
            <a:endParaRPr lang="en-US" sz="1600" dirty="0">
              <a:solidFill>
                <a:srgbClr val="0070C0"/>
              </a:solidFill>
              <a:latin typeface="Comic Sans MS" panose="030F0702030302020204" pitchFamily="66" charset="0"/>
            </a:endParaRPr>
          </a:p>
          <a:p>
            <a:pPr marL="0" indent="0">
              <a:lnSpc>
                <a:spcPct val="100000"/>
              </a:lnSpc>
              <a:spcBef>
                <a:spcPts val="0"/>
              </a:spcBef>
              <a:buNone/>
            </a:pPr>
            <a:r>
              <a:rPr lang="en-US" sz="1600" dirty="0">
                <a:solidFill>
                  <a:srgbClr val="0070C0"/>
                </a:solidFill>
                <a:latin typeface="Comic Sans MS" panose="030F0702030302020204" pitchFamily="66" charset="0"/>
              </a:rPr>
              <a:t>            // Send the request</a:t>
            </a:r>
          </a:p>
          <a:p>
            <a:pPr marL="0" indent="0">
              <a:lnSpc>
                <a:spcPct val="100000"/>
              </a:lnSpc>
              <a:spcBef>
                <a:spcPts val="0"/>
              </a:spcBef>
              <a:buNone/>
            </a:pPr>
            <a:r>
              <a:rPr lang="en-US" sz="1600" dirty="0">
                <a:solidFill>
                  <a:srgbClr val="0070C0"/>
                </a:solidFill>
                <a:latin typeface="Comic Sans MS" panose="030F0702030302020204" pitchFamily="66" charset="0"/>
              </a:rPr>
              <a:t>            </a:t>
            </a:r>
            <a:r>
              <a:rPr lang="en-US" sz="1600" dirty="0" err="1">
                <a:solidFill>
                  <a:srgbClr val="0070C0"/>
                </a:solidFill>
                <a:latin typeface="Comic Sans MS" panose="030F0702030302020204" pitchFamily="66" charset="0"/>
              </a:rPr>
              <a:t>xhttp.send</a:t>
            </a:r>
            <a:r>
              <a:rPr lang="en-US" sz="1600" dirty="0">
                <a:solidFill>
                  <a:srgbClr val="0070C0"/>
                </a:solidFill>
                <a:latin typeface="Comic Sans MS" panose="030F0702030302020204" pitchFamily="66" charset="0"/>
              </a:rPr>
              <a:t>();</a:t>
            </a:r>
          </a:p>
          <a:p>
            <a:pPr marL="0" indent="0">
              <a:lnSpc>
                <a:spcPct val="100000"/>
              </a:lnSpc>
              <a:spcBef>
                <a:spcPts val="0"/>
              </a:spcBef>
              <a:buNone/>
            </a:pPr>
            <a:r>
              <a:rPr lang="en-US" sz="1600" dirty="0">
                <a:solidFill>
                  <a:srgbClr val="0070C0"/>
                </a:solidFill>
                <a:latin typeface="Comic Sans MS" panose="030F0702030302020204" pitchFamily="66" charset="0"/>
              </a:rPr>
              <a:t>        }</a:t>
            </a:r>
          </a:p>
          <a:p>
            <a:pPr marL="0" indent="0">
              <a:lnSpc>
                <a:spcPct val="100000"/>
              </a:lnSpc>
              <a:spcBef>
                <a:spcPts val="0"/>
              </a:spcBef>
              <a:buNone/>
            </a:pPr>
            <a:r>
              <a:rPr lang="en-US" sz="1600" dirty="0">
                <a:solidFill>
                  <a:srgbClr val="0070C0"/>
                </a:solidFill>
                <a:latin typeface="Comic Sans MS" panose="030F0702030302020204" pitchFamily="66" charset="0"/>
              </a:rPr>
              <a:t>    &lt;/script&gt;</a:t>
            </a:r>
          </a:p>
          <a:p>
            <a:pPr marL="0" indent="0">
              <a:lnSpc>
                <a:spcPct val="100000"/>
              </a:lnSpc>
              <a:spcBef>
                <a:spcPts val="0"/>
              </a:spcBef>
              <a:buNone/>
            </a:pPr>
            <a:r>
              <a:rPr lang="en-US" sz="1600" dirty="0">
                <a:solidFill>
                  <a:srgbClr val="0070C0"/>
                </a:solidFill>
                <a:latin typeface="Comic Sans MS" panose="030F0702030302020204" pitchFamily="66" charset="0"/>
              </a:rPr>
              <a:t>&lt;/body&gt;</a:t>
            </a:r>
          </a:p>
          <a:p>
            <a:pPr marL="0" indent="0">
              <a:lnSpc>
                <a:spcPct val="100000"/>
              </a:lnSpc>
              <a:spcBef>
                <a:spcPts val="0"/>
              </a:spcBef>
              <a:buNone/>
            </a:pPr>
            <a:r>
              <a:rPr lang="en-US" sz="1600" dirty="0">
                <a:solidFill>
                  <a:srgbClr val="0070C0"/>
                </a:solidFill>
                <a:latin typeface="Comic Sans MS" panose="030F0702030302020204" pitchFamily="66" charset="0"/>
              </a:rPr>
              <a:t>&lt;/html&gt;</a:t>
            </a:r>
          </a:p>
        </p:txBody>
      </p:sp>
      <p:sp>
        <p:nvSpPr>
          <p:cNvPr id="4" name="Footer Placeholder 3">
            <a:extLst>
              <a:ext uri="{FF2B5EF4-FFF2-40B4-BE49-F238E27FC236}">
                <a16:creationId xmlns:a16="http://schemas.microsoft.com/office/drawing/2014/main" id="{9A715F08-E887-0B5F-6938-C00D35663233}"/>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0AD61A7C-3F5A-54EC-C17D-B08CB7A31DB2}"/>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16</a:t>
            </a:fld>
            <a:endParaRPr lang="en-US" dirty="0">
              <a:solidFill>
                <a:srgbClr val="2E2B21">
                  <a:tint val="75000"/>
                </a:srgbClr>
              </a:solidFill>
            </a:endParaRPr>
          </a:p>
        </p:txBody>
      </p:sp>
    </p:spTree>
    <p:extLst>
      <p:ext uri="{BB962C8B-B14F-4D97-AF65-F5344CB8AC3E}">
        <p14:creationId xmlns:p14="http://schemas.microsoft.com/office/powerpoint/2010/main" val="205022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8656A-BF7B-E90A-4072-792F477DD1E4}"/>
              </a:ext>
            </a:extLst>
          </p:cNvPr>
          <p:cNvSpPr>
            <a:spLocks noGrp="1"/>
          </p:cNvSpPr>
          <p:nvPr>
            <p:ph type="title"/>
          </p:nvPr>
        </p:nvSpPr>
        <p:spPr>
          <a:xfrm>
            <a:off x="628650" y="365127"/>
            <a:ext cx="7886700" cy="777874"/>
          </a:xfrm>
        </p:spPr>
        <p:txBody>
          <a:bodyPr/>
          <a:lstStyle/>
          <a:p>
            <a:r>
              <a:rPr lang="en-US" dirty="0">
                <a:latin typeface="Comic Sans MS" panose="030F0702030302020204" pitchFamily="66" charset="0"/>
              </a:rPr>
              <a:t>Cont</a:t>
            </a:r>
            <a:r>
              <a:rPr lang="en-US" dirty="0">
                <a:latin typeface="comt (Headings)"/>
              </a:rPr>
              <a:t>.…</a:t>
            </a:r>
          </a:p>
        </p:txBody>
      </p:sp>
      <p:sp>
        <p:nvSpPr>
          <p:cNvPr id="3" name="Content Placeholder 2">
            <a:extLst>
              <a:ext uri="{FF2B5EF4-FFF2-40B4-BE49-F238E27FC236}">
                <a16:creationId xmlns:a16="http://schemas.microsoft.com/office/drawing/2014/main" id="{A2E4C78F-F431-25ED-5AD2-5307AE5B06DF}"/>
              </a:ext>
            </a:extLst>
          </p:cNvPr>
          <p:cNvSpPr>
            <a:spLocks noGrp="1"/>
          </p:cNvSpPr>
          <p:nvPr>
            <p:ph idx="1"/>
          </p:nvPr>
        </p:nvSpPr>
        <p:spPr>
          <a:xfrm>
            <a:off x="381000" y="1371600"/>
            <a:ext cx="8534400" cy="4984755"/>
          </a:xfrm>
        </p:spPr>
        <p:txBody>
          <a:bodyPr>
            <a:normAutofit fontScale="92500" lnSpcReduction="10000"/>
          </a:bodyPr>
          <a:lstStyle/>
          <a:p>
            <a:pPr marL="0" indent="0">
              <a:lnSpc>
                <a:spcPct val="110000"/>
              </a:lnSpc>
              <a:buNone/>
            </a:pPr>
            <a:r>
              <a:rPr lang="en-US" b="1" dirty="0">
                <a:solidFill>
                  <a:srgbClr val="FF0000"/>
                </a:solidFill>
                <a:latin typeface="Consolas" panose="020B0609020204030204" pitchFamily="49" charset="0"/>
              </a:rPr>
              <a:t>&lt;?</a:t>
            </a:r>
            <a:r>
              <a:rPr lang="en-US" b="1" dirty="0" err="1">
                <a:solidFill>
                  <a:srgbClr val="FF0000"/>
                </a:solidFill>
                <a:latin typeface="Consolas" panose="020B0609020204030204" pitchFamily="49" charset="0"/>
              </a:rPr>
              <a:t>php</a:t>
            </a:r>
            <a:endParaRPr lang="en-US" b="1" dirty="0">
              <a:solidFill>
                <a:srgbClr val="FF0000"/>
              </a:solidFill>
              <a:latin typeface="Consolas" panose="020B0609020204030204" pitchFamily="49" charset="0"/>
            </a:endParaRPr>
          </a:p>
          <a:p>
            <a:pPr marL="0" indent="0">
              <a:lnSpc>
                <a:spcPct val="110000"/>
              </a:lnSpc>
              <a:buNone/>
            </a:pPr>
            <a:r>
              <a:rPr lang="en-US" b="1" dirty="0">
                <a:solidFill>
                  <a:srgbClr val="0070C0"/>
                </a:solidFill>
                <a:latin typeface="Consolas" panose="020B0609020204030204" pitchFamily="49" charset="0"/>
              </a:rPr>
              <a:t>// </a:t>
            </a:r>
            <a:r>
              <a:rPr lang="en-US" b="1" dirty="0" err="1">
                <a:solidFill>
                  <a:srgbClr val="0070C0"/>
                </a:solidFill>
                <a:latin typeface="Consolas" panose="020B0609020204030204" pitchFamily="49" charset="0"/>
              </a:rPr>
              <a:t>labone.php</a:t>
            </a:r>
            <a:endParaRPr lang="en-US" b="1" dirty="0">
              <a:solidFill>
                <a:srgbClr val="0070C0"/>
              </a:solidFill>
              <a:latin typeface="Consolas" panose="020B0609020204030204" pitchFamily="49" charset="0"/>
            </a:endParaRPr>
          </a:p>
          <a:p>
            <a:pPr marL="0" indent="0">
              <a:lnSpc>
                <a:spcPct val="110000"/>
              </a:lnSpc>
              <a:buNone/>
            </a:pPr>
            <a:r>
              <a:rPr lang="en-US" b="1" dirty="0">
                <a:solidFill>
                  <a:srgbClr val="0070C0"/>
                </a:solidFill>
                <a:latin typeface="Consolas" panose="020B0609020204030204" pitchFamily="49" charset="0"/>
              </a:rPr>
              <a:t>// Set the content type to text/plain (you can change this to text/html or application/</a:t>
            </a:r>
            <a:r>
              <a:rPr lang="en-US" b="1" dirty="0" err="1">
                <a:solidFill>
                  <a:srgbClr val="0070C0"/>
                </a:solidFill>
                <a:latin typeface="Consolas" panose="020B0609020204030204" pitchFamily="49" charset="0"/>
              </a:rPr>
              <a:t>json</a:t>
            </a:r>
            <a:r>
              <a:rPr lang="en-US" b="1" dirty="0">
                <a:solidFill>
                  <a:srgbClr val="0070C0"/>
                </a:solidFill>
                <a:latin typeface="Consolas" panose="020B0609020204030204" pitchFamily="49" charset="0"/>
              </a:rPr>
              <a:t> depending on your needs)</a:t>
            </a:r>
          </a:p>
          <a:p>
            <a:pPr marL="0" indent="0">
              <a:lnSpc>
                <a:spcPct val="110000"/>
              </a:lnSpc>
              <a:buNone/>
            </a:pPr>
            <a:r>
              <a:rPr lang="en-US" b="1" dirty="0">
                <a:solidFill>
                  <a:srgbClr val="FF0000"/>
                </a:solidFill>
                <a:latin typeface="Consolas" panose="020B0609020204030204" pitchFamily="49" charset="0"/>
              </a:rPr>
              <a:t>header('Content-Type: text/plain');</a:t>
            </a:r>
          </a:p>
          <a:p>
            <a:pPr marL="0" indent="0">
              <a:lnSpc>
                <a:spcPct val="110000"/>
              </a:lnSpc>
              <a:buNone/>
            </a:pPr>
            <a:r>
              <a:rPr lang="en-US" b="1" dirty="0">
                <a:solidFill>
                  <a:srgbClr val="0070C0"/>
                </a:solidFill>
                <a:latin typeface="Consolas" panose="020B0609020204030204" pitchFamily="49" charset="0"/>
              </a:rPr>
              <a:t>// Return a simple text response</a:t>
            </a:r>
          </a:p>
          <a:p>
            <a:pPr marL="0" indent="0">
              <a:lnSpc>
                <a:spcPct val="110000"/>
              </a:lnSpc>
              <a:buNone/>
            </a:pPr>
            <a:r>
              <a:rPr lang="en-US" b="1" dirty="0">
                <a:solidFill>
                  <a:srgbClr val="FF0000"/>
                </a:solidFill>
                <a:latin typeface="Consolas" panose="020B0609020204030204" pitchFamily="49" charset="0"/>
              </a:rPr>
              <a:t>echo "Hello, this is the new content loaded via AJAX!";</a:t>
            </a:r>
          </a:p>
          <a:p>
            <a:pPr marL="0" indent="0">
              <a:lnSpc>
                <a:spcPct val="110000"/>
              </a:lnSpc>
              <a:buNone/>
            </a:pPr>
            <a:r>
              <a:rPr lang="en-US" b="1" dirty="0">
                <a:solidFill>
                  <a:srgbClr val="FF0000"/>
                </a:solidFill>
                <a:latin typeface="Consolas" panose="020B0609020204030204" pitchFamily="49" charset="0"/>
              </a:rPr>
              <a:t>?&gt;</a:t>
            </a:r>
          </a:p>
        </p:txBody>
      </p:sp>
      <p:sp>
        <p:nvSpPr>
          <p:cNvPr id="4" name="Footer Placeholder 3">
            <a:extLst>
              <a:ext uri="{FF2B5EF4-FFF2-40B4-BE49-F238E27FC236}">
                <a16:creationId xmlns:a16="http://schemas.microsoft.com/office/drawing/2014/main" id="{8B615010-833C-CFC6-E773-76981BFA8951}"/>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AEA7258A-21FE-2694-C230-761EAF1314E8}"/>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17</a:t>
            </a:fld>
            <a:endParaRPr lang="en-US" dirty="0">
              <a:solidFill>
                <a:srgbClr val="2E2B21">
                  <a:tint val="75000"/>
                </a:srgbClr>
              </a:solidFill>
            </a:endParaRPr>
          </a:p>
        </p:txBody>
      </p:sp>
    </p:spTree>
    <p:extLst>
      <p:ext uri="{BB962C8B-B14F-4D97-AF65-F5344CB8AC3E}">
        <p14:creationId xmlns:p14="http://schemas.microsoft.com/office/powerpoint/2010/main" val="4031240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CC64-F9DA-2417-1593-BB3A6BA035A1}"/>
              </a:ext>
            </a:extLst>
          </p:cNvPr>
          <p:cNvSpPr>
            <a:spLocks noGrp="1"/>
          </p:cNvSpPr>
          <p:nvPr>
            <p:ph type="title"/>
          </p:nvPr>
        </p:nvSpPr>
        <p:spPr>
          <a:xfrm>
            <a:off x="628650" y="365127"/>
            <a:ext cx="7886700" cy="854074"/>
          </a:xfrm>
        </p:spPr>
        <p:txBody>
          <a:bodyPr/>
          <a:lstStyle/>
          <a:p>
            <a:r>
              <a:rPr lang="en-US" dirty="0"/>
              <a:t>Cont.…</a:t>
            </a:r>
          </a:p>
        </p:txBody>
      </p:sp>
      <p:sp>
        <p:nvSpPr>
          <p:cNvPr id="3" name="Content Placeholder 2">
            <a:extLst>
              <a:ext uri="{FF2B5EF4-FFF2-40B4-BE49-F238E27FC236}">
                <a16:creationId xmlns:a16="http://schemas.microsoft.com/office/drawing/2014/main" id="{095D56F5-C9AC-4242-0F4F-E4457AD5C7D3}"/>
              </a:ext>
            </a:extLst>
          </p:cNvPr>
          <p:cNvSpPr>
            <a:spLocks noGrp="1"/>
          </p:cNvSpPr>
          <p:nvPr>
            <p:ph idx="1"/>
          </p:nvPr>
        </p:nvSpPr>
        <p:spPr>
          <a:xfrm>
            <a:off x="304800" y="1219201"/>
            <a:ext cx="8610600" cy="5349880"/>
          </a:xfrm>
        </p:spPr>
        <p:txBody>
          <a:bodyPr>
            <a:normAutofit/>
          </a:bodyPr>
          <a:lstStyle/>
          <a:p>
            <a:pPr marL="0" indent="0">
              <a:lnSpc>
                <a:spcPct val="100000"/>
              </a:lnSpc>
              <a:buNone/>
            </a:pPr>
            <a:r>
              <a:rPr lang="en-US" sz="2400" b="1" dirty="0">
                <a:latin typeface="Comic Sans MS" panose="030F0702030302020204" pitchFamily="66" charset="0"/>
              </a:rPr>
              <a:t>Create an </a:t>
            </a:r>
            <a:r>
              <a:rPr lang="en-US" sz="2400" b="1" dirty="0" err="1">
                <a:latin typeface="Comic Sans MS" panose="030F0702030302020204" pitchFamily="66" charset="0"/>
              </a:rPr>
              <a:t>XMLHttpRequest</a:t>
            </a:r>
            <a:r>
              <a:rPr lang="en-US" sz="2400" b="1" dirty="0">
                <a:latin typeface="Comic Sans MS" panose="030F0702030302020204" pitchFamily="66" charset="0"/>
              </a:rPr>
              <a:t> Object</a:t>
            </a:r>
            <a:r>
              <a:rPr lang="en-US" sz="2400" dirty="0">
                <a:latin typeface="Comic Sans MS" panose="030F0702030302020204" pitchFamily="66" charset="0"/>
              </a:rPr>
              <a:t>: </a:t>
            </a:r>
          </a:p>
          <a:p>
            <a:pPr>
              <a:lnSpc>
                <a:spcPct val="100000"/>
              </a:lnSpc>
            </a:pPr>
            <a:r>
              <a:rPr lang="en-US" sz="2400" dirty="0">
                <a:latin typeface="Comic Sans MS" panose="030F0702030302020204" pitchFamily="66" charset="0"/>
              </a:rPr>
              <a:t>The first step in making an AJAX request is to create an instance of the </a:t>
            </a:r>
            <a:r>
              <a:rPr lang="en-US" sz="2400" dirty="0" err="1">
                <a:latin typeface="Comic Sans MS" panose="030F0702030302020204" pitchFamily="66" charset="0"/>
              </a:rPr>
              <a:t>XMLHttpRequest</a:t>
            </a:r>
            <a:r>
              <a:rPr lang="en-US" sz="2400" dirty="0">
                <a:latin typeface="Comic Sans MS" panose="030F0702030302020204" pitchFamily="66" charset="0"/>
              </a:rPr>
              <a:t> object. This object is used to interact with servers.</a:t>
            </a:r>
          </a:p>
          <a:p>
            <a:pPr lvl="1">
              <a:lnSpc>
                <a:spcPct val="100000"/>
              </a:lnSpc>
            </a:pPr>
            <a:r>
              <a:rPr lang="en-US" b="1" dirty="0">
                <a:solidFill>
                  <a:srgbClr val="0070C0"/>
                </a:solidFill>
                <a:latin typeface="Comic Sans MS" panose="030F0702030302020204" pitchFamily="66" charset="0"/>
              </a:rPr>
              <a:t>var </a:t>
            </a:r>
            <a:r>
              <a:rPr lang="en-US" b="1" dirty="0" err="1">
                <a:solidFill>
                  <a:srgbClr val="0070C0"/>
                </a:solidFill>
                <a:latin typeface="Comic Sans MS" panose="030F0702030302020204" pitchFamily="66" charset="0"/>
              </a:rPr>
              <a:t>xhr</a:t>
            </a:r>
            <a:r>
              <a:rPr lang="en-US" b="1" dirty="0">
                <a:solidFill>
                  <a:srgbClr val="0070C0"/>
                </a:solidFill>
                <a:latin typeface="Comic Sans MS" panose="030F0702030302020204" pitchFamily="66" charset="0"/>
              </a:rPr>
              <a:t> = new </a:t>
            </a:r>
            <a:r>
              <a:rPr lang="en-US" b="1" dirty="0" err="1">
                <a:solidFill>
                  <a:srgbClr val="0070C0"/>
                </a:solidFill>
                <a:latin typeface="Comic Sans MS" panose="030F0702030302020204" pitchFamily="66" charset="0"/>
              </a:rPr>
              <a:t>XMLHttpRequest</a:t>
            </a:r>
            <a:r>
              <a:rPr lang="en-US" b="1" dirty="0">
                <a:solidFill>
                  <a:srgbClr val="0070C0"/>
                </a:solidFill>
                <a:latin typeface="Comic Sans MS" panose="030F0702030302020204" pitchFamily="66" charset="0"/>
              </a:rPr>
              <a:t>();	</a:t>
            </a:r>
          </a:p>
          <a:p>
            <a:pPr marL="0" indent="0">
              <a:lnSpc>
                <a:spcPct val="100000"/>
              </a:lnSpc>
              <a:buNone/>
            </a:pPr>
            <a:r>
              <a:rPr lang="en-US" b="1" dirty="0"/>
              <a:t>Configure the Request</a:t>
            </a:r>
            <a:r>
              <a:rPr lang="en-US" dirty="0"/>
              <a:t>: Next, you need to specify the type of request (GET, POST, etc.), the URL of the server endpoint, and whether the request should be asynchronous (true) or synchronous (false). Most AJAX requests are asynchronous.</a:t>
            </a:r>
          </a:p>
          <a:p>
            <a:pPr marL="0" indent="0">
              <a:buNone/>
            </a:pPr>
            <a:r>
              <a:rPr lang="en-US" sz="2400" b="1" dirty="0" err="1">
                <a:solidFill>
                  <a:srgbClr val="0070C0"/>
                </a:solidFill>
                <a:latin typeface="Comic Sans MS" panose="030F0702030302020204" pitchFamily="66" charset="0"/>
              </a:rPr>
              <a:t>xhr.open</a:t>
            </a:r>
            <a:r>
              <a:rPr lang="en-US" sz="2400" b="1" dirty="0">
                <a:solidFill>
                  <a:srgbClr val="0070C0"/>
                </a:solidFill>
                <a:latin typeface="Comic Sans MS" panose="030F0702030302020204" pitchFamily="66" charset="0"/>
              </a:rPr>
              <a:t>('GET', 'https://api.example.com/data', true);</a:t>
            </a:r>
          </a:p>
          <a:p>
            <a:pPr marL="0" indent="0">
              <a:lnSpc>
                <a:spcPct val="150000"/>
              </a:lnSpc>
              <a:buNone/>
            </a:pPr>
            <a:endParaRPr lang="en-US" sz="2400" dirty="0">
              <a:latin typeface="Comic Sans MS" panose="030F0702030302020204" pitchFamily="66" charset="0"/>
            </a:endParaRPr>
          </a:p>
        </p:txBody>
      </p:sp>
      <p:sp>
        <p:nvSpPr>
          <p:cNvPr id="4" name="Footer Placeholder 3">
            <a:extLst>
              <a:ext uri="{FF2B5EF4-FFF2-40B4-BE49-F238E27FC236}">
                <a16:creationId xmlns:a16="http://schemas.microsoft.com/office/drawing/2014/main" id="{38E258E6-F24C-2CBD-7D2D-D3987CE63251}"/>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35E5A7CF-0D14-0125-85BC-EAE0C3E6145F}"/>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18</a:t>
            </a:fld>
            <a:endParaRPr lang="en-US" dirty="0">
              <a:solidFill>
                <a:srgbClr val="2E2B21">
                  <a:tint val="75000"/>
                </a:srgbClr>
              </a:solidFill>
            </a:endParaRPr>
          </a:p>
        </p:txBody>
      </p:sp>
    </p:spTree>
    <p:extLst>
      <p:ext uri="{BB962C8B-B14F-4D97-AF65-F5344CB8AC3E}">
        <p14:creationId xmlns:p14="http://schemas.microsoft.com/office/powerpoint/2010/main" val="2260737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CC64-F9DA-2417-1593-BB3A6BA035A1}"/>
              </a:ext>
            </a:extLst>
          </p:cNvPr>
          <p:cNvSpPr>
            <a:spLocks noGrp="1"/>
          </p:cNvSpPr>
          <p:nvPr>
            <p:ph type="title"/>
          </p:nvPr>
        </p:nvSpPr>
        <p:spPr>
          <a:xfrm>
            <a:off x="628650" y="365127"/>
            <a:ext cx="7886700" cy="854074"/>
          </a:xfrm>
        </p:spPr>
        <p:txBody>
          <a:bodyPr/>
          <a:lstStyle/>
          <a:p>
            <a:r>
              <a:rPr lang="en-US" dirty="0"/>
              <a:t>Cont.…</a:t>
            </a:r>
          </a:p>
        </p:txBody>
      </p:sp>
      <p:sp>
        <p:nvSpPr>
          <p:cNvPr id="3" name="Content Placeholder 2">
            <a:extLst>
              <a:ext uri="{FF2B5EF4-FFF2-40B4-BE49-F238E27FC236}">
                <a16:creationId xmlns:a16="http://schemas.microsoft.com/office/drawing/2014/main" id="{095D56F5-C9AC-4242-0F4F-E4457AD5C7D3}"/>
              </a:ext>
            </a:extLst>
          </p:cNvPr>
          <p:cNvSpPr>
            <a:spLocks noGrp="1"/>
          </p:cNvSpPr>
          <p:nvPr>
            <p:ph idx="1"/>
          </p:nvPr>
        </p:nvSpPr>
        <p:spPr>
          <a:xfrm>
            <a:off x="304800" y="1219201"/>
            <a:ext cx="8610600" cy="5137154"/>
          </a:xfrm>
        </p:spPr>
        <p:txBody>
          <a:bodyPr>
            <a:normAutofit/>
          </a:bodyPr>
          <a:lstStyle/>
          <a:p>
            <a:pPr marL="0" indent="0">
              <a:lnSpc>
                <a:spcPct val="100000"/>
              </a:lnSpc>
              <a:buNone/>
            </a:pPr>
            <a:r>
              <a:rPr lang="en-US" sz="2400" b="1" dirty="0">
                <a:latin typeface="Comic Sans MS" panose="030F0702030302020204" pitchFamily="66" charset="0"/>
              </a:rPr>
              <a:t>Set Request Headers (Optional)</a:t>
            </a:r>
            <a:r>
              <a:rPr lang="en-US" sz="2400" dirty="0">
                <a:latin typeface="Comic Sans MS" panose="030F0702030302020204" pitchFamily="66" charset="0"/>
              </a:rPr>
              <a:t>: If necessary, you can set HTTP request headers using the </a:t>
            </a:r>
            <a:r>
              <a:rPr lang="en-US" sz="2400" dirty="0" err="1">
                <a:latin typeface="Comic Sans MS" panose="030F0702030302020204" pitchFamily="66" charset="0"/>
              </a:rPr>
              <a:t>setRequestHeader</a:t>
            </a:r>
            <a:r>
              <a:rPr lang="en-US" sz="2400" dirty="0">
                <a:latin typeface="Comic Sans MS" panose="030F0702030302020204" pitchFamily="66" charset="0"/>
              </a:rPr>
              <a:t> method. For example, if you're sending JSON data, you might set the Content-Type header to application/</a:t>
            </a:r>
            <a:r>
              <a:rPr lang="en-US" sz="2400" dirty="0" err="1">
                <a:latin typeface="Comic Sans MS" panose="030F0702030302020204" pitchFamily="66" charset="0"/>
              </a:rPr>
              <a:t>json</a:t>
            </a:r>
            <a:r>
              <a:rPr lang="en-US" sz="2400" dirty="0">
                <a:latin typeface="Comic Sans MS" panose="030F0702030302020204" pitchFamily="66" charset="0"/>
              </a:rPr>
              <a:t>.</a:t>
            </a:r>
          </a:p>
          <a:p>
            <a:pPr marL="0" indent="0">
              <a:buNone/>
            </a:pPr>
            <a:r>
              <a:rPr lang="en-US" sz="2200" b="1" dirty="0" err="1">
                <a:solidFill>
                  <a:srgbClr val="0070C0"/>
                </a:solidFill>
                <a:latin typeface="Comic Sans MS" panose="030F0702030302020204" pitchFamily="66" charset="0"/>
              </a:rPr>
              <a:t>xhr.setRequestHeader</a:t>
            </a:r>
            <a:r>
              <a:rPr lang="en-US" sz="2200" b="1" dirty="0">
                <a:solidFill>
                  <a:srgbClr val="0070C0"/>
                </a:solidFill>
                <a:latin typeface="Comic Sans MS" panose="030F0702030302020204" pitchFamily="66" charset="0"/>
              </a:rPr>
              <a:t>('Content-Type', 'application/</a:t>
            </a:r>
            <a:r>
              <a:rPr lang="en-US" sz="2200" b="1" dirty="0" err="1">
                <a:solidFill>
                  <a:srgbClr val="0070C0"/>
                </a:solidFill>
                <a:latin typeface="Comic Sans MS" panose="030F0702030302020204" pitchFamily="66" charset="0"/>
              </a:rPr>
              <a:t>json</a:t>
            </a:r>
            <a:r>
              <a:rPr lang="en-US" sz="2200" b="1" dirty="0">
                <a:solidFill>
                  <a:srgbClr val="0070C0"/>
                </a:solidFill>
                <a:latin typeface="Comic Sans MS" panose="030F0702030302020204" pitchFamily="66" charset="0"/>
              </a:rPr>
              <a:t>');</a:t>
            </a:r>
          </a:p>
          <a:p>
            <a:pPr marL="0" indent="0">
              <a:lnSpc>
                <a:spcPct val="100000"/>
              </a:lnSpc>
              <a:buNone/>
            </a:pPr>
            <a:endParaRPr lang="en-US" sz="2400" dirty="0">
              <a:latin typeface="Comic Sans MS" panose="030F0702030302020204" pitchFamily="66" charset="0"/>
            </a:endParaRPr>
          </a:p>
        </p:txBody>
      </p:sp>
      <p:sp>
        <p:nvSpPr>
          <p:cNvPr id="4" name="Footer Placeholder 3">
            <a:extLst>
              <a:ext uri="{FF2B5EF4-FFF2-40B4-BE49-F238E27FC236}">
                <a16:creationId xmlns:a16="http://schemas.microsoft.com/office/drawing/2014/main" id="{38E258E6-F24C-2CBD-7D2D-D3987CE63251}"/>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35E5A7CF-0D14-0125-85BC-EAE0C3E6145F}"/>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19</a:t>
            </a:fld>
            <a:endParaRPr lang="en-US" dirty="0">
              <a:solidFill>
                <a:srgbClr val="2E2B21">
                  <a:tint val="75000"/>
                </a:srgbClr>
              </a:solidFill>
            </a:endParaRPr>
          </a:p>
        </p:txBody>
      </p:sp>
    </p:spTree>
    <p:extLst>
      <p:ext uri="{BB962C8B-B14F-4D97-AF65-F5344CB8AC3E}">
        <p14:creationId xmlns:p14="http://schemas.microsoft.com/office/powerpoint/2010/main" val="3507721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CC64-F9DA-2417-1593-BB3A6BA035A1}"/>
              </a:ext>
            </a:extLst>
          </p:cNvPr>
          <p:cNvSpPr>
            <a:spLocks noGrp="1"/>
          </p:cNvSpPr>
          <p:nvPr>
            <p:ph type="title"/>
          </p:nvPr>
        </p:nvSpPr>
        <p:spPr>
          <a:xfrm>
            <a:off x="628650" y="365127"/>
            <a:ext cx="7886700" cy="854074"/>
          </a:xfrm>
        </p:spPr>
        <p:txBody>
          <a:bodyPr/>
          <a:lstStyle/>
          <a:p>
            <a:r>
              <a:rPr lang="en-US" dirty="0"/>
              <a:t>Cont.…</a:t>
            </a:r>
          </a:p>
        </p:txBody>
      </p:sp>
      <p:sp>
        <p:nvSpPr>
          <p:cNvPr id="3" name="Content Placeholder 2">
            <a:extLst>
              <a:ext uri="{FF2B5EF4-FFF2-40B4-BE49-F238E27FC236}">
                <a16:creationId xmlns:a16="http://schemas.microsoft.com/office/drawing/2014/main" id="{095D56F5-C9AC-4242-0F4F-E4457AD5C7D3}"/>
              </a:ext>
            </a:extLst>
          </p:cNvPr>
          <p:cNvSpPr>
            <a:spLocks noGrp="1"/>
          </p:cNvSpPr>
          <p:nvPr>
            <p:ph idx="1"/>
          </p:nvPr>
        </p:nvSpPr>
        <p:spPr>
          <a:xfrm>
            <a:off x="304800" y="1219201"/>
            <a:ext cx="8610600" cy="5137154"/>
          </a:xfrm>
        </p:spPr>
        <p:txBody>
          <a:bodyPr>
            <a:normAutofit/>
          </a:bodyPr>
          <a:lstStyle/>
          <a:p>
            <a:pPr>
              <a:lnSpc>
                <a:spcPct val="100000"/>
              </a:lnSpc>
            </a:pPr>
            <a:r>
              <a:rPr lang="en-US" sz="2200" b="1" dirty="0">
                <a:latin typeface="Comic Sans MS" panose="030F0702030302020204" pitchFamily="66" charset="0"/>
              </a:rPr>
              <a:t>Handle the Response</a:t>
            </a:r>
            <a:r>
              <a:rPr lang="en-US" sz="2200" dirty="0">
                <a:latin typeface="Comic Sans MS" panose="030F0702030302020204" pitchFamily="66" charset="0"/>
              </a:rPr>
              <a:t>: You need to define a callback function to handle the server's response. This function will be called when the state of the </a:t>
            </a:r>
            <a:r>
              <a:rPr lang="en-US" sz="2200" dirty="0" err="1">
                <a:latin typeface="Comic Sans MS" panose="030F0702030302020204" pitchFamily="66" charset="0"/>
              </a:rPr>
              <a:t>XMLHttpRequest</a:t>
            </a:r>
            <a:r>
              <a:rPr lang="en-US" sz="2200" dirty="0">
                <a:latin typeface="Comic Sans MS" panose="030F0702030302020204" pitchFamily="66" charset="0"/>
              </a:rPr>
              <a:t> changes. The </a:t>
            </a:r>
            <a:r>
              <a:rPr lang="en-US" sz="2200" dirty="0" err="1">
                <a:latin typeface="Comic Sans MS" panose="030F0702030302020204" pitchFamily="66" charset="0"/>
              </a:rPr>
              <a:t>readyState</a:t>
            </a:r>
            <a:r>
              <a:rPr lang="en-US" sz="2200" dirty="0">
                <a:latin typeface="Comic Sans MS" panose="030F0702030302020204" pitchFamily="66" charset="0"/>
              </a:rPr>
              <a:t> property indicates the current state of the request, and the status property indicates the HTTP status code of the response.</a:t>
            </a:r>
            <a:endParaRPr lang="en-US" sz="2200" b="1" dirty="0">
              <a:latin typeface="Comic Sans MS" panose="030F0702030302020204" pitchFamily="66" charset="0"/>
            </a:endParaRPr>
          </a:p>
        </p:txBody>
      </p:sp>
      <p:sp>
        <p:nvSpPr>
          <p:cNvPr id="4" name="Footer Placeholder 3">
            <a:extLst>
              <a:ext uri="{FF2B5EF4-FFF2-40B4-BE49-F238E27FC236}">
                <a16:creationId xmlns:a16="http://schemas.microsoft.com/office/drawing/2014/main" id="{38E258E6-F24C-2CBD-7D2D-D3987CE63251}"/>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35E5A7CF-0D14-0125-85BC-EAE0C3E6145F}"/>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20</a:t>
            </a:fld>
            <a:endParaRPr lang="en-US" dirty="0">
              <a:solidFill>
                <a:srgbClr val="2E2B21">
                  <a:tint val="75000"/>
                </a:srgbClr>
              </a:solidFill>
            </a:endParaRPr>
          </a:p>
        </p:txBody>
      </p:sp>
      <p:sp>
        <p:nvSpPr>
          <p:cNvPr id="9" name="TextBox 8">
            <a:extLst>
              <a:ext uri="{FF2B5EF4-FFF2-40B4-BE49-F238E27FC236}">
                <a16:creationId xmlns:a16="http://schemas.microsoft.com/office/drawing/2014/main" id="{714B311A-6786-E087-043F-264FE1D76E84}"/>
              </a:ext>
            </a:extLst>
          </p:cNvPr>
          <p:cNvSpPr txBox="1"/>
          <p:nvPr/>
        </p:nvSpPr>
        <p:spPr>
          <a:xfrm>
            <a:off x="628650" y="3581400"/>
            <a:ext cx="7886700" cy="2308324"/>
          </a:xfrm>
          <a:prstGeom prst="rect">
            <a:avLst/>
          </a:prstGeom>
          <a:noFill/>
        </p:spPr>
        <p:txBody>
          <a:bodyPr wrap="square">
            <a:spAutoFit/>
          </a:bodyPr>
          <a:lstStyle/>
          <a:p>
            <a:r>
              <a:rPr lang="en-US" sz="2400" dirty="0" err="1">
                <a:solidFill>
                  <a:srgbClr val="0070C0"/>
                </a:solidFill>
              </a:rPr>
              <a:t>xhr.onreadystatechange</a:t>
            </a:r>
            <a:r>
              <a:rPr lang="en-US" sz="2400" dirty="0">
                <a:solidFill>
                  <a:srgbClr val="0070C0"/>
                </a:solidFill>
              </a:rPr>
              <a:t> = function() {</a:t>
            </a:r>
          </a:p>
          <a:p>
            <a:r>
              <a:rPr lang="en-US" sz="2400" dirty="0">
                <a:solidFill>
                  <a:srgbClr val="0070C0"/>
                </a:solidFill>
              </a:rPr>
              <a:t>    if (</a:t>
            </a:r>
            <a:r>
              <a:rPr lang="en-US" sz="2400" dirty="0" err="1">
                <a:solidFill>
                  <a:srgbClr val="0070C0"/>
                </a:solidFill>
              </a:rPr>
              <a:t>xhr.readyState</a:t>
            </a:r>
            <a:r>
              <a:rPr lang="en-US" sz="2400" dirty="0">
                <a:solidFill>
                  <a:srgbClr val="0070C0"/>
                </a:solidFill>
              </a:rPr>
              <a:t> === 4 &amp;&amp; </a:t>
            </a:r>
            <a:r>
              <a:rPr lang="en-US" sz="2400" dirty="0" err="1">
                <a:solidFill>
                  <a:srgbClr val="0070C0"/>
                </a:solidFill>
              </a:rPr>
              <a:t>xhr.status</a:t>
            </a:r>
            <a:r>
              <a:rPr lang="en-US" sz="2400" dirty="0">
                <a:solidFill>
                  <a:srgbClr val="0070C0"/>
                </a:solidFill>
              </a:rPr>
              <a:t> === 200) {</a:t>
            </a:r>
          </a:p>
          <a:p>
            <a:r>
              <a:rPr lang="en-US" sz="2400" dirty="0">
                <a:solidFill>
                  <a:srgbClr val="0070C0"/>
                </a:solidFill>
              </a:rPr>
              <a:t>        var </a:t>
            </a:r>
            <a:r>
              <a:rPr lang="en-US" sz="2400" dirty="0" err="1">
                <a:solidFill>
                  <a:srgbClr val="0070C0"/>
                </a:solidFill>
              </a:rPr>
              <a:t>responseData</a:t>
            </a:r>
            <a:r>
              <a:rPr lang="en-US" sz="2400" dirty="0">
                <a:solidFill>
                  <a:srgbClr val="0070C0"/>
                </a:solidFill>
              </a:rPr>
              <a:t> = </a:t>
            </a:r>
            <a:r>
              <a:rPr lang="en-US" sz="2400" dirty="0" err="1">
                <a:solidFill>
                  <a:srgbClr val="0070C0"/>
                </a:solidFill>
              </a:rPr>
              <a:t>JSON.parse</a:t>
            </a:r>
            <a:r>
              <a:rPr lang="en-US" sz="2400" dirty="0">
                <a:solidFill>
                  <a:srgbClr val="0070C0"/>
                </a:solidFill>
              </a:rPr>
              <a:t>(</a:t>
            </a:r>
            <a:r>
              <a:rPr lang="en-US" sz="2400" dirty="0" err="1">
                <a:solidFill>
                  <a:srgbClr val="0070C0"/>
                </a:solidFill>
              </a:rPr>
              <a:t>xhr.responseText</a:t>
            </a:r>
            <a:r>
              <a:rPr lang="en-US" sz="2400" dirty="0">
                <a:solidFill>
                  <a:srgbClr val="0070C0"/>
                </a:solidFill>
              </a:rPr>
              <a:t>);</a:t>
            </a:r>
          </a:p>
          <a:p>
            <a:r>
              <a:rPr lang="en-US" sz="2400" dirty="0">
                <a:solidFill>
                  <a:srgbClr val="0070C0"/>
                </a:solidFill>
              </a:rPr>
              <a:t>        console.log(</a:t>
            </a:r>
            <a:r>
              <a:rPr lang="en-US" sz="2400" dirty="0" err="1">
                <a:solidFill>
                  <a:srgbClr val="0070C0"/>
                </a:solidFill>
              </a:rPr>
              <a:t>responseData</a:t>
            </a:r>
            <a:r>
              <a:rPr lang="en-US" sz="2400" dirty="0">
                <a:solidFill>
                  <a:srgbClr val="0070C0"/>
                </a:solidFill>
              </a:rPr>
              <a:t>);</a:t>
            </a:r>
          </a:p>
          <a:p>
            <a:r>
              <a:rPr lang="en-US" sz="2400" dirty="0">
                <a:solidFill>
                  <a:srgbClr val="0070C0"/>
                </a:solidFill>
              </a:rPr>
              <a:t>    }</a:t>
            </a:r>
          </a:p>
          <a:p>
            <a:r>
              <a:rPr lang="en-US" sz="2400" dirty="0">
                <a:solidFill>
                  <a:srgbClr val="0070C0"/>
                </a:solidFill>
              </a:rPr>
              <a:t>};</a:t>
            </a:r>
          </a:p>
        </p:txBody>
      </p:sp>
    </p:spTree>
    <p:extLst>
      <p:ext uri="{BB962C8B-B14F-4D97-AF65-F5344CB8AC3E}">
        <p14:creationId xmlns:p14="http://schemas.microsoft.com/office/powerpoint/2010/main" val="538397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CC64-F9DA-2417-1593-BB3A6BA035A1}"/>
              </a:ext>
            </a:extLst>
          </p:cNvPr>
          <p:cNvSpPr>
            <a:spLocks noGrp="1"/>
          </p:cNvSpPr>
          <p:nvPr>
            <p:ph type="title"/>
          </p:nvPr>
        </p:nvSpPr>
        <p:spPr>
          <a:xfrm>
            <a:off x="628650" y="365127"/>
            <a:ext cx="7886700" cy="854074"/>
          </a:xfrm>
        </p:spPr>
        <p:txBody>
          <a:bodyPr/>
          <a:lstStyle/>
          <a:p>
            <a:r>
              <a:rPr lang="en-US" dirty="0"/>
              <a:t>Cont.…</a:t>
            </a:r>
          </a:p>
        </p:txBody>
      </p:sp>
      <p:sp>
        <p:nvSpPr>
          <p:cNvPr id="3" name="Content Placeholder 2">
            <a:extLst>
              <a:ext uri="{FF2B5EF4-FFF2-40B4-BE49-F238E27FC236}">
                <a16:creationId xmlns:a16="http://schemas.microsoft.com/office/drawing/2014/main" id="{095D56F5-C9AC-4242-0F4F-E4457AD5C7D3}"/>
              </a:ext>
            </a:extLst>
          </p:cNvPr>
          <p:cNvSpPr>
            <a:spLocks noGrp="1"/>
          </p:cNvSpPr>
          <p:nvPr>
            <p:ph idx="1"/>
          </p:nvPr>
        </p:nvSpPr>
        <p:spPr>
          <a:xfrm>
            <a:off x="304800" y="1219201"/>
            <a:ext cx="8458200" cy="5137154"/>
          </a:xfrm>
        </p:spPr>
        <p:txBody>
          <a:bodyPr>
            <a:normAutofit/>
          </a:bodyPr>
          <a:lstStyle/>
          <a:p>
            <a:pPr>
              <a:lnSpc>
                <a:spcPct val="100000"/>
              </a:lnSpc>
            </a:pPr>
            <a:r>
              <a:rPr lang="en-US" sz="2400" b="1" dirty="0">
                <a:latin typeface="Comic Sans MS" panose="030F0702030302020204" pitchFamily="66" charset="0"/>
              </a:rPr>
              <a:t>Send the Request</a:t>
            </a:r>
            <a:r>
              <a:rPr lang="en-US" sz="2400" dirty="0">
                <a:latin typeface="Comic Sans MS" panose="030F0702030302020204" pitchFamily="66" charset="0"/>
              </a:rPr>
              <a:t>:  you send the request using the send method. If you're sending data (as in a POST request), you include the data as an argument to the send method. For a GET request, you typically do not send any data.</a:t>
            </a:r>
            <a:endParaRPr lang="en-US" sz="2400" b="1" dirty="0">
              <a:latin typeface="Comic Sans MS" panose="030F0702030302020204" pitchFamily="66" charset="0"/>
            </a:endParaRPr>
          </a:p>
          <a:p>
            <a:pPr marL="0" indent="0">
              <a:lnSpc>
                <a:spcPct val="100000"/>
              </a:lnSpc>
              <a:buNone/>
            </a:pPr>
            <a:endParaRPr lang="en-US" sz="2400" b="1" dirty="0">
              <a:latin typeface="Comic Sans MS" panose="030F0702030302020204" pitchFamily="66" charset="0"/>
            </a:endParaRPr>
          </a:p>
        </p:txBody>
      </p:sp>
      <p:sp>
        <p:nvSpPr>
          <p:cNvPr id="4" name="Footer Placeholder 3">
            <a:extLst>
              <a:ext uri="{FF2B5EF4-FFF2-40B4-BE49-F238E27FC236}">
                <a16:creationId xmlns:a16="http://schemas.microsoft.com/office/drawing/2014/main" id="{38E258E6-F24C-2CBD-7D2D-D3987CE63251}"/>
              </a:ext>
            </a:extLst>
          </p:cNvPr>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
        <p:nvSpPr>
          <p:cNvPr id="5" name="Slide Number Placeholder 4">
            <a:extLst>
              <a:ext uri="{FF2B5EF4-FFF2-40B4-BE49-F238E27FC236}">
                <a16:creationId xmlns:a16="http://schemas.microsoft.com/office/drawing/2014/main" id="{35E5A7CF-0D14-0125-85BC-EAE0C3E6145F}"/>
              </a:ext>
            </a:extLst>
          </p:cNvPr>
          <p:cNvSpPr>
            <a:spLocks noGrp="1"/>
          </p:cNvSpPr>
          <p:nvPr>
            <p:ph type="sldNum" sz="quarter" idx="12"/>
          </p:nvPr>
        </p:nvSpPr>
        <p:spPr/>
        <p:txBody>
          <a:bodyPr/>
          <a:lstStyle/>
          <a:p>
            <a:fld id="{9860EDB8-5305-433F-BE41-D7A86D811DB3}" type="slidenum">
              <a:rPr lang="en-US" smtClean="0">
                <a:solidFill>
                  <a:srgbClr val="2E2B21">
                    <a:tint val="75000"/>
                  </a:srgbClr>
                </a:solidFill>
              </a:rPr>
              <a:pPr/>
              <a:t>21</a:t>
            </a:fld>
            <a:endParaRPr lang="en-US" dirty="0">
              <a:solidFill>
                <a:srgbClr val="2E2B21">
                  <a:tint val="75000"/>
                </a:srgbClr>
              </a:solidFill>
            </a:endParaRPr>
          </a:p>
        </p:txBody>
      </p:sp>
      <p:sp>
        <p:nvSpPr>
          <p:cNvPr id="9" name="TextBox 8">
            <a:extLst>
              <a:ext uri="{FF2B5EF4-FFF2-40B4-BE49-F238E27FC236}">
                <a16:creationId xmlns:a16="http://schemas.microsoft.com/office/drawing/2014/main" id="{714B311A-6786-E087-043F-264FE1D76E84}"/>
              </a:ext>
            </a:extLst>
          </p:cNvPr>
          <p:cNvSpPr txBox="1"/>
          <p:nvPr/>
        </p:nvSpPr>
        <p:spPr>
          <a:xfrm>
            <a:off x="628650" y="3581400"/>
            <a:ext cx="7886700" cy="461665"/>
          </a:xfrm>
          <a:prstGeom prst="rect">
            <a:avLst/>
          </a:prstGeom>
          <a:noFill/>
        </p:spPr>
        <p:txBody>
          <a:bodyPr wrap="square">
            <a:spAutoFit/>
          </a:bodyPr>
          <a:lstStyle/>
          <a:p>
            <a:r>
              <a:rPr lang="en-US" sz="2400" b="1" dirty="0" err="1">
                <a:solidFill>
                  <a:srgbClr val="0070C0"/>
                </a:solidFill>
                <a:latin typeface="Comic Sans MS" panose="030F0702030302020204" pitchFamily="66" charset="0"/>
              </a:rPr>
              <a:t>xhr.send</a:t>
            </a:r>
            <a:r>
              <a:rPr lang="en-US" sz="2400" b="1" dirty="0">
                <a:solidFill>
                  <a:srgbClr val="0070C0"/>
                </a:solidFill>
                <a:latin typeface="Comic Sans MS" panose="030F0702030302020204" pitchFamily="66" charset="0"/>
              </a:rPr>
              <a:t>();</a:t>
            </a:r>
          </a:p>
        </p:txBody>
      </p:sp>
    </p:spTree>
    <p:extLst>
      <p:ext uri="{BB962C8B-B14F-4D97-AF65-F5344CB8AC3E}">
        <p14:creationId xmlns:p14="http://schemas.microsoft.com/office/powerpoint/2010/main" val="491626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A1DA4A7-FA91-7BA4-A06A-28E95C76A7EB}"/>
              </a:ext>
            </a:extLst>
          </p:cNvPr>
          <p:cNvPicPr>
            <a:picLocks noChangeAspect="1"/>
          </p:cNvPicPr>
          <p:nvPr/>
        </p:nvPicPr>
        <p:blipFill>
          <a:blip r:embed="rId2"/>
          <a:stretch>
            <a:fillRect/>
          </a:stretch>
        </p:blipFill>
        <p:spPr>
          <a:xfrm>
            <a:off x="0" y="256386"/>
            <a:ext cx="9144000" cy="6465094"/>
          </a:xfrm>
          <a:prstGeom prst="rect">
            <a:avLst/>
          </a:prstGeom>
        </p:spPr>
      </p:pic>
      <p:sp>
        <p:nvSpPr>
          <p:cNvPr id="4" name="Slide Number Placeholder 3"/>
          <p:cNvSpPr>
            <a:spLocks noGrp="1"/>
          </p:cNvSpPr>
          <p:nvPr>
            <p:ph type="sldNum" sz="quarter" idx="12"/>
          </p:nvPr>
        </p:nvSpPr>
        <p:spPr/>
        <p:txBody>
          <a:bodyPr/>
          <a:lstStyle/>
          <a:p>
            <a:fld id="{9860EDB8-5305-433F-BE41-D7A86D811DB3}" type="slidenum">
              <a:rPr lang="en-US" smtClean="0">
                <a:solidFill>
                  <a:srgbClr val="2E2B21">
                    <a:tint val="75000"/>
                  </a:srgbClr>
                </a:solidFill>
              </a:rPr>
              <a:pPr/>
              <a:t>22</a:t>
            </a:fld>
            <a:endParaRPr lang="en-US" dirty="0">
              <a:solidFill>
                <a:srgbClr val="2E2B21">
                  <a:tint val="75000"/>
                </a:srgbClr>
              </a:solidFill>
            </a:endParaRPr>
          </a:p>
        </p:txBody>
      </p:sp>
      <p:sp>
        <p:nvSpPr>
          <p:cNvPr id="5" name="Footer Placeholder 4"/>
          <p:cNvSpPr>
            <a:spLocks noGrp="1"/>
          </p:cNvSpPr>
          <p:nvPr>
            <p:ph type="ftr" sz="quarter" idx="11"/>
          </p:nvPr>
        </p:nvSpPr>
        <p:spPr/>
        <p:txBody>
          <a:bodyPr/>
          <a:lstStyle/>
          <a:p>
            <a:r>
              <a:rPr lang="en-US">
                <a:solidFill>
                  <a:srgbClr val="2E2B21">
                    <a:tint val="75000"/>
                  </a:srgbClr>
                </a:solidFill>
              </a:rPr>
              <a:t>Department of Computer Science</a:t>
            </a:r>
            <a:endParaRPr lang="en-US" dirty="0">
              <a:solidFill>
                <a:srgbClr val="2E2B21">
                  <a:tint val="75000"/>
                </a:srgbClr>
              </a:solidFill>
            </a:endParaRPr>
          </a:p>
        </p:txBody>
      </p:sp>
    </p:spTree>
    <p:extLst>
      <p:ext uri="{BB962C8B-B14F-4D97-AF65-F5344CB8AC3E}">
        <p14:creationId xmlns:p14="http://schemas.microsoft.com/office/powerpoint/2010/main" val="4227603400"/>
      </p:ext>
    </p:extLst>
  </p:cSld>
  <p:clrMapOvr>
    <a:masterClrMapping/>
  </p:clrMapOvr>
</p:sld>
</file>

<file path=ppt/theme/theme1.xml><?xml version="1.0" encoding="utf-8"?>
<a:theme xmlns:a="http://schemas.openxmlformats.org/drawingml/2006/main" name="1_Office Theme">
  <a:themeElements>
    <a:clrScheme name="Custom 8">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ustom 8">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1211</TotalTime>
  <Words>1892</Words>
  <Application>Microsoft Office PowerPoint</Application>
  <PresentationFormat>On-screen Show (4:3)</PresentationFormat>
  <Paragraphs>240</Paragraphs>
  <Slides>22</Slides>
  <Notes>14</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22</vt:i4>
      </vt:variant>
    </vt:vector>
  </HeadingPairs>
  <TitlesOfParts>
    <vt:vector size="37" baseType="lpstr">
      <vt:lpstr>Arial</vt:lpstr>
      <vt:lpstr>Calibri</vt:lpstr>
      <vt:lpstr>Calibri Light</vt:lpstr>
      <vt:lpstr>Cambria</vt:lpstr>
      <vt:lpstr>Comic Sans MS</vt:lpstr>
      <vt:lpstr>comt (Headings)</vt:lpstr>
      <vt:lpstr>Consolas</vt:lpstr>
      <vt:lpstr>Courier New</vt:lpstr>
      <vt:lpstr>inter-regular</vt:lpstr>
      <vt:lpstr>MinionPro-Regular</vt:lpstr>
      <vt:lpstr>UbuntuMono-Regular</vt:lpstr>
      <vt:lpstr>Verdana</vt:lpstr>
      <vt:lpstr>Wingdings</vt:lpstr>
      <vt:lpstr>1_Office Theme</vt:lpstr>
      <vt:lpstr>Office Theme</vt:lpstr>
      <vt:lpstr>PowerPoint Presentation</vt:lpstr>
      <vt:lpstr>Outline </vt:lpstr>
      <vt:lpstr> What is Ajax? </vt:lpstr>
      <vt:lpstr>Synchronous vs Asynchronous</vt:lpstr>
      <vt:lpstr>Cont.…</vt:lpstr>
      <vt:lpstr> Asynchronous(AJAX Web-Application Model)</vt:lpstr>
      <vt:lpstr>Cont..</vt:lpstr>
      <vt:lpstr>AJAX Technologies</vt:lpstr>
      <vt:lpstr>Cont..</vt:lpstr>
      <vt:lpstr> XMLHttpRequest</vt:lpstr>
      <vt:lpstr>Properties of XMLHttpRequest object</vt:lpstr>
      <vt:lpstr>Methods of XMLHttpRequest object</vt:lpstr>
      <vt:lpstr>How AJAX works?</vt:lpstr>
      <vt:lpstr>Cont.…</vt:lpstr>
      <vt:lpstr>Example </vt:lpstr>
      <vt:lpstr>Example </vt:lpstr>
      <vt:lpstr>Cont.…</vt:lpstr>
      <vt:lpstr>Cont.…</vt:lpstr>
      <vt:lpstr>Cont.…</vt:lpstr>
      <vt:lpstr>Cont.…</vt:lpstr>
      <vt:lpstr>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Tesfahun Nurrie</dc:creator>
  <cp:lastModifiedBy>CSDA</cp:lastModifiedBy>
  <cp:revision>231</cp:revision>
  <dcterms:created xsi:type="dcterms:W3CDTF">2021-04-08T13:48:08Z</dcterms:created>
  <dcterms:modified xsi:type="dcterms:W3CDTF">2024-06-06T05:25:19Z</dcterms:modified>
</cp:coreProperties>
</file>